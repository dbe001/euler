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547" r:id="rId5"/>
    <p:sldId id="619" r:id="rId6"/>
    <p:sldId id="621" r:id="rId7"/>
    <p:sldId id="622" r:id="rId8"/>
    <p:sldId id="623" r:id="rId9"/>
    <p:sldId id="624" r:id="rId10"/>
    <p:sldId id="625" r:id="rId11"/>
    <p:sldId id="549" r:id="rId12"/>
    <p:sldId id="543" r:id="rId13"/>
    <p:sldId id="550" r:id="rId14"/>
    <p:sldId id="54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8E671492-5E7D-4474-9302-E3A9557BF741}"/>
    <pc:docChg chg="custSel modSld">
      <pc:chgData name="Dieter Beaven" userId="9bbdb69f-69d0-4759-aa9b-5c090a2da237" providerId="ADAL" clId="{8E671492-5E7D-4474-9302-E3A9557BF741}" dt="2025-09-19T14:48:40.214" v="0" actId="478"/>
      <pc:docMkLst>
        <pc:docMk/>
      </pc:docMkLst>
      <pc:sldChg chg="delSp mod delAnim">
        <pc:chgData name="Dieter Beaven" userId="9bbdb69f-69d0-4759-aa9b-5c090a2da237" providerId="ADAL" clId="{8E671492-5E7D-4474-9302-E3A9557BF741}" dt="2025-09-19T14:48:40.214" v="0" actId="478"/>
        <pc:sldMkLst>
          <pc:docMk/>
          <pc:sldMk cId="3777078604" sldId="625"/>
        </pc:sldMkLst>
        <pc:spChg chg="del">
          <ac:chgData name="Dieter Beaven" userId="9bbdb69f-69d0-4759-aa9b-5c090a2da237" providerId="ADAL" clId="{8E671492-5E7D-4474-9302-E3A9557BF741}" dt="2025-09-19T14:48:40.214" v="0" actId="478"/>
          <ac:spMkLst>
            <pc:docMk/>
            <pc:sldMk cId="3777078604" sldId="625"/>
            <ac:spMk id="28" creationId="{00000000-0000-0000-0000-000000000000}"/>
          </ac:spMkLst>
        </pc:spChg>
        <pc:picChg chg="del">
          <ac:chgData name="Dieter Beaven" userId="9bbdb69f-69d0-4759-aa9b-5c090a2da237" providerId="ADAL" clId="{8E671492-5E7D-4474-9302-E3A9557BF741}" dt="2025-09-19T14:48:40.214" v="0" actId="478"/>
          <ac:picMkLst>
            <pc:docMk/>
            <pc:sldMk cId="3777078604" sldId="625"/>
            <ac:picMk id="27" creationId="{00000000-0000-0000-0000-000000000000}"/>
          </ac:picMkLst>
        </pc:picChg>
      </pc:sldChg>
    </pc:docChg>
  </pc:docChgLst>
  <pc:docChgLst>
    <pc:chgData name="Dieter Beaven" userId="9bbdb69f-69d0-4759-aa9b-5c090a2da237" providerId="ADAL" clId="{4C852731-5E00-4CEB-968B-CB6D352D4FBA}"/>
    <pc:docChg chg="modSld">
      <pc:chgData name="Dieter Beaven" userId="9bbdb69f-69d0-4759-aa9b-5c090a2da237" providerId="ADAL" clId="{4C852731-5E00-4CEB-968B-CB6D352D4FBA}" dt="2025-04-25T15:27:25.676" v="5" actId="20577"/>
      <pc:docMkLst>
        <pc:docMk/>
      </pc:docMkLst>
      <pc:sldChg chg="modSp mod">
        <pc:chgData name="Dieter Beaven" userId="9bbdb69f-69d0-4759-aa9b-5c090a2da237" providerId="ADAL" clId="{4C852731-5E00-4CEB-968B-CB6D352D4FBA}" dt="2025-04-25T15:27:25.676" v="5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4C852731-5E00-4CEB-968B-CB6D352D4FBA}" dt="2025-04-25T15:27:07.693" v="2" actId="6549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FE1C5955-5A71-4A34-BC77-5CA3EC562EC6}"/>
    <pc:docChg chg="custSel delSld modSld">
      <pc:chgData name="Dieter Beaven" userId="9bbdb69f-69d0-4759-aa9b-5c090a2da237" providerId="ADAL" clId="{FE1C5955-5A71-4A34-BC77-5CA3EC562EC6}" dt="2025-06-20T09:16:34.991" v="11" actId="47"/>
      <pc:docMkLst>
        <pc:docMk/>
      </pc:docMkLst>
      <pc:sldChg chg="addSp delSp modSp mod">
        <pc:chgData name="Dieter Beaven" userId="9bbdb69f-69d0-4759-aa9b-5c090a2da237" providerId="ADAL" clId="{FE1C5955-5A71-4A34-BC77-5CA3EC562EC6}" dt="2025-06-17T14:43:42.469" v="3" actId="107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FE1C5955-5A71-4A34-BC77-5CA3EC562EC6}" dt="2025-06-20T09:16:29.543" v="10" actId="1035"/>
        <pc:sldMkLst>
          <pc:docMk/>
          <pc:sldMk cId="3458699803" sldId="545"/>
        </pc:sldMkLst>
      </pc:sldChg>
      <pc:sldChg chg="addSp modSp mod">
        <pc:chgData name="Dieter Beaven" userId="9bbdb69f-69d0-4759-aa9b-5c090a2da237" providerId="ADAL" clId="{FE1C5955-5A71-4A34-BC77-5CA3EC562EC6}" dt="2025-06-17T14:44:03.082" v="5" actId="1076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FE1C5955-5A71-4A34-BC77-5CA3EC562EC6}" dt="2025-06-17T14:44:04.957" v="6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FE1C5955-5A71-4A34-BC77-5CA3EC562EC6}" dt="2025-06-20T09:16:34.991" v="11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7AB2A6F8-BF58-4BAB-8D6D-838941E5B22F}"/>
    <pc:docChg chg="custSel addSld modSld">
      <pc:chgData name="Dieter Beaven" userId="9bbdb69f-69d0-4759-aa9b-5c090a2da237" providerId="ADAL" clId="{7AB2A6F8-BF58-4BAB-8D6D-838941E5B22F}" dt="2025-05-09T15:37:38.972" v="49" actId="6549"/>
      <pc:docMkLst>
        <pc:docMk/>
      </pc:docMkLst>
      <pc:sldChg chg="modSp mod">
        <pc:chgData name="Dieter Beaven" userId="9bbdb69f-69d0-4759-aa9b-5c090a2da237" providerId="ADAL" clId="{7AB2A6F8-BF58-4BAB-8D6D-838941E5B22F}" dt="2025-05-08T15:44:28.107" v="23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7AB2A6F8-BF58-4BAB-8D6D-838941E5B22F}" dt="2025-05-08T15:44:09.453" v="2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7AB2A6F8-BF58-4BAB-8D6D-838941E5B22F}" dt="2025-05-08T15:44:01.535" v="0"/>
        <pc:sldMkLst>
          <pc:docMk/>
          <pc:sldMk cId="2953143058" sldId="619"/>
        </pc:sldMkLst>
      </pc:sldChg>
      <pc:sldChg chg="add">
        <pc:chgData name="Dieter Beaven" userId="9bbdb69f-69d0-4759-aa9b-5c090a2da237" providerId="ADAL" clId="{7AB2A6F8-BF58-4BAB-8D6D-838941E5B22F}" dt="2025-05-08T15:44:01.535" v="0"/>
        <pc:sldMkLst>
          <pc:docMk/>
          <pc:sldMk cId="1052921946" sldId="621"/>
        </pc:sldMkLst>
      </pc:sldChg>
      <pc:sldChg chg="add">
        <pc:chgData name="Dieter Beaven" userId="9bbdb69f-69d0-4759-aa9b-5c090a2da237" providerId="ADAL" clId="{7AB2A6F8-BF58-4BAB-8D6D-838941E5B22F}" dt="2025-05-08T15:44:01.535" v="0"/>
        <pc:sldMkLst>
          <pc:docMk/>
          <pc:sldMk cId="702895692" sldId="622"/>
        </pc:sldMkLst>
      </pc:sldChg>
      <pc:sldChg chg="add">
        <pc:chgData name="Dieter Beaven" userId="9bbdb69f-69d0-4759-aa9b-5c090a2da237" providerId="ADAL" clId="{7AB2A6F8-BF58-4BAB-8D6D-838941E5B22F}" dt="2025-05-08T15:44:01.535" v="0"/>
        <pc:sldMkLst>
          <pc:docMk/>
          <pc:sldMk cId="3193906009" sldId="623"/>
        </pc:sldMkLst>
      </pc:sldChg>
      <pc:sldChg chg="delSp modSp add mod">
        <pc:chgData name="Dieter Beaven" userId="9bbdb69f-69d0-4759-aa9b-5c090a2da237" providerId="ADAL" clId="{7AB2A6F8-BF58-4BAB-8D6D-838941E5B22F}" dt="2025-05-09T15:36:19.032" v="41" actId="1076"/>
        <pc:sldMkLst>
          <pc:docMk/>
          <pc:sldMk cId="3852737817" sldId="624"/>
        </pc:sldMkLst>
      </pc:sldChg>
      <pc:sldChg chg="modSp add mod">
        <pc:chgData name="Dieter Beaven" userId="9bbdb69f-69d0-4759-aa9b-5c090a2da237" providerId="ADAL" clId="{7AB2A6F8-BF58-4BAB-8D6D-838941E5B22F}" dt="2025-05-09T15:37:38.972" v="49" actId="6549"/>
        <pc:sldMkLst>
          <pc:docMk/>
          <pc:sldMk cId="3777078604" sldId="625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30.png"/><Relationship Id="rId7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/>
            </a:br>
            <a:r>
              <a:rPr lang="en-GB"/>
              <a:t>Limiting Chords  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Finding the Gradient Function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2428" y="826923"/>
                <a:ext cx="81920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This gives us a numerical method to get the gradient </a:t>
                </a:r>
                <a:r>
                  <a:rPr lang="en-GB" b="1" dirty="0"/>
                  <a:t>at a particular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dirty="0"/>
                  <a:t>, but doesn’t give us the gradient function in general. Let’s use exactly the same method, but keep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general, and make the ‘small change’ (which was previously 0.01) ‘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’: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28" y="826923"/>
                <a:ext cx="8192020" cy="923330"/>
              </a:xfrm>
              <a:prstGeom prst="rect">
                <a:avLst/>
              </a:prstGeom>
              <a:blipFill>
                <a:blip r:embed="rId2"/>
                <a:stretch>
                  <a:fillRect l="-670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75662" y="2428393"/>
                <a:ext cx="5819775" cy="2978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𝑔𝑟𝑎𝑑𝑖𝑒𝑛𝑡</m:t>
                      </m:r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0" smtClean="0">
                          <a:latin typeface="Cambria Math"/>
                        </a:rPr>
                        <m:t>                   </m:t>
                      </m:r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𝑥h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                   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                   =2</m:t>
                      </m:r>
                      <m:r>
                        <a:rPr lang="en-GB" sz="24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br>
                  <a:rPr lang="en-GB" b="0" dirty="0"/>
                </a:br>
                <a:br>
                  <a:rPr lang="en-GB" b="0" dirty="0"/>
                </a:br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662" y="2428393"/>
                <a:ext cx="5819775" cy="29789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4"/>
          <p:cNvSpPr/>
          <p:nvPr/>
        </p:nvSpPr>
        <p:spPr>
          <a:xfrm>
            <a:off x="294106" y="2127906"/>
            <a:ext cx="2035534" cy="1709531"/>
          </a:xfrm>
          <a:custGeom>
            <a:avLst/>
            <a:gdLst>
              <a:gd name="connsiteX0" fmla="*/ 0 w 2035534"/>
              <a:gd name="connsiteY0" fmla="*/ 1709531 h 1709531"/>
              <a:gd name="connsiteX1" fmla="*/ 747423 w 2035534"/>
              <a:gd name="connsiteY1" fmla="*/ 1502797 h 1709531"/>
              <a:gd name="connsiteX2" fmla="*/ 1351722 w 2035534"/>
              <a:gd name="connsiteY2" fmla="*/ 1144988 h 1709531"/>
              <a:gd name="connsiteX3" fmla="*/ 1701579 w 2035534"/>
              <a:gd name="connsiteY3" fmla="*/ 755374 h 1709531"/>
              <a:gd name="connsiteX4" fmla="*/ 2035534 w 2035534"/>
              <a:gd name="connsiteY4" fmla="*/ 0 h 1709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5534" h="1709531">
                <a:moveTo>
                  <a:pt x="0" y="1709531"/>
                </a:moveTo>
                <a:cubicBezTo>
                  <a:pt x="261068" y="1653209"/>
                  <a:pt x="522136" y="1596887"/>
                  <a:pt x="747423" y="1502797"/>
                </a:cubicBezTo>
                <a:cubicBezTo>
                  <a:pt x="972710" y="1408707"/>
                  <a:pt x="1192696" y="1269558"/>
                  <a:pt x="1351722" y="1144988"/>
                </a:cubicBezTo>
                <a:cubicBezTo>
                  <a:pt x="1510748" y="1020418"/>
                  <a:pt x="1587610" y="946205"/>
                  <a:pt x="1701579" y="755374"/>
                </a:cubicBezTo>
                <a:cubicBezTo>
                  <a:pt x="1815548" y="564543"/>
                  <a:pt x="1925541" y="282271"/>
                  <a:pt x="203553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51155" y="3095555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55" y="3095555"/>
                <a:ext cx="720080" cy="369332"/>
              </a:xfrm>
              <a:prstGeom prst="rect">
                <a:avLst/>
              </a:prstGeom>
              <a:blipFill>
                <a:blip r:embed="rId4"/>
                <a:stretch>
                  <a:fillRect r="-8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1187978" y="3460358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95263" y="2533779"/>
                <a:ext cx="19330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63" y="2533779"/>
                <a:ext cx="193301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6888480" y="2398906"/>
            <a:ext cx="2217714" cy="738664"/>
            <a:chOff x="6744110" y="1575460"/>
            <a:chExt cx="2217714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7017608" y="1575460"/>
                  <a:ext cx="1944216" cy="738664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As always, gradient is change in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GB" sz="1400" dirty="0"/>
                    <a:t> over change in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sz="1400" dirty="0"/>
                    <a:t>.</a:t>
                  </a: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608" y="1575460"/>
                  <a:ext cx="1944216" cy="738664"/>
                </a:xfrm>
                <a:prstGeom prst="rect">
                  <a:avLst/>
                </a:prstGeom>
                <a:blipFill>
                  <a:blip r:embed="rId6"/>
                  <a:stretch>
                    <a:fillRect l="-310" r="-2167" b="-56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/>
            <p:cNvCxnSpPr>
              <a:stCxn id="14" idx="1"/>
            </p:cNvCxnSpPr>
            <p:nvPr/>
          </p:nvCxnSpPr>
          <p:spPr>
            <a:xfrm flipH="1">
              <a:off x="6744110" y="1944792"/>
              <a:ext cx="273498" cy="16546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6312615" y="4191166"/>
            <a:ext cx="2484276" cy="1242139"/>
            <a:chOff x="5400092" y="4725144"/>
            <a:chExt cx="2484276" cy="12421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940152" y="5013176"/>
                  <a:ext cx="1944216" cy="954107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The </a:t>
                  </a:r>
                  <a14:m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GB" sz="1400" dirty="0"/>
                    <a:t> disappears as </a:t>
                  </a:r>
                  <a14:m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GB" sz="1400" dirty="0"/>
                    <a:t> tends towards 0, i.e. we can effectively treat it as 0 at this point.</a:t>
                  </a: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0152" y="5013176"/>
                  <a:ext cx="1944216" cy="954107"/>
                </a:xfrm>
                <a:prstGeom prst="rect">
                  <a:avLst/>
                </a:prstGeom>
                <a:blipFill>
                  <a:blip r:embed="rId7"/>
                  <a:stretch>
                    <a:fillRect l="-310" b="-43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>
              <a:stCxn id="17" idx="1"/>
            </p:cNvCxnSpPr>
            <p:nvPr/>
          </p:nvCxnSpPr>
          <p:spPr>
            <a:xfrm flipH="1" flipV="1">
              <a:off x="5400092" y="4725144"/>
              <a:ext cx="540060" cy="76508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354090" y="351712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090" y="3517126"/>
                <a:ext cx="648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43499" y="3094531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499" y="3094531"/>
                <a:ext cx="6480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9" idx="6"/>
          </p:cNvCxnSpPr>
          <p:nvPr/>
        </p:nvCxnSpPr>
        <p:spPr>
          <a:xfrm>
            <a:off x="1331994" y="3532366"/>
            <a:ext cx="64807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4"/>
          </p:cNvCxnSpPr>
          <p:nvPr/>
        </p:nvCxnSpPr>
        <p:spPr>
          <a:xfrm>
            <a:off x="1980066" y="3028310"/>
            <a:ext cx="0" cy="504056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18814" y="2995062"/>
            <a:ext cx="345165" cy="3882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5346" y="2423876"/>
            <a:ext cx="806314" cy="44124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914400" y="2565401"/>
            <a:ext cx="1562100" cy="12636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613143" y="3264195"/>
            <a:ext cx="3554820" cy="2648993"/>
            <a:chOff x="7017607" y="633857"/>
            <a:chExt cx="3554820" cy="26489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7017607" y="1575460"/>
                  <a:ext cx="2385237" cy="170739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The </a:t>
                  </a:r>
                  <a:r>
                    <a:rPr lang="en-GB" sz="1400" dirty="0" err="1"/>
                    <a:t>lim</a:t>
                  </a:r>
                  <a:r>
                    <a:rPr lang="en-GB" sz="1400" dirty="0"/>
                    <a:t> means “</a:t>
                  </a:r>
                  <a:r>
                    <a:rPr lang="en-GB" sz="1400" i="1" dirty="0"/>
                    <a:t>the limit of the following expression as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GB" sz="1400" i="1" dirty="0"/>
                    <a:t> tends towards 0</a:t>
                  </a:r>
                  <a:r>
                    <a:rPr lang="en-GB" sz="1400" dirty="0"/>
                    <a:t>”.</a:t>
                  </a:r>
                </a:p>
                <a:p>
                  <a:r>
                    <a:rPr lang="en-GB" sz="1400" dirty="0"/>
                    <a:t>For example,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GB" sz="1400" dirty="0"/>
                    <a:t>, because as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sz="1400" dirty="0"/>
                    <a:t> “tends towards” infinity, the “limiting” value of the expression is 0.</a:t>
                  </a: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607" y="1575460"/>
                  <a:ext cx="2385237" cy="1707390"/>
                </a:xfrm>
                <a:prstGeom prst="rect">
                  <a:avLst/>
                </a:prstGeom>
                <a:blipFill>
                  <a:blip r:embed="rId10"/>
                  <a:stretch>
                    <a:fillRect l="-253" r="-1519" b="-211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/>
            <p:cNvCxnSpPr/>
            <p:nvPr/>
          </p:nvCxnSpPr>
          <p:spPr>
            <a:xfrm flipV="1">
              <a:off x="9381580" y="633857"/>
              <a:ext cx="1190847" cy="146094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Oval 9"/>
          <p:cNvSpPr/>
          <p:nvPr/>
        </p:nvSpPr>
        <p:spPr>
          <a:xfrm>
            <a:off x="1908058" y="288429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642048" y="5331199"/>
                <a:ext cx="23733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And voila, we got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we saw earlier!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048" y="5331199"/>
                <a:ext cx="2373364" cy="646331"/>
              </a:xfrm>
              <a:prstGeom prst="rect">
                <a:avLst/>
              </a:prstGeom>
              <a:blipFill>
                <a:blip r:embed="rId11"/>
                <a:stretch>
                  <a:fillRect l="-2051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/>
          <p:cNvSpPr/>
          <p:nvPr/>
        </p:nvSpPr>
        <p:spPr>
          <a:xfrm>
            <a:off x="4518837" y="2395223"/>
            <a:ext cx="2349795" cy="8583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08438" y="3253563"/>
            <a:ext cx="2073115" cy="7230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08439" y="3976577"/>
            <a:ext cx="1658446" cy="4678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8439" y="4458047"/>
            <a:ext cx="1658446" cy="4678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801724" y="1789041"/>
                <a:ext cx="112222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724" y="1789041"/>
                <a:ext cx="1122229" cy="375552"/>
              </a:xfrm>
              <a:prstGeom prst="rect">
                <a:avLst/>
              </a:prstGeom>
              <a:blipFill>
                <a:blip r:embed="rId1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14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42" grpId="0"/>
      <p:bldP spid="44" grpId="0" animBg="1"/>
      <p:bldP spid="45" grpId="0" animBg="1"/>
      <p:bldP spid="46" grpId="0" animBg="1"/>
      <p:bldP spid="4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Finding the Gradient Function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74798" y="980728"/>
                <a:ext cx="6193260" cy="185980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The gradient function, or derivative, of the curve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written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gradient function can be used to find the gradient of the curve for any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798" y="980728"/>
                <a:ext cx="6193260" cy="1859805"/>
              </a:xfrm>
              <a:prstGeom prst="rect">
                <a:avLst/>
              </a:prstGeom>
              <a:blipFill>
                <a:blip r:embed="rId2"/>
                <a:stretch>
                  <a:fillRect l="-686" t="-1618" r="-98" b="-3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7712" y="3250666"/>
                <a:ext cx="3742659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We will soon see an easier/quicker way to differentiate expressions like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without using ‘limits’. But this method, known as </a:t>
                </a:r>
                <a:r>
                  <a:rPr lang="en-GB" sz="1400" b="1" dirty="0"/>
                  <a:t>differentiating by first principles</a:t>
                </a:r>
                <a:r>
                  <a:rPr lang="en-GB" sz="1400" dirty="0"/>
                  <a:t>, is now in the A Level syllabus, and you could be tested on it!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12" y="3250666"/>
                <a:ext cx="3742659" cy="1169551"/>
              </a:xfrm>
              <a:prstGeom prst="rect">
                <a:avLst/>
              </a:prstGeom>
              <a:blipFill>
                <a:blip r:embed="rId3"/>
                <a:stretch>
                  <a:fillRect l="-489" t="-1042" r="-1303" b="-46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2456121" y="2943791"/>
            <a:ext cx="347576" cy="288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77392" y="3020115"/>
                <a:ext cx="3314500" cy="2067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Notation Note:</a:t>
                </a:r>
              </a:p>
              <a:p>
                <a:r>
                  <a:rPr lang="en-GB" sz="1400" dirty="0"/>
                  <a:t>Whether we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400" dirty="0"/>
                  <a:t> or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 for the gradient function depends on whether we use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400" dirty="0"/>
                  <a:t> or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400" dirty="0"/>
                  <a:t> to start with:</a:t>
                </a:r>
              </a:p>
              <a:p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→  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392" y="3020115"/>
                <a:ext cx="3314500" cy="2067297"/>
              </a:xfrm>
              <a:prstGeom prst="rect">
                <a:avLst/>
              </a:prstGeom>
              <a:blipFill>
                <a:blip r:embed="rId4"/>
                <a:stretch>
                  <a:fillRect l="-552" t="-294" b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>
            <a:off x="7197888" y="4088042"/>
            <a:ext cx="350522" cy="160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176438" y="4428184"/>
            <a:ext cx="917682" cy="46166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200" dirty="0"/>
              <a:t>“Lagrange’s notation”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20517" y="4657060"/>
            <a:ext cx="845288" cy="104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567676" y="5095572"/>
                <a:ext cx="4493457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There’s in fact a third way to indicate the gradient function, notation used by Newton: (but not used at A Level)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→  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676" y="5095572"/>
                <a:ext cx="4493457" cy="800219"/>
              </a:xfrm>
              <a:prstGeom prst="rect">
                <a:avLst/>
              </a:prstGeom>
              <a:blipFill>
                <a:blip r:embed="rId5"/>
                <a:stretch>
                  <a:fillRect l="-407" t="-1527" r="-407" b="-2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59084" y="4694008"/>
                <a:ext cx="3840776" cy="2115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Advanced Notation Note:</a:t>
                </a:r>
              </a:p>
              <a:p>
                <a:r>
                  <a:rPr lang="en-GB" sz="1400" dirty="0"/>
                  <a:t>Rather than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400" dirty="0"/>
                  <a:t> for the small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the formal notation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 So actually: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→0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So we in fact have 3 symbols for “change in”!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: any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(as seen in Chp5: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4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: a small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sz="1400" dirty="0"/>
                  <a:t>: an infinitesimally small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84" y="4694008"/>
                <a:ext cx="3840776" cy="2115131"/>
              </a:xfrm>
              <a:prstGeom prst="rect">
                <a:avLst/>
              </a:prstGeom>
              <a:blipFill>
                <a:blip r:embed="rId6"/>
                <a:stretch>
                  <a:fillRect l="-476" t="-576" b="-23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775750" y="6080787"/>
                <a:ext cx="3773341" cy="54854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200" dirty="0"/>
                  <a:t>So the estimated gradient using some point close by was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200" dirty="0"/>
                  <a:t>, but in the ‘limit’ as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1200" dirty="0"/>
                  <a:t>,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750" y="6080787"/>
                <a:ext cx="3773341" cy="5485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>
            <a:off x="3859619" y="6355061"/>
            <a:ext cx="916131" cy="162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517522" y="3962922"/>
            <a:ext cx="1416478" cy="30777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1200" dirty="0"/>
              <a:t>“Leibniz’s notation</a:t>
            </a:r>
            <a:r>
              <a:rPr lang="en-GB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292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7" grpId="0" animBg="1"/>
      <p:bldP spid="24" grpId="0"/>
      <p:bldP spid="26" grpId="0"/>
      <p:bldP spid="28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11820" y="72241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Wingdings" panose="05000000000000000000" pitchFamily="2" charset="2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1900" y="885002"/>
                <a:ext cx="734050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with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4,16</m:t>
                        </m:r>
                      </m:e>
                    </m:d>
                  </m:oMath>
                </a14:m>
                <a:r>
                  <a:rPr lang="en-GB" dirty="0"/>
                  <a:t> lies on the curve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At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the curve has gradient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Show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8+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Deduce the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00" y="885002"/>
                <a:ext cx="7340500" cy="1200329"/>
              </a:xfrm>
              <a:prstGeom prst="rect">
                <a:avLst/>
              </a:prstGeom>
              <a:blipFill>
                <a:blip r:embed="rId2"/>
                <a:stretch>
                  <a:fillRect b="-4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19672" y="2492896"/>
                <a:ext cx="4464496" cy="3212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4+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16+8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−16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2492896"/>
                <a:ext cx="4464496" cy="32120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02460" y="5174208"/>
                <a:ext cx="29762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As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1600" dirty="0"/>
                  <a:t>, clearly the limiting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8+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600" dirty="0"/>
                  <a:t> is 8.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460" y="5174208"/>
                <a:ext cx="2976240" cy="584775"/>
              </a:xfrm>
              <a:prstGeom prst="rect">
                <a:avLst/>
              </a:prstGeom>
              <a:blipFill>
                <a:blip r:embed="rId4"/>
                <a:stretch>
                  <a:fillRect l="-1025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 flipV="1">
            <a:off x="2771800" y="5445224"/>
            <a:ext cx="1558900" cy="142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80112" y="3180747"/>
                <a:ext cx="29762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Function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3180747"/>
                <a:ext cx="2976240" cy="338554"/>
              </a:xfrm>
              <a:prstGeom prst="rect">
                <a:avLst/>
              </a:prstGeom>
              <a:blipFill>
                <a:blip r:embed="rId5"/>
                <a:stretch>
                  <a:fillRect l="-1022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580112" y="2511688"/>
            <a:ext cx="2976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Use the “differentiation by first principles” formula.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5067300" y="2717800"/>
            <a:ext cx="512812" cy="30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67300" y="3306137"/>
            <a:ext cx="512812" cy="30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15616" y="2447796"/>
            <a:ext cx="216024" cy="2071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616" y="5220134"/>
            <a:ext cx="216024" cy="2071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1640" y="2447796"/>
            <a:ext cx="6948760" cy="26449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1640" y="5219700"/>
            <a:ext cx="6948760" cy="850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289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14400" y="973902"/>
                <a:ext cx="751398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Prove </a:t>
                </a:r>
                <a:r>
                  <a:rPr lang="en-GB" b="1" dirty="0"/>
                  <a:t>from first principles </a:t>
                </a:r>
                <a:r>
                  <a:rPr lang="en-GB" dirty="0"/>
                  <a:t>that the derivative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00" y="973902"/>
                <a:ext cx="7513984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68" y="1844824"/>
                <a:ext cx="6955308" cy="2939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" y="1844824"/>
                <a:ext cx="6955308" cy="29394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65564" y="3967212"/>
                <a:ext cx="28803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1400" dirty="0"/>
                  <a:t>, any term involving a multiplication by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400" dirty="0"/>
                  <a:t> will become 0.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564" y="3967212"/>
                <a:ext cx="2880320" cy="523220"/>
              </a:xfrm>
              <a:prstGeom prst="rect">
                <a:avLst/>
              </a:prstGeom>
              <a:blipFill>
                <a:blip r:embed="rId4"/>
                <a:stretch>
                  <a:fillRect l="-636" t="-2326" b="-10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 flipV="1">
            <a:off x="4622800" y="4165600"/>
            <a:ext cx="741288" cy="5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4400" y="1359789"/>
            <a:ext cx="7513984" cy="37253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2168" y="1523008"/>
            <a:ext cx="2054572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Helping Hand:</a:t>
            </a:r>
          </a:p>
          <a:p>
            <a:r>
              <a:rPr lang="en-GB" sz="1400" dirty="0"/>
              <a:t>“Row 4” of Pascal’s Triangle is:</a:t>
            </a:r>
          </a:p>
          <a:p>
            <a:pPr algn="ctr"/>
            <a:r>
              <a:rPr lang="en-GB" sz="1400" dirty="0"/>
              <a:t>1 4 6 4 1</a:t>
            </a:r>
          </a:p>
          <a:p>
            <a:r>
              <a:rPr lang="en-GB" sz="1400" dirty="0"/>
              <a:t>You’re welcome.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390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93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83568" y="2492896"/>
                <a:ext cx="4752528" cy="158280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Reminder: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both mean the gradient function, also known as the derivative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92896"/>
                <a:ext cx="4752528" cy="1582806"/>
              </a:xfrm>
              <a:prstGeom prst="rect">
                <a:avLst/>
              </a:prstGeom>
              <a:blipFill>
                <a:blip r:embed="rId2"/>
                <a:stretch>
                  <a:fillRect l="-765" t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73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9512" y="847345"/>
                <a:ext cx="6192688" cy="1195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Why couldn’t we just immediately make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2800" dirty="0"/>
                  <a:t> equal to 0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8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GB" sz="2800" dirty="0"/>
                  <a:t>   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847345"/>
                <a:ext cx="6192688" cy="1195071"/>
              </a:xfrm>
              <a:prstGeom prst="rect">
                <a:avLst/>
              </a:prstGeom>
              <a:blipFill>
                <a:blip r:embed="rId3"/>
                <a:stretch>
                  <a:fillRect l="-98" t="-4592" r="-1476" b="-6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Right 5"/>
          <p:cNvSpPr/>
          <p:nvPr/>
        </p:nvSpPr>
        <p:spPr>
          <a:xfrm>
            <a:off x="4195192" y="3065365"/>
            <a:ext cx="504056" cy="2917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 descr="Image result for stick man scratching hea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022" y="870656"/>
            <a:ext cx="974282" cy="116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589304" y="847345"/>
            <a:ext cx="146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Not </a:t>
            </a:r>
            <a:r>
              <a:rPr lang="en-GB" sz="1200" dirty="0"/>
              <a:t>another one of these…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660" y="2497088"/>
                <a:ext cx="3706440" cy="1479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we just stick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in straight away: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+0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Wait, uh oh…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60" y="2497088"/>
                <a:ext cx="3706440" cy="1479123"/>
              </a:xfrm>
              <a:prstGeom prst="rect">
                <a:avLst/>
              </a:prstGeom>
              <a:blipFill>
                <a:blip r:embed="rId5"/>
                <a:stretch>
                  <a:fillRect l="-1480" t="-2479" r="-493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12804" y="2281188"/>
                <a:ext cx="4023816" cy="2741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GB" sz="1600" dirty="0"/>
                  <a:t> is known as an </a:t>
                </a:r>
                <a:r>
                  <a:rPr lang="en-GB" sz="1600" b="1" dirty="0"/>
                  <a:t>indeterminate</a:t>
                </a:r>
                <a:r>
                  <a:rPr lang="en-GB" sz="1600" dirty="0"/>
                  <a:t> </a:t>
                </a:r>
                <a:r>
                  <a:rPr lang="en-GB" sz="1600" b="1" dirty="0"/>
                  <a:t>form</a:t>
                </a:r>
                <a:r>
                  <a:rPr lang="en-GB" sz="1600" dirty="0"/>
                  <a:t>. Whereas we know what happens with expressions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GB" sz="1600" dirty="0"/>
                  <a:t> (i.e. its value tends towards infinity), indeterminate forms are bad because their values are ambiguous, and prevent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𝑙𝑖𝑚</m:t>
                    </m:r>
                  </m:oMath>
                </a14:m>
                <a:r>
                  <a:rPr lang="en-GB" sz="1600" dirty="0"/>
                  <a:t> expressions from being evaluated.</a:t>
                </a:r>
              </a:p>
              <a:p>
                <a:endParaRPr lang="en-GB" sz="400" dirty="0"/>
              </a:p>
              <a:p>
                <a:r>
                  <a:rPr lang="en-GB" sz="1600" dirty="0"/>
                  <a:t>Consider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GB" sz="1600" dirty="0"/>
                  <a:t> for example: 0 divided by anything usually gives 0, but anything divided by 0 is usually infinity. We can see these conflict.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804" y="2281188"/>
                <a:ext cx="4023816" cy="2741391"/>
              </a:xfrm>
              <a:prstGeom prst="rect">
                <a:avLst/>
              </a:prstGeom>
              <a:blipFill>
                <a:blip r:embed="rId6"/>
                <a:stretch>
                  <a:fillRect l="-758" r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/>
          <p:cNvSpPr/>
          <p:nvPr/>
        </p:nvSpPr>
        <p:spPr>
          <a:xfrm rot="5400000">
            <a:off x="6653695" y="5078899"/>
            <a:ext cx="405638" cy="33317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114260" y="5566098"/>
                <a:ext cx="3999811" cy="985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Can you guess some other indeterminate forms, i.e. expressions whose value is ambiguous?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×∞     ∞−∞     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260" y="5566098"/>
                <a:ext cx="3999811" cy="985847"/>
              </a:xfrm>
              <a:prstGeom prst="rect">
                <a:avLst/>
              </a:prstGeom>
              <a:blipFill>
                <a:blip r:embed="rId7"/>
                <a:stretch>
                  <a:fillRect l="-457" t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Right 13"/>
          <p:cNvSpPr/>
          <p:nvPr/>
        </p:nvSpPr>
        <p:spPr>
          <a:xfrm rot="10800000">
            <a:off x="4472535" y="5554361"/>
            <a:ext cx="405638" cy="33317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2996" y="4184474"/>
                <a:ext cx="4792920" cy="188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Thankfully, when indeterminate forms appear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𝑙𝑖𝑚</m:t>
                    </m:r>
                  </m:oMath>
                </a14:m>
                <a:r>
                  <a:rPr lang="en-GB" sz="1400" dirty="0"/>
                  <a:t> expressions, there are variety of techniques to turn the expression into one that doesn’t have any indeterminate forms.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One simple technique, that worked in our example, is to expand and simplify. This gave us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400" dirty="0"/>
                  <a:t> 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+0</m:t>
                    </m:r>
                  </m:oMath>
                </a14:m>
                <a:r>
                  <a:rPr lang="en-GB" sz="1400" dirty="0"/>
                  <a:t> clearly is fine. Other techniques are more advanced.</a:t>
                </a:r>
              </a:p>
              <a:p>
                <a:r>
                  <a:rPr lang="en-GB" sz="1400" dirty="0"/>
                  <a:t>This is important when sketching harder functions: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6" y="4184474"/>
                <a:ext cx="4792920" cy="1881092"/>
              </a:xfrm>
              <a:prstGeom prst="rect">
                <a:avLst/>
              </a:prstGeom>
              <a:blipFill>
                <a:blip r:embed="rId8"/>
                <a:stretch>
                  <a:fillRect l="-382" t="-324" b="-25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/>
          <p:cNvCxnSpPr/>
          <p:nvPr/>
        </p:nvCxnSpPr>
        <p:spPr>
          <a:xfrm>
            <a:off x="395660" y="4111427"/>
            <a:ext cx="35124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4763032" y="3628065"/>
            <a:ext cx="354" cy="16386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4756488" y="6075594"/>
            <a:ext cx="3925" cy="5591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190954" y="6034685"/>
            <a:ext cx="3727400" cy="6301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7707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  <p:bldP spid="12" grpId="0" animBg="1"/>
      <p:bldP spid="13" grpId="0"/>
      <p:bldP spid="14" grpId="0" animBg="1"/>
      <p:bldP spid="15" grpId="0"/>
      <p:bldP spid="26" grpId="0" animBg="1"/>
      <p:bldP spid="2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/>
              <a:t>Page </a:t>
            </a:r>
            <a:r>
              <a:rPr lang="en-GB" sz="2400" dirty="0"/>
              <a:t>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DD8474-292E-0850-0570-2C10F3F92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40" y="1052736"/>
            <a:ext cx="734377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7978310-DD26-D9AF-6A68-EE70AF50B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03" y="980728"/>
            <a:ext cx="733425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A344FB9-62D6-33FE-F4EC-3AA73EAF5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72" y="620688"/>
            <a:ext cx="8192855" cy="621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61754</TotalTime>
  <Words>922</Words>
  <Application>Microsoft Office PowerPoint</Application>
  <PresentationFormat>On-screen Show (4:3)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Wingdings</vt:lpstr>
      <vt:lpstr>Office Theme</vt:lpstr>
      <vt:lpstr>P1 Chapter 12: Differentiation  Limiting Chords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2025-09-19T14:48:43Z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