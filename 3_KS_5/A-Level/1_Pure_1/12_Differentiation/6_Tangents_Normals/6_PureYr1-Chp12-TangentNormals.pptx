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547" r:id="rId5"/>
    <p:sldId id="637" r:id="rId6"/>
    <p:sldId id="638" r:id="rId7"/>
    <p:sldId id="636" r:id="rId8"/>
    <p:sldId id="639" r:id="rId9"/>
    <p:sldId id="640" r:id="rId10"/>
    <p:sldId id="543" r:id="rId11"/>
    <p:sldId id="54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F302947-2B75-4670-B1D7-9A45CF8980D0}" dt="2025-04-29T11:58:36.234" v="2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1C09571C-4731-4B9F-9337-F0A2689C1F47}"/>
    <pc:docChg chg="addSld delSld modSld">
      <pc:chgData name="Dieter Beaven" userId="9bbdb69f-69d0-4759-aa9b-5c090a2da237" providerId="ADAL" clId="{1C09571C-4731-4B9F-9337-F0A2689C1F47}" dt="2025-05-09T15:46:27.808" v="38"/>
      <pc:docMkLst>
        <pc:docMk/>
      </pc:docMkLst>
      <pc:sldChg chg="modSp mod">
        <pc:chgData name="Dieter Beaven" userId="9bbdb69f-69d0-4759-aa9b-5c090a2da237" providerId="ADAL" clId="{1C09571C-4731-4B9F-9337-F0A2689C1F47}" dt="2025-05-09T15:45:38.150" v="37" actId="20577"/>
        <pc:sldMkLst>
          <pc:docMk/>
          <pc:sldMk cId="3991975165" sldId="547"/>
        </pc:sldMkLst>
        <pc:spChg chg="mod">
          <ac:chgData name="Dieter Beaven" userId="9bbdb69f-69d0-4759-aa9b-5c090a2da237" providerId="ADAL" clId="{1C09571C-4731-4B9F-9337-F0A2689C1F47}" dt="2025-05-09T15:45:38.150" v="37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del">
        <pc:chgData name="Dieter Beaven" userId="9bbdb69f-69d0-4759-aa9b-5c090a2da237" providerId="ADAL" clId="{1C09571C-4731-4B9F-9337-F0A2689C1F47}" dt="2025-05-09T15:44:53.885" v="1" actId="4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09571C-4731-4B9F-9337-F0A2689C1F47}" dt="2025-05-09T15:44:49.118" v="0"/>
        <pc:sldMkLst>
          <pc:docMk/>
          <pc:sldMk cId="2537761237" sldId="636"/>
        </pc:sldMkLst>
      </pc:sldChg>
      <pc:sldChg chg="add">
        <pc:chgData name="Dieter Beaven" userId="9bbdb69f-69d0-4759-aa9b-5c090a2da237" providerId="ADAL" clId="{1C09571C-4731-4B9F-9337-F0A2689C1F47}" dt="2025-05-09T15:44:49.118" v="0"/>
        <pc:sldMkLst>
          <pc:docMk/>
          <pc:sldMk cId="493787261" sldId="637"/>
        </pc:sldMkLst>
      </pc:sldChg>
      <pc:sldChg chg="add">
        <pc:chgData name="Dieter Beaven" userId="9bbdb69f-69d0-4759-aa9b-5c090a2da237" providerId="ADAL" clId="{1C09571C-4731-4B9F-9337-F0A2689C1F47}" dt="2025-05-09T15:44:49.118" v="0"/>
        <pc:sldMkLst>
          <pc:docMk/>
          <pc:sldMk cId="2169115440" sldId="638"/>
        </pc:sldMkLst>
      </pc:sldChg>
      <pc:sldChg chg="modSp add mod">
        <pc:chgData name="Dieter Beaven" userId="9bbdb69f-69d0-4759-aa9b-5c090a2da237" providerId="ADAL" clId="{1C09571C-4731-4B9F-9337-F0A2689C1F47}" dt="2025-05-09T15:45:08.962" v="14" actId="20577"/>
        <pc:sldMkLst>
          <pc:docMk/>
          <pc:sldMk cId="130947972" sldId="639"/>
        </pc:sldMkLst>
        <pc:spChg chg="mod">
          <ac:chgData name="Dieter Beaven" userId="9bbdb69f-69d0-4759-aa9b-5c090a2da237" providerId="ADAL" clId="{1C09571C-4731-4B9F-9337-F0A2689C1F47}" dt="2025-05-09T15:44:59.501" v="4" actId="6549"/>
          <ac:spMkLst>
            <pc:docMk/>
            <pc:sldMk cId="130947972" sldId="639"/>
            <ac:spMk id="3" creationId="{00000000-0000-0000-0000-000000000000}"/>
          </ac:spMkLst>
        </pc:spChg>
        <pc:spChg chg="mod">
          <ac:chgData name="Dieter Beaven" userId="9bbdb69f-69d0-4759-aa9b-5c090a2da237" providerId="ADAL" clId="{1C09571C-4731-4B9F-9337-F0A2689C1F47}" dt="2025-05-09T15:45:08.962" v="14" actId="20577"/>
          <ac:spMkLst>
            <pc:docMk/>
            <pc:sldMk cId="130947972" sldId="63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1C09571C-4731-4B9F-9337-F0A2689C1F47}" dt="2025-05-09T15:46:27.808" v="38"/>
        <pc:sldMkLst>
          <pc:docMk/>
          <pc:sldMk cId="3214845439" sldId="640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0745A28B-0303-4B72-A154-948569FB597C}"/>
    <pc:docChg chg="undo custSel delSld modSld">
      <pc:chgData name="Dieter Beaven" userId="9bbdb69f-69d0-4759-aa9b-5c090a2da237" providerId="ADAL" clId="{0745A28B-0303-4B72-A154-948569FB597C}" dt="2025-06-20T09:19:39.357" v="17" actId="1076"/>
      <pc:docMkLst>
        <pc:docMk/>
      </pc:docMkLst>
      <pc:sldChg chg="addSp delSp modSp mod">
        <pc:chgData name="Dieter Beaven" userId="9bbdb69f-69d0-4759-aa9b-5c090a2da237" providerId="ADAL" clId="{0745A28B-0303-4B72-A154-948569FB597C}" dt="2025-06-17T14:57:17.462" v="10" actId="1036"/>
        <pc:sldMkLst>
          <pc:docMk/>
          <pc:sldMk cId="3896053727" sldId="543"/>
        </pc:sldMkLst>
        <pc:picChg chg="add mod">
          <ac:chgData name="Dieter Beaven" userId="9bbdb69f-69d0-4759-aa9b-5c090a2da237" providerId="ADAL" clId="{0745A28B-0303-4B72-A154-948569FB597C}" dt="2025-06-17T14:57:17.462" v="10" actId="1036"/>
          <ac:picMkLst>
            <pc:docMk/>
            <pc:sldMk cId="3896053727" sldId="543"/>
            <ac:picMk id="10" creationId="{2EEC7882-4C0A-C7FA-4EEB-E7E7D2F82E7C}"/>
          </ac:picMkLst>
        </pc:picChg>
      </pc:sldChg>
      <pc:sldChg chg="addSp modSp mod">
        <pc:chgData name="Dieter Beaven" userId="9bbdb69f-69d0-4759-aa9b-5c090a2da237" providerId="ADAL" clId="{0745A28B-0303-4B72-A154-948569FB597C}" dt="2025-06-20T09:19:39.357" v="17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0745A28B-0303-4B72-A154-948569FB597C}" dt="2025-06-20T09:19:39.357" v="17" actId="1076"/>
          <ac:picMkLst>
            <pc:docMk/>
            <pc:sldMk cId="3458699803" sldId="545"/>
            <ac:picMk id="6" creationId="{E9B5FD50-FD26-3D8C-7BE3-D6B2AB02F5C3}"/>
          </ac:picMkLst>
        </pc:picChg>
      </pc:sldChg>
      <pc:sldChg chg="del">
        <pc:chgData name="Dieter Beaven" userId="9bbdb69f-69d0-4759-aa9b-5c090a2da237" providerId="ADAL" clId="{0745A28B-0303-4B72-A154-948569FB597C}" dt="2025-06-17T14:57:19.587" v="11" actId="47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0745A28B-0303-4B72-A154-948569FB597C}" dt="2025-06-17T14:57:20.025" v="12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0745A28B-0303-4B72-A154-948569FB597C}" dt="2025-06-20T09:19:35.686" v="15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C852731-5E00-4CEB-968B-CB6D352D4FBA}" dt="2025-04-25T15:27:25.676" v="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/>
            </a:br>
            <a:r>
              <a:rPr lang="en-GB"/>
              <a:t>Tangents </a:t>
            </a:r>
            <a:r>
              <a:rPr lang="en-GB" dirty="0"/>
              <a:t>and </a:t>
            </a:r>
            <a:r>
              <a:rPr lang="en-GB" dirty="0" err="1"/>
              <a:t>Normals</a:t>
            </a:r>
            <a:r>
              <a:rPr lang="en-GB" dirty="0"/>
              <a:t>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Finding equations of tangents</a:t>
              </a:r>
              <a:endParaRPr lang="en-GB" sz="3200" baseline="300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467725" y="2812661"/>
            <a:ext cx="3056082" cy="2594264"/>
          </a:xfrm>
          <a:custGeom>
            <a:avLst/>
            <a:gdLst>
              <a:gd name="connsiteX0" fmla="*/ 0 w 3094182"/>
              <a:gd name="connsiteY0" fmla="*/ 2937164 h 2937164"/>
              <a:gd name="connsiteX1" fmla="*/ 655782 w 3094182"/>
              <a:gd name="connsiteY1" fmla="*/ 2835564 h 2937164"/>
              <a:gd name="connsiteX2" fmla="*/ 1246909 w 3094182"/>
              <a:gd name="connsiteY2" fmla="*/ 2669309 h 2937164"/>
              <a:gd name="connsiteX3" fmla="*/ 1764146 w 3094182"/>
              <a:gd name="connsiteY3" fmla="*/ 2401454 h 2937164"/>
              <a:gd name="connsiteX4" fmla="*/ 2235200 w 3094182"/>
              <a:gd name="connsiteY4" fmla="*/ 2013527 h 2937164"/>
              <a:gd name="connsiteX5" fmla="*/ 2715491 w 3094182"/>
              <a:gd name="connsiteY5" fmla="*/ 1339273 h 2937164"/>
              <a:gd name="connsiteX6" fmla="*/ 2983346 w 3094182"/>
              <a:gd name="connsiteY6" fmla="*/ 628073 h 2937164"/>
              <a:gd name="connsiteX7" fmla="*/ 3094182 w 3094182"/>
              <a:gd name="connsiteY7" fmla="*/ 0 h 2937164"/>
              <a:gd name="connsiteX0" fmla="*/ 0 w 3056082"/>
              <a:gd name="connsiteY0" fmla="*/ 2594264 h 2594264"/>
              <a:gd name="connsiteX1" fmla="*/ 655782 w 3056082"/>
              <a:gd name="connsiteY1" fmla="*/ 2492664 h 2594264"/>
              <a:gd name="connsiteX2" fmla="*/ 1246909 w 3056082"/>
              <a:gd name="connsiteY2" fmla="*/ 2326409 h 2594264"/>
              <a:gd name="connsiteX3" fmla="*/ 1764146 w 3056082"/>
              <a:gd name="connsiteY3" fmla="*/ 2058554 h 2594264"/>
              <a:gd name="connsiteX4" fmla="*/ 2235200 w 3056082"/>
              <a:gd name="connsiteY4" fmla="*/ 1670627 h 2594264"/>
              <a:gd name="connsiteX5" fmla="*/ 2715491 w 3056082"/>
              <a:gd name="connsiteY5" fmla="*/ 996373 h 2594264"/>
              <a:gd name="connsiteX6" fmla="*/ 2983346 w 3056082"/>
              <a:gd name="connsiteY6" fmla="*/ 285173 h 2594264"/>
              <a:gd name="connsiteX7" fmla="*/ 3056082 w 3056082"/>
              <a:gd name="connsiteY7" fmla="*/ 0 h 2594264"/>
              <a:gd name="connsiteX0" fmla="*/ 0 w 3056082"/>
              <a:gd name="connsiteY0" fmla="*/ 2594264 h 2594264"/>
              <a:gd name="connsiteX1" fmla="*/ 655782 w 3056082"/>
              <a:gd name="connsiteY1" fmla="*/ 2492664 h 2594264"/>
              <a:gd name="connsiteX2" fmla="*/ 1246909 w 3056082"/>
              <a:gd name="connsiteY2" fmla="*/ 2326409 h 2594264"/>
              <a:gd name="connsiteX3" fmla="*/ 1764146 w 3056082"/>
              <a:gd name="connsiteY3" fmla="*/ 2058554 h 2594264"/>
              <a:gd name="connsiteX4" fmla="*/ 2235200 w 3056082"/>
              <a:gd name="connsiteY4" fmla="*/ 1670627 h 2594264"/>
              <a:gd name="connsiteX5" fmla="*/ 2715491 w 3056082"/>
              <a:gd name="connsiteY5" fmla="*/ 996373 h 2594264"/>
              <a:gd name="connsiteX6" fmla="*/ 2983346 w 3056082"/>
              <a:gd name="connsiteY6" fmla="*/ 285173 h 2594264"/>
              <a:gd name="connsiteX7" fmla="*/ 3056082 w 3056082"/>
              <a:gd name="connsiteY7" fmla="*/ 0 h 2594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56082" h="2594264">
                <a:moveTo>
                  <a:pt x="0" y="2594264"/>
                </a:moveTo>
                <a:cubicBezTo>
                  <a:pt x="223982" y="2565785"/>
                  <a:pt x="447964" y="2537307"/>
                  <a:pt x="655782" y="2492664"/>
                </a:cubicBezTo>
                <a:cubicBezTo>
                  <a:pt x="863600" y="2448021"/>
                  <a:pt x="1062182" y="2398761"/>
                  <a:pt x="1246909" y="2326409"/>
                </a:cubicBezTo>
                <a:cubicBezTo>
                  <a:pt x="1431636" y="2254057"/>
                  <a:pt x="1599431" y="2167851"/>
                  <a:pt x="1764146" y="2058554"/>
                </a:cubicBezTo>
                <a:cubicBezTo>
                  <a:pt x="1928861" y="1949257"/>
                  <a:pt x="2076643" y="1847657"/>
                  <a:pt x="2235200" y="1670627"/>
                </a:cubicBezTo>
                <a:cubicBezTo>
                  <a:pt x="2393757" y="1493597"/>
                  <a:pt x="2590800" y="1227282"/>
                  <a:pt x="2715491" y="996373"/>
                </a:cubicBezTo>
                <a:cubicBezTo>
                  <a:pt x="2840182" y="765464"/>
                  <a:pt x="2920231" y="508385"/>
                  <a:pt x="2983346" y="285173"/>
                </a:cubicBezTo>
                <a:cubicBezTo>
                  <a:pt x="3046461" y="61961"/>
                  <a:pt x="3003646" y="221480"/>
                  <a:pt x="3056082" y="0"/>
                </a:cubicBezTo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2172051" y="4732918"/>
            <a:ext cx="216024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17590" y="4980300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(3,?)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590" y="4980300"/>
                <a:ext cx="792088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0046" y="817503"/>
                <a:ext cx="7854362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</a:t>
                </a:r>
                <a:r>
                  <a:rPr lang="en-GB" sz="2000" b="1" dirty="0"/>
                  <a:t>tangent</a:t>
                </a:r>
                <a:r>
                  <a:rPr lang="en-GB" sz="2000" dirty="0"/>
                  <a:t> to the curve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𝑦</m:t>
                    </m:r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46" y="817503"/>
                <a:ext cx="7854362" cy="400110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 flipV="1">
            <a:off x="837180" y="4002998"/>
            <a:ext cx="3112654" cy="1616363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18837" y="2780253"/>
                <a:ext cx="4105028" cy="26960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Gradient function: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𝒅𝒚</m:t>
                        </m:r>
                      </m:num>
                      <m:den>
                        <m: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𝒅𝒙</m:t>
                        </m:r>
                      </m:den>
                    </m:f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𝟐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𝒙</m:t>
                    </m:r>
                  </m:oMath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Gradient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: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𝒎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𝟔</m:t>
                    </m:r>
                  </m:oMath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-value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>
                    <a:solidFill>
                      <a:schemeClr val="tx1"/>
                    </a:solidFill>
                  </a:rPr>
                  <a:t>:            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𝒚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GB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𝟗</m:t>
                    </m:r>
                  </m:oMath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So equation of tangent: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𝟗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𝟔</m:t>
                      </m:r>
                      <m:d>
                        <m:dPr>
                          <m:ctrlP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GB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8837" y="2780253"/>
                <a:ext cx="4105028" cy="26960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543744" y="2780253"/>
            <a:ext cx="936104" cy="53572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9729" y="3529516"/>
            <a:ext cx="93610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99729" y="4139425"/>
            <a:ext cx="936104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4411" y="5106980"/>
            <a:ext cx="2059333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3418" y="1340768"/>
                <a:ext cx="74428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want to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 for the tangent (as it is a straight line!). Therefore we need:</a:t>
                </a:r>
              </a:p>
              <a:p>
                <a:pPr marL="342900" indent="-342900">
                  <a:buAutoNum type="alphaLcParenBoth"/>
                </a:pPr>
                <a:r>
                  <a:rPr lang="en-GB" dirty="0"/>
                  <a:t>A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GB" dirty="0"/>
              </a:p>
              <a:p>
                <a:pPr marL="342900" indent="-342900">
                  <a:buAutoNum type="alphaLcParenBoth"/>
                </a:pPr>
                <a:r>
                  <a:rPr lang="en-GB" dirty="0"/>
                  <a:t>The gradient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18" y="1340768"/>
                <a:ext cx="7442898" cy="1200329"/>
              </a:xfrm>
              <a:prstGeom prst="rect">
                <a:avLst/>
              </a:prstGeom>
              <a:blipFill>
                <a:blip r:embed="rId5"/>
                <a:stretch>
                  <a:fillRect l="-655" t="-3046" b="-71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 rot="20026094">
            <a:off x="2817628" y="4356833"/>
            <a:ext cx="95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tangent</a:t>
            </a:r>
          </a:p>
        </p:txBody>
      </p:sp>
    </p:spTree>
    <p:extLst>
      <p:ext uri="{BB962C8B-B14F-4D97-AF65-F5344CB8AC3E}">
        <p14:creationId xmlns:p14="http://schemas.microsoft.com/office/powerpoint/2010/main" val="49378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Finding equations of </a:t>
              </a:r>
              <a:r>
                <a:rPr lang="en-GB" sz="3200" dirty="0" err="1"/>
                <a:t>normals</a:t>
              </a:r>
              <a:endParaRPr lang="en-GB" sz="3200" baseline="300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Freeform 4"/>
          <p:cNvSpPr/>
          <p:nvPr/>
        </p:nvSpPr>
        <p:spPr>
          <a:xfrm>
            <a:off x="563418" y="1597891"/>
            <a:ext cx="3094182" cy="2937164"/>
          </a:xfrm>
          <a:custGeom>
            <a:avLst/>
            <a:gdLst>
              <a:gd name="connsiteX0" fmla="*/ 0 w 3094182"/>
              <a:gd name="connsiteY0" fmla="*/ 2937164 h 2937164"/>
              <a:gd name="connsiteX1" fmla="*/ 655782 w 3094182"/>
              <a:gd name="connsiteY1" fmla="*/ 2835564 h 2937164"/>
              <a:gd name="connsiteX2" fmla="*/ 1246909 w 3094182"/>
              <a:gd name="connsiteY2" fmla="*/ 2669309 h 2937164"/>
              <a:gd name="connsiteX3" fmla="*/ 1764146 w 3094182"/>
              <a:gd name="connsiteY3" fmla="*/ 2401454 h 2937164"/>
              <a:gd name="connsiteX4" fmla="*/ 2235200 w 3094182"/>
              <a:gd name="connsiteY4" fmla="*/ 2013527 h 2937164"/>
              <a:gd name="connsiteX5" fmla="*/ 2715491 w 3094182"/>
              <a:gd name="connsiteY5" fmla="*/ 1339273 h 2937164"/>
              <a:gd name="connsiteX6" fmla="*/ 2983346 w 3094182"/>
              <a:gd name="connsiteY6" fmla="*/ 628073 h 2937164"/>
              <a:gd name="connsiteX7" fmla="*/ 3094182 w 3094182"/>
              <a:gd name="connsiteY7" fmla="*/ 0 h 293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94182" h="2937164">
                <a:moveTo>
                  <a:pt x="0" y="2937164"/>
                </a:moveTo>
                <a:cubicBezTo>
                  <a:pt x="223982" y="2908685"/>
                  <a:pt x="447964" y="2880207"/>
                  <a:pt x="655782" y="2835564"/>
                </a:cubicBezTo>
                <a:cubicBezTo>
                  <a:pt x="863600" y="2790921"/>
                  <a:pt x="1062182" y="2741661"/>
                  <a:pt x="1246909" y="2669309"/>
                </a:cubicBezTo>
                <a:cubicBezTo>
                  <a:pt x="1431636" y="2596957"/>
                  <a:pt x="1599431" y="2510751"/>
                  <a:pt x="1764146" y="2401454"/>
                </a:cubicBezTo>
                <a:cubicBezTo>
                  <a:pt x="1928861" y="2292157"/>
                  <a:pt x="2076643" y="2190557"/>
                  <a:pt x="2235200" y="2013527"/>
                </a:cubicBezTo>
                <a:cubicBezTo>
                  <a:pt x="2393757" y="1836497"/>
                  <a:pt x="2590800" y="1570182"/>
                  <a:pt x="2715491" y="1339273"/>
                </a:cubicBezTo>
                <a:cubicBezTo>
                  <a:pt x="2840182" y="1108364"/>
                  <a:pt x="2920231" y="851285"/>
                  <a:pt x="2983346" y="628073"/>
                </a:cubicBezTo>
                <a:cubicBezTo>
                  <a:pt x="3046461" y="404861"/>
                  <a:pt x="3070321" y="202430"/>
                  <a:pt x="3094182" y="0"/>
                </a:cubicBezTo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2267744" y="3861048"/>
            <a:ext cx="216024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3959" y="842504"/>
                <a:ext cx="7992888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</a:t>
                </a:r>
                <a:r>
                  <a:rPr lang="en-GB" sz="2000" b="1" dirty="0"/>
                  <a:t>normal</a:t>
                </a:r>
                <a:r>
                  <a:rPr lang="en-GB" sz="2000" dirty="0"/>
                  <a:t> to the curve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𝑦</m:t>
                    </m:r>
                    <m:r>
                      <a:rPr lang="en-GB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=3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9" y="842504"/>
                <a:ext cx="7992888" cy="400110"/>
              </a:xfrm>
              <a:prstGeom prst="rect">
                <a:avLst/>
              </a:prstGeom>
              <a:blipFill>
                <a:blip r:embed="rId2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932873" y="1844824"/>
            <a:ext cx="2198967" cy="3168445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571428" y="2317210"/>
                <a:ext cx="4105028" cy="19016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dirty="0">
                    <a:solidFill>
                      <a:schemeClr val="tx1"/>
                    </a:solidFill>
                  </a:rPr>
                  <a:t>Equation of tangent (from earlier):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b="1" dirty="0">
                  <a:solidFill>
                    <a:schemeClr val="tx1"/>
                  </a:solidFill>
                </a:endParaRPr>
              </a:p>
              <a:p>
                <a:endParaRPr lang="en-GB" sz="2000" dirty="0">
                  <a:solidFill>
                    <a:schemeClr val="tx1"/>
                  </a:solidFill>
                </a:endParaRPr>
              </a:p>
              <a:p>
                <a:r>
                  <a:rPr lang="en-GB" sz="2000" dirty="0">
                    <a:solidFill>
                      <a:schemeClr val="tx1"/>
                    </a:solidFill>
                  </a:rPr>
                  <a:t>Therefore equation of normal: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𝒚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𝟗</m:t>
                      </m:r>
                      <m:r>
                        <a:rPr lang="en-GB" sz="2000" b="1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𝟔</m:t>
                          </m:r>
                        </m:den>
                      </m:f>
                      <m:d>
                        <m:dPr>
                          <m:ctrlP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GB" sz="2000" b="1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GB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2317210"/>
                <a:ext cx="4105028" cy="1901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475534" y="3559391"/>
            <a:ext cx="1353037" cy="6594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7406" y="1409083"/>
            <a:ext cx="1681850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The </a:t>
            </a:r>
            <a:r>
              <a:rPr lang="en-GB" sz="1600" b="1" dirty="0"/>
              <a:t>normal</a:t>
            </a:r>
            <a:r>
              <a:rPr lang="en-GB" sz="1600" dirty="0"/>
              <a:t> to a curve is the line perpendicular to the tangent.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010093" y="2551814"/>
            <a:ext cx="3327991" cy="2413591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9435175">
            <a:off x="2934586" y="3282945"/>
            <a:ext cx="95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tangent</a:t>
            </a:r>
          </a:p>
        </p:txBody>
      </p:sp>
      <p:sp>
        <p:nvSpPr>
          <p:cNvPr id="19" name="TextBox 18"/>
          <p:cNvSpPr txBox="1"/>
          <p:nvPr/>
        </p:nvSpPr>
        <p:spPr>
          <a:xfrm rot="3276129">
            <a:off x="1130608" y="3011570"/>
            <a:ext cx="95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900632" y="4204123"/>
                <a:ext cx="792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(3,9)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632" y="4204123"/>
                <a:ext cx="792088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670502" y="5370684"/>
            <a:ext cx="4824536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 err="1"/>
              <a:t>Fro</a:t>
            </a:r>
            <a:r>
              <a:rPr lang="en-GB" sz="1600" b="1" dirty="0"/>
              <a:t> Exam Tip</a:t>
            </a:r>
            <a:r>
              <a:rPr lang="en-GB" sz="1600" dirty="0"/>
              <a:t>: A </a:t>
            </a:r>
            <a:r>
              <a:rPr lang="en-GB" sz="1600" b="1" dirty="0"/>
              <a:t>very common error </a:t>
            </a:r>
            <a:r>
              <a:rPr lang="en-GB" sz="1600" dirty="0"/>
              <a:t>is for students to accidentally forget whether the question is asking for the tangent or for the normal.</a:t>
            </a:r>
          </a:p>
        </p:txBody>
      </p:sp>
    </p:spTree>
    <p:extLst>
      <p:ext uri="{BB962C8B-B14F-4D97-AF65-F5344CB8AC3E}">
        <p14:creationId xmlns:p14="http://schemas.microsoft.com/office/powerpoint/2010/main" val="216911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0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9" y="842504"/>
                <a:ext cx="7992888" cy="40357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equation of the </a:t>
                </a:r>
                <a:r>
                  <a:rPr lang="en-GB" sz="2000" b="1" dirty="0"/>
                  <a:t>normal</a:t>
                </a:r>
                <a:r>
                  <a:rPr lang="en-GB" sz="2000" dirty="0"/>
                  <a:t> to the curve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sz="2000" dirty="0"/>
                  <a:t> when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/>
                      </a:rPr>
                      <m:t>𝑥</m:t>
                    </m:r>
                    <m:r>
                      <a:rPr lang="en-GB" sz="2000" b="0" i="1" smtClean="0">
                        <a:latin typeface="Cambria Math"/>
                      </a:rPr>
                      <m:t>=9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9" y="842504"/>
                <a:ext cx="7992888" cy="40357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55576" y="1484784"/>
                <a:ext cx="5544616" cy="3585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=9+3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endParaRPr lang="en-GB" dirty="0"/>
              </a:p>
              <a:p>
                <a:r>
                  <a:rPr lang="en-GB" b="0" dirty="0"/>
                  <a:t>Equation of normal: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−18=−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e>
                    </m:d>
                  </m:oMath>
                </a14:m>
                <a:endParaRPr lang="en-GB" b="0" dirty="0"/>
              </a:p>
              <a:p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484784"/>
                <a:ext cx="5544616" cy="3585405"/>
              </a:xfrm>
              <a:prstGeom prst="rect">
                <a:avLst/>
              </a:prstGeom>
              <a:blipFill>
                <a:blip r:embed="rId3"/>
                <a:stretch>
                  <a:fillRect l="-990" t="-1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449249" y="2988740"/>
                <a:ext cx="3816424" cy="83099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 err="1"/>
                  <a:t>Fro</a:t>
                </a:r>
                <a:r>
                  <a:rPr lang="en-GB" sz="1600" b="1" dirty="0"/>
                  <a:t> Tip: </a:t>
                </a:r>
                <a:r>
                  <a:rPr lang="en-GB" sz="1600" dirty="0"/>
                  <a:t>I like to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sz="1600" dirty="0"/>
                  <a:t> to make clear to the examiner (and myself) what gradient I’ve found.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249" y="2988740"/>
                <a:ext cx="3816424" cy="830997"/>
              </a:xfrm>
              <a:prstGeom prst="rect">
                <a:avLst/>
              </a:prstGeom>
              <a:blipFill>
                <a:blip r:embed="rId4"/>
                <a:stretch>
                  <a:fillRect l="-635" t="-709" b="-63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3419872" y="3404239"/>
            <a:ext cx="1029377" cy="96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19916" y="1369085"/>
            <a:ext cx="1594884" cy="6594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5576" y="2028578"/>
            <a:ext cx="2604312" cy="22457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gradient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210" y="4271786"/>
            <a:ext cx="5145933" cy="65949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Final equation</a:t>
            </a:r>
          </a:p>
        </p:txBody>
      </p:sp>
    </p:spTree>
    <p:extLst>
      <p:ext uri="{BB962C8B-B14F-4D97-AF65-F5344CB8AC3E}">
        <p14:creationId xmlns:p14="http://schemas.microsoft.com/office/powerpoint/2010/main" val="253776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12.6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96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9640" y="1897921"/>
            <a:ext cx="142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97422" y="2397203"/>
                <a:ext cx="4572289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I 2005 Q2]</a:t>
                </a:r>
              </a:p>
              <a:p>
                <a:r>
                  <a:rPr lang="en-GB" sz="1600" dirty="0"/>
                  <a:t>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GB" sz="1600" dirty="0"/>
                  <a:t> and 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are non-zero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.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is given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 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600" dirty="0"/>
                  <a:t> is the intersection of the tangent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the tangent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.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𝑝𝑞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600" dirty="0"/>
                  <a:t>.</a:t>
                </a:r>
              </a:p>
              <a:p>
                <a:endParaRPr lang="en-GB" sz="1600" dirty="0"/>
              </a:p>
              <a:p>
                <a:r>
                  <a:rPr lang="en-GB" sz="1600" dirty="0"/>
                  <a:t>The point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600" dirty="0"/>
                  <a:t> is the intersection of the normal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600" dirty="0"/>
                  <a:t> and the normal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600" dirty="0"/>
                  <a:t>. If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are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1,0</m:t>
                        </m:r>
                      </m:e>
                    </m:d>
                  </m:oMath>
                </a14:m>
                <a:r>
                  <a:rPr lang="en-GB" sz="1600" dirty="0"/>
                  <a:t> lies on the line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𝑃𝑄</m:t>
                    </m:r>
                  </m:oMath>
                </a14:m>
                <a:r>
                  <a:rPr lang="en-GB" sz="1600" dirty="0"/>
                  <a:t>,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1600" dirty="0"/>
                  <a:t> has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GB" sz="1600" dirty="0"/>
                  <a:t>, and that the quadrilateral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𝑃𝑆𝑄𝑅</m:t>
                    </m:r>
                  </m:oMath>
                </a14:m>
                <a:r>
                  <a:rPr lang="en-GB" sz="1600" dirty="0"/>
                  <a:t> is a rectangle.</a:t>
                </a:r>
              </a:p>
              <a:p>
                <a:endParaRPr lang="en-GB" sz="1600" dirty="0"/>
              </a:p>
              <a:p>
                <a:r>
                  <a:rPr lang="en-GB" sz="1600" b="1" dirty="0"/>
                  <a:t>Solutions on next slide.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22" y="2397203"/>
                <a:ext cx="4572289" cy="3785652"/>
              </a:xfrm>
              <a:prstGeom prst="rect">
                <a:avLst/>
              </a:prstGeom>
              <a:blipFill>
                <a:blip r:embed="rId2"/>
                <a:stretch>
                  <a:fillRect l="-800" t="-483" b="-11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36096" y="1998129"/>
                <a:ext cx="3384376" cy="4192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/>
                  <a:t>[STEP I 2012 Q4]</a:t>
                </a:r>
              </a:p>
              <a:p>
                <a:r>
                  <a:rPr lang="en-GB" sz="1600" dirty="0"/>
                  <a:t>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has equation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The tangents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the distinct points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1600" dirty="0"/>
                  <a:t>, where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1600" dirty="0"/>
                  <a:t> are positive, intersect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and the normal to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600" dirty="0"/>
                  <a:t> at these points intersect 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600" dirty="0"/>
                  <a:t>. Show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is the point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𝑝𝑞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In the case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𝑝𝑞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, find the coordinates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600" dirty="0"/>
                  <a:t>. Show (in this case)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GB" sz="1600" dirty="0"/>
                  <a:t> lie on the line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 and are such that the product of their distances from the origin is constant.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1998129"/>
                <a:ext cx="3384376" cy="4192494"/>
              </a:xfrm>
              <a:prstGeom prst="rect">
                <a:avLst/>
              </a:prstGeom>
              <a:blipFill>
                <a:blip r:embed="rId3"/>
                <a:stretch>
                  <a:fillRect l="-1081" t="-436" r="-2162" b="-8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039293" y="1135575"/>
                <a:ext cx="2783546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400" dirty="0"/>
                  <a:t>The ‘difference of two cubes’:   </a:t>
                </a:r>
                <a:endParaRPr lang="en-GB" sz="1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sz="1400" dirty="0"/>
                  <a:t> </a:t>
                </a:r>
              </a:p>
              <a:p>
                <a:r>
                  <a:rPr lang="en-GB" sz="1400" dirty="0"/>
                  <a:t>will help for both of these.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293" y="1135575"/>
                <a:ext cx="2783546" cy="738664"/>
              </a:xfrm>
              <a:prstGeom prst="rect">
                <a:avLst/>
              </a:prstGeom>
              <a:blipFill>
                <a:blip r:embed="rId4"/>
                <a:stretch>
                  <a:fillRect l="-217" b="-64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0" idx="1"/>
          </p:cNvCxnSpPr>
          <p:nvPr/>
        </p:nvCxnSpPr>
        <p:spPr>
          <a:xfrm flipH="1">
            <a:off x="4686300" y="1504907"/>
            <a:ext cx="1352993" cy="539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7687340" y="1860698"/>
            <a:ext cx="42531" cy="255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7504" y="2486103"/>
            <a:ext cx="202136" cy="2397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3960" y="2095046"/>
            <a:ext cx="202136" cy="23970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0947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Solutions to Extension Question 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76" y="640557"/>
            <a:ext cx="5346003" cy="62237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68544" y="706701"/>
                <a:ext cx="3060785" cy="149989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This is using something called ‘implicit differentiation’ (Year 2), but you could easily do: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544" y="706701"/>
                <a:ext cx="3060785" cy="1499898"/>
              </a:xfrm>
              <a:prstGeom prst="rect">
                <a:avLst/>
              </a:prstGeom>
              <a:blipFill>
                <a:blip r:embed="rId3"/>
                <a:stretch>
                  <a:fillRect l="-1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4774019" y="786809"/>
            <a:ext cx="894525" cy="193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484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EEC7882-4C0A-C7FA-4EEB-E7E7D2F82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707851"/>
            <a:ext cx="7200900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9B5FD50-FD26-3D8C-7BE3-D6B2AB02F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24744"/>
            <a:ext cx="482917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617</Words>
  <Application>Microsoft Office PowerPoint</Application>
  <PresentationFormat>On-screen Show (4:3)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P1 Chapter 12: Differentiation  Tangents and Normals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