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547" r:id="rId5"/>
    <p:sldId id="657" r:id="rId6"/>
    <p:sldId id="659" r:id="rId7"/>
    <p:sldId id="658" r:id="rId8"/>
    <p:sldId id="660" r:id="rId9"/>
    <p:sldId id="661" r:id="rId10"/>
    <p:sldId id="662" r:id="rId11"/>
    <p:sldId id="664" r:id="rId12"/>
    <p:sldId id="665" r:id="rId13"/>
    <p:sldId id="549" r:id="rId14"/>
    <p:sldId id="543" r:id="rId15"/>
    <p:sldId id="545" r:id="rId16"/>
    <p:sldId id="55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  <pc:spChg chg="mod">
          <ac:chgData name="Dieter Beaven" userId="9bbdb69f-69d0-4759-aa9b-5c090a2da237" providerId="ADAL" clId="{2F302947-2B75-4670-B1D7-9A45CF8980D0}" dt="2025-04-29T11:59:10.265" v="22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C4730DA8-4F3E-4DC8-BC0A-C3ECF5B74011}"/>
    <pc:docChg chg="custSel addSld delSld modSld">
      <pc:chgData name="Dieter Beaven" userId="9bbdb69f-69d0-4759-aa9b-5c090a2da237" providerId="ADAL" clId="{C4730DA8-4F3E-4DC8-BC0A-C3ECF5B74011}" dt="2025-05-09T15:56:03.858" v="53" actId="1036"/>
      <pc:docMkLst>
        <pc:docMk/>
      </pc:docMkLst>
      <pc:sldChg chg="modSp mod">
        <pc:chgData name="Dieter Beaven" userId="9bbdb69f-69d0-4759-aa9b-5c090a2da237" providerId="ADAL" clId="{C4730DA8-4F3E-4DC8-BC0A-C3ECF5B74011}" dt="2025-05-09T15:52:38.484" v="30" actId="20577"/>
        <pc:sldMkLst>
          <pc:docMk/>
          <pc:sldMk cId="3991975165" sldId="547"/>
        </pc:sldMkLst>
        <pc:spChg chg="mod">
          <ac:chgData name="Dieter Beaven" userId="9bbdb69f-69d0-4759-aa9b-5c090a2da237" providerId="ADAL" clId="{C4730DA8-4F3E-4DC8-BC0A-C3ECF5B74011}" dt="2025-05-09T15:52:38.484" v="30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addSp modSp mod modAnim">
        <pc:chgData name="Dieter Beaven" userId="9bbdb69f-69d0-4759-aa9b-5c090a2da237" providerId="ADAL" clId="{C4730DA8-4F3E-4DC8-BC0A-C3ECF5B74011}" dt="2025-05-09T15:56:03.858" v="53" actId="1036"/>
        <pc:sldMkLst>
          <pc:docMk/>
          <pc:sldMk cId="3055658135" sldId="549"/>
        </pc:sldMkLst>
        <pc:spChg chg="mod">
          <ac:chgData name="Dieter Beaven" userId="9bbdb69f-69d0-4759-aa9b-5c090a2da237" providerId="ADAL" clId="{C4730DA8-4F3E-4DC8-BC0A-C3ECF5B74011}" dt="2025-05-09T15:55:41.836" v="46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45.235" v="49" actId="20577"/>
          <ac:spMkLst>
            <pc:docMk/>
            <pc:sldMk cId="3055658135" sldId="549"/>
            <ac:spMk id="5" creationId="{00000000-0000-0000-0000-000000000000}"/>
          </ac:spMkLst>
        </pc:spChg>
        <pc:spChg chg="add mod">
          <ac:chgData name="Dieter Beaven" userId="9bbdb69f-69d0-4759-aa9b-5c090a2da237" providerId="ADAL" clId="{C4730DA8-4F3E-4DC8-BC0A-C3ECF5B74011}" dt="2025-05-09T15:56:03.858" v="53" actId="1036"/>
          <ac:spMkLst>
            <pc:docMk/>
            <pc:sldMk cId="3055658135" sldId="549"/>
            <ac:spMk id="7" creationId="{D7511212-76EE-DF14-65D7-C23294A3A742}"/>
          </ac:spMkLst>
        </pc:spChg>
        <pc:spChg chg="add mod">
          <ac:chgData name="Dieter Beaven" userId="9bbdb69f-69d0-4759-aa9b-5c090a2da237" providerId="ADAL" clId="{C4730DA8-4F3E-4DC8-BC0A-C3ECF5B74011}" dt="2025-05-09T15:55:57.859" v="50"/>
          <ac:spMkLst>
            <pc:docMk/>
            <pc:sldMk cId="3055658135" sldId="549"/>
            <ac:spMk id="8" creationId="{792D624F-0617-95B0-C646-00212F7DF7AA}"/>
          </ac:spMkLst>
        </pc:spChg>
        <pc:spChg chg="add mod">
          <ac:chgData name="Dieter Beaven" userId="9bbdb69f-69d0-4759-aa9b-5c090a2da237" providerId="ADAL" clId="{C4730DA8-4F3E-4DC8-BC0A-C3ECF5B74011}" dt="2025-05-09T15:55:57.859" v="50"/>
          <ac:spMkLst>
            <pc:docMk/>
            <pc:sldMk cId="3055658135" sldId="549"/>
            <ac:spMk id="9" creationId="{2717507A-03A8-8221-AFEE-7D26EEC9BB97}"/>
          </ac:spMkLst>
        </pc:spChg>
        <pc:spChg chg="add mod">
          <ac:chgData name="Dieter Beaven" userId="9bbdb69f-69d0-4759-aa9b-5c090a2da237" providerId="ADAL" clId="{C4730DA8-4F3E-4DC8-BC0A-C3ECF5B74011}" dt="2025-05-09T15:55:57.859" v="50"/>
          <ac:spMkLst>
            <pc:docMk/>
            <pc:sldMk cId="3055658135" sldId="549"/>
            <ac:spMk id="10" creationId="{1C6AC1A1-4228-1700-6F36-2C823F7E8656}"/>
          </ac:spMkLst>
        </pc:spChg>
        <pc:spChg chg="add mod">
          <ac:chgData name="Dieter Beaven" userId="9bbdb69f-69d0-4759-aa9b-5c090a2da237" providerId="ADAL" clId="{C4730DA8-4F3E-4DC8-BC0A-C3ECF5B74011}" dt="2025-05-09T15:55:57.859" v="50"/>
          <ac:spMkLst>
            <pc:docMk/>
            <pc:sldMk cId="3055658135" sldId="549"/>
            <ac:spMk id="11" creationId="{0F231404-D7C8-76C8-F1E1-68FD897E375E}"/>
          </ac:spMkLst>
        </pc:spChg>
        <pc:spChg chg="add mod">
          <ac:chgData name="Dieter Beaven" userId="9bbdb69f-69d0-4759-aa9b-5c090a2da237" providerId="ADAL" clId="{C4730DA8-4F3E-4DC8-BC0A-C3ECF5B74011}" dt="2025-05-09T15:55:57.859" v="50"/>
          <ac:spMkLst>
            <pc:docMk/>
            <pc:sldMk cId="3055658135" sldId="549"/>
            <ac:spMk id="12" creationId="{5891944A-F1FD-3A38-0E0A-95E4630FC33A}"/>
          </ac:spMkLst>
        </pc:spChg>
      </pc:sldChg>
      <pc:sldChg chg="add">
        <pc:chgData name="Dieter Beaven" userId="9bbdb69f-69d0-4759-aa9b-5c090a2da237" providerId="ADAL" clId="{C4730DA8-4F3E-4DC8-BC0A-C3ECF5B74011}" dt="2025-05-09T15:53:30.715" v="31"/>
        <pc:sldMkLst>
          <pc:docMk/>
          <pc:sldMk cId="3525542184" sldId="657"/>
        </pc:sldMkLst>
      </pc:sldChg>
      <pc:sldChg chg="add">
        <pc:chgData name="Dieter Beaven" userId="9bbdb69f-69d0-4759-aa9b-5c090a2da237" providerId="ADAL" clId="{C4730DA8-4F3E-4DC8-BC0A-C3ECF5B74011}" dt="2025-05-09T15:53:30.715" v="31"/>
        <pc:sldMkLst>
          <pc:docMk/>
          <pc:sldMk cId="3838771721" sldId="658"/>
        </pc:sldMkLst>
      </pc:sldChg>
      <pc:sldChg chg="delSp modSp add mod">
        <pc:chgData name="Dieter Beaven" userId="9bbdb69f-69d0-4759-aa9b-5c090a2da237" providerId="ADAL" clId="{C4730DA8-4F3E-4DC8-BC0A-C3ECF5B74011}" dt="2025-05-09T15:55:35.660" v="45" actId="1035"/>
        <pc:sldMkLst>
          <pc:docMk/>
          <pc:sldMk cId="3248197261" sldId="659"/>
        </pc:sldMkLst>
        <pc:spChg chg="mod">
          <ac:chgData name="Dieter Beaven" userId="9bbdb69f-69d0-4759-aa9b-5c090a2da237" providerId="ADAL" clId="{C4730DA8-4F3E-4DC8-BC0A-C3ECF5B74011}" dt="2025-05-09T15:55:27.598" v="35" actId="20577"/>
          <ac:spMkLst>
            <pc:docMk/>
            <pc:sldMk cId="3248197261" sldId="659"/>
            <ac:spMk id="3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7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8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9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15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16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19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20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21" creationId="{00000000-0000-0000-0000-000000000000}"/>
          </ac:spMkLst>
        </pc:spChg>
        <pc:spChg chg="mod">
          <ac:chgData name="Dieter Beaven" userId="9bbdb69f-69d0-4759-aa9b-5c090a2da237" providerId="ADAL" clId="{C4730DA8-4F3E-4DC8-BC0A-C3ECF5B74011}" dt="2025-05-09T15:55:35.660" v="45" actId="1035"/>
          <ac:spMkLst>
            <pc:docMk/>
            <pc:sldMk cId="3248197261" sldId="659"/>
            <ac:spMk id="22" creationId="{00000000-0000-0000-0000-000000000000}"/>
          </ac:spMkLst>
        </pc:spChg>
        <pc:cxnChg chg="mod">
          <ac:chgData name="Dieter Beaven" userId="9bbdb69f-69d0-4759-aa9b-5c090a2da237" providerId="ADAL" clId="{C4730DA8-4F3E-4DC8-BC0A-C3ECF5B74011}" dt="2025-05-09T15:55:35.660" v="45" actId="1035"/>
          <ac:cxnSpMkLst>
            <pc:docMk/>
            <pc:sldMk cId="3248197261" sldId="659"/>
            <ac:cxnSpMk id="18" creationId="{00000000-0000-0000-0000-000000000000}"/>
          </ac:cxnSpMkLst>
        </pc:cxnChg>
      </pc:sldChg>
      <pc:sldChg chg="add">
        <pc:chgData name="Dieter Beaven" userId="9bbdb69f-69d0-4759-aa9b-5c090a2da237" providerId="ADAL" clId="{C4730DA8-4F3E-4DC8-BC0A-C3ECF5B74011}" dt="2025-05-09T15:53:30.715" v="31"/>
        <pc:sldMkLst>
          <pc:docMk/>
          <pc:sldMk cId="3993805260" sldId="660"/>
        </pc:sldMkLst>
      </pc:sldChg>
      <pc:sldChg chg="add">
        <pc:chgData name="Dieter Beaven" userId="9bbdb69f-69d0-4759-aa9b-5c090a2da237" providerId="ADAL" clId="{C4730DA8-4F3E-4DC8-BC0A-C3ECF5B74011}" dt="2025-05-09T15:53:30.715" v="31"/>
        <pc:sldMkLst>
          <pc:docMk/>
          <pc:sldMk cId="2117557081" sldId="661"/>
        </pc:sldMkLst>
      </pc:sldChg>
      <pc:sldChg chg="add">
        <pc:chgData name="Dieter Beaven" userId="9bbdb69f-69d0-4759-aa9b-5c090a2da237" providerId="ADAL" clId="{C4730DA8-4F3E-4DC8-BC0A-C3ECF5B74011}" dt="2025-05-09T15:53:30.715" v="31"/>
        <pc:sldMkLst>
          <pc:docMk/>
          <pc:sldMk cId="2123757791" sldId="662"/>
        </pc:sldMkLst>
      </pc:sldChg>
      <pc:sldChg chg="add del">
        <pc:chgData name="Dieter Beaven" userId="9bbdb69f-69d0-4759-aa9b-5c090a2da237" providerId="ADAL" clId="{C4730DA8-4F3E-4DC8-BC0A-C3ECF5B74011}" dt="2025-05-09T15:55:59.843" v="51" actId="47"/>
        <pc:sldMkLst>
          <pc:docMk/>
          <pc:sldMk cId="2471030402" sldId="663"/>
        </pc:sldMkLst>
      </pc:sldChg>
      <pc:sldChg chg="add">
        <pc:chgData name="Dieter Beaven" userId="9bbdb69f-69d0-4759-aa9b-5c090a2da237" providerId="ADAL" clId="{C4730DA8-4F3E-4DC8-BC0A-C3ECF5B74011}" dt="2025-05-09T15:53:30.715" v="31"/>
        <pc:sldMkLst>
          <pc:docMk/>
          <pc:sldMk cId="2354976576" sldId="664"/>
        </pc:sldMkLst>
      </pc:sldChg>
      <pc:sldChg chg="add">
        <pc:chgData name="Dieter Beaven" userId="9bbdb69f-69d0-4759-aa9b-5c090a2da237" providerId="ADAL" clId="{C4730DA8-4F3E-4DC8-BC0A-C3ECF5B74011}" dt="2025-05-09T15:53:30.715" v="31"/>
        <pc:sldMkLst>
          <pc:docMk/>
          <pc:sldMk cId="2640248933" sldId="665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A1285EE0-CB82-40AA-8F9F-DA7FA38586C3}"/>
    <pc:docChg chg="delSld modSld">
      <pc:chgData name="Dieter Beaven" userId="9bbdb69f-69d0-4759-aa9b-5c090a2da237" providerId="ADAL" clId="{A1285EE0-CB82-40AA-8F9F-DA7FA38586C3}" dt="2025-06-20T09:40:43.337" v="10" actId="1076"/>
      <pc:docMkLst>
        <pc:docMk/>
      </pc:docMkLst>
      <pc:sldChg chg="addSp modSp mod">
        <pc:chgData name="Dieter Beaven" userId="9bbdb69f-69d0-4759-aa9b-5c090a2da237" providerId="ADAL" clId="{A1285EE0-CB82-40AA-8F9F-DA7FA38586C3}" dt="2025-06-17T15:02:39.002" v="4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A1285EE0-CB82-40AA-8F9F-DA7FA38586C3}" dt="2025-06-17T15:02:39.002" v="4" actId="1076"/>
          <ac:picMkLst>
            <pc:docMk/>
            <pc:sldMk cId="3896053727" sldId="543"/>
            <ac:picMk id="6" creationId="{9562A2F1-6C10-C7DE-E4A3-9A061DF89D40}"/>
          </ac:picMkLst>
        </pc:picChg>
      </pc:sldChg>
      <pc:sldChg chg="addSp modSp mod">
        <pc:chgData name="Dieter Beaven" userId="9bbdb69f-69d0-4759-aa9b-5c090a2da237" providerId="ADAL" clId="{A1285EE0-CB82-40AA-8F9F-DA7FA38586C3}" dt="2025-06-20T09:40:11.148" v="8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A1285EE0-CB82-40AA-8F9F-DA7FA38586C3}" dt="2025-06-20T09:40:11.148" v="8" actId="1076"/>
          <ac:picMkLst>
            <pc:docMk/>
            <pc:sldMk cId="3458699803" sldId="545"/>
            <ac:picMk id="6" creationId="{D0310853-38C7-AE96-76BA-B65C3E135295}"/>
          </ac:picMkLst>
        </pc:picChg>
      </pc:sldChg>
      <pc:sldChg chg="del">
        <pc:chgData name="Dieter Beaven" userId="9bbdb69f-69d0-4759-aa9b-5c090a2da237" providerId="ADAL" clId="{A1285EE0-CB82-40AA-8F9F-DA7FA38586C3}" dt="2025-06-17T15:02:36.816" v="2" actId="47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A1285EE0-CB82-40AA-8F9F-DA7FA38586C3}" dt="2025-06-17T15:02:37.128" v="3" actId="47"/>
        <pc:sldMkLst>
          <pc:docMk/>
          <pc:sldMk cId="3826585799" sldId="551"/>
        </pc:sldMkLst>
      </pc:sldChg>
      <pc:sldChg chg="addSp modSp mod">
        <pc:chgData name="Dieter Beaven" userId="9bbdb69f-69d0-4759-aa9b-5c090a2da237" providerId="ADAL" clId="{A1285EE0-CB82-40AA-8F9F-DA7FA38586C3}" dt="2025-06-20T09:40:43.337" v="10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A1285EE0-CB82-40AA-8F9F-DA7FA38586C3}" dt="2025-06-20T09:40:43.337" v="10" actId="1076"/>
          <ac:picMkLst>
            <pc:docMk/>
            <pc:sldMk cId="2531956736" sldId="552"/>
            <ac:picMk id="6" creationId="{508ABDA4-842A-C90E-A88D-29C7E5FB22EE}"/>
          </ac:picMkLst>
        </pc:picChg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  <pc:spChg chg="mod">
          <ac:chgData name="Dieter Beaven" userId="9bbdb69f-69d0-4759-aa9b-5c090a2da237" providerId="ADAL" clId="{4C852731-5E00-4CEB-968B-CB6D352D4FBA}" dt="2025-04-25T15:27:04.615" v="0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C852731-5E00-4CEB-968B-CB6D352D4FBA}" dt="2025-04-25T15:27:07.693" v="2" actId="6549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11" Type="http://schemas.openxmlformats.org/officeDocument/2006/relationships/image" Target="../media/image229.png"/><Relationship Id="rId5" Type="http://schemas.openxmlformats.org/officeDocument/2006/relationships/image" Target="../media/image223.png"/><Relationship Id="rId10" Type="http://schemas.openxmlformats.org/officeDocument/2006/relationships/image" Target="../media/image228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Sketching Gradient Functions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Sketching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764141"/>
                <a:ext cx="7200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All the way back in Chapter 4, we used features such as intercepts with the axes, and behaviour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r>
                  <a:rPr lang="en-GB" dirty="0"/>
                  <a:t> in order to sketch graphs.</a:t>
                </a:r>
              </a:p>
              <a:p>
                <a:r>
                  <a:rPr lang="en-GB" dirty="0"/>
                  <a:t>Now we can also find stationary/turning points!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141"/>
                <a:ext cx="7200800" cy="923330"/>
              </a:xfrm>
              <a:prstGeom prst="rect">
                <a:avLst/>
              </a:prstGeom>
              <a:blipFill>
                <a:blip r:embed="rId2"/>
                <a:stretch>
                  <a:fillRect l="-677" t="-3289" r="-254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7559" y="1875898"/>
                <a:ext cx="8695812" cy="52854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[Textbook] By first finding the stationary points, 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+27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59" y="1875898"/>
                <a:ext cx="8695812" cy="528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6989" y="2592868"/>
                <a:ext cx="4033011" cy="4058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+27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  →  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81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    →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GB" b="1" i="1" dirty="0"/>
              </a:p>
              <a:p>
                <a:endParaRPr lang="en-GB" i="1" dirty="0"/>
              </a:p>
              <a:p>
                <a:r>
                  <a:rPr lang="en-GB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→∞,   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→∞ </m:t>
                    </m:r>
                  </m:oMath>
                </a14:m>
                <a:br>
                  <a:rPr lang="en-GB" b="0" dirty="0"/>
                </a:br>
                <a:r>
                  <a:rPr lang="en-GB" b="0" dirty="0"/>
                  <a:t>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→−∞,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→−∞ </m:t>
                    </m:r>
                  </m:oMath>
                </a14:m>
                <a:endParaRPr lang="en-GB" b="1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not defined at </a:t>
                </a:r>
                <a:r>
                  <a:rPr lang="en-GB" b="1" dirty="0"/>
                  <a:t>0</a:t>
                </a:r>
                <a:r>
                  <a:rPr lang="en-GB" dirty="0"/>
                  <a:t>   (due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 term)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89" y="2592868"/>
                <a:ext cx="4033011" cy="4058996"/>
              </a:xfrm>
              <a:prstGeom prst="rect">
                <a:avLst/>
              </a:prstGeom>
              <a:blipFill>
                <a:blip r:embed="rId4"/>
                <a:stretch>
                  <a:fillRect l="-1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71103" y="6021288"/>
            <a:ext cx="3940858" cy="7137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Vertical Asymptotes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71103" y="5307574"/>
                <a:ext cx="3940858" cy="713714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dirty="0"/>
                  <a:t>? As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sz="2800" dirty="0"/>
                  <a:t>,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03" y="5307574"/>
                <a:ext cx="3940858" cy="713714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71103" y="2510971"/>
            <a:ext cx="3940858" cy="27966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Turning Points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932040" y="4622366"/>
            <a:ext cx="33123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588224" y="2852936"/>
            <a:ext cx="3076" cy="382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244408" y="44075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408" y="4407520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408204" y="247192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204" y="2471926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120805" y="4599385"/>
                <a:ext cx="36004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805" y="4599385"/>
                <a:ext cx="360040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255606" y="341968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06" y="3419688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49280" y="547769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280" y="5477695"/>
                <a:ext cx="360040" cy="369332"/>
              </a:xfrm>
              <a:prstGeom prst="rect">
                <a:avLst/>
              </a:prstGeom>
              <a:blipFill>
                <a:blip r:embed="rId10"/>
                <a:stretch>
                  <a:fillRect r="-30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47790" y="4601101"/>
                <a:ext cx="36004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790" y="4601101"/>
                <a:ext cx="360040" cy="612732"/>
              </a:xfrm>
              <a:prstGeom prst="rect">
                <a:avLst/>
              </a:prstGeom>
              <a:blipFill>
                <a:blip r:embed="rId11"/>
                <a:stretch>
                  <a:fillRect r="-18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/>
          <p:cNvSpPr/>
          <p:nvPr/>
        </p:nvSpPr>
        <p:spPr>
          <a:xfrm>
            <a:off x="6719777" y="2700670"/>
            <a:ext cx="1297172" cy="927626"/>
          </a:xfrm>
          <a:custGeom>
            <a:avLst/>
            <a:gdLst>
              <a:gd name="connsiteX0" fmla="*/ 0 w 1297172"/>
              <a:gd name="connsiteY0" fmla="*/ 0 h 927626"/>
              <a:gd name="connsiteX1" fmla="*/ 563525 w 1297172"/>
              <a:gd name="connsiteY1" fmla="*/ 925032 h 927626"/>
              <a:gd name="connsiteX2" fmla="*/ 1297172 w 1297172"/>
              <a:gd name="connsiteY2" fmla="*/ 223283 h 92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7172" h="927626">
                <a:moveTo>
                  <a:pt x="0" y="0"/>
                </a:moveTo>
                <a:cubicBezTo>
                  <a:pt x="173665" y="443909"/>
                  <a:pt x="347330" y="887818"/>
                  <a:pt x="563525" y="925032"/>
                </a:cubicBezTo>
                <a:cubicBezTo>
                  <a:pt x="779720" y="962246"/>
                  <a:pt x="1038446" y="592764"/>
                  <a:pt x="1297172" y="2232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/>
          <p:cNvSpPr/>
          <p:nvPr/>
        </p:nvSpPr>
        <p:spPr>
          <a:xfrm rot="10800000">
            <a:off x="5055518" y="5627761"/>
            <a:ext cx="1297172" cy="927626"/>
          </a:xfrm>
          <a:custGeom>
            <a:avLst/>
            <a:gdLst>
              <a:gd name="connsiteX0" fmla="*/ 0 w 1297172"/>
              <a:gd name="connsiteY0" fmla="*/ 0 h 927626"/>
              <a:gd name="connsiteX1" fmla="*/ 563525 w 1297172"/>
              <a:gd name="connsiteY1" fmla="*/ 925032 h 927626"/>
              <a:gd name="connsiteX2" fmla="*/ 1297172 w 1297172"/>
              <a:gd name="connsiteY2" fmla="*/ 223283 h 927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7172" h="927626">
                <a:moveTo>
                  <a:pt x="0" y="0"/>
                </a:moveTo>
                <a:cubicBezTo>
                  <a:pt x="173665" y="443909"/>
                  <a:pt x="347330" y="887818"/>
                  <a:pt x="563525" y="925032"/>
                </a:cubicBezTo>
                <a:cubicBezTo>
                  <a:pt x="779720" y="962246"/>
                  <a:pt x="1038446" y="592764"/>
                  <a:pt x="1297172" y="22328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7299960" y="3604260"/>
            <a:ext cx="865" cy="101798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6591300" y="3627120"/>
            <a:ext cx="723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807830" y="5643001"/>
            <a:ext cx="7239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757786" y="4622245"/>
            <a:ext cx="865" cy="101798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75440" y="2510971"/>
            <a:ext cx="4301016" cy="42240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Graph</a:t>
            </a:r>
          </a:p>
        </p:txBody>
      </p:sp>
    </p:spTree>
    <p:extLst>
      <p:ext uri="{BB962C8B-B14F-4D97-AF65-F5344CB8AC3E}">
        <p14:creationId xmlns:p14="http://schemas.microsoft.com/office/powerpoint/2010/main" val="352554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99852" y="98072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10050" y="1321030"/>
                <a:ext cx="3929721" cy="3222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2014 1C] 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a turning point, that is a minimum,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precisely for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all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50" y="1321030"/>
                <a:ext cx="3929721" cy="3222677"/>
              </a:xfrm>
              <a:prstGeom prst="rect">
                <a:avLst/>
              </a:prstGeom>
              <a:blipFill>
                <a:blip r:embed="rId2"/>
                <a:stretch>
                  <a:fillRect l="-1240" t="-1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921" y="4297314"/>
                <a:ext cx="36724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2004 1B]</a:t>
                </a:r>
                <a:r>
                  <a:rPr lang="en-GB" dirty="0"/>
                  <a:t> The smallest value of the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GB" dirty="0"/>
                  <a:t> is what?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21" y="4297314"/>
                <a:ext cx="3672408" cy="1200329"/>
              </a:xfrm>
              <a:prstGeom prst="rect">
                <a:avLst/>
              </a:prstGeom>
              <a:blipFill>
                <a:blip r:embed="rId3"/>
                <a:stretch>
                  <a:fillRect l="-1495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542972" y="1026402"/>
                <a:ext cx="4557486" cy="4995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i="1" dirty="0"/>
                  <a:t>[MAT 2001 1E] </a:t>
                </a:r>
                <a:r>
                  <a:rPr lang="en-GB" sz="1600" dirty="0"/>
                  <a:t>The maximum gradient of the curve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 in the range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 occurs when: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r>
                  <a:rPr lang="en-GB" sz="1600" dirty="0"/>
                  <a:t>[STEP I 2007 Q8] A curve is given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−(8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+16)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a real number. Show that this curve touches 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</m:oMath>
                </a14:m>
                <a:r>
                  <a:rPr lang="en-GB" dirty="0"/>
                  <a:t>. Determine the coordinates of any other point of intersection of the two curves.</a:t>
                </a:r>
              </a:p>
              <a:p>
                <a:r>
                  <a:rPr lang="en-GB" dirty="0"/>
                  <a:t>(</a:t>
                </a:r>
                <a:r>
                  <a:rPr lang="en-GB" dirty="0" err="1"/>
                  <a:t>i</a:t>
                </a:r>
                <a:r>
                  <a:rPr lang="en-GB" dirty="0"/>
                  <a:t>) Sketch on the same axes these two curves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(ii) …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   (iii)  when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972" y="1026402"/>
                <a:ext cx="4557486" cy="4995342"/>
              </a:xfrm>
              <a:prstGeom prst="rect">
                <a:avLst/>
              </a:prstGeom>
              <a:blipFill>
                <a:blip r:embed="rId4"/>
                <a:stretch>
                  <a:fillRect l="-1070" t="-366" r="-936" b="-9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846663" y="2223322"/>
                <a:ext cx="2123165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Hint: </a:t>
                </a:r>
                <a:r>
                  <a:rPr lang="en-GB" sz="1600" dirty="0"/>
                  <a:t>When two curves touch, their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values must match, but what else must also match?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663" y="2223322"/>
                <a:ext cx="2123165" cy="1077218"/>
              </a:xfrm>
              <a:prstGeom prst="rect">
                <a:avLst/>
              </a:prstGeom>
              <a:blipFill>
                <a:blip r:embed="rId5"/>
                <a:stretch>
                  <a:fillRect l="-852" t="-556" r="-1420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8100392" y="3287237"/>
            <a:ext cx="216024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7504" y="1350060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504" y="4403210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5953" y="1069067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5953" y="3524073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819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Solutions to Extension Questions 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9422" y="747649"/>
                <a:ext cx="4341564" cy="5669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2014 1C] The cubic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has a turning point, that is a minimum,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precisely for</a:t>
                </a:r>
              </a:p>
              <a:p>
                <a:pPr marL="342900" indent="-342900">
                  <a:buAutoNum type="alphaUcParenR"/>
                </a:pPr>
                <a:r>
                  <a:rPr lang="en-GB" b="0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b="0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&lt;3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all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Therefore there is a turning point for all values of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GB" sz="1600" b="1" dirty="0"/>
                  <a:t>. However, this must be a minimum.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When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GB" sz="1600" b="1" dirty="0"/>
              </a:p>
              <a:p>
                <a:r>
                  <a:rPr lang="en-GB" sz="1600" b="1" dirty="0"/>
                  <a:t>If minimum: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   → 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22" y="747649"/>
                <a:ext cx="4341564" cy="5669757"/>
              </a:xfrm>
              <a:prstGeom prst="rect">
                <a:avLst/>
              </a:prstGeom>
              <a:blipFill>
                <a:blip r:embed="rId2"/>
                <a:stretch>
                  <a:fillRect l="-1264" t="-645" r="-14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43872" y="816124"/>
                <a:ext cx="367240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[MAT 2004 1B]</a:t>
                </a:r>
                <a:r>
                  <a:rPr lang="en-GB" dirty="0"/>
                  <a:t> The smallest value of the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GB" dirty="0"/>
                  <a:t> is what?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→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At start of range: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872" y="816124"/>
                <a:ext cx="3672408" cy="3139321"/>
              </a:xfrm>
              <a:prstGeom prst="rect">
                <a:avLst/>
              </a:prstGeom>
              <a:blipFill>
                <a:blip r:embed="rId3"/>
                <a:stretch>
                  <a:fillRect l="-1495" t="-1165" b="-2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/>
          <p:cNvSpPr/>
          <p:nvPr/>
        </p:nvSpPr>
        <p:spPr>
          <a:xfrm>
            <a:off x="5569857" y="4080329"/>
            <a:ext cx="2438400" cy="1277257"/>
          </a:xfrm>
          <a:custGeom>
            <a:avLst/>
            <a:gdLst>
              <a:gd name="connsiteX0" fmla="*/ 0 w 2438400"/>
              <a:gd name="connsiteY0" fmla="*/ 1277257 h 1277257"/>
              <a:gd name="connsiteX1" fmla="*/ 870857 w 2438400"/>
              <a:gd name="connsiteY1" fmla="*/ 362857 h 1277257"/>
              <a:gd name="connsiteX2" fmla="*/ 1683657 w 2438400"/>
              <a:gd name="connsiteY2" fmla="*/ 827314 h 1277257"/>
              <a:gd name="connsiteX3" fmla="*/ 2438400 w 2438400"/>
              <a:gd name="connsiteY3" fmla="*/ 0 h 127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1277257">
                <a:moveTo>
                  <a:pt x="0" y="1277257"/>
                </a:moveTo>
                <a:cubicBezTo>
                  <a:pt x="295123" y="857552"/>
                  <a:pt x="590247" y="437848"/>
                  <a:pt x="870857" y="362857"/>
                </a:cubicBezTo>
                <a:cubicBezTo>
                  <a:pt x="1151467" y="287866"/>
                  <a:pt x="1422400" y="887790"/>
                  <a:pt x="1683657" y="827314"/>
                </a:cubicBezTo>
                <a:cubicBezTo>
                  <a:pt x="1944914" y="766838"/>
                  <a:pt x="2191657" y="383419"/>
                  <a:pt x="24384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10719" y="469398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719" y="4693986"/>
                <a:ext cx="648072" cy="369332"/>
              </a:xfrm>
              <a:prstGeom prst="rect">
                <a:avLst/>
              </a:prstGeom>
              <a:blipFill>
                <a:blip r:embed="rId4"/>
                <a:stretch>
                  <a:fillRect l="-2830" r="-849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40985" y="402102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(1,8)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985" y="4021028"/>
                <a:ext cx="648072" cy="369332"/>
              </a:xfrm>
              <a:prstGeom prst="rect">
                <a:avLst/>
              </a:prstGeom>
              <a:blipFill>
                <a:blip r:embed="rId5"/>
                <a:stretch>
                  <a:fillRect l="-2804" r="-7477"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88268" y="4487281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(2,7)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268" y="4487281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 l="-2830" r="-8491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958791" y="5063318"/>
            <a:ext cx="228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Therefore answer is 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04" y="8401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8795" y="816124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3877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Solutions to Extension Questions 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94179" y="766892"/>
                <a:ext cx="4281713" cy="57069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[MAT 2001 1E] The maximum gradient of the curve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 in the range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 occurs when: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dirty="0"/>
              </a:p>
              <a:p>
                <a:endParaRPr lang="en-GB" sz="700" dirty="0"/>
              </a:p>
              <a:p>
                <a:r>
                  <a:rPr lang="en-GB" sz="1400" b="1" dirty="0"/>
                  <a:t>Gradient: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So find max value of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Due to the shape of a cubic, we have the a local maximum gradient 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and a local minimum at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In range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, answer must either be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sz="1400" b="1" dirty="0"/>
                  <a:t> or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sz="1400" b="1" dirty="0"/>
                  <a:t>. Substituting these into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 yields a higher value for the latter, so answer is (D).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9" y="766892"/>
                <a:ext cx="4281713" cy="5706947"/>
              </a:xfrm>
              <a:prstGeom prst="rect">
                <a:avLst/>
              </a:prstGeom>
              <a:blipFill>
                <a:blip r:embed="rId2"/>
                <a:stretch>
                  <a:fillRect l="-711" t="-321" b="-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47204" y="8528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3805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85750" y="722978"/>
                <a:ext cx="2774082" cy="378565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[STEP I 2007 Q8] A curve is given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+12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−(8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+16)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where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a real number. Show that this curve touches the curve with equation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</m:oMath>
                </a14:m>
                <a:r>
                  <a:rPr lang="en-GB" sz="1600" dirty="0"/>
                  <a:t>. Determine the coordinates of any other point of intersection of the two curves.</a:t>
                </a:r>
              </a:p>
              <a:p>
                <a:r>
                  <a:rPr lang="en-GB" sz="1600" dirty="0"/>
                  <a:t>(</a:t>
                </a:r>
                <a:r>
                  <a:rPr lang="en-GB" sz="1600" dirty="0" err="1"/>
                  <a:t>i</a:t>
                </a:r>
                <a:r>
                  <a:rPr lang="en-GB" sz="1600" dirty="0"/>
                  <a:t>) Sketch on the same axes these two curves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(ii) … 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  </a:t>
                </a:r>
                <a:br>
                  <a:rPr lang="en-GB" sz="1600" dirty="0"/>
                </a:br>
                <a:r>
                  <a:rPr lang="en-GB" sz="1600" dirty="0"/>
                  <a:t>(iii) … when 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722978"/>
                <a:ext cx="2774082" cy="37856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Solutions to Extension Questions </a:t>
              </a:r>
              <a:endParaRPr lang="en-GB" sz="3200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222" y="641723"/>
            <a:ext cx="5697088" cy="61827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1304" y="7258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1755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Sketching Gradient Functions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6228" y="735112"/>
                <a:ext cx="2749872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new A Level specification specifically mentions being able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you know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explicitly (e.g. because you differentiated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), you can use your knowledge of sketching straight line/quadratic/cubic graphs.</a:t>
                </a:r>
              </a:p>
              <a:p>
                <a:r>
                  <a:rPr lang="en-GB" dirty="0"/>
                  <a:t>But in other cases </a:t>
                </a:r>
                <a:r>
                  <a:rPr lang="en-GB" b="1" dirty="0"/>
                  <a:t>you won’t be given the function explicitly</a:t>
                </a:r>
                <a:r>
                  <a:rPr lang="en-GB" dirty="0"/>
                  <a:t>, but </a:t>
                </a:r>
                <a:r>
                  <a:rPr lang="en-GB" b="1" dirty="0"/>
                  <a:t>just the sketch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8" y="735112"/>
                <a:ext cx="2749872" cy="4801314"/>
              </a:xfrm>
              <a:prstGeom prst="rect">
                <a:avLst/>
              </a:prstGeom>
              <a:blipFill>
                <a:blip r:embed="rId2"/>
                <a:stretch>
                  <a:fillRect l="-1774" t="-762" r="-1996" b="-11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4837584" y="1184920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62648" y="3844900"/>
            <a:ext cx="4608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4356100" y="1549400"/>
            <a:ext cx="3594100" cy="2844838"/>
          </a:xfrm>
          <a:custGeom>
            <a:avLst/>
            <a:gdLst>
              <a:gd name="connsiteX0" fmla="*/ 0 w 3594100"/>
              <a:gd name="connsiteY0" fmla="*/ 0 h 2844838"/>
              <a:gd name="connsiteX1" fmla="*/ 2019300 w 3594100"/>
              <a:gd name="connsiteY1" fmla="*/ 2844800 h 2844838"/>
              <a:gd name="connsiteX2" fmla="*/ 3594100 w 3594100"/>
              <a:gd name="connsiteY2" fmla="*/ 50800 h 284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94100" h="2844838">
                <a:moveTo>
                  <a:pt x="0" y="0"/>
                </a:moveTo>
                <a:cubicBezTo>
                  <a:pt x="710141" y="1418166"/>
                  <a:pt x="1420283" y="2836333"/>
                  <a:pt x="2019300" y="2844800"/>
                </a:cubicBezTo>
                <a:cubicBezTo>
                  <a:pt x="2618317" y="2853267"/>
                  <a:pt x="3106208" y="1452033"/>
                  <a:pt x="3594100" y="508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/>
          <p:cNvSpPr/>
          <p:nvPr/>
        </p:nvSpPr>
        <p:spPr>
          <a:xfrm rot="5400000">
            <a:off x="4770465" y="3725836"/>
            <a:ext cx="434919" cy="2330450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120360" y="3666232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360" y="3666232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642420" y="764057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420" y="764057"/>
                <a:ext cx="433288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856508" y="5176367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508" y="5176367"/>
                <a:ext cx="1625600" cy="729133"/>
              </a:xfrm>
              <a:prstGeom prst="rect">
                <a:avLst/>
              </a:prstGeom>
              <a:blipFill>
                <a:blip r:embed="rId5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605760" y="5176367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760" y="5176367"/>
                <a:ext cx="1625600" cy="729133"/>
              </a:xfrm>
              <a:prstGeom prst="rect">
                <a:avLst/>
              </a:prstGeom>
              <a:blipFill>
                <a:blip r:embed="rId6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377708" y="5176366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708" y="5176366"/>
                <a:ext cx="1625600" cy="729133"/>
              </a:xfrm>
              <a:prstGeom prst="rect">
                <a:avLst/>
              </a:prstGeom>
              <a:blipFill>
                <a:blip r:embed="rId7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 rot="5400000">
            <a:off x="6222339" y="4699859"/>
            <a:ext cx="407920" cy="406202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Brace 18"/>
          <p:cNvSpPr/>
          <p:nvPr/>
        </p:nvSpPr>
        <p:spPr>
          <a:xfrm rot="5400000">
            <a:off x="7563777" y="3818798"/>
            <a:ext cx="420618" cy="2155628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rot="17340802">
                <a:off x="6973664" y="150167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40802">
                <a:off x="6973664" y="1501676"/>
                <a:ext cx="13887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4013200" y="3844900"/>
            <a:ext cx="2405360" cy="7144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413854" y="3121503"/>
            <a:ext cx="2405360" cy="7144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284158" y="3753459"/>
            <a:ext cx="198867" cy="18218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5393208" y="1993900"/>
            <a:ext cx="1579092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The gradient at the turning point is 0.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901552" y="2472730"/>
            <a:ext cx="410348" cy="110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rot="20637901">
                <a:off x="3841800" y="3942804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37901">
                <a:off x="3841800" y="3942804"/>
                <a:ext cx="151216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4318000" y="2108200"/>
            <a:ext cx="974562" cy="189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183408" y="1181100"/>
                <a:ext cx="135049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gradient of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is negative, but increasing.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08" y="1181100"/>
                <a:ext cx="1350492" cy="954107"/>
              </a:xfrm>
              <a:prstGeom prst="rect">
                <a:avLst/>
              </a:prstGeom>
              <a:blipFill>
                <a:blip r:embed="rId10"/>
                <a:stretch>
                  <a:fillRect l="-442" r="-1327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826572" y="2119242"/>
                <a:ext cx="125281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gradient of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is positive, and increasing.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572" y="2119242"/>
                <a:ext cx="1252812" cy="954107"/>
              </a:xfrm>
              <a:prstGeom prst="rect">
                <a:avLst/>
              </a:prstGeom>
              <a:blipFill>
                <a:blip r:embed="rId11"/>
                <a:stretch>
                  <a:fillRect l="-478" r="-3349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 flipH="1">
            <a:off x="7632700" y="2727233"/>
            <a:ext cx="199858" cy="650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75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/>
      <p:bldP spid="31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 Harder One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267744" y="1484784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92808" y="4144764"/>
            <a:ext cx="6243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72580" y="1063921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580" y="1063921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1435100" y="1714502"/>
            <a:ext cx="5918199" cy="1999000"/>
          </a:xfrm>
          <a:custGeom>
            <a:avLst/>
            <a:gdLst>
              <a:gd name="connsiteX0" fmla="*/ 0 w 5219700"/>
              <a:gd name="connsiteY0" fmla="*/ 43453 h 3040653"/>
              <a:gd name="connsiteX1" fmla="*/ 1308100 w 5219700"/>
              <a:gd name="connsiteY1" fmla="*/ 1732553 h 3040653"/>
              <a:gd name="connsiteX2" fmla="*/ 2514600 w 5219700"/>
              <a:gd name="connsiteY2" fmla="*/ 907053 h 3040653"/>
              <a:gd name="connsiteX3" fmla="*/ 3302000 w 5219700"/>
              <a:gd name="connsiteY3" fmla="*/ 81553 h 3040653"/>
              <a:gd name="connsiteX4" fmla="*/ 5219700 w 5219700"/>
              <a:gd name="connsiteY4" fmla="*/ 3040653 h 3040653"/>
              <a:gd name="connsiteX0" fmla="*/ 0 w 5219700"/>
              <a:gd name="connsiteY0" fmla="*/ 28459 h 3025659"/>
              <a:gd name="connsiteX1" fmla="*/ 1308100 w 5219700"/>
              <a:gd name="connsiteY1" fmla="*/ 1717559 h 3025659"/>
              <a:gd name="connsiteX2" fmla="*/ 2514600 w 5219700"/>
              <a:gd name="connsiteY2" fmla="*/ 892059 h 3025659"/>
              <a:gd name="connsiteX3" fmla="*/ 3302000 w 5219700"/>
              <a:gd name="connsiteY3" fmla="*/ 66559 h 3025659"/>
              <a:gd name="connsiteX4" fmla="*/ 5219700 w 5219700"/>
              <a:gd name="connsiteY4" fmla="*/ 3025659 h 3025659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302000 w 5219700"/>
              <a:gd name="connsiteY3" fmla="*/ 38100 h 2997200"/>
              <a:gd name="connsiteX4" fmla="*/ 5219700 w 5219700"/>
              <a:gd name="connsiteY4" fmla="*/ 2997200 h 2997200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979729 w 5219700"/>
              <a:gd name="connsiteY3" fmla="*/ 25400 h 2997200"/>
              <a:gd name="connsiteX4" fmla="*/ 5219700 w 5219700"/>
              <a:gd name="connsiteY4" fmla="*/ 2997200 h 2997200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979729 w 5219700"/>
              <a:gd name="connsiteY3" fmla="*/ 25400 h 2997200"/>
              <a:gd name="connsiteX4" fmla="*/ 5219700 w 5219700"/>
              <a:gd name="connsiteY4" fmla="*/ 2997200 h 2997200"/>
              <a:gd name="connsiteX0" fmla="*/ 0 w 5228617"/>
              <a:gd name="connsiteY0" fmla="*/ 0 h 1930400"/>
              <a:gd name="connsiteX1" fmla="*/ 1308100 w 5228617"/>
              <a:gd name="connsiteY1" fmla="*/ 1689100 h 1930400"/>
              <a:gd name="connsiteX2" fmla="*/ 2514600 w 5228617"/>
              <a:gd name="connsiteY2" fmla="*/ 863600 h 1930400"/>
              <a:gd name="connsiteX3" fmla="*/ 3979729 w 5228617"/>
              <a:gd name="connsiteY3" fmla="*/ 25400 h 1930400"/>
              <a:gd name="connsiteX4" fmla="*/ 5228617 w 5228617"/>
              <a:gd name="connsiteY4" fmla="*/ 1930400 h 1930400"/>
              <a:gd name="connsiteX0" fmla="*/ 0 w 5228617"/>
              <a:gd name="connsiteY0" fmla="*/ 0 h 1930400"/>
              <a:gd name="connsiteX1" fmla="*/ 1308100 w 5228617"/>
              <a:gd name="connsiteY1" fmla="*/ 1689100 h 1930400"/>
              <a:gd name="connsiteX2" fmla="*/ 2514600 w 5228617"/>
              <a:gd name="connsiteY2" fmla="*/ 863600 h 1930400"/>
              <a:gd name="connsiteX3" fmla="*/ 3979729 w 5228617"/>
              <a:gd name="connsiteY3" fmla="*/ 25400 h 1930400"/>
              <a:gd name="connsiteX4" fmla="*/ 5228617 w 5228617"/>
              <a:gd name="connsiteY4" fmla="*/ 1930400 h 1930400"/>
              <a:gd name="connsiteX0" fmla="*/ 0 w 5540729"/>
              <a:gd name="connsiteY0" fmla="*/ 0 h 1997075"/>
              <a:gd name="connsiteX1" fmla="*/ 1308100 w 5540729"/>
              <a:gd name="connsiteY1" fmla="*/ 1689100 h 1997075"/>
              <a:gd name="connsiteX2" fmla="*/ 2514600 w 5540729"/>
              <a:gd name="connsiteY2" fmla="*/ 863600 h 1997075"/>
              <a:gd name="connsiteX3" fmla="*/ 3979729 w 5540729"/>
              <a:gd name="connsiteY3" fmla="*/ 25400 h 1997075"/>
              <a:gd name="connsiteX4" fmla="*/ 5540729 w 5540729"/>
              <a:gd name="connsiteY4" fmla="*/ 1997075 h 1997075"/>
              <a:gd name="connsiteX0" fmla="*/ 0 w 5540729"/>
              <a:gd name="connsiteY0" fmla="*/ 0 h 1999000"/>
              <a:gd name="connsiteX1" fmla="*/ 1308100 w 5540729"/>
              <a:gd name="connsiteY1" fmla="*/ 1689100 h 1999000"/>
              <a:gd name="connsiteX2" fmla="*/ 2514600 w 5540729"/>
              <a:gd name="connsiteY2" fmla="*/ 863600 h 1999000"/>
              <a:gd name="connsiteX3" fmla="*/ 3979729 w 5540729"/>
              <a:gd name="connsiteY3" fmla="*/ 25400 h 1999000"/>
              <a:gd name="connsiteX4" fmla="*/ 5540729 w 5540729"/>
              <a:gd name="connsiteY4" fmla="*/ 1997075 h 1999000"/>
              <a:gd name="connsiteX0" fmla="*/ 0 w 5540729"/>
              <a:gd name="connsiteY0" fmla="*/ 1602 h 2000602"/>
              <a:gd name="connsiteX1" fmla="*/ 1308100 w 5540729"/>
              <a:gd name="connsiteY1" fmla="*/ 1690702 h 2000602"/>
              <a:gd name="connsiteX2" fmla="*/ 1902397 w 5540729"/>
              <a:gd name="connsiteY2" fmla="*/ 1039825 h 2000602"/>
              <a:gd name="connsiteX3" fmla="*/ 2514600 w 5540729"/>
              <a:gd name="connsiteY3" fmla="*/ 865202 h 2000602"/>
              <a:gd name="connsiteX4" fmla="*/ 3979729 w 5540729"/>
              <a:gd name="connsiteY4" fmla="*/ 27002 h 2000602"/>
              <a:gd name="connsiteX5" fmla="*/ 5540729 w 5540729"/>
              <a:gd name="connsiteY5" fmla="*/ 1998677 h 2000602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0 h 1999000"/>
              <a:gd name="connsiteX1" fmla="*/ 1308100 w 5540729"/>
              <a:gd name="connsiteY1" fmla="*/ 1689100 h 1999000"/>
              <a:gd name="connsiteX2" fmla="*/ 1906857 w 5540729"/>
              <a:gd name="connsiteY2" fmla="*/ 1238248 h 1999000"/>
              <a:gd name="connsiteX3" fmla="*/ 2514600 w 5540729"/>
              <a:gd name="connsiteY3" fmla="*/ 863600 h 1999000"/>
              <a:gd name="connsiteX4" fmla="*/ 3979729 w 5540729"/>
              <a:gd name="connsiteY4" fmla="*/ 25400 h 1999000"/>
              <a:gd name="connsiteX5" fmla="*/ 5540729 w 5540729"/>
              <a:gd name="connsiteY5" fmla="*/ 1997075 h 199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0729" h="1999000">
                <a:moveTo>
                  <a:pt x="0" y="0"/>
                </a:moveTo>
                <a:cubicBezTo>
                  <a:pt x="444500" y="772583"/>
                  <a:pt x="990291" y="1482725"/>
                  <a:pt x="1308100" y="1689100"/>
                </a:cubicBezTo>
                <a:cubicBezTo>
                  <a:pt x="1625909" y="1895475"/>
                  <a:pt x="1826159" y="1475844"/>
                  <a:pt x="1906857" y="1238248"/>
                </a:cubicBezTo>
                <a:cubicBezTo>
                  <a:pt x="1996472" y="953027"/>
                  <a:pt x="2048735" y="880004"/>
                  <a:pt x="2514600" y="863600"/>
                </a:cubicBezTo>
                <a:cubicBezTo>
                  <a:pt x="2980465" y="847196"/>
                  <a:pt x="3475374" y="-163513"/>
                  <a:pt x="3979729" y="25400"/>
                </a:cubicBezTo>
                <a:cubicBezTo>
                  <a:pt x="4484084" y="214313"/>
                  <a:pt x="4450605" y="2066925"/>
                  <a:pt x="5540729" y="19970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Brace 10"/>
          <p:cNvSpPr/>
          <p:nvPr/>
        </p:nvSpPr>
        <p:spPr>
          <a:xfrm rot="5400000">
            <a:off x="1687540" y="4129063"/>
            <a:ext cx="282519" cy="1778000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1507008" y="5290667"/>
            <a:ext cx="601192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13" name="Right Brace 12"/>
          <p:cNvSpPr/>
          <p:nvPr/>
        </p:nvSpPr>
        <p:spPr>
          <a:xfrm rot="5400000">
            <a:off x="2817554" y="4865378"/>
            <a:ext cx="269821" cy="318071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Brace 13"/>
          <p:cNvSpPr/>
          <p:nvPr/>
        </p:nvSpPr>
        <p:spPr>
          <a:xfrm rot="5400000">
            <a:off x="3398434" y="4633459"/>
            <a:ext cx="295224" cy="731107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/>
          <p:cNvSpPr/>
          <p:nvPr/>
        </p:nvSpPr>
        <p:spPr>
          <a:xfrm rot="5400000">
            <a:off x="4058588" y="4747513"/>
            <a:ext cx="320621" cy="503002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/>
          <p:cNvSpPr/>
          <p:nvPr/>
        </p:nvSpPr>
        <p:spPr>
          <a:xfrm rot="5400000">
            <a:off x="4835786" y="4559511"/>
            <a:ext cx="333321" cy="866306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ight Brace 16"/>
          <p:cNvSpPr/>
          <p:nvPr/>
        </p:nvSpPr>
        <p:spPr>
          <a:xfrm rot="5400000">
            <a:off x="5498345" y="4844247"/>
            <a:ext cx="326974" cy="277787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Brace 17"/>
          <p:cNvSpPr/>
          <p:nvPr/>
        </p:nvSpPr>
        <p:spPr>
          <a:xfrm rot="5400000">
            <a:off x="6334957" y="4433083"/>
            <a:ext cx="333322" cy="1144563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2753468" y="5284885"/>
            <a:ext cx="409998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1833" y="5285886"/>
            <a:ext cx="574229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1581" y="5284884"/>
            <a:ext cx="458020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3949" y="5284884"/>
            <a:ext cx="692426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67350" y="5273627"/>
            <a:ext cx="428625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394" y="5273627"/>
            <a:ext cx="713606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939799" y="3789040"/>
            <a:ext cx="644051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7178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1115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39116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397376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422901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8420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992808" y="4144764"/>
            <a:ext cx="1923008" cy="706636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Freeform: Shape 35"/>
          <p:cNvSpPr/>
          <p:nvPr/>
        </p:nvSpPr>
        <p:spPr>
          <a:xfrm>
            <a:off x="2914650" y="3631698"/>
            <a:ext cx="1123950" cy="521201"/>
          </a:xfrm>
          <a:custGeom>
            <a:avLst/>
            <a:gdLst>
              <a:gd name="connsiteX0" fmla="*/ 0 w 1123950"/>
              <a:gd name="connsiteY0" fmla="*/ 381918 h 381918"/>
              <a:gd name="connsiteX1" fmla="*/ 581025 w 1123950"/>
              <a:gd name="connsiteY1" fmla="*/ 918 h 381918"/>
              <a:gd name="connsiteX2" fmla="*/ 1123950 w 1123950"/>
              <a:gd name="connsiteY2" fmla="*/ 296193 h 381918"/>
              <a:gd name="connsiteX0" fmla="*/ 0 w 1123950"/>
              <a:gd name="connsiteY0" fmla="*/ 381918 h 381918"/>
              <a:gd name="connsiteX1" fmla="*/ 581025 w 1123950"/>
              <a:gd name="connsiteY1" fmla="*/ 918 h 381918"/>
              <a:gd name="connsiteX2" fmla="*/ 1123950 w 1123950"/>
              <a:gd name="connsiteY2" fmla="*/ 296193 h 381918"/>
              <a:gd name="connsiteX0" fmla="*/ 0 w 1123950"/>
              <a:gd name="connsiteY0" fmla="*/ 521201 h 521201"/>
              <a:gd name="connsiteX1" fmla="*/ 581025 w 1123950"/>
              <a:gd name="connsiteY1" fmla="*/ 501 h 521201"/>
              <a:gd name="connsiteX2" fmla="*/ 1123950 w 1123950"/>
              <a:gd name="connsiteY2" fmla="*/ 435476 h 5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3950" h="521201">
                <a:moveTo>
                  <a:pt x="0" y="521201"/>
                </a:moveTo>
                <a:cubicBezTo>
                  <a:pt x="206375" y="461669"/>
                  <a:pt x="393700" y="14788"/>
                  <a:pt x="581025" y="501"/>
                </a:cubicBezTo>
                <a:cubicBezTo>
                  <a:pt x="768350" y="-13786"/>
                  <a:pt x="946150" y="280695"/>
                  <a:pt x="1123950" y="435476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form: Shape 36"/>
          <p:cNvSpPr/>
          <p:nvPr/>
        </p:nvSpPr>
        <p:spPr>
          <a:xfrm>
            <a:off x="4019550" y="4019550"/>
            <a:ext cx="428625" cy="123958"/>
          </a:xfrm>
          <a:custGeom>
            <a:avLst/>
            <a:gdLst>
              <a:gd name="connsiteX0" fmla="*/ 0 w 428625"/>
              <a:gd name="connsiteY0" fmla="*/ 19050 h 123958"/>
              <a:gd name="connsiteX1" fmla="*/ 180975 w 428625"/>
              <a:gd name="connsiteY1" fmla="*/ 123825 h 123958"/>
              <a:gd name="connsiteX2" fmla="*/ 428625 w 428625"/>
              <a:gd name="connsiteY2" fmla="*/ 0 h 12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123958">
                <a:moveTo>
                  <a:pt x="0" y="19050"/>
                </a:moveTo>
                <a:cubicBezTo>
                  <a:pt x="54769" y="73025"/>
                  <a:pt x="109538" y="127000"/>
                  <a:pt x="180975" y="123825"/>
                </a:cubicBezTo>
                <a:cubicBezTo>
                  <a:pt x="252412" y="120650"/>
                  <a:pt x="340518" y="60325"/>
                  <a:pt x="428625" y="0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/>
          <p:cNvSpPr/>
          <p:nvPr/>
        </p:nvSpPr>
        <p:spPr>
          <a:xfrm>
            <a:off x="4429125" y="3809537"/>
            <a:ext cx="1247775" cy="333838"/>
          </a:xfrm>
          <a:custGeom>
            <a:avLst/>
            <a:gdLst>
              <a:gd name="connsiteX0" fmla="*/ 0 w 1104900"/>
              <a:gd name="connsiteY0" fmla="*/ 390965 h 457640"/>
              <a:gd name="connsiteX1" fmla="*/ 619125 w 1104900"/>
              <a:gd name="connsiteY1" fmla="*/ 440 h 457640"/>
              <a:gd name="connsiteX2" fmla="*/ 1104900 w 1104900"/>
              <a:gd name="connsiteY2" fmla="*/ 457640 h 457640"/>
              <a:gd name="connsiteX0" fmla="*/ 0 w 1247775"/>
              <a:gd name="connsiteY0" fmla="*/ 391930 h 515755"/>
              <a:gd name="connsiteX1" fmla="*/ 619125 w 1247775"/>
              <a:gd name="connsiteY1" fmla="*/ 1405 h 515755"/>
              <a:gd name="connsiteX2" fmla="*/ 1247775 w 1247775"/>
              <a:gd name="connsiteY2" fmla="*/ 515755 h 515755"/>
              <a:gd name="connsiteX0" fmla="*/ 0 w 1247775"/>
              <a:gd name="connsiteY0" fmla="*/ 212224 h 336049"/>
              <a:gd name="connsiteX1" fmla="*/ 606425 w 1247775"/>
              <a:gd name="connsiteY1" fmla="*/ 5849 h 336049"/>
              <a:gd name="connsiteX2" fmla="*/ 1247775 w 1247775"/>
              <a:gd name="connsiteY2" fmla="*/ 336049 h 336049"/>
              <a:gd name="connsiteX0" fmla="*/ 0 w 1247775"/>
              <a:gd name="connsiteY0" fmla="*/ 212224 h 336049"/>
              <a:gd name="connsiteX1" fmla="*/ 606425 w 1247775"/>
              <a:gd name="connsiteY1" fmla="*/ 5849 h 336049"/>
              <a:gd name="connsiteX2" fmla="*/ 1247775 w 1247775"/>
              <a:gd name="connsiteY2" fmla="*/ 336049 h 336049"/>
              <a:gd name="connsiteX0" fmla="*/ 0 w 1247775"/>
              <a:gd name="connsiteY0" fmla="*/ 210013 h 333838"/>
              <a:gd name="connsiteX1" fmla="*/ 606425 w 1247775"/>
              <a:gd name="connsiteY1" fmla="*/ 3638 h 333838"/>
              <a:gd name="connsiteX2" fmla="*/ 1247775 w 1247775"/>
              <a:gd name="connsiteY2" fmla="*/ 333838 h 3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7775" h="333838">
                <a:moveTo>
                  <a:pt x="0" y="210013"/>
                </a:moveTo>
                <a:cubicBezTo>
                  <a:pt x="217487" y="9194"/>
                  <a:pt x="265113" y="-10650"/>
                  <a:pt x="606425" y="3638"/>
                </a:cubicBezTo>
                <a:cubicBezTo>
                  <a:pt x="935038" y="-20174"/>
                  <a:pt x="1096962" y="110794"/>
                  <a:pt x="1247775" y="333838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/>
          <p:cNvSpPr/>
          <p:nvPr/>
        </p:nvSpPr>
        <p:spPr>
          <a:xfrm>
            <a:off x="5686425" y="4152900"/>
            <a:ext cx="1495425" cy="496099"/>
          </a:xfrm>
          <a:custGeom>
            <a:avLst/>
            <a:gdLst>
              <a:gd name="connsiteX0" fmla="*/ 0 w 1495425"/>
              <a:gd name="connsiteY0" fmla="*/ 0 h 496099"/>
              <a:gd name="connsiteX1" fmla="*/ 523875 w 1495425"/>
              <a:gd name="connsiteY1" fmla="*/ 495300 h 496099"/>
              <a:gd name="connsiteX2" fmla="*/ 1228725 w 1495425"/>
              <a:gd name="connsiteY2" fmla="*/ 114300 h 496099"/>
              <a:gd name="connsiteX3" fmla="*/ 1495425 w 1495425"/>
              <a:gd name="connsiteY3" fmla="*/ 57150 h 49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5425" h="496099">
                <a:moveTo>
                  <a:pt x="0" y="0"/>
                </a:moveTo>
                <a:cubicBezTo>
                  <a:pt x="159544" y="238125"/>
                  <a:pt x="319088" y="476250"/>
                  <a:pt x="523875" y="495300"/>
                </a:cubicBezTo>
                <a:cubicBezTo>
                  <a:pt x="728662" y="514350"/>
                  <a:pt x="1066800" y="187325"/>
                  <a:pt x="1228725" y="114300"/>
                </a:cubicBezTo>
                <a:cubicBezTo>
                  <a:pt x="1390650" y="41275"/>
                  <a:pt x="1443037" y="49212"/>
                  <a:pt x="1495425" y="57150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777643" y="324149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643" y="3241496"/>
                <a:ext cx="138874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89289" y="4315821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289" y="4315821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357362" y="935000"/>
            <a:ext cx="10248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negative, but increasing.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799" y="780470"/>
            <a:ext cx="2231609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 err="1"/>
              <a:t>Fro</a:t>
            </a:r>
            <a:r>
              <a:rPr lang="en-GB" sz="1400" b="1" dirty="0"/>
              <a:t> Tip</a:t>
            </a:r>
            <a:r>
              <a:rPr lang="en-GB" sz="1400" dirty="0"/>
              <a:t>: Mentally describe the gradient of each section of the curve, starting your mental sentence with “The gradient is…” and using terms like “positive”, “but increasing”, “but not changing”, etc.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5689" y="2382773"/>
            <a:ext cx="768017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  <a:endParaRPr lang="en-GB" sz="1400" dirty="0"/>
          </a:p>
        </p:txBody>
      </p:sp>
      <p:sp>
        <p:nvSpPr>
          <p:cNvPr id="46" name="Oval 45"/>
          <p:cNvSpPr/>
          <p:nvPr/>
        </p:nvSpPr>
        <p:spPr>
          <a:xfrm>
            <a:off x="2845830" y="4059644"/>
            <a:ext cx="162076" cy="1494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5589746" y="4069481"/>
            <a:ext cx="162076" cy="1494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/>
          <p:cNvSpPr txBox="1"/>
          <p:nvPr/>
        </p:nvSpPr>
        <p:spPr>
          <a:xfrm>
            <a:off x="2869698" y="1265803"/>
            <a:ext cx="1234470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positive: initially increases but then decreases.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6310" y="2793450"/>
            <a:ext cx="12344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0, but positive before and after.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3523" y="880376"/>
            <a:ext cx="1234470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positive: initially increases but then decreases.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568" y="2408186"/>
            <a:ext cx="1076850" cy="27699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  <a:endParaRPr lang="en-GB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391631" y="2664666"/>
            <a:ext cx="2369597" cy="43088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Gradient is negative. Initially decreases but then tends towards 0.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62875" y="6069611"/>
                <a:ext cx="3775726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Fro Pro Tip</a:t>
                </a:r>
                <a:r>
                  <a:rPr lang="en-GB" sz="1200" dirty="0"/>
                  <a:t>: The gradient is momentarily not changing so the gradient of the gradient is 0. We get a </a:t>
                </a:r>
                <a:r>
                  <a:rPr lang="en-GB" sz="1200" b="1" dirty="0"/>
                  <a:t>turning point </a:t>
                </a:r>
                <a:r>
                  <a:rPr lang="en-GB" sz="1200" dirty="0"/>
                  <a:t>in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200" dirty="0"/>
                  <a:t> whenever the </a:t>
                </a:r>
                <a:r>
                  <a:rPr lang="en-GB" sz="1200" b="1" dirty="0"/>
                  <a:t>curve has a point of inflection</a:t>
                </a:r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75" y="6069611"/>
                <a:ext cx="3775726" cy="646331"/>
              </a:xfrm>
              <a:prstGeom prst="rect">
                <a:avLst/>
              </a:prstGeom>
              <a:blipFill>
                <a:blip r:embed="rId6"/>
                <a:stretch>
                  <a:fillRect r="-481"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V="1">
            <a:off x="2108200" y="3880884"/>
            <a:ext cx="1336749" cy="221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2913321" y="3125972"/>
            <a:ext cx="531628" cy="1648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742803" y="6105690"/>
                <a:ext cx="3943997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Again, on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this is a point of inflection so the gradient function has a turning point. It is also a stationary point,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i.e.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curve touches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-axis.</a:t>
                </a: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803" y="6105690"/>
                <a:ext cx="3943997" cy="646331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/>
          <p:nvPr/>
        </p:nvCxnSpPr>
        <p:spPr>
          <a:xfrm flipH="1" flipV="1">
            <a:off x="4199860" y="4231758"/>
            <a:ext cx="650094" cy="189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9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2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267744" y="1484784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92808" y="4144764"/>
            <a:ext cx="6243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51100" y="1104070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100" y="1104070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H="1">
            <a:off x="929166" y="3161719"/>
            <a:ext cx="644051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1403498" y="1573619"/>
            <a:ext cx="5922335" cy="2435624"/>
          </a:xfrm>
          <a:custGeom>
            <a:avLst/>
            <a:gdLst>
              <a:gd name="connsiteX0" fmla="*/ 0 w 5922335"/>
              <a:gd name="connsiteY0" fmla="*/ 0 h 2469373"/>
              <a:gd name="connsiteX1" fmla="*/ 2381693 w 5922335"/>
              <a:gd name="connsiteY1" fmla="*/ 2392325 h 2469373"/>
              <a:gd name="connsiteX2" fmla="*/ 5922335 w 5922335"/>
              <a:gd name="connsiteY2" fmla="*/ 1648046 h 2469373"/>
              <a:gd name="connsiteX0" fmla="*/ 0 w 5922335"/>
              <a:gd name="connsiteY0" fmla="*/ 0 h 2435624"/>
              <a:gd name="connsiteX1" fmla="*/ 2381693 w 5922335"/>
              <a:gd name="connsiteY1" fmla="*/ 2392325 h 2435624"/>
              <a:gd name="connsiteX2" fmla="*/ 5922335 w 5922335"/>
              <a:gd name="connsiteY2" fmla="*/ 1648046 h 243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22335" h="2435624">
                <a:moveTo>
                  <a:pt x="0" y="0"/>
                </a:moveTo>
                <a:cubicBezTo>
                  <a:pt x="697318" y="1058825"/>
                  <a:pt x="1394637" y="2117651"/>
                  <a:pt x="2381693" y="2392325"/>
                </a:cubicBezTo>
                <a:cubicBezTo>
                  <a:pt x="3368749" y="2666999"/>
                  <a:pt x="3614184" y="1540834"/>
                  <a:pt x="5922335" y="164804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>
            <a:off x="1456660" y="3867536"/>
            <a:ext cx="5679204" cy="1384948"/>
          </a:xfrm>
          <a:custGeom>
            <a:avLst/>
            <a:gdLst>
              <a:gd name="connsiteX0" fmla="*/ 0 w 5709684"/>
              <a:gd name="connsiteY0" fmla="*/ 1499846 h 1499846"/>
              <a:gd name="connsiteX1" fmla="*/ 2626242 w 5709684"/>
              <a:gd name="connsiteY1" fmla="*/ 394060 h 1499846"/>
              <a:gd name="connsiteX2" fmla="*/ 3668233 w 5709684"/>
              <a:gd name="connsiteY2" fmla="*/ 655 h 1499846"/>
              <a:gd name="connsiteX3" fmla="*/ 5709684 w 5709684"/>
              <a:gd name="connsiteY3" fmla="*/ 319632 h 1499846"/>
              <a:gd name="connsiteX0" fmla="*/ 0 w 5709684"/>
              <a:gd name="connsiteY0" fmla="*/ 1499490 h 1499490"/>
              <a:gd name="connsiteX1" fmla="*/ 2626242 w 5709684"/>
              <a:gd name="connsiteY1" fmla="*/ 393704 h 1499490"/>
              <a:gd name="connsiteX2" fmla="*/ 3668233 w 5709684"/>
              <a:gd name="connsiteY2" fmla="*/ 299 h 1499490"/>
              <a:gd name="connsiteX3" fmla="*/ 5709684 w 5709684"/>
              <a:gd name="connsiteY3" fmla="*/ 319276 h 1499490"/>
              <a:gd name="connsiteX0" fmla="*/ 0 w 5709684"/>
              <a:gd name="connsiteY0" fmla="*/ 1385316 h 1385316"/>
              <a:gd name="connsiteX1" fmla="*/ 2626242 w 5709684"/>
              <a:gd name="connsiteY1" fmla="*/ 279530 h 1385316"/>
              <a:gd name="connsiteX2" fmla="*/ 3637753 w 5709684"/>
              <a:gd name="connsiteY2" fmla="*/ 425 h 1385316"/>
              <a:gd name="connsiteX3" fmla="*/ 5709684 w 5709684"/>
              <a:gd name="connsiteY3" fmla="*/ 205102 h 1385316"/>
              <a:gd name="connsiteX0" fmla="*/ 0 w 5679204"/>
              <a:gd name="connsiteY0" fmla="*/ 1384948 h 1384948"/>
              <a:gd name="connsiteX1" fmla="*/ 2626242 w 5679204"/>
              <a:gd name="connsiteY1" fmla="*/ 279162 h 1384948"/>
              <a:gd name="connsiteX2" fmla="*/ 3637753 w 5679204"/>
              <a:gd name="connsiteY2" fmla="*/ 57 h 1384948"/>
              <a:gd name="connsiteX3" fmla="*/ 5679204 w 5679204"/>
              <a:gd name="connsiteY3" fmla="*/ 250454 h 138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79204" h="1384948">
                <a:moveTo>
                  <a:pt x="0" y="1384948"/>
                </a:moveTo>
                <a:cubicBezTo>
                  <a:pt x="875414" y="1016353"/>
                  <a:pt x="2019950" y="509977"/>
                  <a:pt x="2626242" y="279162"/>
                </a:cubicBezTo>
                <a:cubicBezTo>
                  <a:pt x="3232534" y="48347"/>
                  <a:pt x="3128926" y="4842"/>
                  <a:pt x="3637753" y="57"/>
                </a:cubicBezTo>
                <a:cubicBezTo>
                  <a:pt x="4146580" y="-4728"/>
                  <a:pt x="4777208" y="297414"/>
                  <a:pt x="5679204" y="250454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3972212" y="4806419"/>
            <a:ext cx="1031835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Solution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90564" y="274176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564" y="2741766"/>
                <a:ext cx="138874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80945" y="3677867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945" y="3677867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324385" y="2030153"/>
            <a:ext cx="10248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negative, but increasing.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8590" y="3535216"/>
            <a:ext cx="1024870" cy="27699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9665" y="2378719"/>
            <a:ext cx="146508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positive; initially increases but then decreases.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1206" y="4361853"/>
            <a:ext cx="1657519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positive, but tending towards 0.</a:t>
            </a:r>
          </a:p>
        </p:txBody>
      </p:sp>
    </p:spTree>
    <p:extLst>
      <p:ext uri="{BB962C8B-B14F-4D97-AF65-F5344CB8AC3E}">
        <p14:creationId xmlns:p14="http://schemas.microsoft.com/office/powerpoint/2010/main" val="264024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12.10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99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511212-76EE-DF14-65D7-C23294A3A742}"/>
              </a:ext>
            </a:extLst>
          </p:cNvPr>
          <p:cNvSpPr txBox="1"/>
          <p:nvPr/>
        </p:nvSpPr>
        <p:spPr>
          <a:xfrm>
            <a:off x="387152" y="18355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D624F-0617-95B0-C646-00212F7DF7AA}"/>
                  </a:ext>
                </a:extLst>
              </p:cNvPr>
              <p:cNvSpPr txBox="1"/>
              <p:nvPr/>
            </p:nvSpPr>
            <p:spPr>
              <a:xfrm>
                <a:off x="473550" y="2284349"/>
                <a:ext cx="3946050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2015 1B]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a real number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 positive whole number,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GB" dirty="0"/>
                  <a:t>.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are plotted on the same axes, the number of intersections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will: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always be odd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always be even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but 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but 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both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2D624F-0617-95B0-C646-00212F7DF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50" y="2284349"/>
                <a:ext cx="3946050" cy="4216539"/>
              </a:xfrm>
              <a:prstGeom prst="rect">
                <a:avLst/>
              </a:prstGeom>
              <a:blipFill>
                <a:blip r:embed="rId2"/>
                <a:stretch>
                  <a:fillRect l="-1391" t="-8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717507A-03A8-8221-AFEE-7D26EEC9BB97}"/>
              </a:ext>
            </a:extLst>
          </p:cNvPr>
          <p:cNvSpPr/>
          <p:nvPr/>
        </p:nvSpPr>
        <p:spPr>
          <a:xfrm>
            <a:off x="120204" y="2376879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6AC1A1-4228-1700-6F36-2C823F7E8656}"/>
                  </a:ext>
                </a:extLst>
              </p:cNvPr>
              <p:cNvSpPr txBox="1"/>
              <p:nvPr/>
            </p:nvSpPr>
            <p:spPr>
              <a:xfrm>
                <a:off x="5232524" y="1867847"/>
                <a:ext cx="309634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(Official solution)</a:t>
                </a:r>
              </a:p>
              <a:p>
                <a:r>
                  <a:rPr lang="en-GB" b="1" dirty="0"/>
                  <a:t>If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is an even function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b="1" dirty="0"/>
                  <a:t> will be an odd function, and vice versa.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b="1" dirty="0"/>
                  <a:t> will cross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-axis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GB" b="1" dirty="0"/>
                  <a:t> and will have one further intersection 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are greater than 0.</a:t>
                </a:r>
              </a:p>
              <a:p>
                <a:endParaRPr lang="en-GB" b="1" dirty="0"/>
              </a:p>
              <a:p>
                <a:r>
                  <a:rPr lang="en-GB" b="1" dirty="0"/>
                  <a:t>The answer is (b).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6AC1A1-4228-1700-6F36-2C823F7E8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24" y="1867847"/>
                <a:ext cx="3096344" cy="2862322"/>
              </a:xfrm>
              <a:prstGeom prst="rect">
                <a:avLst/>
              </a:prstGeom>
              <a:blipFill>
                <a:blip r:embed="rId3"/>
                <a:stretch>
                  <a:fillRect l="-1575" t="-1064" r="-787" b="-23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231404-D7C8-76C8-F1E1-68FD897E375E}"/>
                  </a:ext>
                </a:extLst>
              </p:cNvPr>
              <p:cNvSpPr txBox="1"/>
              <p:nvPr/>
            </p:nvSpPr>
            <p:spPr>
              <a:xfrm>
                <a:off x="5334124" y="4864968"/>
                <a:ext cx="3251076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that:</a:t>
                </a:r>
              </a:p>
              <a:p>
                <a:r>
                  <a:rPr lang="en-GB" b="1" dirty="0"/>
                  <a:t>Odd function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b="1" dirty="0"/>
                  <a:t>Even function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231404-D7C8-76C8-F1E1-68FD897E3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124" y="4864968"/>
                <a:ext cx="3251076" cy="923330"/>
              </a:xfrm>
              <a:prstGeom prst="rect">
                <a:avLst/>
              </a:prstGeom>
              <a:blipFill>
                <a:blip r:embed="rId4"/>
                <a:stretch>
                  <a:fillRect l="-1117" t="-1923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891944A-F1FD-3A38-0E0A-95E4630FC33A}"/>
              </a:ext>
            </a:extLst>
          </p:cNvPr>
          <p:cNvSpPr/>
          <p:nvPr/>
        </p:nvSpPr>
        <p:spPr>
          <a:xfrm>
            <a:off x="5204145" y="1794824"/>
            <a:ext cx="3616327" cy="44424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562A2F1-6C10-C7DE-E4A3-9A061DF89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78" y="908720"/>
            <a:ext cx="72771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0310853-38C7-AE96-76BA-B65C3E135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32" y="638683"/>
            <a:ext cx="7519936" cy="617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08ABDA4-842A-C90E-A88D-29C7E5FB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95350"/>
            <a:ext cx="421957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61765</TotalTime>
  <Words>1574</Words>
  <Application>Microsoft Office PowerPoint</Application>
  <PresentationFormat>On-screen Show (4:3)</PresentationFormat>
  <Paragraphs>169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P1 Chapter 12: Differentiation  Sketching Gradient 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