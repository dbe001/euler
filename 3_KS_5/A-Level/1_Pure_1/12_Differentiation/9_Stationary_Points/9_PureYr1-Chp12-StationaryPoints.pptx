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547" r:id="rId5"/>
    <p:sldId id="649" r:id="rId6"/>
    <p:sldId id="650" r:id="rId7"/>
    <p:sldId id="651" r:id="rId8"/>
    <p:sldId id="652" r:id="rId9"/>
    <p:sldId id="653" r:id="rId10"/>
    <p:sldId id="654" r:id="rId11"/>
    <p:sldId id="655" r:id="rId12"/>
    <p:sldId id="656" r:id="rId13"/>
    <p:sldId id="549" r:id="rId14"/>
    <p:sldId id="543" r:id="rId15"/>
    <p:sldId id="545" r:id="rId16"/>
    <p:sldId id="552" r:id="rId17"/>
    <p:sldId id="657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5F932B-A1FA-4260-B6F1-CBC7E15BA945}" v="1" dt="2025-06-20T09:25:37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  <pc:spChg chg="mod">
          <ac:chgData name="Dieter Beaven" userId="9bbdb69f-69d0-4759-aa9b-5c090a2da237" providerId="ADAL" clId="{2F302947-2B75-4670-B1D7-9A45CF8980D0}" dt="2025-04-29T11:59:10.265" v="22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4E5F932B-A1FA-4260-B6F1-CBC7E15BA945}"/>
    <pc:docChg chg="custSel addSld delSld modSld">
      <pc:chgData name="Dieter Beaven" userId="9bbdb69f-69d0-4759-aa9b-5c090a2da237" providerId="ADAL" clId="{4E5F932B-A1FA-4260-B6F1-CBC7E15BA945}" dt="2025-06-20T09:26:48.125" v="25" actId="1076"/>
      <pc:docMkLst>
        <pc:docMk/>
      </pc:docMkLst>
      <pc:sldChg chg="addSp delSp modSp mod">
        <pc:chgData name="Dieter Beaven" userId="9bbdb69f-69d0-4759-aa9b-5c090a2da237" providerId="ADAL" clId="{4E5F932B-A1FA-4260-B6F1-CBC7E15BA945}" dt="2025-06-17T15:01:42.165" v="10" actId="1036"/>
        <pc:sldMkLst>
          <pc:docMk/>
          <pc:sldMk cId="3896053727" sldId="543"/>
        </pc:sldMkLst>
        <pc:picChg chg="add mod">
          <ac:chgData name="Dieter Beaven" userId="9bbdb69f-69d0-4759-aa9b-5c090a2da237" providerId="ADAL" clId="{4E5F932B-A1FA-4260-B6F1-CBC7E15BA945}" dt="2025-06-17T15:01:42.165" v="10" actId="1036"/>
          <ac:picMkLst>
            <pc:docMk/>
            <pc:sldMk cId="3896053727" sldId="543"/>
            <ac:picMk id="8" creationId="{F66C0552-CA11-FF58-9CF7-91505617FEAE}"/>
          </ac:picMkLst>
        </pc:picChg>
      </pc:sldChg>
      <pc:sldChg chg="addSp modSp mod">
        <pc:chgData name="Dieter Beaven" userId="9bbdb69f-69d0-4759-aa9b-5c090a2da237" providerId="ADAL" clId="{4E5F932B-A1FA-4260-B6F1-CBC7E15BA945}" dt="2025-06-20T09:25:34.656" v="14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4E5F932B-A1FA-4260-B6F1-CBC7E15BA945}" dt="2025-06-20T09:25:34.656" v="14" actId="1076"/>
          <ac:picMkLst>
            <pc:docMk/>
            <pc:sldMk cId="3458699803" sldId="545"/>
            <ac:picMk id="6" creationId="{B5D6A68F-9570-7233-63D9-B87E70BE18EF}"/>
          </ac:picMkLst>
        </pc:picChg>
      </pc:sldChg>
      <pc:sldChg chg="del">
        <pc:chgData name="Dieter Beaven" userId="9bbdb69f-69d0-4759-aa9b-5c090a2da237" providerId="ADAL" clId="{4E5F932B-A1FA-4260-B6F1-CBC7E15BA945}" dt="2025-06-17T15:01:44.477" v="11" actId="47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4E5F932B-A1FA-4260-B6F1-CBC7E15BA945}" dt="2025-06-17T15:01:44.915" v="12" actId="47"/>
        <pc:sldMkLst>
          <pc:docMk/>
          <pc:sldMk cId="3826585799" sldId="551"/>
        </pc:sldMkLst>
      </pc:sldChg>
      <pc:sldChg chg="addSp modSp mod">
        <pc:chgData name="Dieter Beaven" userId="9bbdb69f-69d0-4759-aa9b-5c090a2da237" providerId="ADAL" clId="{4E5F932B-A1FA-4260-B6F1-CBC7E15BA945}" dt="2025-06-20T09:25:57.331" v="20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4E5F932B-A1FA-4260-B6F1-CBC7E15BA945}" dt="2025-06-20T09:25:57.331" v="20" actId="1076"/>
          <ac:picMkLst>
            <pc:docMk/>
            <pc:sldMk cId="2531956736" sldId="552"/>
            <ac:picMk id="6" creationId="{8EB89A27-7D8C-AE4C-ED5D-742FA5F31E4F}"/>
          </ac:picMkLst>
        </pc:picChg>
      </pc:sldChg>
      <pc:sldChg chg="addSp delSp modSp add mod">
        <pc:chgData name="Dieter Beaven" userId="9bbdb69f-69d0-4759-aa9b-5c090a2da237" providerId="ADAL" clId="{4E5F932B-A1FA-4260-B6F1-CBC7E15BA945}" dt="2025-06-20T09:26:48.125" v="25" actId="1076"/>
        <pc:sldMkLst>
          <pc:docMk/>
          <pc:sldMk cId="229663284" sldId="657"/>
        </pc:sldMkLst>
        <pc:picChg chg="add del mod">
          <ac:chgData name="Dieter Beaven" userId="9bbdb69f-69d0-4759-aa9b-5c090a2da237" providerId="ADAL" clId="{4E5F932B-A1FA-4260-B6F1-CBC7E15BA945}" dt="2025-06-20T09:26:42.297" v="23" actId="478"/>
          <ac:picMkLst>
            <pc:docMk/>
            <pc:sldMk cId="229663284" sldId="657"/>
            <ac:picMk id="6" creationId="{C9D6A395-9F19-AFB1-65B1-9405DD1FEA7B}"/>
          </ac:picMkLst>
        </pc:picChg>
        <pc:picChg chg="add mod">
          <ac:chgData name="Dieter Beaven" userId="9bbdb69f-69d0-4759-aa9b-5c090a2da237" providerId="ADAL" clId="{4E5F932B-A1FA-4260-B6F1-CBC7E15BA945}" dt="2025-06-20T09:26:48.125" v="25" actId="1076"/>
          <ac:picMkLst>
            <pc:docMk/>
            <pc:sldMk cId="229663284" sldId="657"/>
            <ac:picMk id="8" creationId="{BAD957CD-0B46-E78A-E888-04F268FDB55B}"/>
          </ac:picMkLst>
        </pc:picChg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  <pc:spChg chg="mod">
          <ac:chgData name="Dieter Beaven" userId="9bbdb69f-69d0-4759-aa9b-5c090a2da237" providerId="ADAL" clId="{4C852731-5E00-4CEB-968B-CB6D352D4FBA}" dt="2025-04-25T15:27:04.615" v="0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C852731-5E00-4CEB-968B-CB6D352D4FBA}" dt="2025-04-25T15:27:07.693" v="2" actId="6549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  <pc:docChgLst>
    <pc:chgData name="Dieter Beaven" userId="9bbdb69f-69d0-4759-aa9b-5c090a2da237" providerId="ADAL" clId="{41B9450B-FB3C-4F5C-8124-98838D1D5BB7}"/>
    <pc:docChg chg="addSld modSld">
      <pc:chgData name="Dieter Beaven" userId="9bbdb69f-69d0-4759-aa9b-5c090a2da237" providerId="ADAL" clId="{41B9450B-FB3C-4F5C-8124-98838D1D5BB7}" dt="2025-05-09T15:51:27.254" v="25"/>
      <pc:docMkLst>
        <pc:docMk/>
      </pc:docMkLst>
      <pc:sldChg chg="modSp mod">
        <pc:chgData name="Dieter Beaven" userId="9bbdb69f-69d0-4759-aa9b-5c090a2da237" providerId="ADAL" clId="{41B9450B-FB3C-4F5C-8124-98838D1D5BB7}" dt="2025-05-09T15:50:45.500" v="19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1B9450B-FB3C-4F5C-8124-98838D1D5BB7}" dt="2025-05-09T15:50:45.500" v="19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1B9450B-FB3C-4F5C-8124-98838D1D5BB7}" dt="2025-05-09T15:50:56.818" v="24" actId="20577"/>
        <pc:sldMkLst>
          <pc:docMk/>
          <pc:sldMk cId="3055658135" sldId="549"/>
        </pc:sldMkLst>
        <pc:spChg chg="mod">
          <ac:chgData name="Dieter Beaven" userId="9bbdb69f-69d0-4759-aa9b-5c090a2da237" providerId="ADAL" clId="{41B9450B-FB3C-4F5C-8124-98838D1D5BB7}" dt="2025-05-09T15:50:52.515" v="21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1B9450B-FB3C-4F5C-8124-98838D1D5BB7}" dt="2025-05-09T15:50:56.818" v="24" actId="20577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3650722793" sldId="649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2529718452" sldId="650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2444296687" sldId="651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2171486465" sldId="652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2645242697" sldId="653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1553555543" sldId="654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131514388" sldId="655"/>
        </pc:sldMkLst>
      </pc:sldChg>
      <pc:sldChg chg="add">
        <pc:chgData name="Dieter Beaven" userId="9bbdb69f-69d0-4759-aa9b-5c090a2da237" providerId="ADAL" clId="{41B9450B-FB3C-4F5C-8124-98838D1D5BB7}" dt="2025-05-09T15:51:27.254" v="25"/>
        <pc:sldMkLst>
          <pc:docMk/>
          <pc:sldMk cId="3133429907" sldId="6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8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9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Stationary Points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Stationary/Turning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7544" y="990823"/>
                <a:ext cx="6696744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A stationary point is where the gradient is 0, i.e.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990823"/>
                <a:ext cx="6696744" cy="369332"/>
              </a:xfrm>
              <a:prstGeom prst="rect">
                <a:avLst/>
              </a:prstGeom>
              <a:blipFill>
                <a:blip r:embed="rId2"/>
                <a:stretch>
                  <a:fillRect l="-635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1331640" y="1751851"/>
            <a:ext cx="5497033" cy="1905080"/>
          </a:xfrm>
          <a:custGeom>
            <a:avLst/>
            <a:gdLst>
              <a:gd name="connsiteX0" fmla="*/ 0 w 4954772"/>
              <a:gd name="connsiteY0" fmla="*/ 1070433 h 1549138"/>
              <a:gd name="connsiteX1" fmla="*/ 1307805 w 4954772"/>
              <a:gd name="connsiteY1" fmla="*/ 7177 h 1549138"/>
              <a:gd name="connsiteX2" fmla="*/ 3444949 w 4954772"/>
              <a:gd name="connsiteY2" fmla="*/ 1538266 h 1549138"/>
              <a:gd name="connsiteX3" fmla="*/ 4954772 w 4954772"/>
              <a:gd name="connsiteY3" fmla="*/ 570703 h 1549138"/>
              <a:gd name="connsiteX0" fmla="*/ 0 w 5497033"/>
              <a:gd name="connsiteY0" fmla="*/ 1435395 h 1905080"/>
              <a:gd name="connsiteX1" fmla="*/ 1307805 w 5497033"/>
              <a:gd name="connsiteY1" fmla="*/ 372139 h 1905080"/>
              <a:gd name="connsiteX2" fmla="*/ 3444949 w 5497033"/>
              <a:gd name="connsiteY2" fmla="*/ 1903228 h 1905080"/>
              <a:gd name="connsiteX3" fmla="*/ 5497033 w 5497033"/>
              <a:gd name="connsiteY3" fmla="*/ 0 h 1905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7033" h="1905080">
                <a:moveTo>
                  <a:pt x="0" y="1435395"/>
                </a:moveTo>
                <a:cubicBezTo>
                  <a:pt x="366823" y="864781"/>
                  <a:pt x="733647" y="294167"/>
                  <a:pt x="1307805" y="372139"/>
                </a:cubicBezTo>
                <a:cubicBezTo>
                  <a:pt x="1881963" y="450111"/>
                  <a:pt x="2746744" y="1965251"/>
                  <a:pt x="3444949" y="1903228"/>
                </a:cubicBezTo>
                <a:cubicBezTo>
                  <a:pt x="4143154" y="1841205"/>
                  <a:pt x="5046035" y="530742"/>
                  <a:pt x="5497033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633678" y="2114011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57490" y="1780513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7490" y="1780513"/>
                <a:ext cx="1276785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/>
          <p:cNvCxnSpPr/>
          <p:nvPr/>
        </p:nvCxnSpPr>
        <p:spPr>
          <a:xfrm>
            <a:off x="3815916" y="3656931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71428" y="3698038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428" y="3698038"/>
                <a:ext cx="1276785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688332" y="1657764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Local maximum</a:t>
            </a:r>
          </a:p>
        </p:txBody>
      </p:sp>
      <p:sp>
        <p:nvSpPr>
          <p:cNvPr id="14" name="Oval 13"/>
          <p:cNvSpPr/>
          <p:nvPr/>
        </p:nvSpPr>
        <p:spPr>
          <a:xfrm>
            <a:off x="2487960" y="2042160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/>
          <p:cNvSpPr/>
          <p:nvPr/>
        </p:nvSpPr>
        <p:spPr>
          <a:xfrm>
            <a:off x="4667113" y="3579771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/>
          <p:cNvSpPr txBox="1"/>
          <p:nvPr/>
        </p:nvSpPr>
        <p:spPr>
          <a:xfrm>
            <a:off x="2987824" y="3648153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Local minimum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8647" y="2199436"/>
            <a:ext cx="26409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 err="1"/>
              <a:t>Fro</a:t>
            </a:r>
            <a:r>
              <a:rPr lang="en-GB" sz="1200" b="1" dirty="0"/>
              <a:t> Note:</a:t>
            </a:r>
            <a:r>
              <a:rPr lang="en-GB" sz="1200" dirty="0"/>
              <a:t> It’s called a ‘</a:t>
            </a:r>
            <a:r>
              <a:rPr lang="en-GB" sz="1200" b="1" dirty="0"/>
              <a:t>local</a:t>
            </a:r>
            <a:r>
              <a:rPr lang="en-GB" sz="1200" dirty="0"/>
              <a:t>’ maximum because it’s the function’s largest output within the vicinity. Functions may also have a ‘</a:t>
            </a:r>
            <a:r>
              <a:rPr lang="en-GB" sz="1200" b="1" dirty="0"/>
              <a:t>global</a:t>
            </a:r>
            <a:r>
              <a:rPr lang="en-GB" sz="1200" dirty="0"/>
              <a:t>’ maximum, i.e. the maximum output across the entire function. This particular function doesn’t have a global maximum because the output keeps increasing up to infinity. It similarly has no global minimum, as with all cubics.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94601" y="4402227"/>
                <a:ext cx="7862589" cy="40011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coordinates of the turning points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i="1">
                        <a:latin typeface="Cambria Math" panose="02040503050406030204" pitchFamily="18" charset="0"/>
                      </a:rPr>
                      <m:t>−135</m:t>
                    </m:r>
                    <m:r>
                      <a:rPr lang="en-GB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20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601" y="4402227"/>
                <a:ext cx="7862589" cy="400110"/>
              </a:xfrm>
              <a:prstGeom prst="rect">
                <a:avLst/>
              </a:prstGeom>
              <a:blipFill>
                <a:blip r:embed="rId5"/>
                <a:stretch>
                  <a:fillRect b="-555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35395" y="4843053"/>
                <a:ext cx="6970922" cy="1790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−135=0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−45=0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=−9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+6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−135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=−400                 →  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5,−400</m:t>
                        </m:r>
                      </m:e>
                    </m:d>
                  </m:oMath>
                </a14:m>
                <a:endParaRPr lang="en-GB" sz="1600" dirty="0"/>
              </a:p>
              <a:p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=−9, 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−9</m:t>
                            </m:r>
                          </m:e>
                        </m:d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−135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=972   →  (−9,972)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95" y="4843053"/>
                <a:ext cx="6970922" cy="1790939"/>
              </a:xfrm>
              <a:prstGeom prst="rect">
                <a:avLst/>
              </a:prstGeom>
              <a:blipFill>
                <a:blip r:embed="rId6"/>
                <a:stretch>
                  <a:fillRect l="-525" b="-34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463293" y="4802336"/>
            <a:ext cx="7893897" cy="191722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0722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More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8909" y="861585"/>
                <a:ext cx="3741043" cy="70788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least value of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909" y="861585"/>
                <a:ext cx="3741043" cy="707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9552" y="1772816"/>
                <a:ext cx="324036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1: Differentiation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+9=5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5 is the minimum value.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772816"/>
                <a:ext cx="3240360" cy="1754326"/>
              </a:xfrm>
              <a:prstGeom prst="rect">
                <a:avLst/>
              </a:prstGeom>
              <a:blipFill>
                <a:blip r:embed="rId3"/>
                <a:stretch>
                  <a:fillRect l="-1695" t="-2083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3908418"/>
                <a:ext cx="3532718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Method 2: Completing the square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+5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Therefore the minimum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5, and this occurs when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908418"/>
                <a:ext cx="3532718" cy="1754326"/>
              </a:xfrm>
              <a:prstGeom prst="rect">
                <a:avLst/>
              </a:prstGeom>
              <a:blipFill>
                <a:blip r:embed="rId4"/>
                <a:stretch>
                  <a:fillRect l="-1554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98909" y="1562613"/>
            <a:ext cx="3741043" cy="21544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  <a:br>
              <a:rPr lang="en-GB" sz="2800" dirty="0"/>
            </a:br>
            <a:r>
              <a:rPr lang="en-GB" sz="2800" dirty="0"/>
              <a:t>Method 1: Differentiation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98908" y="3717032"/>
            <a:ext cx="3741043" cy="215441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  <a:br>
              <a:rPr lang="en-GB" sz="2800" dirty="0"/>
            </a:br>
            <a:r>
              <a:rPr lang="en-GB" sz="2800" dirty="0"/>
              <a:t>Method 2: </a:t>
            </a:r>
            <a:br>
              <a:rPr lang="en-GB" sz="2800" dirty="0"/>
            </a:br>
            <a:r>
              <a:rPr lang="en-GB" sz="2800" dirty="0"/>
              <a:t>Completing the 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2192" y="5997603"/>
            <a:ext cx="31683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/>
              <a:t>Fro</a:t>
            </a:r>
            <a:r>
              <a:rPr lang="en-GB" sz="1400" b="1" dirty="0"/>
              <a:t> Note</a:t>
            </a:r>
            <a:r>
              <a:rPr lang="en-GB" sz="1400" dirty="0"/>
              <a:t>: Method 2 is only applicable for quadratic functions. For others, differentiation must be used.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27984" y="821546"/>
                <a:ext cx="3741043" cy="73090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turning point of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821546"/>
                <a:ext cx="3741043" cy="730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830554" y="1706601"/>
                <a:ext cx="3168352" cy="4252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  →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→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GB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e>
                      </m:ra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turning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554" y="1706601"/>
                <a:ext cx="3168352" cy="4252703"/>
              </a:xfrm>
              <a:prstGeom prst="rect">
                <a:avLst/>
              </a:prstGeom>
              <a:blipFill>
                <a:blip r:embed="rId6"/>
                <a:stretch>
                  <a:fillRect l="-1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427984" y="1562613"/>
            <a:ext cx="3741043" cy="49627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971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Points of Inflection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908720"/>
            <a:ext cx="7488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There’s a third type of stationary point (that we’ve encountered previously):</a:t>
            </a:r>
          </a:p>
        </p:txBody>
      </p:sp>
      <p:sp>
        <p:nvSpPr>
          <p:cNvPr id="6" name="Freeform: Shape 5"/>
          <p:cNvSpPr/>
          <p:nvPr/>
        </p:nvSpPr>
        <p:spPr>
          <a:xfrm>
            <a:off x="1403498" y="1775637"/>
            <a:ext cx="3466214" cy="2721935"/>
          </a:xfrm>
          <a:custGeom>
            <a:avLst/>
            <a:gdLst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3" fmla="*/ 3466214 w 3466214"/>
              <a:gd name="connsiteY3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3" fmla="*/ 3466214 w 3466214"/>
              <a:gd name="connsiteY3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  <a:gd name="connsiteX0" fmla="*/ 0 w 3466214"/>
              <a:gd name="connsiteY0" fmla="*/ 2721935 h 2721935"/>
              <a:gd name="connsiteX1" fmla="*/ 1839432 w 3466214"/>
              <a:gd name="connsiteY1" fmla="*/ 1275907 h 2721935"/>
              <a:gd name="connsiteX2" fmla="*/ 3466214 w 3466214"/>
              <a:gd name="connsiteY2" fmla="*/ 0 h 2721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6214" h="2721935">
                <a:moveTo>
                  <a:pt x="0" y="2721935"/>
                </a:moveTo>
                <a:cubicBezTo>
                  <a:pt x="400493" y="2016642"/>
                  <a:pt x="1059700" y="1258707"/>
                  <a:pt x="1839432" y="1275907"/>
                </a:cubicBezTo>
                <a:cubicBezTo>
                  <a:pt x="3285460" y="1307805"/>
                  <a:pt x="3242930" y="467832"/>
                  <a:pt x="346621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Connector 6"/>
          <p:cNvCxnSpPr/>
          <p:nvPr/>
        </p:nvCxnSpPr>
        <p:spPr>
          <a:xfrm>
            <a:off x="2292896" y="3060308"/>
            <a:ext cx="18002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51434" y="2684280"/>
                <a:ext cx="127678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1434" y="2684280"/>
                <a:ext cx="1276785" cy="307777"/>
              </a:xfrm>
              <a:prstGeom prst="rect">
                <a:avLst/>
              </a:prstGeom>
              <a:blipFill>
                <a:blip r:embed="rId2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3125914" y="2977825"/>
            <a:ext cx="156180" cy="15432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342823" y="1959363"/>
            <a:ext cx="2808312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 point of inflection is where the curve changes from convex  concave (or vice versa).</a:t>
            </a:r>
          </a:p>
        </p:txBody>
      </p:sp>
      <p:sp>
        <p:nvSpPr>
          <p:cNvPr id="11" name="Freeform: Shape 10"/>
          <p:cNvSpPr/>
          <p:nvPr/>
        </p:nvSpPr>
        <p:spPr>
          <a:xfrm>
            <a:off x="5497033" y="3273977"/>
            <a:ext cx="839972" cy="606907"/>
          </a:xfrm>
          <a:custGeom>
            <a:avLst/>
            <a:gdLst>
              <a:gd name="connsiteX0" fmla="*/ 0 w 839972"/>
              <a:gd name="connsiteY0" fmla="*/ 606907 h 606907"/>
              <a:gd name="connsiteX1" fmla="*/ 372139 w 839972"/>
              <a:gd name="connsiteY1" fmla="*/ 96544 h 606907"/>
              <a:gd name="connsiteX2" fmla="*/ 839972 w 839972"/>
              <a:gd name="connsiteY2" fmla="*/ 851 h 60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72" h="606907">
                <a:moveTo>
                  <a:pt x="0" y="606907"/>
                </a:moveTo>
                <a:cubicBezTo>
                  <a:pt x="116072" y="402230"/>
                  <a:pt x="232144" y="197553"/>
                  <a:pt x="372139" y="96544"/>
                </a:cubicBezTo>
                <a:cubicBezTo>
                  <a:pt x="512134" y="-4465"/>
                  <a:pt x="676053" y="-1807"/>
                  <a:pt x="839972" y="8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 rot="11370795">
            <a:off x="6845313" y="3132857"/>
            <a:ext cx="839972" cy="606907"/>
          </a:xfrm>
          <a:custGeom>
            <a:avLst/>
            <a:gdLst>
              <a:gd name="connsiteX0" fmla="*/ 0 w 839972"/>
              <a:gd name="connsiteY0" fmla="*/ 606907 h 606907"/>
              <a:gd name="connsiteX1" fmla="*/ 372139 w 839972"/>
              <a:gd name="connsiteY1" fmla="*/ 96544 h 606907"/>
              <a:gd name="connsiteX2" fmla="*/ 839972 w 839972"/>
              <a:gd name="connsiteY2" fmla="*/ 851 h 606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39972" h="606907">
                <a:moveTo>
                  <a:pt x="0" y="606907"/>
                </a:moveTo>
                <a:cubicBezTo>
                  <a:pt x="116072" y="402230"/>
                  <a:pt x="232144" y="197553"/>
                  <a:pt x="372139" y="96544"/>
                </a:cubicBezTo>
                <a:cubicBezTo>
                  <a:pt x="512134" y="-4465"/>
                  <a:pt x="676053" y="-1807"/>
                  <a:pt x="839972" y="85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5657913" y="3449840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68" y="3130694"/>
            <a:ext cx="1037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concave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3806" y="3457496"/>
            <a:ext cx="129614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(the same terms used in optics!)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2823" y="4020260"/>
            <a:ext cx="31683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i.e. the line curves in one direction before the point of inflection, then curves in the other direction after.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53833" y="3856486"/>
            <a:ext cx="2025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Technically we could label these either way round depending on where we view the curve from. What’s important is that the </a:t>
            </a:r>
            <a:r>
              <a:rPr lang="en-GB" sz="1200" b="1" dirty="0"/>
              <a:t>concavity changes</a:t>
            </a:r>
            <a:r>
              <a:rPr lang="en-GB" sz="1200" dirty="0"/>
              <a:t>.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4571428" y="3577430"/>
            <a:ext cx="812239" cy="2417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719792" y="5694099"/>
            <a:ext cx="7791383" cy="738664"/>
            <a:chOff x="719792" y="5694099"/>
            <a:chExt cx="7791383" cy="738664"/>
          </a:xfrm>
        </p:grpSpPr>
        <p:sp>
          <p:nvSpPr>
            <p:cNvPr id="21" name="Rectangle 20"/>
            <p:cNvSpPr/>
            <p:nvPr/>
          </p:nvSpPr>
          <p:spPr>
            <a:xfrm>
              <a:off x="6638968" y="5694099"/>
              <a:ext cx="1872207" cy="7386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19792" y="5694099"/>
              <a:ext cx="5904656" cy="738664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en-GB" sz="1400" b="1" dirty="0" err="1"/>
                <a:t>Fro</a:t>
              </a:r>
              <a:r>
                <a:rPr lang="en-GB" sz="1400" b="1" dirty="0"/>
                <a:t> Side Note</a:t>
              </a:r>
              <a:r>
                <a:rPr lang="en-GB" sz="1400" dirty="0"/>
                <a:t>: Not all points of inflection are stationary points, as can be seen in the example on the right.</a:t>
              </a:r>
            </a:p>
            <a:p>
              <a:r>
                <a:rPr lang="en-GB" sz="1400" dirty="0"/>
                <a:t>A point of inflection which </a:t>
              </a:r>
              <a:r>
                <a:rPr lang="en-GB" sz="1400" b="1" u="sng" dirty="0"/>
                <a:t>is</a:t>
              </a:r>
              <a:r>
                <a:rPr lang="en-GB" sz="1400" dirty="0"/>
                <a:t> a stationary point is known as a </a:t>
              </a:r>
              <a:r>
                <a:rPr lang="en-GB" sz="1400" i="1" dirty="0"/>
                <a:t>saddle point</a:t>
              </a:r>
              <a:r>
                <a:rPr lang="en-GB" sz="1400" dirty="0"/>
                <a:t>.</a:t>
              </a:r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7099891" y="5732830"/>
              <a:ext cx="564191" cy="617021"/>
            </a:xfrm>
            <a:custGeom>
              <a:avLst/>
              <a:gdLst>
                <a:gd name="connsiteX0" fmla="*/ 0 w 935665"/>
                <a:gd name="connsiteY0" fmla="*/ 574158 h 574158"/>
                <a:gd name="connsiteX1" fmla="*/ 393404 w 935665"/>
                <a:gd name="connsiteY1" fmla="*/ 212651 h 574158"/>
                <a:gd name="connsiteX2" fmla="*/ 723014 w 935665"/>
                <a:gd name="connsiteY2" fmla="*/ 148856 h 574158"/>
                <a:gd name="connsiteX3" fmla="*/ 935665 w 935665"/>
                <a:gd name="connsiteY3" fmla="*/ 0 h 574158"/>
                <a:gd name="connsiteX0" fmla="*/ 0 w 935665"/>
                <a:gd name="connsiteY0" fmla="*/ 574158 h 574158"/>
                <a:gd name="connsiteX1" fmla="*/ 312441 w 935665"/>
                <a:gd name="connsiteY1" fmla="*/ 298376 h 574158"/>
                <a:gd name="connsiteX2" fmla="*/ 723014 w 935665"/>
                <a:gd name="connsiteY2" fmla="*/ 148856 h 574158"/>
                <a:gd name="connsiteX3" fmla="*/ 935665 w 935665"/>
                <a:gd name="connsiteY3" fmla="*/ 0 h 574158"/>
                <a:gd name="connsiteX0" fmla="*/ 0 w 935665"/>
                <a:gd name="connsiteY0" fmla="*/ 574158 h 574158"/>
                <a:gd name="connsiteX1" fmla="*/ 312441 w 935665"/>
                <a:gd name="connsiteY1" fmla="*/ 298376 h 574158"/>
                <a:gd name="connsiteX2" fmla="*/ 637289 w 935665"/>
                <a:gd name="connsiteY2" fmla="*/ 115519 h 574158"/>
                <a:gd name="connsiteX3" fmla="*/ 935665 w 935665"/>
                <a:gd name="connsiteY3" fmla="*/ 0 h 57415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522989 w 821365"/>
                <a:gd name="connsiteY2" fmla="*/ 115519 h 555108"/>
                <a:gd name="connsiteX3" fmla="*/ 821365 w 821365"/>
                <a:gd name="connsiteY3" fmla="*/ 0 h 55510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522989 w 821365"/>
                <a:gd name="connsiteY2" fmla="*/ 115519 h 555108"/>
                <a:gd name="connsiteX3" fmla="*/ 821365 w 821365"/>
                <a:gd name="connsiteY3" fmla="*/ 0 h 555108"/>
                <a:gd name="connsiteX0" fmla="*/ 0 w 821365"/>
                <a:gd name="connsiteY0" fmla="*/ 555108 h 555108"/>
                <a:gd name="connsiteX1" fmla="*/ 198141 w 821365"/>
                <a:gd name="connsiteY1" fmla="*/ 298376 h 555108"/>
                <a:gd name="connsiteX2" fmla="*/ 432502 w 821365"/>
                <a:gd name="connsiteY2" fmla="*/ 158381 h 555108"/>
                <a:gd name="connsiteX3" fmla="*/ 821365 w 821365"/>
                <a:gd name="connsiteY3" fmla="*/ 0 h 555108"/>
                <a:gd name="connsiteX0" fmla="*/ 0 w 645153"/>
                <a:gd name="connsiteY0" fmla="*/ 607496 h 607496"/>
                <a:gd name="connsiteX1" fmla="*/ 198141 w 645153"/>
                <a:gd name="connsiteY1" fmla="*/ 350764 h 607496"/>
                <a:gd name="connsiteX2" fmla="*/ 432502 w 645153"/>
                <a:gd name="connsiteY2" fmla="*/ 210769 h 607496"/>
                <a:gd name="connsiteX3" fmla="*/ 645153 w 645153"/>
                <a:gd name="connsiteY3" fmla="*/ 0 h 607496"/>
                <a:gd name="connsiteX0" fmla="*/ 0 w 564191"/>
                <a:gd name="connsiteY0" fmla="*/ 617021 h 617021"/>
                <a:gd name="connsiteX1" fmla="*/ 198141 w 564191"/>
                <a:gd name="connsiteY1" fmla="*/ 360289 h 617021"/>
                <a:gd name="connsiteX2" fmla="*/ 432502 w 564191"/>
                <a:gd name="connsiteY2" fmla="*/ 220294 h 617021"/>
                <a:gd name="connsiteX3" fmla="*/ 564191 w 564191"/>
                <a:gd name="connsiteY3" fmla="*/ 0 h 617021"/>
                <a:gd name="connsiteX0" fmla="*/ 0 w 564191"/>
                <a:gd name="connsiteY0" fmla="*/ 617021 h 617021"/>
                <a:gd name="connsiteX1" fmla="*/ 198141 w 564191"/>
                <a:gd name="connsiteY1" fmla="*/ 360289 h 617021"/>
                <a:gd name="connsiteX2" fmla="*/ 432502 w 564191"/>
                <a:gd name="connsiteY2" fmla="*/ 220294 h 617021"/>
                <a:gd name="connsiteX3" fmla="*/ 564191 w 564191"/>
                <a:gd name="connsiteY3" fmla="*/ 0 h 617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4191" h="617021">
                  <a:moveTo>
                    <a:pt x="0" y="617021"/>
                  </a:moveTo>
                  <a:cubicBezTo>
                    <a:pt x="93588" y="443134"/>
                    <a:pt x="126057" y="426410"/>
                    <a:pt x="198141" y="360289"/>
                  </a:cubicBezTo>
                  <a:cubicBezTo>
                    <a:pt x="270225" y="294168"/>
                    <a:pt x="371494" y="280342"/>
                    <a:pt x="432502" y="220294"/>
                  </a:cubicBezTo>
                  <a:cubicBezTo>
                    <a:pt x="493510" y="160246"/>
                    <a:pt x="550679" y="56707"/>
                    <a:pt x="564191" y="0"/>
                  </a:cubicBezTo>
                </a:path>
              </a:pathLst>
            </a:cu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4" name="Straight Connector 23"/>
            <p:cNvCxnSpPr/>
            <p:nvPr/>
          </p:nvCxnSpPr>
          <p:spPr>
            <a:xfrm flipV="1">
              <a:off x="6963693" y="5815013"/>
              <a:ext cx="894432" cy="431825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 rot="20013073">
                  <a:off x="7305231" y="5815782"/>
                  <a:ext cx="970665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d>
                          <m:dPr>
                            <m:ctrlP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9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9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≠0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013073">
                  <a:off x="7305231" y="5815782"/>
                  <a:ext cx="970665" cy="2308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Oval 27"/>
            <p:cNvSpPr/>
            <p:nvPr/>
          </p:nvSpPr>
          <p:spPr>
            <a:xfrm>
              <a:off x="7357158" y="5984317"/>
              <a:ext cx="97742" cy="9263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44429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How do we tell what type of stationary point?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527472" y="1459384"/>
            <a:ext cx="5541505" cy="2493887"/>
          </a:xfrm>
          <a:custGeom>
            <a:avLst/>
            <a:gdLst>
              <a:gd name="connsiteX0" fmla="*/ 0 w 3715657"/>
              <a:gd name="connsiteY0" fmla="*/ 0 h 1836837"/>
              <a:gd name="connsiteX1" fmla="*/ 928914 w 3715657"/>
              <a:gd name="connsiteY1" fmla="*/ 1814286 h 1836837"/>
              <a:gd name="connsiteX2" fmla="*/ 2032000 w 3715657"/>
              <a:gd name="connsiteY2" fmla="*/ 957943 h 1836837"/>
              <a:gd name="connsiteX3" fmla="*/ 2728686 w 3715657"/>
              <a:gd name="connsiteY3" fmla="*/ 101600 h 1836837"/>
              <a:gd name="connsiteX4" fmla="*/ 3715657 w 3715657"/>
              <a:gd name="connsiteY4" fmla="*/ 1190171 h 1836837"/>
              <a:gd name="connsiteX0" fmla="*/ 0 w 3715657"/>
              <a:gd name="connsiteY0" fmla="*/ 0 h 1831027"/>
              <a:gd name="connsiteX1" fmla="*/ 928914 w 3715657"/>
              <a:gd name="connsiteY1" fmla="*/ 1814286 h 1831027"/>
              <a:gd name="connsiteX2" fmla="*/ 2032000 w 3715657"/>
              <a:gd name="connsiteY2" fmla="*/ 957943 h 1831027"/>
              <a:gd name="connsiteX3" fmla="*/ 2728686 w 3715657"/>
              <a:gd name="connsiteY3" fmla="*/ 101600 h 1831027"/>
              <a:gd name="connsiteX4" fmla="*/ 3715657 w 3715657"/>
              <a:gd name="connsiteY4" fmla="*/ 1190171 h 1831027"/>
              <a:gd name="connsiteX0" fmla="*/ 0 w 3715657"/>
              <a:gd name="connsiteY0" fmla="*/ 0 h 1836776"/>
              <a:gd name="connsiteX1" fmla="*/ 928914 w 3715657"/>
              <a:gd name="connsiteY1" fmla="*/ 1814286 h 1836776"/>
              <a:gd name="connsiteX2" fmla="*/ 2032000 w 3715657"/>
              <a:gd name="connsiteY2" fmla="*/ 957943 h 1836776"/>
              <a:gd name="connsiteX3" fmla="*/ 2931886 w 3715657"/>
              <a:gd name="connsiteY3" fmla="*/ 116114 h 1836776"/>
              <a:gd name="connsiteX4" fmla="*/ 3715657 w 3715657"/>
              <a:gd name="connsiteY4" fmla="*/ 1190171 h 1836776"/>
              <a:gd name="connsiteX0" fmla="*/ 0 w 3715657"/>
              <a:gd name="connsiteY0" fmla="*/ 0 h 1830992"/>
              <a:gd name="connsiteX1" fmla="*/ 928914 w 3715657"/>
              <a:gd name="connsiteY1" fmla="*/ 1814286 h 1830992"/>
              <a:gd name="connsiteX2" fmla="*/ 2032000 w 3715657"/>
              <a:gd name="connsiteY2" fmla="*/ 957943 h 1830992"/>
              <a:gd name="connsiteX3" fmla="*/ 2931886 w 3715657"/>
              <a:gd name="connsiteY3" fmla="*/ 116114 h 1830992"/>
              <a:gd name="connsiteX4" fmla="*/ 3715657 w 3715657"/>
              <a:gd name="connsiteY4" fmla="*/ 1190171 h 183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5657" h="1830992">
                <a:moveTo>
                  <a:pt x="0" y="0"/>
                </a:moveTo>
                <a:cubicBezTo>
                  <a:pt x="295124" y="827314"/>
                  <a:pt x="590248" y="1654629"/>
                  <a:pt x="928914" y="1814286"/>
                </a:cubicBezTo>
                <a:cubicBezTo>
                  <a:pt x="1267580" y="1973943"/>
                  <a:pt x="1306287" y="936172"/>
                  <a:pt x="2032000" y="957943"/>
                </a:cubicBezTo>
                <a:cubicBezTo>
                  <a:pt x="2757713" y="979714"/>
                  <a:pt x="2651276" y="77409"/>
                  <a:pt x="2931886" y="116114"/>
                </a:cubicBezTo>
                <a:cubicBezTo>
                  <a:pt x="3212496" y="154819"/>
                  <a:pt x="3362476" y="665238"/>
                  <a:pt x="3715657" y="1190171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79512" y="4581128"/>
          <a:ext cx="3528392" cy="2016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Local</a:t>
                      </a:r>
                      <a:r>
                        <a:rPr lang="en-GB" sz="1600" baseline="0" dirty="0"/>
                        <a:t> Minimum</a:t>
                      </a:r>
                      <a:endParaRPr lang="en-GB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minimum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-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424001" y="5662079"/>
            <a:ext cx="606513" cy="462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475656" y="6124579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2699792" y="5747657"/>
            <a:ext cx="711065" cy="37692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931226" y="3878844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/>
          <p:cNvSpPr/>
          <p:nvPr/>
        </p:nvSpPr>
        <p:spPr>
          <a:xfrm>
            <a:off x="3496475" y="2706327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Oval 16"/>
          <p:cNvSpPr/>
          <p:nvPr/>
        </p:nvSpPr>
        <p:spPr>
          <a:xfrm>
            <a:off x="4820394" y="1575842"/>
            <a:ext cx="134443" cy="12549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1159540" y="4084970"/>
            <a:ext cx="723013" cy="552894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271538" y="4229210"/>
          <a:ext cx="3528392" cy="2016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Point of Inflection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</a:t>
                      </a:r>
                      <a:r>
                        <a:rPr lang="en-GB" sz="1600" dirty="0" err="1"/>
                        <a:t>p.o.i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23" name="Straight Connector 22"/>
          <p:cNvCxnSpPr/>
          <p:nvPr/>
        </p:nvCxnSpPr>
        <p:spPr>
          <a:xfrm flipV="1">
            <a:off x="4517951" y="5571165"/>
            <a:ext cx="595423" cy="2764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5565221" y="5592656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782686" y="5305351"/>
            <a:ext cx="701749" cy="28707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95288" y="1938601"/>
          <a:ext cx="3528392" cy="20167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16849">
                  <a:extLst>
                    <a:ext uri="{9D8B030D-6E8A-4147-A177-3AD203B41FA5}">
                      <a16:colId xmlns:a16="http://schemas.microsoft.com/office/drawing/2014/main" val="1689542682"/>
                    </a:ext>
                  </a:extLst>
                </a:gridCol>
                <a:gridCol w="1213221">
                  <a:extLst>
                    <a:ext uri="{9D8B030D-6E8A-4147-A177-3AD203B41FA5}">
                      <a16:colId xmlns:a16="http://schemas.microsoft.com/office/drawing/2014/main" val="2939009514"/>
                    </a:ext>
                  </a:extLst>
                </a:gridCol>
                <a:gridCol w="1198322">
                  <a:extLst>
                    <a:ext uri="{9D8B030D-6E8A-4147-A177-3AD203B41FA5}">
                      <a16:colId xmlns:a16="http://schemas.microsoft.com/office/drawing/2014/main" val="31144919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Local Maximum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2965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before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at maximum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Gradient just after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094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  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endParaRPr lang="en-GB" sz="1600" dirty="0"/>
                    </a:p>
                    <a:p>
                      <a:pPr algn="ctr"/>
                      <a:r>
                        <a:rPr lang="en-GB" sz="1600" dirty="0"/>
                        <a:t>+</a:t>
                      </a:r>
                      <a:r>
                        <a:rPr lang="en-GB" sz="1600" dirty="0" err="1"/>
                        <a:t>ve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608726"/>
                  </a:ext>
                </a:extLst>
              </a:tr>
            </a:tbl>
          </a:graphicData>
        </a:graphic>
      </p:graphicFrame>
      <p:cxnSp>
        <p:nvCxnSpPr>
          <p:cNvPr id="31" name="Straight Connector 30"/>
          <p:cNvCxnSpPr/>
          <p:nvPr/>
        </p:nvCxnSpPr>
        <p:spPr>
          <a:xfrm flipV="1">
            <a:off x="5702300" y="3136900"/>
            <a:ext cx="647700" cy="3937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6694140" y="3136173"/>
            <a:ext cx="85100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7924800" y="3124201"/>
            <a:ext cx="749300" cy="40639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H="1" flipV="1">
            <a:off x="3733800" y="2921000"/>
            <a:ext cx="1018067" cy="1387849"/>
          </a:xfrm>
          <a:prstGeom prst="straightConnector1">
            <a:avLst/>
          </a:prstGeom>
          <a:ln w="5715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5257801" y="1600200"/>
            <a:ext cx="901699" cy="40640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1281339" y="5513867"/>
            <a:ext cx="1206680" cy="10570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82008" y="5513867"/>
            <a:ext cx="1206680" cy="10552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395288" y="5165304"/>
            <a:ext cx="1206680" cy="10570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95957" y="5165304"/>
            <a:ext cx="1206680" cy="10552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16237" y="2896218"/>
            <a:ext cx="1206680" cy="10570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16906" y="2896218"/>
            <a:ext cx="1206680" cy="105521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95288" y="2895298"/>
            <a:ext cx="1117944" cy="10570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68831" y="5165304"/>
            <a:ext cx="1117944" cy="10570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63395" y="5513867"/>
            <a:ext cx="1117944" cy="105705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38" y="732806"/>
            <a:ext cx="414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Look at gradient just before and just after point.</a:t>
            </a:r>
          </a:p>
        </p:txBody>
      </p:sp>
    </p:spTree>
    <p:extLst>
      <p:ext uri="{BB962C8B-B14F-4D97-AF65-F5344CB8AC3E}">
        <p14:creationId xmlns:p14="http://schemas.microsoft.com/office/powerpoint/2010/main" val="217148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How do we tell what type of stationary point?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828038" y="732806"/>
            <a:ext cx="41474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Method 1</a:t>
            </a:r>
            <a:r>
              <a:rPr lang="en-GB" dirty="0"/>
              <a:t>: Look at gradient just before and just after point.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2704" y="1542069"/>
                <a:ext cx="828576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stationary point on the curve with equation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, and determine whether it is a local maximum, a local minimum or a point of inflection.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704" y="1542069"/>
                <a:ext cx="8285760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30806" y="4160741"/>
                <a:ext cx="8285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Strategy</a:t>
                </a:r>
                <a:r>
                  <a:rPr lang="en-GB" sz="1600" dirty="0"/>
                  <a:t>: Find the gradient for values just before and after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GB" sz="1600" dirty="0"/>
                  <a:t>. Let’s try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=1.9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=2.1</m:t>
                    </m:r>
                  </m:oMath>
                </a14:m>
                <a:r>
                  <a:rPr lang="en-GB" sz="1600" dirty="0"/>
                  <a:t>.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806" y="4160741"/>
                <a:ext cx="8285760" cy="338554"/>
              </a:xfrm>
              <a:prstGeom prst="rect">
                <a:avLst/>
              </a:prstGeom>
              <a:blipFill>
                <a:blip r:embed="rId3"/>
                <a:stretch>
                  <a:fillRect l="-44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4633" y="2772201"/>
                <a:ext cx="3455930" cy="1172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  ∴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=−48</m:t>
                      </m:r>
                    </m:oMath>
                  </m:oMathPara>
                </a14:m>
                <a:endParaRPr lang="en-GB" b="0" dirty="0"/>
              </a:p>
              <a:p>
                <a:r>
                  <a:rPr lang="en-GB" dirty="0"/>
                  <a:t>Stationary point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633" y="2772201"/>
                <a:ext cx="3455930" cy="1172244"/>
              </a:xfrm>
              <a:prstGeom prst="rect">
                <a:avLst/>
              </a:prstGeom>
              <a:blipFill>
                <a:blip r:embed="rId4"/>
                <a:stretch>
                  <a:fillRect l="-1411" b="-78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/>
            </p:nvGraphicFramePr>
            <p:xfrm>
              <a:off x="1350485" y="4629312"/>
              <a:ext cx="6096000" cy="1381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02241701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1050771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61782684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92031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𝟗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27733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−4.56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5.04</m:t>
                                </m:r>
                              </m:oMath>
                            </m:oMathPara>
                          </a14:m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1455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44004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084086"/>
                  </p:ext>
                </p:extLst>
              </p:nvPr>
            </p:nvGraphicFramePr>
            <p:xfrm>
              <a:off x="1350485" y="4629312"/>
              <a:ext cx="6096000" cy="138176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24000">
                      <a:extLst>
                        <a:ext uri="{9D8B030D-6E8A-4147-A177-3AD203B41FA5}">
                          <a16:colId xmlns:a16="http://schemas.microsoft.com/office/drawing/2014/main" val="1022417016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810507713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2617826842"/>
                        </a:ext>
                      </a:extLst>
                    </a:gridCol>
                    <a:gridCol w="1524000">
                      <a:extLst>
                        <a:ext uri="{9D8B030D-6E8A-4147-A177-3AD203B41FA5}">
                          <a16:colId xmlns:a16="http://schemas.microsoft.com/office/drawing/2014/main" val="169203157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639" r="-200797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800" t="-1639" r="-101600" b="-2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800" t="-1639" r="-1600" b="-2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77331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000" t="-101639" r="-200797" b="-1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200800" t="-101639" r="-101600" b="-1770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00800" t="-101639" r="-1600" b="-1770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0214556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dirty="0"/>
                            <a:t>Shape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64400470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13" name="Straight Connector 12"/>
          <p:cNvCxnSpPr/>
          <p:nvPr/>
        </p:nvCxnSpPr>
        <p:spPr>
          <a:xfrm>
            <a:off x="3222693" y="5416700"/>
            <a:ext cx="775149" cy="3780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528897" y="5802845"/>
            <a:ext cx="11527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6177516" y="5465136"/>
            <a:ext cx="935665" cy="3296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20174" y="6247945"/>
                <a:ext cx="61720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Looking at the shape, we can see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r>
                  <a:rPr lang="en-GB" dirty="0"/>
                  <a:t> is a minimum.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174" y="6247945"/>
                <a:ext cx="6172012" cy="369332"/>
              </a:xfrm>
              <a:prstGeom prst="rect">
                <a:avLst/>
              </a:prstGeom>
              <a:blipFill>
                <a:blip r:embed="rId6"/>
                <a:stretch>
                  <a:fillRect l="-889" t="-98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20174" y="2699657"/>
            <a:ext cx="8346455" cy="135893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Turning Point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174" y="4531388"/>
            <a:ext cx="8346455" cy="215969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Determine point type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53565" y="4136571"/>
            <a:ext cx="7413063" cy="3442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4524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Method 2</a:t>
              </a:r>
              <a:r>
                <a:rPr lang="en-GB" sz="3200" dirty="0"/>
                <a:t>: Using the second derivative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23528" y="836712"/>
                <a:ext cx="820891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method of substituting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just before and after is a bit cumbersome.</a:t>
                </a:r>
              </a:p>
              <a:p>
                <a:r>
                  <a:rPr lang="en-GB" dirty="0"/>
                  <a:t>It also has the potential for problems: what if two different types of stationary points are really close together?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836712"/>
                <a:ext cx="8208912" cy="1200329"/>
              </a:xfrm>
              <a:prstGeom prst="rect">
                <a:avLst/>
              </a:prstGeom>
              <a:blipFill>
                <a:blip r:embed="rId2"/>
                <a:stretch>
                  <a:fillRect l="-594"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94973" y="2103827"/>
                <a:ext cx="3175542" cy="437042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dirty="0"/>
                  <a:t>Recall the gradient gives a measure of the </a:t>
                </a:r>
                <a:r>
                  <a:rPr lang="en-GB" b="1" dirty="0"/>
                  <a:t>rate of change </a:t>
                </a:r>
                <a:r>
                  <a:rPr lang="en-GB" dirty="0"/>
                  <a:t>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, i.e. how much the </a:t>
                </a:r>
                <a14:m>
                  <m:oMath xmlns:m="http://schemas.openxmlformats.org/officeDocument/2006/math">
                    <m:r>
                      <a:rPr lang="en-GB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/>
                  <a:t> value changes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changes.</a:t>
                </a:r>
              </a:p>
              <a:p>
                <a:endParaRPr lang="en-GB" sz="800" dirty="0"/>
              </a:p>
              <a:p>
                <a:r>
                  <a:rPr lang="en-GB" dirty="0"/>
                  <a:t>Thus by differentiating the gradient function, the </a:t>
                </a:r>
                <a:r>
                  <a:rPr lang="en-GB" b="1" u="sng" dirty="0"/>
                  <a:t>second derivative tells us the rate at what the gradient is changing</a:t>
                </a:r>
                <a:r>
                  <a:rPr lang="en-GB" dirty="0"/>
                  <a:t>.</a:t>
                </a:r>
              </a:p>
              <a:p>
                <a:endParaRPr lang="en-GB" dirty="0"/>
              </a:p>
              <a:p>
                <a:r>
                  <a:rPr lang="en-GB" dirty="0"/>
                  <a:t>Thus if the second derivative is positive, the gradient is increasing.</a:t>
                </a:r>
              </a:p>
              <a:p>
                <a:r>
                  <a:rPr lang="en-GB" dirty="0"/>
                  <a:t>If the second derivative is negative, the gradient is decreasing.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973" y="2103827"/>
                <a:ext cx="3175542" cy="4370427"/>
              </a:xfrm>
              <a:prstGeom prst="rect">
                <a:avLst/>
              </a:prstGeom>
              <a:blipFill>
                <a:blip r:embed="rId3"/>
                <a:stretch>
                  <a:fillRect l="-1333" t="-416" b="-9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/>
          <p:cNvSpPr/>
          <p:nvPr/>
        </p:nvSpPr>
        <p:spPr>
          <a:xfrm>
            <a:off x="4832685" y="2666504"/>
            <a:ext cx="2757715" cy="1814607"/>
          </a:xfrm>
          <a:custGeom>
            <a:avLst/>
            <a:gdLst>
              <a:gd name="connsiteX0" fmla="*/ 0 w 2757715"/>
              <a:gd name="connsiteY0" fmla="*/ 1814607 h 1814607"/>
              <a:gd name="connsiteX1" fmla="*/ 1422400 w 2757715"/>
              <a:gd name="connsiteY1" fmla="*/ 321 h 1814607"/>
              <a:gd name="connsiteX2" fmla="*/ 2757715 w 2757715"/>
              <a:gd name="connsiteY2" fmla="*/ 1698492 h 1814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57715" h="1814607">
                <a:moveTo>
                  <a:pt x="0" y="1814607"/>
                </a:moveTo>
                <a:cubicBezTo>
                  <a:pt x="481390" y="917140"/>
                  <a:pt x="962781" y="19673"/>
                  <a:pt x="1422400" y="321"/>
                </a:cubicBezTo>
                <a:cubicBezTo>
                  <a:pt x="1882019" y="-19032"/>
                  <a:pt x="2319867" y="839730"/>
                  <a:pt x="2757715" y="1698492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104521" y="3004457"/>
            <a:ext cx="527022" cy="886183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42577" y="2668428"/>
            <a:ext cx="1137194" cy="220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6936609" y="3032647"/>
            <a:ext cx="509219" cy="987810"/>
          </a:xfrm>
          <a:prstGeom prst="line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10743" y="2887504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+</a:t>
            </a:r>
            <a:r>
              <a:rPr lang="en-GB" dirty="0" err="1"/>
              <a:t>ve</a:t>
            </a:r>
            <a:endParaRPr lang="en-GB" dirty="0"/>
          </a:p>
          <a:p>
            <a:pPr algn="ctr"/>
            <a:r>
              <a:rPr lang="en-GB" dirty="0"/>
              <a:t>gradient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1777" y="1951460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0</a:t>
            </a:r>
          </a:p>
          <a:p>
            <a:pPr algn="ctr"/>
            <a:r>
              <a:rPr lang="en-GB" dirty="0"/>
              <a:t>gradient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6785" y="2880221"/>
            <a:ext cx="1071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-</a:t>
            </a:r>
            <a:r>
              <a:rPr lang="en-GB" dirty="0" err="1"/>
              <a:t>ve</a:t>
            </a:r>
            <a:endParaRPr lang="en-GB" dirty="0"/>
          </a:p>
          <a:p>
            <a:pPr algn="ctr"/>
            <a:r>
              <a:rPr lang="en-GB" dirty="0"/>
              <a:t>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310743" y="4725144"/>
                <a:ext cx="3279657" cy="1756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At a maximum point, we can see that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increases, the gradient is decreasing from a positive value to a negative value.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GB" i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0743" y="4725144"/>
                <a:ext cx="3279657" cy="1756186"/>
              </a:xfrm>
              <a:prstGeom prst="rect">
                <a:avLst/>
              </a:prstGeom>
              <a:blipFill>
                <a:blip r:embed="rId4"/>
                <a:stretch>
                  <a:fillRect l="-1487" t="-1736" r="-7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355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5" grpId="0"/>
      <p:bldP spid="16" grpId="0"/>
      <p:bldP spid="17" grpId="0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b="1" dirty="0"/>
                <a:t>Method 2</a:t>
              </a:r>
              <a:r>
                <a:rPr lang="en-GB" sz="3200" dirty="0"/>
                <a:t>: Using the second derivative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38513" y="899142"/>
                <a:ext cx="7733887" cy="1323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2000" dirty="0">
                    <a:latin typeface="Wingdings" panose="05000000000000000000" pitchFamily="2" charset="2"/>
                  </a:rPr>
                  <a:t>!</a:t>
                </a:r>
                <a:r>
                  <a:rPr lang="en-GB" sz="2000" dirty="0"/>
                  <a:t> At a stationary point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GB" sz="2000" dirty="0"/>
                  <a:t>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2000" dirty="0"/>
                  <a:t> the point is a local minimum.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GB" sz="2000" dirty="0"/>
                  <a:t> the point is a local maximum.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000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2000" dirty="0"/>
                  <a:t> it could be any type of point, so resort to Method 1.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513" y="899142"/>
                <a:ext cx="7733887" cy="1323439"/>
              </a:xfrm>
              <a:prstGeom prst="rect">
                <a:avLst/>
              </a:prstGeom>
              <a:blipFill>
                <a:blip r:embed="rId2"/>
                <a:stretch>
                  <a:fillRect l="-707" t="-1802" b="-58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373327" y="2333594"/>
                <a:ext cx="2736304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 will eventually do a ‘Just for your Interest…’ thingy on why we can’t classify the point when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, and how we could use the </a:t>
                </a:r>
                <a:r>
                  <a:rPr lang="en-GB" sz="1400" b="1" dirty="0"/>
                  <a:t>third derivative</a:t>
                </a:r>
                <a:r>
                  <a:rPr lang="en-GB" sz="1400" dirty="0"/>
                  <a:t>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27" y="2333594"/>
                <a:ext cx="2736304" cy="1169551"/>
              </a:xfrm>
              <a:prstGeom prst="rect">
                <a:avLst/>
              </a:prstGeom>
              <a:blipFill>
                <a:blip r:embed="rId3"/>
                <a:stretch>
                  <a:fillRect l="-668" t="-1042" r="-1336" b="-41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H="1" flipV="1">
            <a:off x="8302171" y="2075543"/>
            <a:ext cx="287763" cy="258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91732" y="2500012"/>
                <a:ext cx="514700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stationary point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−32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2,−48</m:t>
                        </m:r>
                      </m:e>
                    </m:d>
                  </m:oMath>
                </a14:m>
                <a:r>
                  <a:rPr lang="en-GB" sz="2000" dirty="0"/>
                  <a:t>. Use the second derivative to classify this stationary point.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32" y="2500012"/>
                <a:ext cx="5147000" cy="1015663"/>
              </a:xfrm>
              <a:prstGeom prst="rect">
                <a:avLst/>
              </a:prstGeom>
              <a:blipFill>
                <a:blip r:embed="rId4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55576" y="3816691"/>
                <a:ext cx="5137224" cy="18828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−32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=12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=2,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GB" dirty="0"/>
              </a:p>
              <a:p>
                <a:r>
                  <a:rPr lang="en-GB" dirty="0"/>
                  <a:t>Therefore the stationary point is a minimum point.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3816691"/>
                <a:ext cx="5137224" cy="1882888"/>
              </a:xfrm>
              <a:prstGeom prst="rect">
                <a:avLst/>
              </a:prstGeom>
              <a:blipFill>
                <a:blip r:embed="rId5"/>
                <a:stretch>
                  <a:fillRect l="-1068" b="-42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466251" y="4305356"/>
                <a:ext cx="2448272" cy="80118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Find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for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at the stationary point.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251" y="4305356"/>
                <a:ext cx="2448272" cy="801181"/>
              </a:xfrm>
              <a:prstGeom prst="rect">
                <a:avLst/>
              </a:prstGeom>
              <a:blipFill>
                <a:blip r:embed="rId6"/>
                <a:stretch>
                  <a:fillRect l="-1728" r="-1975" b="-882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/>
          <p:nvPr/>
        </p:nvCxnSpPr>
        <p:spPr>
          <a:xfrm flipH="1">
            <a:off x="4383315" y="4746171"/>
            <a:ext cx="1103085" cy="3918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474303" y="3540167"/>
            <a:ext cx="7827868" cy="215941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514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186871"/>
            <a:ext cx="6048375" cy="235267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3" name="Group 17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Test Your Understanding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TextBox 5"/>
          <p:cNvSpPr txBox="1"/>
          <p:nvPr/>
        </p:nvSpPr>
        <p:spPr>
          <a:xfrm>
            <a:off x="467544" y="836712"/>
            <a:ext cx="273630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C2 May 2013 Q9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3645024"/>
            <a:ext cx="6248400" cy="30861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635445" y="3598225"/>
            <a:ext cx="5944595" cy="199101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Rectangle 8"/>
          <p:cNvSpPr/>
          <p:nvPr/>
        </p:nvSpPr>
        <p:spPr>
          <a:xfrm>
            <a:off x="1635445" y="5577238"/>
            <a:ext cx="5944595" cy="125936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3342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12.9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98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F66C0552-CA11-FF58-9CF7-91505617F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262" y="916260"/>
            <a:ext cx="7229475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5D6A68F-9570-7233-63D9-B87E70BE1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40" y="908720"/>
            <a:ext cx="40767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EB89A27-7D8C-AE4C-ED5D-742FA5F31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74" y="650579"/>
            <a:ext cx="7851651" cy="621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B1CFD-DAC4-9D97-7ED0-81AFE9C9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0A33572-C13E-58D2-191C-BBEEDDC30586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32E74662-B504-EED1-397B-CBA140B578AC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D177E42-9AB6-BBF0-2D8C-4CD95A0F22D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AD957CD-0B46-E78A-E888-04F268FDB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65" y="692696"/>
            <a:ext cx="49625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3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1095</Words>
  <Application>Microsoft Office PowerPoint</Application>
  <PresentationFormat>On-screen Show (4:3)</PresentationFormat>
  <Paragraphs>163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Office Theme</vt:lpstr>
      <vt:lpstr>P1 Chapter 12: Differentiation  Stationary Points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2025-06-20T09:26:51Z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