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547" r:id="rId5"/>
    <p:sldId id="667" r:id="rId6"/>
    <p:sldId id="666" r:id="rId7"/>
    <p:sldId id="668" r:id="rId8"/>
    <p:sldId id="670" r:id="rId9"/>
    <p:sldId id="671" r:id="rId10"/>
    <p:sldId id="543" r:id="rId11"/>
    <p:sldId id="550" r:id="rId12"/>
    <p:sldId id="54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6D0E2431-7FF2-4EE0-8A7E-C91E17B4DDF6}"/>
    <pc:docChg chg="custSel delSld modSld">
      <pc:chgData name="Dieter Beaven" userId="9bbdb69f-69d0-4759-aa9b-5c090a2da237" providerId="ADAL" clId="{6D0E2431-7FF2-4EE0-8A7E-C91E17B4DDF6}" dt="2025-06-20T09:42:08.571" v="21" actId="47"/>
      <pc:docMkLst>
        <pc:docMk/>
      </pc:docMkLst>
      <pc:sldChg chg="addSp delSp modSp mod">
        <pc:chgData name="Dieter Beaven" userId="9bbdb69f-69d0-4759-aa9b-5c090a2da237" providerId="ADAL" clId="{6D0E2431-7FF2-4EE0-8A7E-C91E17B4DDF6}" dt="2025-06-17T15:05:13.083" v="12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6D0E2431-7FF2-4EE0-8A7E-C91E17B4DDF6}" dt="2025-06-17T15:05:13.083" v="12" actId="1076"/>
          <ac:picMkLst>
            <pc:docMk/>
            <pc:sldMk cId="3896053727" sldId="543"/>
            <ac:picMk id="10" creationId="{42557D5F-21CB-21E2-8E17-36B7B28BB2DE}"/>
          </ac:picMkLst>
        </pc:picChg>
      </pc:sldChg>
      <pc:sldChg chg="addSp mod">
        <pc:chgData name="Dieter Beaven" userId="9bbdb69f-69d0-4759-aa9b-5c090a2da237" providerId="ADAL" clId="{6D0E2431-7FF2-4EE0-8A7E-C91E17B4DDF6}" dt="2025-06-20T09:42:06.217" v="20" actId="22"/>
        <pc:sldMkLst>
          <pc:docMk/>
          <pc:sldMk cId="3458699803" sldId="545"/>
        </pc:sldMkLst>
        <pc:picChg chg="add">
          <ac:chgData name="Dieter Beaven" userId="9bbdb69f-69d0-4759-aa9b-5c090a2da237" providerId="ADAL" clId="{6D0E2431-7FF2-4EE0-8A7E-C91E17B4DDF6}" dt="2025-06-20T09:42:06.217" v="20" actId="22"/>
          <ac:picMkLst>
            <pc:docMk/>
            <pc:sldMk cId="3458699803" sldId="545"/>
            <ac:picMk id="6" creationId="{6F95B197-338D-5116-A69B-3EB9C20E4A63}"/>
          </ac:picMkLst>
        </pc:picChg>
      </pc:sldChg>
      <pc:sldChg chg="addSp delSp modSp mod">
        <pc:chgData name="Dieter Beaven" userId="9bbdb69f-69d0-4759-aa9b-5c090a2da237" providerId="ADAL" clId="{6D0E2431-7FF2-4EE0-8A7E-C91E17B4DDF6}" dt="2025-06-17T15:06:13.120" v="19" actId="1036"/>
        <pc:sldMkLst>
          <pc:docMk/>
          <pc:sldMk cId="4091202299" sldId="550"/>
        </pc:sldMkLst>
        <pc:picChg chg="add mod">
          <ac:chgData name="Dieter Beaven" userId="9bbdb69f-69d0-4759-aa9b-5c090a2da237" providerId="ADAL" clId="{6D0E2431-7FF2-4EE0-8A7E-C91E17B4DDF6}" dt="2025-06-17T15:06:13.120" v="19" actId="1036"/>
          <ac:picMkLst>
            <pc:docMk/>
            <pc:sldMk cId="4091202299" sldId="550"/>
            <ac:picMk id="8" creationId="{BEAD58CD-F34F-5A75-463E-CB12ED305EF7}"/>
          </ac:picMkLst>
        </pc:picChg>
      </pc:sldChg>
      <pc:sldChg chg="del">
        <pc:chgData name="Dieter Beaven" userId="9bbdb69f-69d0-4759-aa9b-5c090a2da237" providerId="ADAL" clId="{6D0E2431-7FF2-4EE0-8A7E-C91E17B4DDF6}" dt="2025-06-17T15:05:15.724" v="13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6D0E2431-7FF2-4EE0-8A7E-C91E17B4DDF6}" dt="2025-06-20T09:42:08.571" v="21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A61A6293-0BE3-48BA-A04C-B88765BB89A7}"/>
    <pc:docChg chg="addSld delSld modSld">
      <pc:chgData name="Dieter Beaven" userId="9bbdb69f-69d0-4759-aa9b-5c090a2da237" providerId="ADAL" clId="{A61A6293-0BE3-48BA-A04C-B88765BB89A7}" dt="2025-05-09T15:57:17.775" v="41" actId="20577"/>
      <pc:docMkLst>
        <pc:docMk/>
      </pc:docMkLst>
      <pc:sldChg chg="modSp mod">
        <pc:chgData name="Dieter Beaven" userId="9bbdb69f-69d0-4759-aa9b-5c090a2da237" providerId="ADAL" clId="{A61A6293-0BE3-48BA-A04C-B88765BB89A7}" dt="2025-05-09T15:57:17.775" v="4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A61A6293-0BE3-48BA-A04C-B88765BB89A7}" dt="2025-05-09T15:57:17.775" v="4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del">
        <pc:chgData name="Dieter Beaven" userId="9bbdb69f-69d0-4759-aa9b-5c090a2da237" providerId="ADAL" clId="{A61A6293-0BE3-48BA-A04C-B88765BB89A7}" dt="2025-05-09T15:57:00.459" v="13" actId="4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A61A6293-0BE3-48BA-A04C-B88765BB89A7}" dt="2025-05-09T15:56:29.485" v="0"/>
        <pc:sldMkLst>
          <pc:docMk/>
          <pc:sldMk cId="3684407045" sldId="666"/>
        </pc:sldMkLst>
      </pc:sldChg>
      <pc:sldChg chg="add">
        <pc:chgData name="Dieter Beaven" userId="9bbdb69f-69d0-4759-aa9b-5c090a2da237" providerId="ADAL" clId="{A61A6293-0BE3-48BA-A04C-B88765BB89A7}" dt="2025-05-09T15:56:29.485" v="0"/>
        <pc:sldMkLst>
          <pc:docMk/>
          <pc:sldMk cId="4129573998" sldId="667"/>
        </pc:sldMkLst>
      </pc:sldChg>
      <pc:sldChg chg="add">
        <pc:chgData name="Dieter Beaven" userId="9bbdb69f-69d0-4759-aa9b-5c090a2da237" providerId="ADAL" clId="{A61A6293-0BE3-48BA-A04C-B88765BB89A7}" dt="2025-05-09T15:56:29.485" v="0"/>
        <pc:sldMkLst>
          <pc:docMk/>
          <pc:sldMk cId="419090211" sldId="668"/>
        </pc:sldMkLst>
      </pc:sldChg>
      <pc:sldChg chg="add">
        <pc:chgData name="Dieter Beaven" userId="9bbdb69f-69d0-4759-aa9b-5c090a2da237" providerId="ADAL" clId="{A61A6293-0BE3-48BA-A04C-B88765BB89A7}" dt="2025-05-09T15:56:29.485" v="0"/>
        <pc:sldMkLst>
          <pc:docMk/>
          <pc:sldMk cId="1823587101" sldId="670"/>
        </pc:sldMkLst>
      </pc:sldChg>
      <pc:sldChg chg="modSp add mod">
        <pc:chgData name="Dieter Beaven" userId="9bbdb69f-69d0-4759-aa9b-5c090a2da237" providerId="ADAL" clId="{A61A6293-0BE3-48BA-A04C-B88765BB89A7}" dt="2025-05-09T15:56:54.448" v="12" actId="1036"/>
        <pc:sldMkLst>
          <pc:docMk/>
          <pc:sldMk cId="2298864388" sldId="671"/>
        </pc:sldMkLst>
        <pc:spChg chg="mod">
          <ac:chgData name="Dieter Beaven" userId="9bbdb69f-69d0-4759-aa9b-5c090a2da237" providerId="ADAL" clId="{A61A6293-0BE3-48BA-A04C-B88765BB89A7}" dt="2025-05-09T15:56:37.766" v="4" actId="20577"/>
          <ac:spMkLst>
            <pc:docMk/>
            <pc:sldMk cId="2298864388" sldId="671"/>
            <ac:spMk id="3" creationId="{00000000-0000-0000-0000-000000000000}"/>
          </ac:spMkLst>
        </pc:spChg>
        <pc:spChg chg="mod">
          <ac:chgData name="Dieter Beaven" userId="9bbdb69f-69d0-4759-aa9b-5c090a2da237" providerId="ADAL" clId="{A61A6293-0BE3-48BA-A04C-B88765BB89A7}" dt="2025-05-09T15:56:49.088" v="8" actId="20577"/>
          <ac:spMkLst>
            <pc:docMk/>
            <pc:sldMk cId="2298864388" sldId="671"/>
            <ac:spMk id="5" creationId="{00000000-0000-0000-0000-000000000000}"/>
          </ac:spMkLst>
        </pc:spChg>
        <pc:spChg chg="mod">
          <ac:chgData name="Dieter Beaven" userId="9bbdb69f-69d0-4759-aa9b-5c090a2da237" providerId="ADAL" clId="{A61A6293-0BE3-48BA-A04C-B88765BB89A7}" dt="2025-05-09T15:56:54.448" v="12" actId="1036"/>
          <ac:spMkLst>
            <pc:docMk/>
            <pc:sldMk cId="2298864388" sldId="671"/>
            <ac:spMk id="7" creationId="{00000000-0000-0000-0000-000000000000}"/>
          </ac:spMkLst>
        </pc:spChg>
        <pc:spChg chg="mod">
          <ac:chgData name="Dieter Beaven" userId="9bbdb69f-69d0-4759-aa9b-5c090a2da237" providerId="ADAL" clId="{A61A6293-0BE3-48BA-A04C-B88765BB89A7}" dt="2025-05-09T15:56:54.448" v="12" actId="1036"/>
          <ac:spMkLst>
            <pc:docMk/>
            <pc:sldMk cId="2298864388" sldId="671"/>
            <ac:spMk id="8" creationId="{00000000-0000-0000-0000-000000000000}"/>
          </ac:spMkLst>
        </pc:spChg>
        <pc:spChg chg="mod">
          <ac:chgData name="Dieter Beaven" userId="9bbdb69f-69d0-4759-aa9b-5c090a2da237" providerId="ADAL" clId="{A61A6293-0BE3-48BA-A04C-B88765BB89A7}" dt="2025-05-09T15:56:54.448" v="12" actId="1036"/>
          <ac:spMkLst>
            <pc:docMk/>
            <pc:sldMk cId="2298864388" sldId="671"/>
            <ac:spMk id="19" creationId="{00000000-0000-0000-0000-000000000000}"/>
          </ac:spMkLst>
        </pc:spChg>
        <pc:spChg chg="mod">
          <ac:chgData name="Dieter Beaven" userId="9bbdb69f-69d0-4759-aa9b-5c090a2da237" providerId="ADAL" clId="{A61A6293-0BE3-48BA-A04C-B88765BB89A7}" dt="2025-05-09T15:56:54.448" v="12" actId="1036"/>
          <ac:spMkLst>
            <pc:docMk/>
            <pc:sldMk cId="2298864388" sldId="671"/>
            <ac:spMk id="23" creationId="{00000000-0000-0000-0000-000000000000}"/>
          </ac:spMkLst>
        </pc:spChg>
        <pc:picChg chg="mod">
          <ac:chgData name="Dieter Beaven" userId="9bbdb69f-69d0-4759-aa9b-5c090a2da237" providerId="ADAL" clId="{A61A6293-0BE3-48BA-A04C-B88765BB89A7}" dt="2025-05-09T15:56:54.448" v="12" actId="1036"/>
          <ac:picMkLst>
            <pc:docMk/>
            <pc:sldMk cId="2298864388" sldId="671"/>
            <ac:picMk id="17" creationId="{00000000-0000-0000-0000-000000000000}"/>
          </ac:picMkLst>
        </pc:picChg>
        <pc:picChg chg="mod">
          <ac:chgData name="Dieter Beaven" userId="9bbdb69f-69d0-4759-aa9b-5c090a2da237" providerId="ADAL" clId="{A61A6293-0BE3-48BA-A04C-B88765BB89A7}" dt="2025-05-09T15:56:54.448" v="12" actId="1036"/>
          <ac:picMkLst>
            <pc:docMk/>
            <pc:sldMk cId="2298864388" sldId="671"/>
            <ac:picMk id="2050" creationId="{00000000-0000-0000-0000-000000000000}"/>
          </ac:picMkLst>
        </pc:picChg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5.png"/><Relationship Id="rId4" Type="http://schemas.openxmlformats.org/officeDocument/2006/relationships/image" Target="../media/image24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Modelling with Derivatives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7804" y="2636912"/>
            <a:ext cx="3528392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examples of </a:t>
            </a:r>
            <a:r>
              <a:rPr lang="en-GB" b="1" dirty="0"/>
              <a:t>optimisation problems</a:t>
            </a:r>
            <a:r>
              <a:rPr lang="en-GB" dirty="0"/>
              <a:t>: we’re trying to maximise/minimise some quantity by choosing an appropriate value of a variable that we can control.</a:t>
            </a:r>
          </a:p>
        </p:txBody>
      </p:sp>
      <p:grpSp>
        <p:nvGrpSpPr>
          <p:cNvPr id="6" name="Group 5"/>
          <p:cNvGrpSpPr/>
          <p:nvPr/>
        </p:nvGrpSpPr>
        <p:grpSpPr>
          <a:xfrm rot="19612270">
            <a:off x="197931" y="1582482"/>
            <a:ext cx="1512168" cy="1224136"/>
            <a:chOff x="1619672" y="4581128"/>
            <a:chExt cx="2016224" cy="1512168"/>
          </a:xfrm>
        </p:grpSpPr>
        <p:sp>
          <p:nvSpPr>
            <p:cNvPr id="4" name="Snip Single Corner Rectangle 3"/>
            <p:cNvSpPr/>
            <p:nvPr/>
          </p:nvSpPr>
          <p:spPr>
            <a:xfrm>
              <a:off x="1619672" y="4581128"/>
              <a:ext cx="2016224" cy="1512168"/>
            </a:xfrm>
            <a:prstGeom prst="snip1Rect">
              <a:avLst>
                <a:gd name="adj" fmla="val 335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3131840" y="4581128"/>
              <a:ext cx="504056" cy="50405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907703" y="1003243"/>
            <a:ext cx="2951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have a sheet of A4 paper, which we want to fold into a cuboid. What height should we choose for the cuboid in order to maximise the volume?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1520" y="1916832"/>
            <a:ext cx="684574" cy="100811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59632" y="1772816"/>
            <a:ext cx="468550" cy="6817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5" idx="1"/>
          </p:cNvCxnSpPr>
          <p:nvPr/>
        </p:nvCxnSpPr>
        <p:spPr>
          <a:xfrm flipV="1">
            <a:off x="107504" y="1646226"/>
            <a:ext cx="940094" cy="6306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18814" y="2060848"/>
            <a:ext cx="1244874" cy="85873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29962" y="4878452"/>
            <a:ext cx="1440160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Pie 18"/>
          <p:cNvSpPr/>
          <p:nvPr/>
        </p:nvSpPr>
        <p:spPr>
          <a:xfrm>
            <a:off x="4842030" y="4878452"/>
            <a:ext cx="1656184" cy="1440160"/>
          </a:xfrm>
          <a:prstGeom prst="pie">
            <a:avLst>
              <a:gd name="adj1" fmla="val 16208169"/>
              <a:gd name="adj2" fmla="val 540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50m of fencing, and want to make a bear pen of the following shape, such that the area is maximised. What should we choose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be?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blipFill>
                <a:blip r:embed="rId4"/>
                <a:stretch>
                  <a:fillRect l="-2290" t="-1319" r="-1781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Optimisation Problems/Modelling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>
            <a:off x="1424763" y="2275367"/>
            <a:ext cx="170121" cy="2232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blipFill>
                <a:blip r:embed="rId5"/>
                <a:stretch>
                  <a:fillRect r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573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1537246" y="3549650"/>
            <a:ext cx="288032" cy="656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1628775" y="3571875"/>
            <a:ext cx="114300" cy="7810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‘Rate of change’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Up to now we’ve had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means “the </a:t>
                </a:r>
                <a:r>
                  <a:rPr lang="en-GB" b="1" u="sng" dirty="0"/>
                  <a:t>rate</a:t>
                </a:r>
                <a:r>
                  <a:rPr lang="en-GB" dirty="0"/>
                  <a:t> at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changes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  <a:p>
                <a:endParaRPr lang="en-GB" dirty="0"/>
              </a:p>
              <a:p>
                <a:r>
                  <a:rPr lang="en-GB" dirty="0"/>
                  <a:t>But we can use similar gradient function notation for other </a:t>
                </a:r>
                <a:r>
                  <a:rPr lang="en-GB" b="1" dirty="0"/>
                  <a:t>physical quantities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blipFill>
                <a:blip r:embed="rId2"/>
                <a:stretch>
                  <a:fillRect l="-719"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31640" y="2636912"/>
            <a:ext cx="1728192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1331640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59832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ylinder 10"/>
          <p:cNvSpPr/>
          <p:nvPr/>
        </p:nvSpPr>
        <p:spPr>
          <a:xfrm>
            <a:off x="1322427" y="4238925"/>
            <a:ext cx="1728192" cy="2016224"/>
          </a:xfrm>
          <a:prstGeom prst="can">
            <a:avLst>
              <a:gd name="adj" fmla="val 1397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1260490" y="4542938"/>
            <a:ext cx="1816573" cy="2090006"/>
          </a:xfrm>
          <a:custGeom>
            <a:avLst/>
            <a:gdLst>
              <a:gd name="connsiteX0" fmla="*/ 22860 w 1828800"/>
              <a:gd name="connsiteY0" fmla="*/ 0 h 1356360"/>
              <a:gd name="connsiteX1" fmla="*/ 464820 w 1828800"/>
              <a:gd name="connsiteY1" fmla="*/ 114300 h 1356360"/>
              <a:gd name="connsiteX2" fmla="*/ 807720 w 1828800"/>
              <a:gd name="connsiteY2" fmla="*/ 167640 h 1356360"/>
              <a:gd name="connsiteX3" fmla="*/ 1127760 w 1828800"/>
              <a:gd name="connsiteY3" fmla="*/ 167640 h 1356360"/>
              <a:gd name="connsiteX4" fmla="*/ 1546860 w 1828800"/>
              <a:gd name="connsiteY4" fmla="*/ 83820 h 1356360"/>
              <a:gd name="connsiteX5" fmla="*/ 1821180 w 1828800"/>
              <a:gd name="connsiteY5" fmla="*/ 0 h 1356360"/>
              <a:gd name="connsiteX6" fmla="*/ 1828800 w 1828800"/>
              <a:gd name="connsiteY6" fmla="*/ 1325880 h 1356360"/>
              <a:gd name="connsiteX7" fmla="*/ 0 w 1828800"/>
              <a:gd name="connsiteY7" fmla="*/ 1356360 h 1356360"/>
              <a:gd name="connsiteX8" fmla="*/ 22860 w 1828800"/>
              <a:gd name="connsiteY8" fmla="*/ 0 h 1356360"/>
              <a:gd name="connsiteX0" fmla="*/ 22860 w 1839433"/>
              <a:gd name="connsiteY0" fmla="*/ 0 h 2048894"/>
              <a:gd name="connsiteX1" fmla="*/ 464820 w 1839433"/>
              <a:gd name="connsiteY1" fmla="*/ 114300 h 2048894"/>
              <a:gd name="connsiteX2" fmla="*/ 807720 w 1839433"/>
              <a:gd name="connsiteY2" fmla="*/ 167640 h 2048894"/>
              <a:gd name="connsiteX3" fmla="*/ 1127760 w 1839433"/>
              <a:gd name="connsiteY3" fmla="*/ 167640 h 2048894"/>
              <a:gd name="connsiteX4" fmla="*/ 1546860 w 1839433"/>
              <a:gd name="connsiteY4" fmla="*/ 83820 h 2048894"/>
              <a:gd name="connsiteX5" fmla="*/ 1821180 w 1839433"/>
              <a:gd name="connsiteY5" fmla="*/ 0 h 2048894"/>
              <a:gd name="connsiteX6" fmla="*/ 1839433 w 1839433"/>
              <a:gd name="connsiteY6" fmla="*/ 2048894 h 2048894"/>
              <a:gd name="connsiteX7" fmla="*/ 0 w 1839433"/>
              <a:gd name="connsiteY7" fmla="*/ 1356360 h 2048894"/>
              <a:gd name="connsiteX8" fmla="*/ 22860 w 1839433"/>
              <a:gd name="connsiteY8" fmla="*/ 0 h 2048894"/>
              <a:gd name="connsiteX0" fmla="*/ 0 w 1816573"/>
              <a:gd name="connsiteY0" fmla="*/ 0 h 2090006"/>
              <a:gd name="connsiteX1" fmla="*/ 441960 w 1816573"/>
              <a:gd name="connsiteY1" fmla="*/ 114300 h 2090006"/>
              <a:gd name="connsiteX2" fmla="*/ 784860 w 1816573"/>
              <a:gd name="connsiteY2" fmla="*/ 167640 h 2090006"/>
              <a:gd name="connsiteX3" fmla="*/ 1104900 w 1816573"/>
              <a:gd name="connsiteY3" fmla="*/ 167640 h 2090006"/>
              <a:gd name="connsiteX4" fmla="*/ 1524000 w 1816573"/>
              <a:gd name="connsiteY4" fmla="*/ 83820 h 2090006"/>
              <a:gd name="connsiteX5" fmla="*/ 1798320 w 1816573"/>
              <a:gd name="connsiteY5" fmla="*/ 0 h 2090006"/>
              <a:gd name="connsiteX6" fmla="*/ 1816573 w 1816573"/>
              <a:gd name="connsiteY6" fmla="*/ 2048894 h 2090006"/>
              <a:gd name="connsiteX7" fmla="*/ 19670 w 1816573"/>
              <a:gd name="connsiteY7" fmla="*/ 2090006 h 2090006"/>
              <a:gd name="connsiteX8" fmla="*/ 0 w 1816573"/>
              <a:gd name="connsiteY8" fmla="*/ 0 h 209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16573" h="2090006">
                <a:moveTo>
                  <a:pt x="0" y="0"/>
                </a:moveTo>
                <a:lnTo>
                  <a:pt x="441960" y="114300"/>
                </a:lnTo>
                <a:lnTo>
                  <a:pt x="784860" y="167640"/>
                </a:lnTo>
                <a:lnTo>
                  <a:pt x="1104900" y="167640"/>
                </a:lnTo>
                <a:lnTo>
                  <a:pt x="1524000" y="83820"/>
                </a:lnTo>
                <a:lnTo>
                  <a:pt x="1798320" y="0"/>
                </a:lnTo>
                <a:lnTo>
                  <a:pt x="1816573" y="2048894"/>
                </a:lnTo>
                <a:lnTo>
                  <a:pt x="19670" y="20900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/>
          <p:cNvSpPr/>
          <p:nvPr/>
        </p:nvSpPr>
        <p:spPr>
          <a:xfrm>
            <a:off x="1323975" y="4524375"/>
            <a:ext cx="1739900" cy="165142"/>
          </a:xfrm>
          <a:custGeom>
            <a:avLst/>
            <a:gdLst>
              <a:gd name="connsiteX0" fmla="*/ 0 w 1739900"/>
              <a:gd name="connsiteY0" fmla="*/ 0 h 165142"/>
              <a:gd name="connsiteX1" fmla="*/ 876300 w 1739900"/>
              <a:gd name="connsiteY1" fmla="*/ 165100 h 165142"/>
              <a:gd name="connsiteX2" fmla="*/ 1739900 w 1739900"/>
              <a:gd name="connsiteY2" fmla="*/ 12700 h 16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9900" h="165142">
                <a:moveTo>
                  <a:pt x="0" y="0"/>
                </a:moveTo>
                <a:cubicBezTo>
                  <a:pt x="293158" y="81491"/>
                  <a:pt x="586317" y="162983"/>
                  <a:pt x="876300" y="165100"/>
                </a:cubicBezTo>
                <a:cubicBezTo>
                  <a:pt x="1166283" y="167217"/>
                  <a:pt x="1453091" y="89958"/>
                  <a:pt x="1739900" y="12700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 flipH="1" flipV="1">
            <a:off x="387152" y="3140968"/>
            <a:ext cx="1130498" cy="22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77940" y="3422650"/>
            <a:ext cx="1127010" cy="6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>
            <a:off x="1236514" y="3140968"/>
            <a:ext cx="576064" cy="57606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1809750" y="3422650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517650" y="3430843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xplosion: 8 Points 30"/>
          <p:cNvSpPr/>
          <p:nvPr/>
        </p:nvSpPr>
        <p:spPr>
          <a:xfrm>
            <a:off x="6786363" y="2273300"/>
            <a:ext cx="1944216" cy="1443732"/>
          </a:xfrm>
          <a:prstGeom prst="irregularSeal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Real Life Maths!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096" y="2704604"/>
            <a:ext cx="2930004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 sewage container fills at a rate of 20 cm</a:t>
            </a:r>
            <a:r>
              <a:rPr lang="en-GB" baseline="30000" dirty="0"/>
              <a:t>3</a:t>
            </a:r>
            <a:r>
              <a:rPr lang="en-GB" dirty="0"/>
              <a:t> per second.</a:t>
            </a:r>
          </a:p>
          <a:p>
            <a:endParaRPr lang="en-GB" dirty="0"/>
          </a:p>
          <a:p>
            <a:r>
              <a:rPr lang="en-GB" dirty="0"/>
              <a:t>How could we use appropriate notation to represent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at which the volume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changes with respect to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blipFill>
                <a:blip r:embed="rId4"/>
                <a:stretch>
                  <a:fillRect l="-142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3059832" y="5587941"/>
            <a:ext cx="504056" cy="4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00017 -0.07616 " pathEditMode="relative" rAng="0" ptsTypes="AA">
                                      <p:cBhvr>
                                        <p:cTn id="50" dur="10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6" grpId="0" animBg="1"/>
      <p:bldP spid="11" grpId="0" animBg="1"/>
      <p:bldP spid="11" grpId="1" animBg="1"/>
      <p:bldP spid="10" grpId="0" animBg="1"/>
      <p:bldP spid="20" grpId="0" animBg="1"/>
      <p:bldP spid="31" grpId="0" animBg="1"/>
      <p:bldP spid="32" grpId="0" animBg="1"/>
      <p:bldP spid="33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 Optimisation Problem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6789" y="677224"/>
            <a:ext cx="8134196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Optimisation problems in an exam usually follow the following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2 variables involved (you may have to introduce one yourself), typically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expressions for </a:t>
            </a:r>
            <a:r>
              <a:rPr lang="en-GB" sz="1400" b="1" dirty="0"/>
              <a:t>two different physical quantities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One is a </a:t>
            </a:r>
            <a:r>
              <a:rPr lang="en-GB" sz="1400" b="1" u="sng" dirty="0"/>
              <a:t>constraint</a:t>
            </a:r>
            <a:r>
              <a:rPr lang="en-GB" sz="1400" dirty="0"/>
              <a:t>, e.g. “the surface area is 20cm</a:t>
            </a:r>
            <a:r>
              <a:rPr lang="en-GB" sz="1400" baseline="30000" dirty="0"/>
              <a:t>2</a:t>
            </a:r>
            <a:r>
              <a:rPr lang="en-GB" sz="1400" dirty="0"/>
              <a:t>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The </a:t>
            </a:r>
            <a:r>
              <a:rPr lang="en-GB" sz="1400" b="1" u="sng" dirty="0"/>
              <a:t>other we wish to maximise/minimise</a:t>
            </a:r>
            <a:r>
              <a:rPr lang="en-GB" sz="1400" dirty="0"/>
              <a:t>, e.g. “we wish to maximise the volume”.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use the constraint to </a:t>
            </a:r>
            <a:r>
              <a:rPr lang="en-GB" sz="1400" b="1" u="sng" dirty="0"/>
              <a:t>eliminate one of the variables</a:t>
            </a:r>
            <a:r>
              <a:rPr lang="en-GB" sz="1400" dirty="0"/>
              <a:t> in the latter equation, so that it is then </a:t>
            </a:r>
            <a:r>
              <a:rPr lang="en-GB" sz="1400" b="1" u="sng" dirty="0"/>
              <a:t>just in terms of one variable</a:t>
            </a:r>
            <a:r>
              <a:rPr lang="en-GB" sz="1400" dirty="0"/>
              <a:t>, and we can then use differentiation to find the turning point.</a:t>
            </a:r>
            <a:r>
              <a:rPr lang="en-GB" sz="1400" b="1" u="sng" dirty="0"/>
              <a:t> </a:t>
            </a:r>
          </a:p>
        </p:txBody>
      </p:sp>
      <p:sp>
        <p:nvSpPr>
          <p:cNvPr id="6" name="Cube 5"/>
          <p:cNvSpPr/>
          <p:nvPr/>
        </p:nvSpPr>
        <p:spPr>
          <a:xfrm>
            <a:off x="377644" y="2728279"/>
            <a:ext cx="2727063" cy="135462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large tank in the shape of a cuboid is to be made from 54m</a:t>
                </a:r>
                <a:r>
                  <a:rPr lang="en-GB" sz="1600" baseline="30000" dirty="0"/>
                  <a:t>2</a:t>
                </a:r>
                <a:r>
                  <a:rPr lang="en-GB" sz="1600" dirty="0"/>
                  <a:t> of sheet metal. The tank has a horizontal base and no top. The height of the tank is </a:t>
                </a:r>
                <a14:m>
                  <m:oMath xmlns:m="http://schemas.openxmlformats.org/officeDocument/2006/math">
                    <m:r>
                      <a:rPr lang="en-GB" sz="1600" b="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1600" dirty="0"/>
                  <a:t> metres. Two of the opposite vertical faces are squares.</a:t>
                </a:r>
              </a:p>
              <a:p>
                <a:endParaRPr lang="en-GB" sz="600" dirty="0"/>
              </a:p>
              <a:p>
                <a:r>
                  <a:rPr lang="en-GB" sz="1600" dirty="0"/>
                  <a:t>a) Show that the volume, V m</a:t>
                </a:r>
                <a:r>
                  <a:rPr lang="en-GB" sz="1600" baseline="30000" dirty="0"/>
                  <a:t>3</a:t>
                </a:r>
                <a:r>
                  <a:rPr lang="en-GB" sz="1600" dirty="0"/>
                  <a:t>, of the tank is given by </a:t>
                </a:r>
              </a:p>
              <a:p>
                <a:r>
                  <a:rPr lang="en-GB" sz="1600" b="0" dirty="0"/>
                  <a:t>   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𝑉</m:t>
                    </m:r>
                    <m:r>
                      <a:rPr lang="en-GB" sz="1600" b="0" i="1" smtClean="0">
                        <a:latin typeface="Cambria Math"/>
                      </a:rPr>
                      <m:t>=18</m:t>
                    </m:r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744279" y="2728279"/>
            <a:ext cx="1744" cy="31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4259" y="4847381"/>
            <a:ext cx="2213404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We need to introduce a second variable ourselves so that we can find expressions for the surface area and volume.</a:t>
            </a:r>
          </a:p>
        </p:txBody>
      </p:sp>
      <p:cxnSp>
        <p:nvCxnSpPr>
          <p:cNvPr id="15" name="Straight Arrow Connector 14"/>
          <p:cNvCxnSpPr>
            <a:stCxn id="13" idx="0"/>
            <a:endCxn id="9" idx="2"/>
          </p:cNvCxnSpPr>
          <p:nvPr/>
        </p:nvCxnSpPr>
        <p:spPr>
          <a:xfrm flipV="1">
            <a:off x="1350961" y="4464021"/>
            <a:ext cx="308126" cy="383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b) Given that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can vary, use differentiation to find the maximum or minimum value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=54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we want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/>
                  <a:t> just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54−2</m:t>
                              </m:r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blipFill>
                <a:blip r:embed="rId7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2456121" y="4625163"/>
            <a:ext cx="435935" cy="66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5469" y="4304529"/>
            <a:ext cx="2285999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These are the two equations mentioned in the guidance: one for surface area and one volume.</a:t>
            </a:r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4901609" y="4529470"/>
            <a:ext cx="1913860" cy="9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=18−2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   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Once we have the ‘optimal’ value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, we sub it back into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100" dirty="0"/>
                  <a:t> to get the best possible volume.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  <a:blipFill>
                <a:blip r:embed="rId9"/>
                <a:stretch>
                  <a:fillRect b="-1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H="1">
            <a:off x="7102549" y="5977212"/>
            <a:ext cx="389620" cy="83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50043" y="4348716"/>
            <a:ext cx="3493287" cy="16015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609" y="5975498"/>
            <a:ext cx="2413591" cy="8631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0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26" grpId="0" animBg="1"/>
      <p:bldP spid="33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4" y="1238493"/>
            <a:ext cx="4593355" cy="38226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59639" y="857977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2011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" y="5324893"/>
            <a:ext cx="5656370" cy="1208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688" y="974698"/>
            <a:ext cx="4966312" cy="1406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30" y="2388946"/>
            <a:ext cx="4950214" cy="49898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127" y="5326911"/>
            <a:ext cx="5343352" cy="12865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7984" y="979660"/>
            <a:ext cx="4716016" cy="14126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3275" y="2397288"/>
            <a:ext cx="4716016" cy="5479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8235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12.11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101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59457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8452" y="192013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5950" y="2285836"/>
                <a:ext cx="68982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[STEP I 2006 Q2] A small goat is tethered by a rope to a point at ground level on a side of a square barn which stands in a large horizontal field of grass. The sides of the barn are of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the rope is of length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be the area of the grass that the goat can graze.</a:t>
                </a:r>
              </a:p>
              <a:p>
                <a:r>
                  <a:rPr lang="en-GB" dirty="0"/>
                  <a:t>Prove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≤14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determine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50" y="2285836"/>
                <a:ext cx="6898254" cy="1477328"/>
              </a:xfrm>
              <a:prstGeom prst="rect">
                <a:avLst/>
              </a:prstGeom>
              <a:blipFill>
                <a:blip r:embed="rId2"/>
                <a:stretch>
                  <a:fillRect l="-796" t="-2479" r="-619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247204" y="2365666"/>
            <a:ext cx="288032" cy="28099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17" name="Picture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60" y="4095272"/>
            <a:ext cx="6708576" cy="15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animal, goat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536" y="236306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/>
          <p:cNvSpPr/>
          <p:nvPr/>
        </p:nvSpPr>
        <p:spPr>
          <a:xfrm>
            <a:off x="533401" y="3925788"/>
            <a:ext cx="7035799" cy="20955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886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42557D5F-21CB-21E2-8E17-36B7B28BB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78" y="908720"/>
            <a:ext cx="73533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EAD58CD-F34F-5A75-463E-CB12ED30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640" y="956270"/>
            <a:ext cx="7267575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F95B197-338D-5116-A69B-3EB9C20E4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852487"/>
            <a:ext cx="87820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664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P1 Chapter 12: Differentiation  Modelling with Derivatives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