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547" r:id="rId5"/>
    <p:sldId id="642" r:id="rId6"/>
    <p:sldId id="645" r:id="rId7"/>
    <p:sldId id="646" r:id="rId8"/>
    <p:sldId id="549" r:id="rId9"/>
    <p:sldId id="648" r:id="rId10"/>
    <p:sldId id="543" r:id="rId11"/>
    <p:sldId id="550" r:id="rId12"/>
    <p:sldId id="54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FBB1CF-D3A5-42CE-87DA-0D5CF8DB785B}" v="2" dt="2025-09-25T15:29:05.5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70" d="100"/>
          <a:sy n="70" d="100"/>
        </p:scale>
        <p:origin x="1332" y="60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E4DFDE64-8AFC-4BD6-AF12-53F3776891BC}"/>
    <pc:docChg chg="modSld">
      <pc:chgData name="Dieter Beaven" userId="9bbdb69f-69d0-4759-aa9b-5c090a2da237" providerId="ADAL" clId="{E4DFDE64-8AFC-4BD6-AF12-53F3776891BC}" dt="2025-04-25T15:27:38.398" v="3" actId="20577"/>
      <pc:docMkLst>
        <pc:docMk/>
      </pc:docMkLst>
      <pc:sldChg chg="modSp mod">
        <pc:chgData name="Dieter Beaven" userId="9bbdb69f-69d0-4759-aa9b-5c090a2da237" providerId="ADAL" clId="{E4DFDE64-8AFC-4BD6-AF12-53F3776891BC}" dt="2025-04-25T15:27:33.757" v="0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E4DFDE64-8AFC-4BD6-AF12-53F3776891BC}" dt="2025-04-25T15:27:38.398" v="3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A29BA35D-79C6-487C-8309-DC71AAB4C877}"/>
    <pc:docChg chg="modSld">
      <pc:chgData name="Dieter Beaven" userId="9bbdb69f-69d0-4759-aa9b-5c090a2da237" providerId="ADAL" clId="{A29BA35D-79C6-487C-8309-DC71AAB4C877}" dt="2025-04-29T12:03:28.813" v="18" actId="20577"/>
      <pc:docMkLst>
        <pc:docMk/>
      </pc:docMkLst>
      <pc:sldChg chg="modSp mod">
        <pc:chgData name="Dieter Beaven" userId="9bbdb69f-69d0-4759-aa9b-5c090a2da237" providerId="ADAL" clId="{A29BA35D-79C6-487C-8309-DC71AAB4C877}" dt="2025-04-29T12:03:22.599" v="17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A29BA35D-79C6-487C-8309-DC71AAB4C877}" dt="2025-04-29T12:03:28.813" v="18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4CFBB1CF-D3A5-42CE-87DA-0D5CF8DB785B}"/>
    <pc:docChg chg="modSld">
      <pc:chgData name="Dieter Beaven" userId="9bbdb69f-69d0-4759-aa9b-5c090a2da237" providerId="ADAL" clId="{4CFBB1CF-D3A5-42CE-87DA-0D5CF8DB785B}" dt="2025-09-25T15:29:05.545" v="1" actId="20577"/>
      <pc:docMkLst>
        <pc:docMk/>
      </pc:docMkLst>
      <pc:sldChg chg="modSp">
        <pc:chgData name="Dieter Beaven" userId="9bbdb69f-69d0-4759-aa9b-5c090a2da237" providerId="ADAL" clId="{4CFBB1CF-D3A5-42CE-87DA-0D5CF8DB785B}" dt="2025-09-25T15:29:05.545" v="1" actId="20577"/>
        <pc:sldMkLst>
          <pc:docMk/>
          <pc:sldMk cId="3055658135" sldId="549"/>
        </pc:sldMkLst>
        <pc:spChg chg="mod">
          <ac:chgData name="Dieter Beaven" userId="9bbdb69f-69d0-4759-aa9b-5c090a2da237" providerId="ADAL" clId="{4CFBB1CF-D3A5-42CE-87DA-0D5CF8DB785B}" dt="2025-09-25T15:29:05.545" v="1" actId="20577"/>
          <ac:spMkLst>
            <pc:docMk/>
            <pc:sldMk cId="3055658135" sldId="549"/>
            <ac:spMk id="10" creationId="{103AAC80-D81F-344A-AE37-6FCCB5BD4BD1}"/>
          </ac:spMkLst>
        </pc:spChg>
      </pc:sldChg>
    </pc:docChg>
  </pc:docChgLst>
  <pc:docChgLst>
    <pc:chgData name="Dieter Beaven" userId="9bbdb69f-69d0-4759-aa9b-5c090a2da237" providerId="ADAL" clId="{0F26DA28-CF5D-4E0E-839F-4F44F517B3ED}"/>
    <pc:docChg chg="delSld modSld">
      <pc:chgData name="Dieter Beaven" userId="9bbdb69f-69d0-4759-aa9b-5c090a2da237" providerId="ADAL" clId="{0F26DA28-CF5D-4E0E-839F-4F44F517B3ED}" dt="2025-06-20T09:59:10.789" v="9" actId="47"/>
      <pc:docMkLst>
        <pc:docMk/>
      </pc:docMkLst>
      <pc:sldChg chg="addSp modSp mod">
        <pc:chgData name="Dieter Beaven" userId="9bbdb69f-69d0-4759-aa9b-5c090a2da237" providerId="ADAL" clId="{0F26DA28-CF5D-4E0E-839F-4F44F517B3ED}" dt="2025-06-18T14:37:52.081" v="2" actId="1035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0F26DA28-CF5D-4E0E-839F-4F44F517B3ED}" dt="2025-06-20T09:59:08.497" v="8" actId="1035"/>
        <pc:sldMkLst>
          <pc:docMk/>
          <pc:sldMk cId="3458699803" sldId="545"/>
        </pc:sldMkLst>
      </pc:sldChg>
      <pc:sldChg chg="addSp modSp mod">
        <pc:chgData name="Dieter Beaven" userId="9bbdb69f-69d0-4759-aa9b-5c090a2da237" providerId="ADAL" clId="{0F26DA28-CF5D-4E0E-839F-4F44F517B3ED}" dt="2025-06-18T14:38:31.466" v="4" actId="1076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0F26DA28-CF5D-4E0E-839F-4F44F517B3ED}" dt="2025-06-18T14:38:34.256" v="5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0F26DA28-CF5D-4E0E-839F-4F44F517B3ED}" dt="2025-06-20T09:59:10.789" v="9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CD2B62CB-97A7-4BB9-8294-65A908DA6996}"/>
    <pc:docChg chg="custSel addSld delSld modSld">
      <pc:chgData name="Dieter Beaven" userId="9bbdb69f-69d0-4759-aa9b-5c090a2da237" providerId="ADAL" clId="{CD2B62CB-97A7-4BB9-8294-65A908DA6996}" dt="2025-05-12T11:38:15.152" v="30"/>
      <pc:docMkLst>
        <pc:docMk/>
      </pc:docMkLst>
      <pc:sldChg chg="modSp mod">
        <pc:chgData name="Dieter Beaven" userId="9bbdb69f-69d0-4759-aa9b-5c090a2da237" providerId="ADAL" clId="{CD2B62CB-97A7-4BB9-8294-65A908DA6996}" dt="2025-05-12T11:37:11.219" v="29" actId="20577"/>
        <pc:sldMkLst>
          <pc:docMk/>
          <pc:sldMk cId="3991975165" sldId="547"/>
        </pc:sldMkLst>
      </pc:sldChg>
      <pc:sldChg chg="addSp delSp modSp mod modAnim">
        <pc:chgData name="Dieter Beaven" userId="9bbdb69f-69d0-4759-aa9b-5c090a2da237" providerId="ADAL" clId="{CD2B62CB-97A7-4BB9-8294-65A908DA6996}" dt="2025-05-12T11:36:58.001" v="12" actId="2057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CD2B62CB-97A7-4BB9-8294-65A908DA6996}" dt="2025-05-12T11:34:57.107" v="0"/>
        <pc:sldMkLst>
          <pc:docMk/>
          <pc:sldMk cId="2207148064" sldId="642"/>
        </pc:sldMkLst>
      </pc:sldChg>
      <pc:sldChg chg="add">
        <pc:chgData name="Dieter Beaven" userId="9bbdb69f-69d0-4759-aa9b-5c090a2da237" providerId="ADAL" clId="{CD2B62CB-97A7-4BB9-8294-65A908DA6996}" dt="2025-05-12T11:34:57.107" v="0"/>
        <pc:sldMkLst>
          <pc:docMk/>
          <pc:sldMk cId="123064037" sldId="645"/>
        </pc:sldMkLst>
      </pc:sldChg>
      <pc:sldChg chg="add">
        <pc:chgData name="Dieter Beaven" userId="9bbdb69f-69d0-4759-aa9b-5c090a2da237" providerId="ADAL" clId="{CD2B62CB-97A7-4BB9-8294-65A908DA6996}" dt="2025-05-12T11:34:57.107" v="0"/>
        <pc:sldMkLst>
          <pc:docMk/>
          <pc:sldMk cId="481937231" sldId="646"/>
        </pc:sldMkLst>
      </pc:sldChg>
      <pc:sldChg chg="add del">
        <pc:chgData name="Dieter Beaven" userId="9bbdb69f-69d0-4759-aa9b-5c090a2da237" providerId="ADAL" clId="{CD2B62CB-97A7-4BB9-8294-65A908DA6996}" dt="2025-05-12T11:36:12.879" v="6" actId="47"/>
        <pc:sldMkLst>
          <pc:docMk/>
          <pc:sldMk cId="2410538703" sldId="647"/>
        </pc:sldMkLst>
      </pc:sldChg>
      <pc:sldChg chg="add">
        <pc:chgData name="Dieter Beaven" userId="9bbdb69f-69d0-4759-aa9b-5c090a2da237" providerId="ADAL" clId="{CD2B62CB-97A7-4BB9-8294-65A908DA6996}" dt="2025-05-12T11:38:15.152" v="30"/>
        <pc:sldMkLst>
          <pc:docMk/>
          <pc:sldMk cId="1010084558" sldId="648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25/09/2025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13: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/>
            </a:br>
            <a:r>
              <a:rPr lang="en-GB"/>
              <a:t>Negative Areas 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‘Negative Areas’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02120" y="720436"/>
                <a:ext cx="8072648" cy="74552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the curve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−1)(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GB" dirty="0"/>
                  <a:t> (which expands to give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).</a:t>
                </a:r>
              </a:p>
              <a:p>
                <a:r>
                  <a:rPr lang="en-GB" dirty="0"/>
                  <a:t>Now calculate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. Why is this result surprising? 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20" y="720436"/>
                <a:ext cx="8072648" cy="745525"/>
              </a:xfrm>
              <a:prstGeom prst="rect">
                <a:avLst/>
              </a:prstGeom>
              <a:blipFill>
                <a:blip r:embed="rId2"/>
                <a:stretch>
                  <a:fillRect t="-16438" b="-8082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044236" y="1547729"/>
                <a:ext cx="5210763" cy="12920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p>
                              </m:s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So the total ‘area’ is 0!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236" y="1547729"/>
                <a:ext cx="5210763" cy="1292085"/>
              </a:xfrm>
              <a:prstGeom prst="rect">
                <a:avLst/>
              </a:prstGeom>
              <a:blipFill>
                <a:blip r:embed="rId3"/>
                <a:stretch>
                  <a:fillRect l="-9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/>
          <p:cNvGrpSpPr/>
          <p:nvPr/>
        </p:nvGrpSpPr>
        <p:grpSpPr>
          <a:xfrm>
            <a:off x="366306" y="1555744"/>
            <a:ext cx="4822116" cy="4977844"/>
            <a:chOff x="366306" y="1555744"/>
            <a:chExt cx="4822116" cy="4977844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366306" y="4239965"/>
              <a:ext cx="44644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828382" y="4042786"/>
                  <a:ext cx="3600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382" y="4042786"/>
                  <a:ext cx="360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/>
            <p:nvPr/>
          </p:nvCxnSpPr>
          <p:spPr>
            <a:xfrm flipH="1" flipV="1">
              <a:off x="873735" y="1925076"/>
              <a:ext cx="1" cy="46085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693715" y="1555744"/>
                  <a:ext cx="3600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715" y="1555744"/>
                  <a:ext cx="36004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Freeform: Shape 12"/>
            <p:cNvSpPr/>
            <p:nvPr/>
          </p:nvSpPr>
          <p:spPr>
            <a:xfrm>
              <a:off x="859579" y="2200046"/>
              <a:ext cx="3678865" cy="4081314"/>
            </a:xfrm>
            <a:custGeom>
              <a:avLst/>
              <a:gdLst>
                <a:gd name="connsiteX0" fmla="*/ 0 w 3678865"/>
                <a:gd name="connsiteY0" fmla="*/ 2045235 h 4081314"/>
                <a:gd name="connsiteX1" fmla="*/ 1318437 w 3678865"/>
                <a:gd name="connsiteY1" fmla="*/ 56947 h 4081314"/>
                <a:gd name="connsiteX2" fmla="*/ 2721935 w 3678865"/>
                <a:gd name="connsiteY2" fmla="*/ 4022891 h 4081314"/>
                <a:gd name="connsiteX3" fmla="*/ 3678865 w 3678865"/>
                <a:gd name="connsiteY3" fmla="*/ 2055868 h 408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78865" h="4081314">
                  <a:moveTo>
                    <a:pt x="0" y="2045235"/>
                  </a:moveTo>
                  <a:cubicBezTo>
                    <a:pt x="432390" y="886286"/>
                    <a:pt x="864781" y="-272662"/>
                    <a:pt x="1318437" y="56947"/>
                  </a:cubicBezTo>
                  <a:cubicBezTo>
                    <a:pt x="1772093" y="386556"/>
                    <a:pt x="2328530" y="3689738"/>
                    <a:pt x="2721935" y="4022891"/>
                  </a:cubicBezTo>
                  <a:cubicBezTo>
                    <a:pt x="3115340" y="4356045"/>
                    <a:pt x="3397102" y="3205956"/>
                    <a:pt x="3678865" y="205586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302410" y="3086099"/>
              <a:ext cx="216024" cy="1153865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518434" y="2628899"/>
              <a:ext cx="210005" cy="1612627"/>
            </a:xfrm>
            <a:prstGeom prst="rect">
              <a:avLst/>
            </a:prstGeom>
            <a:solidFill>
              <a:srgbClr val="FF0000">
                <a:alpha val="47000"/>
              </a:srgb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728439" y="2349499"/>
              <a:ext cx="216024" cy="1891247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947108" y="2209799"/>
              <a:ext cx="232326" cy="2030165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179434" y="2279650"/>
              <a:ext cx="232326" cy="1960314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411760" y="2660650"/>
              <a:ext cx="232326" cy="1579313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641202" y="3346450"/>
              <a:ext cx="232326" cy="893513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906860" y="4243352"/>
              <a:ext cx="232326" cy="106398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136643" y="4243352"/>
              <a:ext cx="232326" cy="862048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366426" y="4243351"/>
              <a:ext cx="232326" cy="1592299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596209" y="4236579"/>
              <a:ext cx="232326" cy="2019441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832194" y="4243351"/>
              <a:ext cx="232326" cy="1966949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063506" y="4239598"/>
              <a:ext cx="232326" cy="1612562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299491" y="4242984"/>
              <a:ext cx="232326" cy="885276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490" y="3562350"/>
              <a:ext cx="216024" cy="675922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67717" y="4006850"/>
              <a:ext cx="216024" cy="236134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2597186" y="4209241"/>
                  <a:ext cx="3600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7186" y="4209241"/>
                  <a:ext cx="36004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4425735" y="4241810"/>
                  <a:ext cx="3600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5735" y="4241810"/>
                  <a:ext cx="36004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/>
            <p:cNvCxnSpPr/>
            <p:nvPr/>
          </p:nvCxnSpPr>
          <p:spPr>
            <a:xfrm>
              <a:off x="1496739" y="4326393"/>
              <a:ext cx="23497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1380801" y="4261717"/>
                  <a:ext cx="45044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0801" y="4261717"/>
                  <a:ext cx="45044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936753" y="2695123"/>
                  <a:ext cx="45044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753" y="2695123"/>
                  <a:ext cx="450446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4054" r="-44595" b="-1311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/>
            <p:cNvCxnSpPr/>
            <p:nvPr/>
          </p:nvCxnSpPr>
          <p:spPr>
            <a:xfrm flipV="1">
              <a:off x="1468089" y="2557780"/>
              <a:ext cx="5111" cy="170099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264161" y="2689217"/>
                <a:ext cx="3804237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Integration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 is just the sum of areas of infinitely thin rectangles, where the current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 (i.e.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) is each height, and the widths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i.e. The area of each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problem is,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negative, 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 is negative, i.e. a negative area!</a:t>
                </a:r>
              </a:p>
              <a:p>
                <a:r>
                  <a:rPr lang="en-GB" dirty="0"/>
                  <a:t>The result is that the ‘positive area’ from 0 to 1 is cancelled out by the ‘negative area’ from 1 to 2, giving an overall ‘area’ of 0.</a:t>
                </a:r>
              </a:p>
              <a:p>
                <a:r>
                  <a:rPr lang="en-GB" dirty="0"/>
                  <a:t>So how do we resolve this?</a:t>
                </a: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161" y="2689217"/>
                <a:ext cx="3804237" cy="3970318"/>
              </a:xfrm>
              <a:prstGeom prst="rect">
                <a:avLst/>
              </a:prstGeom>
              <a:blipFill>
                <a:blip r:embed="rId10"/>
                <a:stretch>
                  <a:fillRect l="-1442" t="-461" r="-2244" b="-1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183904" y="4950343"/>
                <a:ext cx="2606523" cy="164192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Fro Note</a:t>
                </a:r>
                <a:r>
                  <a:rPr lang="en-GB" sz="1400" dirty="0"/>
                  <a:t>: This explains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sz="1400" dirty="0"/>
                  <a:t> in the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GB" sz="1400" dirty="0"/>
                  <a:t>, which effectively means “the sum of the areas of strips, each of area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sz="1400" dirty="0"/>
                  <a:t>. So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sz="1400" dirty="0"/>
                  <a:t> is not just part of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∫</m:t>
                    </m:r>
                  </m:oMath>
                </a14:m>
                <a:r>
                  <a:rPr lang="en-GB" sz="1400" dirty="0"/>
                  <a:t> notation, it’s behaving as a physical quantity! (i.e. length) 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04" y="4950343"/>
                <a:ext cx="2606523" cy="1641924"/>
              </a:xfrm>
              <a:prstGeom prst="rect">
                <a:avLst/>
              </a:prstGeom>
              <a:blipFill>
                <a:blip r:embed="rId11"/>
                <a:stretch>
                  <a:fillRect l="-231" t="-10256" b="-25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/>
          <p:nvPr/>
        </p:nvCxnSpPr>
        <p:spPr>
          <a:xfrm flipV="1">
            <a:off x="2766582" y="3759200"/>
            <a:ext cx="2182789" cy="19137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057070" y="1534885"/>
            <a:ext cx="4969330" cy="10178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0714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40" grpId="0"/>
      <p:bldP spid="41" grpId="0" animBg="1"/>
      <p:bldP spid="4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/>
          <p:cNvSpPr/>
          <p:nvPr/>
        </p:nvSpPr>
        <p:spPr>
          <a:xfrm>
            <a:off x="692150" y="1962150"/>
            <a:ext cx="1663700" cy="1409700"/>
          </a:xfrm>
          <a:custGeom>
            <a:avLst/>
            <a:gdLst>
              <a:gd name="connsiteX0" fmla="*/ 0 w 1663700"/>
              <a:gd name="connsiteY0" fmla="*/ 1409700 h 1409700"/>
              <a:gd name="connsiteX1" fmla="*/ 203200 w 1663700"/>
              <a:gd name="connsiteY1" fmla="*/ 965200 h 1409700"/>
              <a:gd name="connsiteX2" fmla="*/ 323850 w 1663700"/>
              <a:gd name="connsiteY2" fmla="*/ 654050 h 1409700"/>
              <a:gd name="connsiteX3" fmla="*/ 444500 w 1663700"/>
              <a:gd name="connsiteY3" fmla="*/ 393700 h 1409700"/>
              <a:gd name="connsiteX4" fmla="*/ 552450 w 1663700"/>
              <a:gd name="connsiteY4" fmla="*/ 209550 h 1409700"/>
              <a:gd name="connsiteX5" fmla="*/ 654050 w 1663700"/>
              <a:gd name="connsiteY5" fmla="*/ 88900 h 1409700"/>
              <a:gd name="connsiteX6" fmla="*/ 736600 w 1663700"/>
              <a:gd name="connsiteY6" fmla="*/ 19050 h 1409700"/>
              <a:gd name="connsiteX7" fmla="*/ 831850 w 1663700"/>
              <a:gd name="connsiteY7" fmla="*/ 0 h 1409700"/>
              <a:gd name="connsiteX8" fmla="*/ 908050 w 1663700"/>
              <a:gd name="connsiteY8" fmla="*/ 12700 h 1409700"/>
              <a:gd name="connsiteX9" fmla="*/ 990600 w 1663700"/>
              <a:gd name="connsiteY9" fmla="*/ 57150 h 1409700"/>
              <a:gd name="connsiteX10" fmla="*/ 1092200 w 1663700"/>
              <a:gd name="connsiteY10" fmla="*/ 165100 h 1409700"/>
              <a:gd name="connsiteX11" fmla="*/ 1206500 w 1663700"/>
              <a:gd name="connsiteY11" fmla="*/ 361950 h 1409700"/>
              <a:gd name="connsiteX12" fmla="*/ 1295400 w 1663700"/>
              <a:gd name="connsiteY12" fmla="*/ 520700 h 1409700"/>
              <a:gd name="connsiteX13" fmla="*/ 1377950 w 1663700"/>
              <a:gd name="connsiteY13" fmla="*/ 704850 h 1409700"/>
              <a:gd name="connsiteX14" fmla="*/ 1511300 w 1663700"/>
              <a:gd name="connsiteY14" fmla="*/ 1016000 h 1409700"/>
              <a:gd name="connsiteX15" fmla="*/ 1587500 w 1663700"/>
              <a:gd name="connsiteY15" fmla="*/ 1200150 h 1409700"/>
              <a:gd name="connsiteX16" fmla="*/ 1663700 w 1663700"/>
              <a:gd name="connsiteY16" fmla="*/ 1403350 h 1409700"/>
              <a:gd name="connsiteX17" fmla="*/ 0 w 1663700"/>
              <a:gd name="connsiteY17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663700" h="1409700">
                <a:moveTo>
                  <a:pt x="0" y="1409700"/>
                </a:moveTo>
                <a:lnTo>
                  <a:pt x="203200" y="965200"/>
                </a:lnTo>
                <a:lnTo>
                  <a:pt x="323850" y="654050"/>
                </a:lnTo>
                <a:lnTo>
                  <a:pt x="444500" y="393700"/>
                </a:lnTo>
                <a:lnTo>
                  <a:pt x="552450" y="209550"/>
                </a:lnTo>
                <a:lnTo>
                  <a:pt x="654050" y="88900"/>
                </a:lnTo>
                <a:lnTo>
                  <a:pt x="736600" y="19050"/>
                </a:lnTo>
                <a:lnTo>
                  <a:pt x="831850" y="0"/>
                </a:lnTo>
                <a:lnTo>
                  <a:pt x="908050" y="12700"/>
                </a:lnTo>
                <a:lnTo>
                  <a:pt x="990600" y="57150"/>
                </a:lnTo>
                <a:lnTo>
                  <a:pt x="1092200" y="165100"/>
                </a:lnTo>
                <a:lnTo>
                  <a:pt x="1206500" y="361950"/>
                </a:lnTo>
                <a:lnTo>
                  <a:pt x="1295400" y="520700"/>
                </a:lnTo>
                <a:lnTo>
                  <a:pt x="1377950" y="704850"/>
                </a:lnTo>
                <a:lnTo>
                  <a:pt x="1511300" y="1016000"/>
                </a:lnTo>
                <a:lnTo>
                  <a:pt x="1587500" y="1200150"/>
                </a:lnTo>
                <a:lnTo>
                  <a:pt x="1663700" y="1403350"/>
                </a:lnTo>
                <a:lnTo>
                  <a:pt x="0" y="14097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Example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5034" y="793007"/>
                <a:ext cx="807264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the total area bound between the curve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−1)(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GB" dirty="0"/>
                  <a:t> and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34" y="793007"/>
                <a:ext cx="8072648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709588" y="1815672"/>
            <a:ext cx="0" cy="2808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111295" y="3153668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1295" y="3153668"/>
                <a:ext cx="5040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57560" y="1408642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60" y="1408642"/>
                <a:ext cx="50405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/>
          <p:cNvSpPr/>
          <p:nvPr/>
        </p:nvSpPr>
        <p:spPr>
          <a:xfrm>
            <a:off x="711200" y="1955800"/>
            <a:ext cx="1644650" cy="1416050"/>
          </a:xfrm>
          <a:custGeom>
            <a:avLst/>
            <a:gdLst>
              <a:gd name="connsiteX0" fmla="*/ 0 w 1644650"/>
              <a:gd name="connsiteY0" fmla="*/ 1416050 h 1416050"/>
              <a:gd name="connsiteX1" fmla="*/ 819150 w 1644650"/>
              <a:gd name="connsiteY1" fmla="*/ 0 h 1416050"/>
              <a:gd name="connsiteX2" fmla="*/ 1644650 w 1644650"/>
              <a:gd name="connsiteY2" fmla="*/ 1416050 h 1416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4650" h="1416050">
                <a:moveTo>
                  <a:pt x="0" y="1416050"/>
                </a:moveTo>
                <a:cubicBezTo>
                  <a:pt x="272521" y="708025"/>
                  <a:pt x="545042" y="0"/>
                  <a:pt x="819150" y="0"/>
                </a:cubicBezTo>
                <a:cubicBezTo>
                  <a:pt x="1093258" y="0"/>
                  <a:pt x="1368954" y="708025"/>
                  <a:pt x="1644650" y="141605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/>
          <p:cNvSpPr/>
          <p:nvPr/>
        </p:nvSpPr>
        <p:spPr>
          <a:xfrm rot="10800000">
            <a:off x="2370097" y="3365500"/>
            <a:ext cx="1663700" cy="1409700"/>
          </a:xfrm>
          <a:custGeom>
            <a:avLst/>
            <a:gdLst>
              <a:gd name="connsiteX0" fmla="*/ 0 w 1663700"/>
              <a:gd name="connsiteY0" fmla="*/ 1409700 h 1409700"/>
              <a:gd name="connsiteX1" fmla="*/ 203200 w 1663700"/>
              <a:gd name="connsiteY1" fmla="*/ 965200 h 1409700"/>
              <a:gd name="connsiteX2" fmla="*/ 323850 w 1663700"/>
              <a:gd name="connsiteY2" fmla="*/ 654050 h 1409700"/>
              <a:gd name="connsiteX3" fmla="*/ 444500 w 1663700"/>
              <a:gd name="connsiteY3" fmla="*/ 393700 h 1409700"/>
              <a:gd name="connsiteX4" fmla="*/ 552450 w 1663700"/>
              <a:gd name="connsiteY4" fmla="*/ 209550 h 1409700"/>
              <a:gd name="connsiteX5" fmla="*/ 654050 w 1663700"/>
              <a:gd name="connsiteY5" fmla="*/ 88900 h 1409700"/>
              <a:gd name="connsiteX6" fmla="*/ 736600 w 1663700"/>
              <a:gd name="connsiteY6" fmla="*/ 19050 h 1409700"/>
              <a:gd name="connsiteX7" fmla="*/ 831850 w 1663700"/>
              <a:gd name="connsiteY7" fmla="*/ 0 h 1409700"/>
              <a:gd name="connsiteX8" fmla="*/ 908050 w 1663700"/>
              <a:gd name="connsiteY8" fmla="*/ 12700 h 1409700"/>
              <a:gd name="connsiteX9" fmla="*/ 990600 w 1663700"/>
              <a:gd name="connsiteY9" fmla="*/ 57150 h 1409700"/>
              <a:gd name="connsiteX10" fmla="*/ 1092200 w 1663700"/>
              <a:gd name="connsiteY10" fmla="*/ 165100 h 1409700"/>
              <a:gd name="connsiteX11" fmla="*/ 1206500 w 1663700"/>
              <a:gd name="connsiteY11" fmla="*/ 361950 h 1409700"/>
              <a:gd name="connsiteX12" fmla="*/ 1295400 w 1663700"/>
              <a:gd name="connsiteY12" fmla="*/ 520700 h 1409700"/>
              <a:gd name="connsiteX13" fmla="*/ 1377950 w 1663700"/>
              <a:gd name="connsiteY13" fmla="*/ 704850 h 1409700"/>
              <a:gd name="connsiteX14" fmla="*/ 1511300 w 1663700"/>
              <a:gd name="connsiteY14" fmla="*/ 1016000 h 1409700"/>
              <a:gd name="connsiteX15" fmla="*/ 1587500 w 1663700"/>
              <a:gd name="connsiteY15" fmla="*/ 1200150 h 1409700"/>
              <a:gd name="connsiteX16" fmla="*/ 1663700 w 1663700"/>
              <a:gd name="connsiteY16" fmla="*/ 1403350 h 1409700"/>
              <a:gd name="connsiteX17" fmla="*/ 0 w 1663700"/>
              <a:gd name="connsiteY17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663700" h="1409700">
                <a:moveTo>
                  <a:pt x="0" y="1409700"/>
                </a:moveTo>
                <a:lnTo>
                  <a:pt x="203200" y="965200"/>
                </a:lnTo>
                <a:lnTo>
                  <a:pt x="323850" y="654050"/>
                </a:lnTo>
                <a:lnTo>
                  <a:pt x="444500" y="393700"/>
                </a:lnTo>
                <a:lnTo>
                  <a:pt x="552450" y="209550"/>
                </a:lnTo>
                <a:lnTo>
                  <a:pt x="654050" y="88900"/>
                </a:lnTo>
                <a:lnTo>
                  <a:pt x="736600" y="19050"/>
                </a:lnTo>
                <a:lnTo>
                  <a:pt x="831850" y="0"/>
                </a:lnTo>
                <a:lnTo>
                  <a:pt x="908050" y="12700"/>
                </a:lnTo>
                <a:lnTo>
                  <a:pt x="990600" y="57150"/>
                </a:lnTo>
                <a:lnTo>
                  <a:pt x="1092200" y="165100"/>
                </a:lnTo>
                <a:lnTo>
                  <a:pt x="1206500" y="361950"/>
                </a:lnTo>
                <a:lnTo>
                  <a:pt x="1295400" y="520700"/>
                </a:lnTo>
                <a:lnTo>
                  <a:pt x="1377950" y="704850"/>
                </a:lnTo>
                <a:lnTo>
                  <a:pt x="1511300" y="1016000"/>
                </a:lnTo>
                <a:lnTo>
                  <a:pt x="1587500" y="1200150"/>
                </a:lnTo>
                <a:lnTo>
                  <a:pt x="1663700" y="1403350"/>
                </a:lnTo>
                <a:lnTo>
                  <a:pt x="0" y="14097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 rot="10800000">
            <a:off x="2370097" y="3365500"/>
            <a:ext cx="1644650" cy="1416050"/>
          </a:xfrm>
          <a:custGeom>
            <a:avLst/>
            <a:gdLst>
              <a:gd name="connsiteX0" fmla="*/ 0 w 1644650"/>
              <a:gd name="connsiteY0" fmla="*/ 1416050 h 1416050"/>
              <a:gd name="connsiteX1" fmla="*/ 819150 w 1644650"/>
              <a:gd name="connsiteY1" fmla="*/ 0 h 1416050"/>
              <a:gd name="connsiteX2" fmla="*/ 1644650 w 1644650"/>
              <a:gd name="connsiteY2" fmla="*/ 1416050 h 1416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4650" h="1416050">
                <a:moveTo>
                  <a:pt x="0" y="1416050"/>
                </a:moveTo>
                <a:cubicBezTo>
                  <a:pt x="272521" y="708025"/>
                  <a:pt x="545042" y="0"/>
                  <a:pt x="819150" y="0"/>
                </a:cubicBezTo>
                <a:cubicBezTo>
                  <a:pt x="1093258" y="0"/>
                  <a:pt x="1368954" y="708025"/>
                  <a:pt x="1644650" y="141605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061779" y="3329558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779" y="3329558"/>
                <a:ext cx="5040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815366" y="3329558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366" y="3329558"/>
                <a:ext cx="50405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630023" y="1783808"/>
                <a:ext cx="392977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Strategy: </a:t>
                </a:r>
              </a:p>
              <a:p>
                <a:r>
                  <a:rPr lang="en-GB" dirty="0"/>
                  <a:t>Separately find the area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and 1, and between 1 and 2. Treat any negative areas as positive.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023" y="1783808"/>
                <a:ext cx="3929777" cy="1200329"/>
              </a:xfrm>
              <a:prstGeom prst="rect">
                <a:avLst/>
              </a:prstGeom>
              <a:blipFill>
                <a:blip r:embed="rId7"/>
                <a:stretch>
                  <a:fillRect l="-1398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444500" y="3365500"/>
            <a:ext cx="3797424" cy="4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35400" y="3648844"/>
                <a:ext cx="5194300" cy="3015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p>
                              </m:s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  <m:oMath xmlns:m="http://schemas.openxmlformats.org/officeDocument/2006/math">
                      <m:nary>
                        <m:nary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p>
                              </m:s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r>
                  <a:rPr lang="en-GB" b="1" dirty="0"/>
                  <a:t>    Treating both as positive: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𝑨𝒓𝒆𝒂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400" y="3648844"/>
                <a:ext cx="5194300" cy="30153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4619170" y="2119085"/>
            <a:ext cx="4093030" cy="8019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14746" y="3696578"/>
            <a:ext cx="4926053" cy="29582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 Solution</a:t>
            </a:r>
          </a:p>
        </p:txBody>
      </p:sp>
    </p:spTree>
    <p:extLst>
      <p:ext uri="{BB962C8B-B14F-4D97-AF65-F5344CB8AC3E}">
        <p14:creationId xmlns:p14="http://schemas.microsoft.com/office/powerpoint/2010/main" val="12306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195412" y="724226"/>
            <a:ext cx="25551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May 2013 Q6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765" y="3763639"/>
            <a:ext cx="6053280" cy="3022143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848668" y="3699272"/>
            <a:ext cx="5809432" cy="4028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20" y="1104940"/>
            <a:ext cx="8714680" cy="240377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1848668" y="4102100"/>
            <a:ext cx="5809432" cy="26836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8193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3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13.6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 108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Freeform: Shape 25">
                <a:extLst>
                  <a:ext uri="{FF2B5EF4-FFF2-40B4-BE49-F238E27FC236}">
                    <a16:creationId xmlns:a16="http://schemas.microsoft.com/office/drawing/2014/main" id="{B6912B44-2386-61D9-9E3F-67D576897588}"/>
                  </a:ext>
                </a:extLst>
              </p:cNvPr>
              <p:cNvSpPr/>
              <p:nvPr/>
            </p:nvSpPr>
            <p:spPr>
              <a:xfrm>
                <a:off x="847725" y="3995300"/>
                <a:ext cx="828675" cy="838200"/>
              </a:xfrm>
              <a:custGeom>
                <a:avLst/>
                <a:gdLst>
                  <a:gd name="connsiteX0" fmla="*/ 0 w 828675"/>
                  <a:gd name="connsiteY0" fmla="*/ 838200 h 838200"/>
                  <a:gd name="connsiteX1" fmla="*/ 819150 w 828675"/>
                  <a:gd name="connsiteY1" fmla="*/ 828675 h 838200"/>
                  <a:gd name="connsiteX2" fmla="*/ 828675 w 828675"/>
                  <a:gd name="connsiteY2" fmla="*/ 257175 h 838200"/>
                  <a:gd name="connsiteX3" fmla="*/ 600075 w 828675"/>
                  <a:gd name="connsiteY3" fmla="*/ 161925 h 838200"/>
                  <a:gd name="connsiteX4" fmla="*/ 333375 w 828675"/>
                  <a:gd name="connsiteY4" fmla="*/ 66675 h 838200"/>
                  <a:gd name="connsiteX5" fmla="*/ 9525 w 828675"/>
                  <a:gd name="connsiteY5" fmla="*/ 0 h 838200"/>
                  <a:gd name="connsiteX6" fmla="*/ 0 w 828675"/>
                  <a:gd name="connsiteY6" fmla="*/ 838200 h 83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28675" h="838200">
                    <a:moveTo>
                      <a:pt x="0" y="838200"/>
                    </a:moveTo>
                    <a:lnTo>
                      <a:pt x="819150" y="828675"/>
                    </a:lnTo>
                    <a:lnTo>
                      <a:pt x="828675" y="257175"/>
                    </a:lnTo>
                    <a:lnTo>
                      <a:pt x="600075" y="161925"/>
                    </a:lnTo>
                    <a:lnTo>
                      <a:pt x="333375" y="66675"/>
                    </a:lnTo>
                    <a:lnTo>
                      <a:pt x="9525" y="0"/>
                    </a:lnTo>
                    <a:lnTo>
                      <a:pt x="0" y="83820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Freeform: Shape 25">
                <a:extLst>
                  <a:ext uri="{FF2B5EF4-FFF2-40B4-BE49-F238E27FC236}">
                    <a16:creationId xmlns:a16="http://schemas.microsoft.com/office/drawing/2014/main" id="{B6912B44-2386-61D9-9E3F-67D5768975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25" y="3995300"/>
                <a:ext cx="828675" cy="838200"/>
              </a:xfrm>
              <a:custGeom>
                <a:avLst/>
                <a:gdLst>
                  <a:gd name="connsiteX0" fmla="*/ 0 w 828675"/>
                  <a:gd name="connsiteY0" fmla="*/ 838200 h 838200"/>
                  <a:gd name="connsiteX1" fmla="*/ 819150 w 828675"/>
                  <a:gd name="connsiteY1" fmla="*/ 828675 h 838200"/>
                  <a:gd name="connsiteX2" fmla="*/ 828675 w 828675"/>
                  <a:gd name="connsiteY2" fmla="*/ 257175 h 838200"/>
                  <a:gd name="connsiteX3" fmla="*/ 600075 w 828675"/>
                  <a:gd name="connsiteY3" fmla="*/ 161925 h 838200"/>
                  <a:gd name="connsiteX4" fmla="*/ 333375 w 828675"/>
                  <a:gd name="connsiteY4" fmla="*/ 66675 h 838200"/>
                  <a:gd name="connsiteX5" fmla="*/ 9525 w 828675"/>
                  <a:gd name="connsiteY5" fmla="*/ 0 h 838200"/>
                  <a:gd name="connsiteX6" fmla="*/ 0 w 828675"/>
                  <a:gd name="connsiteY6" fmla="*/ 838200 h 83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28675" h="838200">
                    <a:moveTo>
                      <a:pt x="0" y="838200"/>
                    </a:moveTo>
                    <a:lnTo>
                      <a:pt x="819150" y="828675"/>
                    </a:lnTo>
                    <a:lnTo>
                      <a:pt x="828675" y="257175"/>
                    </a:lnTo>
                    <a:lnTo>
                      <a:pt x="600075" y="161925"/>
                    </a:lnTo>
                    <a:lnTo>
                      <a:pt x="333375" y="66675"/>
                    </a:lnTo>
                    <a:lnTo>
                      <a:pt x="9525" y="0"/>
                    </a:lnTo>
                    <a:lnTo>
                      <a:pt x="0" y="838200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A710F0-AE05-FFF9-1F33-69EA8A851203}"/>
              </a:ext>
            </a:extLst>
          </p:cNvPr>
          <p:cNvCxnSpPr/>
          <p:nvPr/>
        </p:nvCxnSpPr>
        <p:spPr>
          <a:xfrm>
            <a:off x="0" y="1615681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C2DA499-2B00-B3A6-4C63-6C28FBF19092}"/>
              </a:ext>
            </a:extLst>
          </p:cNvPr>
          <p:cNvSpPr txBox="1"/>
          <p:nvPr/>
        </p:nvSpPr>
        <p:spPr>
          <a:xfrm>
            <a:off x="264908" y="1676118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3AAC80-D81F-344A-AE37-6FCCB5BD4BD1}"/>
                  </a:ext>
                </a:extLst>
              </p:cNvPr>
              <p:cNvSpPr txBox="1"/>
              <p:nvPr/>
            </p:nvSpPr>
            <p:spPr>
              <a:xfrm>
                <a:off x="221364" y="2007130"/>
                <a:ext cx="4016807" cy="1230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[MAT 2010 1I] </a:t>
                </a:r>
                <a:r>
                  <a:rPr lang="en-GB" sz="1600" dirty="0"/>
                  <a:t>For a positive number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, let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d>
                            <m:dPr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4−</m:t>
                              </m:r>
                              <m:sSup>
                                <m:sSupPr>
                                  <m:ctrlPr>
                                    <a:rPr lang="en-GB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en-GB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sup>
                              </m:sSup>
                            </m:e>
                          </m:d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𝑑𝐼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𝑑𝑎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 then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is what value?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3AAC80-D81F-344A-AE37-6FCCB5BD4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64" y="2007130"/>
                <a:ext cx="4016807" cy="1230209"/>
              </a:xfrm>
              <a:prstGeom prst="rect">
                <a:avLst/>
              </a:prstGeom>
              <a:blipFill>
                <a:blip r:embed="rId3"/>
                <a:stretch>
                  <a:fillRect l="-759" t="-1485" b="-9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88191D1A-87C1-20DC-15B8-C8FD06E49576}"/>
              </a:ext>
            </a:extLst>
          </p:cNvPr>
          <p:cNvSpPr/>
          <p:nvPr/>
        </p:nvSpPr>
        <p:spPr>
          <a:xfrm>
            <a:off x="85060" y="2074923"/>
            <a:ext cx="191387" cy="27100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47E180-D5AF-BC0B-BDFC-470620807A24}"/>
                  </a:ext>
                </a:extLst>
              </p:cNvPr>
              <p:cNvSpPr txBox="1"/>
              <p:nvPr/>
            </p:nvSpPr>
            <p:spPr>
              <a:xfrm>
                <a:off x="4517570" y="1361681"/>
                <a:ext cx="3294789" cy="86299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Hint: </a:t>
                </a:r>
                <a:r>
                  <a:rPr lang="en-GB" sz="1400" dirty="0"/>
                  <a:t>It’s not actually even possible to integrate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GB" sz="1400" dirty="0"/>
                  <a:t>, but we can still sketch the graph. Reflect on what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𝑑𝐼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𝑑𝑎</m:t>
                        </m:r>
                      </m:den>
                    </m:f>
                  </m:oMath>
                </a14:m>
                <a:r>
                  <a:rPr lang="en-GB" sz="1400" dirty="0"/>
                  <a:t> actually means.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47E180-D5AF-BC0B-BDFC-470620807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570" y="1361681"/>
                <a:ext cx="3294789" cy="862993"/>
              </a:xfrm>
              <a:prstGeom prst="rect">
                <a:avLst/>
              </a:prstGeom>
              <a:blipFill>
                <a:blip r:embed="rId4"/>
                <a:stretch>
                  <a:fillRect l="-1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794204-50AB-32CC-F3EB-5397229DA048}"/>
              </a:ext>
            </a:extLst>
          </p:cNvPr>
          <p:cNvCxnSpPr>
            <a:stCxn id="12" idx="1"/>
          </p:cNvCxnSpPr>
          <p:nvPr/>
        </p:nvCxnSpPr>
        <p:spPr>
          <a:xfrm flipH="1">
            <a:off x="3897650" y="1793178"/>
            <a:ext cx="619920" cy="381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2DB3B1-58B5-6F1D-8B95-6128CD02A11B}"/>
              </a:ext>
            </a:extLst>
          </p:cNvPr>
          <p:cNvCxnSpPr/>
          <p:nvPr/>
        </p:nvCxnSpPr>
        <p:spPr>
          <a:xfrm flipV="1">
            <a:off x="870000" y="3603634"/>
            <a:ext cx="0" cy="1224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E4AD49-DE4E-77D3-34A5-4D2C55CA01DC}"/>
              </a:ext>
            </a:extLst>
          </p:cNvPr>
          <p:cNvCxnSpPr/>
          <p:nvPr/>
        </p:nvCxnSpPr>
        <p:spPr>
          <a:xfrm>
            <a:off x="870000" y="4827770"/>
            <a:ext cx="21771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DE812A-B4F4-BD4C-F05D-86A5C6315F2C}"/>
                  </a:ext>
                </a:extLst>
              </p:cNvPr>
              <p:cNvSpPr txBox="1"/>
              <p:nvPr/>
            </p:nvSpPr>
            <p:spPr>
              <a:xfrm>
                <a:off x="2932832" y="4662670"/>
                <a:ext cx="4447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DE812A-B4F4-BD4C-F05D-86A5C6315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832" y="4662670"/>
                <a:ext cx="4447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F3BBC68-4167-2853-C410-A06251779414}"/>
                  </a:ext>
                </a:extLst>
              </p:cNvPr>
              <p:cNvSpPr txBox="1"/>
              <p:nvPr/>
            </p:nvSpPr>
            <p:spPr>
              <a:xfrm>
                <a:off x="647626" y="3266549"/>
                <a:ext cx="4447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F3BBC68-4167-2853-C410-A06251779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26" y="3266549"/>
                <a:ext cx="444748" cy="307777"/>
              </a:xfrm>
              <a:prstGeom prst="rect">
                <a:avLst/>
              </a:prstGeom>
              <a:blipFill>
                <a:blip r:embed="rId6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24">
            <a:extLst>
              <a:ext uri="{FF2B5EF4-FFF2-40B4-BE49-F238E27FC236}">
                <a16:creationId xmlns:a16="http://schemas.microsoft.com/office/drawing/2014/main" id="{CB9BC076-FD67-6616-9774-57199F5A0A9B}"/>
              </a:ext>
            </a:extLst>
          </p:cNvPr>
          <p:cNvSpPr/>
          <p:nvPr/>
        </p:nvSpPr>
        <p:spPr>
          <a:xfrm>
            <a:off x="876300" y="3988949"/>
            <a:ext cx="1708150" cy="1209675"/>
          </a:xfrm>
          <a:custGeom>
            <a:avLst/>
            <a:gdLst>
              <a:gd name="connsiteX0" fmla="*/ 0 w 1803400"/>
              <a:gd name="connsiteY0" fmla="*/ 0 h 1524000"/>
              <a:gd name="connsiteX1" fmla="*/ 838200 w 1803400"/>
              <a:gd name="connsiteY1" fmla="*/ 279400 h 1524000"/>
              <a:gd name="connsiteX2" fmla="*/ 1435100 w 1803400"/>
              <a:gd name="connsiteY2" fmla="*/ 711200 h 1524000"/>
              <a:gd name="connsiteX3" fmla="*/ 1803400 w 1803400"/>
              <a:gd name="connsiteY3" fmla="*/ 1524000 h 1524000"/>
              <a:gd name="connsiteX0" fmla="*/ 0 w 1708150"/>
              <a:gd name="connsiteY0" fmla="*/ 0 h 1209675"/>
              <a:gd name="connsiteX1" fmla="*/ 838200 w 1708150"/>
              <a:gd name="connsiteY1" fmla="*/ 279400 h 1209675"/>
              <a:gd name="connsiteX2" fmla="*/ 1435100 w 1708150"/>
              <a:gd name="connsiteY2" fmla="*/ 711200 h 1209675"/>
              <a:gd name="connsiteX3" fmla="*/ 1708150 w 1708150"/>
              <a:gd name="connsiteY3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8150" h="1209675">
                <a:moveTo>
                  <a:pt x="0" y="0"/>
                </a:moveTo>
                <a:cubicBezTo>
                  <a:pt x="299508" y="80433"/>
                  <a:pt x="599017" y="160867"/>
                  <a:pt x="838200" y="279400"/>
                </a:cubicBezTo>
                <a:cubicBezTo>
                  <a:pt x="1077383" y="397933"/>
                  <a:pt x="1290108" y="556154"/>
                  <a:pt x="1435100" y="711200"/>
                </a:cubicBezTo>
                <a:cubicBezTo>
                  <a:pt x="1580092" y="866246"/>
                  <a:pt x="1604433" y="906991"/>
                  <a:pt x="1708150" y="12096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1F39AC-DC54-D07C-4495-D8E10526B428}"/>
                  </a:ext>
                </a:extLst>
              </p:cNvPr>
              <p:cNvSpPr txBox="1"/>
              <p:nvPr/>
            </p:nvSpPr>
            <p:spPr>
              <a:xfrm>
                <a:off x="1423746" y="4816558"/>
                <a:ext cx="4447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51F39AC-DC54-D07C-4495-D8E10526B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746" y="4816558"/>
                <a:ext cx="444748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F0C9293-0944-6EDF-91A0-95988C664CE7}"/>
                  </a:ext>
                </a:extLst>
              </p:cNvPr>
              <p:cNvSpPr txBox="1"/>
              <p:nvPr/>
            </p:nvSpPr>
            <p:spPr>
              <a:xfrm>
                <a:off x="1547664" y="3523242"/>
                <a:ext cx="2160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𝑰</m:t>
                    </m:r>
                    <m:d>
                      <m:d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en-GB" sz="1400" b="1" dirty="0"/>
                  <a:t> represents the area from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1400" b="1" dirty="0"/>
                  <a:t> up to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400" b="1" dirty="0"/>
                  <a:t>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F0C9293-0944-6EDF-91A0-95988C664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523242"/>
                <a:ext cx="2160240" cy="523220"/>
              </a:xfrm>
              <a:prstGeom prst="rect">
                <a:avLst/>
              </a:prstGeom>
              <a:blipFill>
                <a:blip r:embed="rId8"/>
                <a:stretch>
                  <a:fillRect l="-847" t="-2326" b="-10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0D765A-6F3C-6AE0-550C-3DD11F54F7E1}"/>
                  </a:ext>
                </a:extLst>
              </p:cNvPr>
              <p:cNvSpPr txBox="1"/>
              <p:nvPr/>
            </p:nvSpPr>
            <p:spPr>
              <a:xfrm>
                <a:off x="2057629" y="4178923"/>
                <a:ext cx="1114195" cy="337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=4−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0D765A-6F3C-6AE0-550C-3DD11F54F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629" y="4178923"/>
                <a:ext cx="1114195" cy="337272"/>
              </a:xfrm>
              <a:prstGeom prst="rect">
                <a:avLst/>
              </a:prstGeom>
              <a:blipFill>
                <a:blip r:embed="rId9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7731E65-A38E-AA86-3627-119E78D97106}"/>
                  </a:ext>
                </a:extLst>
              </p:cNvPr>
              <p:cNvSpPr txBox="1"/>
              <p:nvPr/>
            </p:nvSpPr>
            <p:spPr>
              <a:xfrm>
                <a:off x="402605" y="5208770"/>
                <a:ext cx="3199768" cy="160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𝒅𝑰</m:t>
                        </m:r>
                      </m:num>
                      <m:den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𝒅𝒂</m:t>
                        </m:r>
                      </m:den>
                    </m:f>
                  </m:oMath>
                </a14:m>
                <a:r>
                  <a:rPr lang="en-GB" sz="1200" b="1" dirty="0"/>
                  <a:t> represents the rate of change of area as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200" b="1" dirty="0"/>
                  <a:t> increases. Thus 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𝒅𝑰</m:t>
                        </m:r>
                      </m:num>
                      <m:den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𝒅𝒂</m:t>
                        </m:r>
                      </m:den>
                    </m:f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1200" b="1" dirty="0"/>
                  <a:t>, the area is not changing. This must happen at the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200" b="1" dirty="0"/>
                  <a:t>-intercept of the graph, because once the curve goes negative, the total area will start to decrease.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sSup>
                            <m:sSupPr>
                              <m:ctrlP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sup>
                      </m:sSup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GB" sz="1200" b="1" dirty="0"/>
              </a:p>
              <a:p>
                <a:r>
                  <a:rPr lang="en-GB" sz="1200" b="1" dirty="0"/>
                  <a:t>The answer is </a:t>
                </a:r>
                <a14:m>
                  <m:oMath xmlns:m="http://schemas.openxmlformats.org/officeDocument/2006/math">
                    <m:r>
                      <a:rPr lang="en-GB" sz="1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200" b="1" i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12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GB" sz="1200" b="1" dirty="0"/>
                  <a:t>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7731E65-A38E-AA86-3627-119E78D97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05" y="5208770"/>
                <a:ext cx="3199768" cy="1604606"/>
              </a:xfrm>
              <a:prstGeom prst="rect">
                <a:avLst/>
              </a:prstGeom>
              <a:blipFill>
                <a:blip r:embed="rId10"/>
                <a:stretch>
                  <a:fillRect b="-18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C2D222CD-8EB3-03EE-0FE5-35613FD660FB}"/>
              </a:ext>
            </a:extLst>
          </p:cNvPr>
          <p:cNvSpPr/>
          <p:nvPr/>
        </p:nvSpPr>
        <p:spPr>
          <a:xfrm>
            <a:off x="315763" y="3262662"/>
            <a:ext cx="3354735" cy="35273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45CA3C-3963-E133-2EBD-0F4801E46BD8}"/>
                  </a:ext>
                </a:extLst>
              </p:cNvPr>
              <p:cNvSpPr txBox="1"/>
              <p:nvPr/>
            </p:nvSpPr>
            <p:spPr>
              <a:xfrm>
                <a:off x="4238171" y="2515130"/>
                <a:ext cx="4726317" cy="4010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[STEP I 2014 Q3]</a:t>
                </a:r>
              </a:p>
              <a:p>
                <a:r>
                  <a:rPr lang="en-GB" sz="1600" dirty="0"/>
                  <a:t>The numbers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1600" dirty="0"/>
                  <a:t>, are such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  <m:sup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pPr marL="400050" indent="-400050">
                  <a:buAutoNum type="romanLcParenBoth"/>
                </a:pPr>
                <a:r>
                  <a:rPr lang="en-GB" sz="1600" dirty="0"/>
                  <a:t>In the case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600" dirty="0"/>
                  <a:t>, find the value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400050" indent="-400050">
                  <a:buAutoNum type="romanLcParenBoth"/>
                </a:pPr>
                <a:r>
                  <a:rPr lang="en-GB" sz="1600" dirty="0"/>
                  <a:t>In the case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, 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 satisfies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−7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−7=0</m:t>
                    </m:r>
                  </m:oMath>
                </a14:m>
                <a:br>
                  <a:rPr lang="en-GB" sz="1600" dirty="0"/>
                </a:br>
                <a:r>
                  <a:rPr lang="en-GB" sz="1600" b="0" i="0" dirty="0">
                    <a:latin typeface="+mj-lt"/>
                  </a:rPr>
                  <a:t>Show further, with the help of a sketch, that there is only one (real) value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 that satisfies the equation and that it lies between 2 and 3.</a:t>
                </a:r>
              </a:p>
              <a:p>
                <a:pPr marL="400050" indent="-400050">
                  <a:buAutoNum type="romanLcParenBoth"/>
                </a:pPr>
                <a:r>
                  <a:rPr lang="en-GB" sz="1600" dirty="0"/>
                  <a:t>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, and express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in terms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. Deduce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1&lt;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GB" sz="1600" dirty="0"/>
              </a:p>
              <a:p>
                <a:pPr marL="400050" indent="-400050">
                  <a:buAutoNum type="romanLcParenBoth"/>
                </a:pPr>
                <a:endParaRPr lang="en-GB" sz="1600" dirty="0"/>
              </a:p>
              <a:p>
                <a:r>
                  <a:rPr lang="en-GB" sz="1600" b="1" dirty="0"/>
                  <a:t>Guidance for this problem on next slide.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45CA3C-3963-E133-2EBD-0F4801E46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171" y="2515130"/>
                <a:ext cx="4726317" cy="4010072"/>
              </a:xfrm>
              <a:prstGeom prst="rect">
                <a:avLst/>
              </a:prstGeom>
              <a:blipFill>
                <a:blip r:embed="rId11"/>
                <a:stretch>
                  <a:fillRect l="-644" t="-457" r="-1160" b="-12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6BE582A3-B43C-2E45-78B6-EB6378ECC403}"/>
              </a:ext>
            </a:extLst>
          </p:cNvPr>
          <p:cNvSpPr/>
          <p:nvPr/>
        </p:nvSpPr>
        <p:spPr>
          <a:xfrm>
            <a:off x="4016223" y="2623258"/>
            <a:ext cx="191387" cy="27100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324" y="3047752"/>
            <a:ext cx="6677837" cy="3600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7488" y="642268"/>
                <a:ext cx="8305576" cy="2335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[STEP I 2014 Q3] </a:t>
                </a:r>
                <a:r>
                  <a:rPr lang="en-GB" sz="1600" dirty="0"/>
                  <a:t>The numbers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1600" dirty="0"/>
                  <a:t>, are such that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trl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  <m:sup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nary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600" dirty="0"/>
              </a:p>
              <a:p>
                <a:pPr marL="400050" indent="-400050">
                  <a:buAutoNum type="romanLcParenBoth"/>
                </a:pPr>
                <a:r>
                  <a:rPr lang="en-GB" sz="1600" dirty="0"/>
                  <a:t>In the case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600" dirty="0"/>
                  <a:t>, find the value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400050" indent="-400050">
                  <a:buAutoNum type="romanLcParenBoth"/>
                </a:pPr>
                <a:r>
                  <a:rPr lang="en-GB" sz="1600" dirty="0"/>
                  <a:t>In the case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, 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 satisfies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−7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−7=0</m:t>
                    </m:r>
                  </m:oMath>
                </a14:m>
                <a:br>
                  <a:rPr lang="en-GB" sz="1600" dirty="0"/>
                </a:br>
                <a:r>
                  <a:rPr lang="en-GB" sz="1600" b="0" i="0" dirty="0">
                    <a:latin typeface="+mj-lt"/>
                  </a:rPr>
                  <a:t>Show further, with the help of a sketch, that there is only one (real) value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 that satisfies the equation and that it lies between 2 and 3.</a:t>
                </a:r>
              </a:p>
              <a:p>
                <a:pPr marL="400050" indent="-400050">
                  <a:buAutoNum type="romanLcParenBoth"/>
                </a:pPr>
                <a:r>
                  <a:rPr lang="en-GB" sz="1600" dirty="0"/>
                  <a:t>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, and express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in terms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. Deduce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1&lt;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88" y="642268"/>
                <a:ext cx="8305576" cy="2335191"/>
              </a:xfrm>
              <a:prstGeom prst="rect">
                <a:avLst/>
              </a:prstGeom>
              <a:blipFill>
                <a:blip r:embed="rId3"/>
                <a:stretch>
                  <a:fillRect l="-367" t="-15666" b="-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5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Guidance for Extension Problem 2</a:t>
              </a:r>
              <a:endParaRPr lang="en-GB" sz="3200" dirty="0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0084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8CC4482-9DC8-A482-1CF5-7BAC07371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40" y="620688"/>
            <a:ext cx="8334375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D95017B-02D2-6A56-8FDA-B6193AB14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52736"/>
            <a:ext cx="565785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F5BB7CF-C748-3FFA-47F2-C8B5359E5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696"/>
            <a:ext cx="9144000" cy="606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61751</TotalTime>
  <Words>821</Words>
  <Application>Microsoft Office PowerPoint</Application>
  <PresentationFormat>On-screen Show (4:3)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P1 Chapter 13: Integration  Negative Areas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2025-09-25T15:29:08Z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