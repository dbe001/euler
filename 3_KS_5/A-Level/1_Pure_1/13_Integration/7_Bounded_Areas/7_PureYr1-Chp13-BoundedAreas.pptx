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654" r:id="rId6"/>
    <p:sldId id="650" r:id="rId7"/>
    <p:sldId id="651" r:id="rId8"/>
    <p:sldId id="652" r:id="rId9"/>
    <p:sldId id="549" r:id="rId10"/>
    <p:sldId id="543" r:id="rId11"/>
    <p:sldId id="550" r:id="rId12"/>
    <p:sldId id="551" r:id="rId13"/>
    <p:sldId id="653" r:id="rId14"/>
    <p:sldId id="54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78D5D-8467-4B4E-90C8-D83D8A206CC5}" v="6" dt="2025-09-25T15:32:17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4DFDE64-8AFC-4BD6-AF12-53F3776891BC}"/>
    <pc:docChg chg="modSld">
      <pc:chgData name="Dieter Beaven" userId="9bbdb69f-69d0-4759-aa9b-5c090a2da237" providerId="ADAL" clId="{E4DFDE64-8AFC-4BD6-AF12-53F3776891BC}" dt="2025-04-25T15:27:38.398" v="3" actId="20577"/>
      <pc:docMkLst>
        <pc:docMk/>
      </pc:docMkLst>
      <pc:sldChg chg="modSp mod">
        <pc:chgData name="Dieter Beaven" userId="9bbdb69f-69d0-4759-aa9b-5c090a2da237" providerId="ADAL" clId="{E4DFDE64-8AFC-4BD6-AF12-53F3776891BC}" dt="2025-04-25T15:27:33.757" v="0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E4DFDE64-8AFC-4BD6-AF12-53F3776891BC}" dt="2025-04-25T15:27:38.398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29BA35D-79C6-487C-8309-DC71AAB4C877}"/>
    <pc:docChg chg="modSld">
      <pc:chgData name="Dieter Beaven" userId="9bbdb69f-69d0-4759-aa9b-5c090a2da237" providerId="ADAL" clId="{A29BA35D-79C6-487C-8309-DC71AAB4C877}" dt="2025-04-29T12:03:28.813" v="18" actId="20577"/>
      <pc:docMkLst>
        <pc:docMk/>
      </pc:docMkLst>
      <pc:sldChg chg="modSp mod">
        <pc:chgData name="Dieter Beaven" userId="9bbdb69f-69d0-4759-aa9b-5c090a2da237" providerId="ADAL" clId="{A29BA35D-79C6-487C-8309-DC71AAB4C877}" dt="2025-04-29T12:03:22.599" v="17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29BA35D-79C6-487C-8309-DC71AAB4C877}" dt="2025-04-29T12:03:28.813" v="18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9F839905-3C97-43F8-B6E2-80078212EC34}"/>
    <pc:docChg chg="addSld modSld">
      <pc:chgData name="Dieter Beaven" userId="9bbdb69f-69d0-4759-aa9b-5c090a2da237" providerId="ADAL" clId="{9F839905-3C97-43F8-B6E2-80078212EC34}" dt="2025-05-12T11:39:19.071" v="27" actId="6549"/>
      <pc:docMkLst>
        <pc:docMk/>
      </pc:docMkLst>
      <pc:sldChg chg="modSp mod">
        <pc:chgData name="Dieter Beaven" userId="9bbdb69f-69d0-4759-aa9b-5c090a2da237" providerId="ADAL" clId="{9F839905-3C97-43F8-B6E2-80078212EC34}" dt="2025-05-12T11:37:42.372" v="15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9F839905-3C97-43F8-B6E2-80078212EC34}" dt="2025-05-12T11:39:19.071" v="27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9F839905-3C97-43F8-B6E2-80078212EC34}" dt="2025-05-12T11:38:50.971" v="16"/>
        <pc:sldMkLst>
          <pc:docMk/>
          <pc:sldMk cId="2047610157" sldId="649"/>
        </pc:sldMkLst>
      </pc:sldChg>
      <pc:sldChg chg="add">
        <pc:chgData name="Dieter Beaven" userId="9bbdb69f-69d0-4759-aa9b-5c090a2da237" providerId="ADAL" clId="{9F839905-3C97-43F8-B6E2-80078212EC34}" dt="2025-05-12T11:38:50.971" v="16"/>
        <pc:sldMkLst>
          <pc:docMk/>
          <pc:sldMk cId="1299139244" sldId="650"/>
        </pc:sldMkLst>
      </pc:sldChg>
      <pc:sldChg chg="add">
        <pc:chgData name="Dieter Beaven" userId="9bbdb69f-69d0-4759-aa9b-5c090a2da237" providerId="ADAL" clId="{9F839905-3C97-43F8-B6E2-80078212EC34}" dt="2025-05-12T11:38:50.971" v="16"/>
        <pc:sldMkLst>
          <pc:docMk/>
          <pc:sldMk cId="3571971004" sldId="651"/>
        </pc:sldMkLst>
      </pc:sldChg>
      <pc:sldChg chg="add">
        <pc:chgData name="Dieter Beaven" userId="9bbdb69f-69d0-4759-aa9b-5c090a2da237" providerId="ADAL" clId="{9F839905-3C97-43F8-B6E2-80078212EC34}" dt="2025-05-12T11:38:50.971" v="16"/>
        <pc:sldMkLst>
          <pc:docMk/>
          <pc:sldMk cId="4188947681" sldId="6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9AC78D5D-8467-4B4E-90C8-D83D8A206CC5}"/>
    <pc:docChg chg="custSel addSld delSld modSld">
      <pc:chgData name="Dieter Beaven" userId="9bbdb69f-69d0-4759-aa9b-5c090a2da237" providerId="ADAL" clId="{9AC78D5D-8467-4B4E-90C8-D83D8A206CC5}" dt="2025-09-25T15:32:19.858" v="7" actId="47"/>
      <pc:docMkLst>
        <pc:docMk/>
      </pc:docMkLst>
      <pc:sldChg chg="del">
        <pc:chgData name="Dieter Beaven" userId="9bbdb69f-69d0-4759-aa9b-5c090a2da237" providerId="ADAL" clId="{9AC78D5D-8467-4B4E-90C8-D83D8A206CC5}" dt="2025-09-25T15:32:19.858" v="7" actId="47"/>
        <pc:sldMkLst>
          <pc:docMk/>
          <pc:sldMk cId="2047610157" sldId="649"/>
        </pc:sldMkLst>
      </pc:sldChg>
      <pc:sldChg chg="addSp delSp modSp add mod delAnim modAnim">
        <pc:chgData name="Dieter Beaven" userId="9bbdb69f-69d0-4759-aa9b-5c090a2da237" providerId="ADAL" clId="{9AC78D5D-8467-4B4E-90C8-D83D8A206CC5}" dt="2025-09-25T15:32:17.856" v="6"/>
        <pc:sldMkLst>
          <pc:docMk/>
          <pc:sldMk cId="1633962798" sldId="654"/>
        </pc:sldMkLst>
        <pc:spChg chg="add mod">
          <ac:chgData name="Dieter Beaven" userId="9bbdb69f-69d0-4759-aa9b-5c090a2da237" providerId="ADAL" clId="{9AC78D5D-8467-4B4E-90C8-D83D8A206CC5}" dt="2025-09-25T15:32:17.856" v="6"/>
          <ac:spMkLst>
            <pc:docMk/>
            <pc:sldMk cId="1633962798" sldId="654"/>
            <ac:spMk id="9" creationId="{EC729D74-3799-3582-F1A8-A5B8C8E5D99F}"/>
          </ac:spMkLst>
        </pc:spChg>
        <pc:spChg chg="mod">
          <ac:chgData name="Dieter Beaven" userId="9bbdb69f-69d0-4759-aa9b-5c090a2da237" providerId="ADAL" clId="{9AC78D5D-8467-4B4E-90C8-D83D8A206CC5}" dt="2025-09-25T15:32:05.937" v="5" actId="20577"/>
          <ac:spMkLst>
            <pc:docMk/>
            <pc:sldMk cId="1633962798" sldId="654"/>
            <ac:spMk id="30" creationId="{9EEE7959-2A21-28D3-CE7D-24D8BEA10A82}"/>
          </ac:spMkLst>
        </pc:spChg>
        <pc:spChg chg="del">
          <ac:chgData name="Dieter Beaven" userId="9bbdb69f-69d0-4759-aa9b-5c090a2da237" providerId="ADAL" clId="{9AC78D5D-8467-4B4E-90C8-D83D8A206CC5}" dt="2025-09-25T15:31:58.814" v="1" actId="478"/>
          <ac:spMkLst>
            <pc:docMk/>
            <pc:sldMk cId="1633962798" sldId="654"/>
            <ac:spMk id="31" creationId="{BC5BF147-EA27-AD51-B8BC-5601E5286A3B}"/>
          </ac:spMkLst>
        </pc:spChg>
      </pc:sldChg>
    </pc:docChg>
  </pc:docChgLst>
  <pc:docChgLst>
    <pc:chgData name="Dieter Beaven" userId="9bbdb69f-69d0-4759-aa9b-5c090a2da237" providerId="ADAL" clId="{5A703366-AA3B-4717-A7A9-8A1E2D74C5AD}"/>
    <pc:docChg chg="custSel addSld delSld modSld">
      <pc:chgData name="Dieter Beaven" userId="9bbdb69f-69d0-4759-aa9b-5c090a2da237" providerId="ADAL" clId="{5A703366-AA3B-4717-A7A9-8A1E2D74C5AD}" dt="2025-06-20T09:59:45.108" v="35" actId="47"/>
      <pc:docMkLst>
        <pc:docMk/>
      </pc:docMkLst>
      <pc:sldChg chg="addSp modSp mod">
        <pc:chgData name="Dieter Beaven" userId="9bbdb69f-69d0-4759-aa9b-5c090a2da237" providerId="ADAL" clId="{5A703366-AA3B-4717-A7A9-8A1E2D74C5AD}" dt="2025-06-18T14:40:50.069" v="6" actId="103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5A703366-AA3B-4717-A7A9-8A1E2D74C5AD}" dt="2025-06-20T09:59:43.982" v="34" actId="1076"/>
        <pc:sldMkLst>
          <pc:docMk/>
          <pc:sldMk cId="3458699803" sldId="545"/>
        </pc:sldMkLst>
      </pc:sldChg>
      <pc:sldChg chg="addSp modSp mod">
        <pc:chgData name="Dieter Beaven" userId="9bbdb69f-69d0-4759-aa9b-5c090a2da237" providerId="ADAL" clId="{5A703366-AA3B-4717-A7A9-8A1E2D74C5AD}" dt="2025-06-18T14:40:57.719" v="8" actId="1035"/>
        <pc:sldMkLst>
          <pc:docMk/>
          <pc:sldMk cId="4091202299" sldId="550"/>
        </pc:sldMkLst>
      </pc:sldChg>
      <pc:sldChg chg="addSp delSp modSp mod">
        <pc:chgData name="Dieter Beaven" userId="9bbdb69f-69d0-4759-aa9b-5c090a2da237" providerId="ADAL" clId="{5A703366-AA3B-4717-A7A9-8A1E2D74C5AD}" dt="2025-06-18T14:42:15.397" v="22" actId="1036"/>
        <pc:sldMkLst>
          <pc:docMk/>
          <pc:sldMk cId="3826585799" sldId="551"/>
        </pc:sldMkLst>
      </pc:sldChg>
      <pc:sldChg chg="addSp delSp del mod">
        <pc:chgData name="Dieter Beaven" userId="9bbdb69f-69d0-4759-aa9b-5c090a2da237" providerId="ADAL" clId="{5A703366-AA3B-4717-A7A9-8A1E2D74C5AD}" dt="2025-06-20T09:59:45.108" v="35" actId="47"/>
        <pc:sldMkLst>
          <pc:docMk/>
          <pc:sldMk cId="2531956736" sldId="552"/>
        </pc:sldMkLst>
      </pc:sldChg>
      <pc:sldChg chg="addSp delSp modSp add mod">
        <pc:chgData name="Dieter Beaven" userId="9bbdb69f-69d0-4759-aa9b-5c090a2da237" providerId="ADAL" clId="{5A703366-AA3B-4717-A7A9-8A1E2D74C5AD}" dt="2025-06-18T14:43:34.671" v="31" actId="1035"/>
        <pc:sldMkLst>
          <pc:docMk/>
          <pc:sldMk cId="2618567746" sldId="653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13: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/>
            </a:br>
            <a:r>
              <a:rPr lang="en-GB"/>
              <a:t>Bounded Areas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1CBE-A90B-81A9-45A8-5395C4C1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DF3623-7E58-031B-7BB5-EB21E89A7335}"/>
              </a:ext>
            </a:extLst>
          </p:cNvPr>
          <p:cNvSpPr/>
          <p:nvPr/>
        </p:nvSpPr>
        <p:spPr>
          <a:xfrm>
            <a:off x="723900" y="1003300"/>
            <a:ext cx="1670050" cy="1657350"/>
          </a:xfrm>
          <a:custGeom>
            <a:avLst/>
            <a:gdLst>
              <a:gd name="connsiteX0" fmla="*/ 0 w 1670050"/>
              <a:gd name="connsiteY0" fmla="*/ 1657350 h 1657350"/>
              <a:gd name="connsiteX1" fmla="*/ 1670050 w 1670050"/>
              <a:gd name="connsiteY1" fmla="*/ 412750 h 1657350"/>
              <a:gd name="connsiteX2" fmla="*/ 1536700 w 1670050"/>
              <a:gd name="connsiteY2" fmla="*/ 209550 h 1657350"/>
              <a:gd name="connsiteX3" fmla="*/ 1397000 w 1670050"/>
              <a:gd name="connsiteY3" fmla="*/ 76200 h 1657350"/>
              <a:gd name="connsiteX4" fmla="*/ 1282700 w 1670050"/>
              <a:gd name="connsiteY4" fmla="*/ 19050 h 1657350"/>
              <a:gd name="connsiteX5" fmla="*/ 1174750 w 1670050"/>
              <a:gd name="connsiteY5" fmla="*/ 0 h 1657350"/>
              <a:gd name="connsiteX6" fmla="*/ 1041400 w 1670050"/>
              <a:gd name="connsiteY6" fmla="*/ 50800 h 1657350"/>
              <a:gd name="connsiteX7" fmla="*/ 895350 w 1670050"/>
              <a:gd name="connsiteY7" fmla="*/ 177800 h 1657350"/>
              <a:gd name="connsiteX8" fmla="*/ 685800 w 1670050"/>
              <a:gd name="connsiteY8" fmla="*/ 419100 h 1657350"/>
              <a:gd name="connsiteX9" fmla="*/ 533400 w 1670050"/>
              <a:gd name="connsiteY9" fmla="*/ 641350 h 1657350"/>
              <a:gd name="connsiteX10" fmla="*/ 381000 w 1670050"/>
              <a:gd name="connsiteY10" fmla="*/ 920750 h 1657350"/>
              <a:gd name="connsiteX11" fmla="*/ 241300 w 1670050"/>
              <a:gd name="connsiteY11" fmla="*/ 1181100 h 1657350"/>
              <a:gd name="connsiteX12" fmla="*/ 0 w 1670050"/>
              <a:gd name="connsiteY12" fmla="*/ 1657350 h 165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0050" h="1657350">
                <a:moveTo>
                  <a:pt x="0" y="1657350"/>
                </a:moveTo>
                <a:lnTo>
                  <a:pt x="1670050" y="412750"/>
                </a:lnTo>
                <a:lnTo>
                  <a:pt x="1536700" y="209550"/>
                </a:lnTo>
                <a:lnTo>
                  <a:pt x="1397000" y="76200"/>
                </a:lnTo>
                <a:lnTo>
                  <a:pt x="1282700" y="19050"/>
                </a:lnTo>
                <a:lnTo>
                  <a:pt x="1174750" y="0"/>
                </a:lnTo>
                <a:lnTo>
                  <a:pt x="1041400" y="50800"/>
                </a:lnTo>
                <a:lnTo>
                  <a:pt x="895350" y="177800"/>
                </a:lnTo>
                <a:lnTo>
                  <a:pt x="685800" y="419100"/>
                </a:lnTo>
                <a:lnTo>
                  <a:pt x="533400" y="641350"/>
                </a:lnTo>
                <a:lnTo>
                  <a:pt x="381000" y="920750"/>
                </a:lnTo>
                <a:lnTo>
                  <a:pt x="241300" y="1181100"/>
                </a:lnTo>
                <a:lnTo>
                  <a:pt x="0" y="16573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E0198E-BEC8-9597-382E-68659A4FEBA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DD1D87F-69BB-8C68-5667-FA0EA36CC7F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Areas between curves and lines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D3E591-B4F3-4F38-DDB2-260F999A824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E1B3EB-94FE-31F2-DDB6-E0F23E393076}"/>
              </a:ext>
            </a:extLst>
          </p:cNvPr>
          <p:cNvCxnSpPr/>
          <p:nvPr/>
        </p:nvCxnSpPr>
        <p:spPr>
          <a:xfrm flipH="1" flipV="1">
            <a:off x="722288" y="1117172"/>
            <a:ext cx="11137" cy="2054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4DF2C3-E3DA-76B8-F1FC-4DE5F4C0C64F}"/>
                  </a:ext>
                </a:extLst>
              </p:cNvPr>
              <p:cNvSpPr txBox="1"/>
              <p:nvPr/>
            </p:nvSpPr>
            <p:spPr>
              <a:xfrm>
                <a:off x="2889554" y="847348"/>
                <a:ext cx="7528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54" y="847348"/>
                <a:ext cx="752805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BD1DC1-88EC-B5EE-B2F8-3454A09B1C63}"/>
              </a:ext>
            </a:extLst>
          </p:cNvPr>
          <p:cNvCxnSpPr/>
          <p:nvPr/>
        </p:nvCxnSpPr>
        <p:spPr>
          <a:xfrm>
            <a:off x="457200" y="2667000"/>
            <a:ext cx="3797424" cy="4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E2F3A1-AA95-E896-7015-B561D5C2A239}"/>
                  </a:ext>
                </a:extLst>
              </p:cNvPr>
              <p:cNvSpPr txBox="1"/>
              <p:nvPr/>
            </p:nvSpPr>
            <p:spPr>
              <a:xfrm>
                <a:off x="470260" y="731894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0" y="731894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D45F34-71BE-D4AA-375C-6319BEA79C95}"/>
              </a:ext>
            </a:extLst>
          </p:cNvPr>
          <p:cNvCxnSpPr/>
          <p:nvPr/>
        </p:nvCxnSpPr>
        <p:spPr>
          <a:xfrm flipV="1">
            <a:off x="478465" y="1020725"/>
            <a:ext cx="2456121" cy="1828801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E9E9912-1A81-A3D3-2287-9A479E9630DA}"/>
              </a:ext>
            </a:extLst>
          </p:cNvPr>
          <p:cNvSpPr/>
          <p:nvPr/>
        </p:nvSpPr>
        <p:spPr>
          <a:xfrm>
            <a:off x="533400" y="1003186"/>
            <a:ext cx="2540000" cy="2095614"/>
          </a:xfrm>
          <a:custGeom>
            <a:avLst/>
            <a:gdLst>
              <a:gd name="connsiteX0" fmla="*/ 0 w 2349500"/>
              <a:gd name="connsiteY0" fmla="*/ 1666592 h 2022192"/>
              <a:gd name="connsiteX1" fmla="*/ 1193800 w 2349500"/>
              <a:gd name="connsiteY1" fmla="*/ 2892 h 2022192"/>
              <a:gd name="connsiteX2" fmla="*/ 2349500 w 2349500"/>
              <a:gd name="connsiteY2" fmla="*/ 2022192 h 2022192"/>
              <a:gd name="connsiteX0" fmla="*/ 0 w 2540000"/>
              <a:gd name="connsiteY0" fmla="*/ 2095614 h 2095614"/>
              <a:gd name="connsiteX1" fmla="*/ 1384300 w 2540000"/>
              <a:gd name="connsiteY1" fmla="*/ 114 h 2095614"/>
              <a:gd name="connsiteX2" fmla="*/ 2540000 w 2540000"/>
              <a:gd name="connsiteY2" fmla="*/ 2019414 h 2095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40000" h="2095614">
                <a:moveTo>
                  <a:pt x="0" y="2095614"/>
                </a:moveTo>
                <a:cubicBezTo>
                  <a:pt x="401108" y="1234130"/>
                  <a:pt x="960967" y="12814"/>
                  <a:pt x="1384300" y="114"/>
                </a:cubicBezTo>
                <a:cubicBezTo>
                  <a:pt x="1807633" y="-12586"/>
                  <a:pt x="2157941" y="1039397"/>
                  <a:pt x="2540000" y="201941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CBD95E-A644-9735-7B01-4686B43111A1}"/>
                  </a:ext>
                </a:extLst>
              </p:cNvPr>
              <p:cNvSpPr txBox="1"/>
              <p:nvPr/>
            </p:nvSpPr>
            <p:spPr>
              <a:xfrm rot="18402273">
                <a:off x="4993066" y="1918260"/>
                <a:ext cx="14820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4−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402273">
                <a:off x="4993066" y="1918260"/>
                <a:ext cx="148202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FF43EA-11B4-D603-AFD8-9D36D24C2241}"/>
                  </a:ext>
                </a:extLst>
              </p:cNvPr>
              <p:cNvSpPr txBox="1"/>
              <p:nvPr/>
            </p:nvSpPr>
            <p:spPr>
              <a:xfrm>
                <a:off x="1039979" y="1243641"/>
                <a:ext cx="14820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79" y="1243641"/>
                <a:ext cx="148202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E1B7ECF-0425-CC9C-E5E3-1DDD534A4402}"/>
              </a:ext>
            </a:extLst>
          </p:cNvPr>
          <p:cNvSpPr txBox="1"/>
          <p:nvPr/>
        </p:nvSpPr>
        <p:spPr>
          <a:xfrm>
            <a:off x="4716016" y="1003186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could we find the area between the line and the curve?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1A7C84-6415-C282-5A04-640F636B4A9D}"/>
              </a:ext>
            </a:extLst>
          </p:cNvPr>
          <p:cNvCxnSpPr/>
          <p:nvPr/>
        </p:nvCxnSpPr>
        <p:spPr>
          <a:xfrm flipV="1">
            <a:off x="2381250" y="1415252"/>
            <a:ext cx="0" cy="126127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178E975-F30F-7F3D-B571-BE366E5B536E}"/>
              </a:ext>
            </a:extLst>
          </p:cNvPr>
          <p:cNvGrpSpPr/>
          <p:nvPr/>
        </p:nvGrpSpPr>
        <p:grpSpPr>
          <a:xfrm>
            <a:off x="5351921" y="1884160"/>
            <a:ext cx="1537976" cy="1220546"/>
            <a:chOff x="5245596" y="2043649"/>
            <a:chExt cx="2540000" cy="2095614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EEF320-B2D8-2A51-B60B-658DEC28B5AC}"/>
                </a:ext>
              </a:extLst>
            </p:cNvPr>
            <p:cNvSpPr/>
            <p:nvPr/>
          </p:nvSpPr>
          <p:spPr>
            <a:xfrm>
              <a:off x="5436096" y="2043763"/>
              <a:ext cx="1670050" cy="1657350"/>
            </a:xfrm>
            <a:custGeom>
              <a:avLst/>
              <a:gdLst>
                <a:gd name="connsiteX0" fmla="*/ 0 w 1670050"/>
                <a:gd name="connsiteY0" fmla="*/ 1657350 h 1657350"/>
                <a:gd name="connsiteX1" fmla="*/ 1670050 w 1670050"/>
                <a:gd name="connsiteY1" fmla="*/ 412750 h 1657350"/>
                <a:gd name="connsiteX2" fmla="*/ 1536700 w 1670050"/>
                <a:gd name="connsiteY2" fmla="*/ 209550 h 1657350"/>
                <a:gd name="connsiteX3" fmla="*/ 1397000 w 1670050"/>
                <a:gd name="connsiteY3" fmla="*/ 76200 h 1657350"/>
                <a:gd name="connsiteX4" fmla="*/ 1282700 w 1670050"/>
                <a:gd name="connsiteY4" fmla="*/ 19050 h 1657350"/>
                <a:gd name="connsiteX5" fmla="*/ 1174750 w 1670050"/>
                <a:gd name="connsiteY5" fmla="*/ 0 h 1657350"/>
                <a:gd name="connsiteX6" fmla="*/ 1041400 w 1670050"/>
                <a:gd name="connsiteY6" fmla="*/ 50800 h 1657350"/>
                <a:gd name="connsiteX7" fmla="*/ 895350 w 1670050"/>
                <a:gd name="connsiteY7" fmla="*/ 177800 h 1657350"/>
                <a:gd name="connsiteX8" fmla="*/ 685800 w 1670050"/>
                <a:gd name="connsiteY8" fmla="*/ 419100 h 1657350"/>
                <a:gd name="connsiteX9" fmla="*/ 533400 w 1670050"/>
                <a:gd name="connsiteY9" fmla="*/ 641350 h 1657350"/>
                <a:gd name="connsiteX10" fmla="*/ 381000 w 1670050"/>
                <a:gd name="connsiteY10" fmla="*/ 920750 h 1657350"/>
                <a:gd name="connsiteX11" fmla="*/ 241300 w 1670050"/>
                <a:gd name="connsiteY11" fmla="*/ 1181100 h 1657350"/>
                <a:gd name="connsiteX12" fmla="*/ 0 w 1670050"/>
                <a:gd name="connsiteY12" fmla="*/ 165735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0050" h="1657350">
                  <a:moveTo>
                    <a:pt x="0" y="1657350"/>
                  </a:moveTo>
                  <a:lnTo>
                    <a:pt x="1670050" y="412750"/>
                  </a:lnTo>
                  <a:lnTo>
                    <a:pt x="1536700" y="209550"/>
                  </a:lnTo>
                  <a:lnTo>
                    <a:pt x="1397000" y="76200"/>
                  </a:lnTo>
                  <a:lnTo>
                    <a:pt x="1282700" y="19050"/>
                  </a:lnTo>
                  <a:lnTo>
                    <a:pt x="1174750" y="0"/>
                  </a:lnTo>
                  <a:lnTo>
                    <a:pt x="1041400" y="50800"/>
                  </a:lnTo>
                  <a:lnTo>
                    <a:pt x="895350" y="177800"/>
                  </a:lnTo>
                  <a:lnTo>
                    <a:pt x="685800" y="419100"/>
                  </a:lnTo>
                  <a:lnTo>
                    <a:pt x="533400" y="641350"/>
                  </a:lnTo>
                  <a:lnTo>
                    <a:pt x="381000" y="920750"/>
                  </a:lnTo>
                  <a:lnTo>
                    <a:pt x="241300" y="1181100"/>
                  </a:lnTo>
                  <a:lnTo>
                    <a:pt x="0" y="16573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7D79F0E-7F2C-7878-C9E2-F3D85575B62F}"/>
                </a:ext>
              </a:extLst>
            </p:cNvPr>
            <p:cNvSpPr/>
            <p:nvPr/>
          </p:nvSpPr>
          <p:spPr>
            <a:xfrm>
              <a:off x="5245596" y="2043649"/>
              <a:ext cx="2540000" cy="2095614"/>
            </a:xfrm>
            <a:custGeom>
              <a:avLst/>
              <a:gdLst>
                <a:gd name="connsiteX0" fmla="*/ 0 w 2349500"/>
                <a:gd name="connsiteY0" fmla="*/ 1666592 h 2022192"/>
                <a:gd name="connsiteX1" fmla="*/ 1193800 w 2349500"/>
                <a:gd name="connsiteY1" fmla="*/ 2892 h 2022192"/>
                <a:gd name="connsiteX2" fmla="*/ 2349500 w 2349500"/>
                <a:gd name="connsiteY2" fmla="*/ 2022192 h 2022192"/>
                <a:gd name="connsiteX0" fmla="*/ 0 w 2540000"/>
                <a:gd name="connsiteY0" fmla="*/ 2095614 h 2095614"/>
                <a:gd name="connsiteX1" fmla="*/ 1384300 w 2540000"/>
                <a:gd name="connsiteY1" fmla="*/ 114 h 2095614"/>
                <a:gd name="connsiteX2" fmla="*/ 2540000 w 2540000"/>
                <a:gd name="connsiteY2" fmla="*/ 2019414 h 209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40000" h="2095614">
                  <a:moveTo>
                    <a:pt x="0" y="2095614"/>
                  </a:moveTo>
                  <a:cubicBezTo>
                    <a:pt x="401108" y="1234130"/>
                    <a:pt x="960967" y="12814"/>
                    <a:pt x="1384300" y="114"/>
                  </a:cubicBezTo>
                  <a:cubicBezTo>
                    <a:pt x="1807633" y="-12586"/>
                    <a:pt x="2157941" y="1039397"/>
                    <a:pt x="2540000" y="20194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4AEB51-D710-2920-B8A2-83359F028374}"/>
              </a:ext>
            </a:extLst>
          </p:cNvPr>
          <p:cNvCxnSpPr/>
          <p:nvPr/>
        </p:nvCxnSpPr>
        <p:spPr>
          <a:xfrm flipV="1">
            <a:off x="5129219" y="2775098"/>
            <a:ext cx="1824474" cy="27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6965B45D-EC5D-4363-9573-4D43273A0069}"/>
              </a:ext>
            </a:extLst>
          </p:cNvPr>
          <p:cNvSpPr/>
          <p:nvPr/>
        </p:nvSpPr>
        <p:spPr>
          <a:xfrm flipH="1">
            <a:off x="5516880" y="2118360"/>
            <a:ext cx="944880" cy="666855"/>
          </a:xfrm>
          <a:prstGeom prst="rtTriangl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6F3A1FB-8069-2B6B-181A-336B58169BF2}"/>
                  </a:ext>
                </a:extLst>
              </p:cNvPr>
              <p:cNvSpPr txBox="1"/>
              <p:nvPr/>
            </p:nvSpPr>
            <p:spPr>
              <a:xfrm>
                <a:off x="6869873" y="1634605"/>
                <a:ext cx="2121727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Start with the area under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1400" b="1" dirty="0"/>
                  <a:t> up to the point of intersection, then subtract the area of the triangle to ‘cut it out’.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873" y="1634605"/>
                <a:ext cx="2121727" cy="1169551"/>
              </a:xfrm>
              <a:prstGeom prst="rect">
                <a:avLst/>
              </a:prstGeom>
              <a:blipFill>
                <a:blip r:embed="rId6"/>
                <a:stretch>
                  <a:fillRect l="-862" t="-1042" r="-2299" b="-46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9EEE7959-2A21-28D3-CE7D-24D8BEA10A82}"/>
              </a:ext>
            </a:extLst>
          </p:cNvPr>
          <p:cNvSpPr/>
          <p:nvPr/>
        </p:nvSpPr>
        <p:spPr>
          <a:xfrm>
            <a:off x="7134225" y="2887614"/>
            <a:ext cx="1609725" cy="63663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Click for </a:t>
            </a:r>
          </a:p>
          <a:p>
            <a:pPr algn="ctr"/>
            <a:r>
              <a:rPr lang="en-GB" sz="1400" dirty="0"/>
              <a:t>animation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494272-4287-DE20-79FE-7CF247708CB5}"/>
                  </a:ext>
                </a:extLst>
              </p:cNvPr>
              <p:cNvSpPr txBox="1"/>
              <p:nvPr/>
            </p:nvSpPr>
            <p:spPr>
              <a:xfrm>
                <a:off x="518629" y="3805230"/>
                <a:ext cx="768239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area between the lines with equations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29" y="3805230"/>
                <a:ext cx="7682396" cy="369332"/>
              </a:xfrm>
              <a:prstGeom prst="rect">
                <a:avLst/>
              </a:prstGeom>
              <a:blipFill>
                <a:blip r:embed="rId7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3EA616-C438-65D5-B122-171029D40EEE}"/>
                  </a:ext>
                </a:extLst>
              </p:cNvPr>
              <p:cNvSpPr txBox="1"/>
              <p:nvPr/>
            </p:nvSpPr>
            <p:spPr>
              <a:xfrm>
                <a:off x="874688" y="4245471"/>
                <a:ext cx="3705696" cy="2491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Find point of intersection: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4−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400" dirty="0"/>
              </a:p>
              <a:p>
                <a:endParaRPr lang="en-GB" sz="300" dirty="0"/>
              </a:p>
              <a:p>
                <a:r>
                  <a:rPr lang="en-GB" sz="1400" dirty="0"/>
                  <a:t>Area under curve: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Area of triangle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×3×3=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400" dirty="0"/>
              </a:p>
              <a:p>
                <a:endParaRPr lang="en-GB" sz="500" dirty="0"/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1400" dirty="0"/>
                  <a:t> Shaded area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=9−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88" y="4245471"/>
                <a:ext cx="3705696" cy="2491195"/>
              </a:xfrm>
              <a:prstGeom prst="rect">
                <a:avLst/>
              </a:prstGeom>
              <a:blipFill>
                <a:blip r:embed="rId8"/>
                <a:stretch>
                  <a:fillRect l="-493" t="-2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096E6FB8-6BDE-A33D-8418-4E2F936BC805}"/>
              </a:ext>
            </a:extLst>
          </p:cNvPr>
          <p:cNvSpPr/>
          <p:nvPr/>
        </p:nvSpPr>
        <p:spPr>
          <a:xfrm>
            <a:off x="503771" y="4174561"/>
            <a:ext cx="7697254" cy="25557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29D74-3799-3582-F1A8-A5B8C8E5D99F}"/>
              </a:ext>
            </a:extLst>
          </p:cNvPr>
          <p:cNvSpPr/>
          <p:nvPr/>
        </p:nvSpPr>
        <p:spPr>
          <a:xfrm>
            <a:off x="4741515" y="1625725"/>
            <a:ext cx="4192935" cy="20128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396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28" grpId="0" animBg="1"/>
      <p:bldP spid="35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 Harder One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/>
          <p:cNvCxnSpPr/>
          <p:nvPr/>
        </p:nvCxnSpPr>
        <p:spPr>
          <a:xfrm flipV="1">
            <a:off x="1640114" y="1476467"/>
            <a:ext cx="2953" cy="25004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9009" y="3470717"/>
            <a:ext cx="3756248" cy="272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774966" y="1678901"/>
            <a:ext cx="3941050" cy="2110139"/>
            <a:chOff x="774966" y="1678901"/>
            <a:chExt cx="7037394" cy="4469958"/>
          </a:xfrm>
        </p:grpSpPr>
        <p:sp>
          <p:nvSpPr>
            <p:cNvPr id="5" name="Freeform 1"/>
            <p:cNvSpPr/>
            <p:nvPr/>
          </p:nvSpPr>
          <p:spPr>
            <a:xfrm>
              <a:off x="2357602" y="3299791"/>
              <a:ext cx="4094922" cy="2226366"/>
            </a:xfrm>
            <a:custGeom>
              <a:avLst/>
              <a:gdLst>
                <a:gd name="connsiteX0" fmla="*/ 0 w 4094922"/>
                <a:gd name="connsiteY0" fmla="*/ 2218414 h 2226366"/>
                <a:gd name="connsiteX1" fmla="*/ 2536467 w 4094922"/>
                <a:gd name="connsiteY1" fmla="*/ 2226366 h 2226366"/>
                <a:gd name="connsiteX2" fmla="*/ 2830665 w 4094922"/>
                <a:gd name="connsiteY2" fmla="*/ 1876508 h 2226366"/>
                <a:gd name="connsiteX3" fmla="*/ 3108960 w 4094922"/>
                <a:gd name="connsiteY3" fmla="*/ 1478943 h 2226366"/>
                <a:gd name="connsiteX4" fmla="*/ 3530380 w 4094922"/>
                <a:gd name="connsiteY4" fmla="*/ 898498 h 2226366"/>
                <a:gd name="connsiteX5" fmla="*/ 4094922 w 4094922"/>
                <a:gd name="connsiteY5" fmla="*/ 0 h 2226366"/>
                <a:gd name="connsiteX6" fmla="*/ 0 w 4094922"/>
                <a:gd name="connsiteY6" fmla="*/ 2218414 h 222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4922" h="2226366">
                  <a:moveTo>
                    <a:pt x="0" y="2218414"/>
                  </a:moveTo>
                  <a:lnTo>
                    <a:pt x="2536467" y="2226366"/>
                  </a:lnTo>
                  <a:lnTo>
                    <a:pt x="2830665" y="1876508"/>
                  </a:lnTo>
                  <a:lnTo>
                    <a:pt x="3108960" y="1478943"/>
                  </a:lnTo>
                  <a:lnTo>
                    <a:pt x="3530380" y="898498"/>
                  </a:lnTo>
                  <a:lnTo>
                    <a:pt x="4094922" y="0"/>
                  </a:lnTo>
                  <a:lnTo>
                    <a:pt x="0" y="2218414"/>
                  </a:lnTo>
                  <a:close/>
                </a:path>
              </a:pathLst>
            </a:cu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Freeform 4"/>
            <p:cNvSpPr/>
            <p:nvPr/>
          </p:nvSpPr>
          <p:spPr>
            <a:xfrm rot="10800000">
              <a:off x="774966" y="1678901"/>
              <a:ext cx="6624736" cy="4469958"/>
            </a:xfrm>
            <a:custGeom>
              <a:avLst/>
              <a:gdLst>
                <a:gd name="connsiteX0" fmla="*/ 0 w 4659465"/>
                <a:gd name="connsiteY0" fmla="*/ 4438153 h 4469958"/>
                <a:gd name="connsiteX1" fmla="*/ 842838 w 4659465"/>
                <a:gd name="connsiteY1" fmla="*/ 2474181 h 4469958"/>
                <a:gd name="connsiteX2" fmla="*/ 1693628 w 4659465"/>
                <a:gd name="connsiteY2" fmla="*/ 748748 h 4469958"/>
                <a:gd name="connsiteX3" fmla="*/ 2409245 w 4659465"/>
                <a:gd name="connsiteY3" fmla="*/ 80838 h 4469958"/>
                <a:gd name="connsiteX4" fmla="*/ 3252084 w 4659465"/>
                <a:gd name="connsiteY4" fmla="*/ 263718 h 4469958"/>
                <a:gd name="connsiteX5" fmla="*/ 3864334 w 4659465"/>
                <a:gd name="connsiteY5" fmla="*/ 1329193 h 4469958"/>
                <a:gd name="connsiteX6" fmla="*/ 4301656 w 4659465"/>
                <a:gd name="connsiteY6" fmla="*/ 2736574 h 4469958"/>
                <a:gd name="connsiteX7" fmla="*/ 4659465 w 4659465"/>
                <a:gd name="connsiteY7" fmla="*/ 4469958 h 446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59465" h="4469958">
                  <a:moveTo>
                    <a:pt x="0" y="4438153"/>
                  </a:moveTo>
                  <a:cubicBezTo>
                    <a:pt x="280283" y="3763617"/>
                    <a:pt x="560567" y="3089082"/>
                    <a:pt x="842838" y="2474181"/>
                  </a:cubicBezTo>
                  <a:cubicBezTo>
                    <a:pt x="1125109" y="1859280"/>
                    <a:pt x="1432560" y="1147638"/>
                    <a:pt x="1693628" y="748748"/>
                  </a:cubicBezTo>
                  <a:cubicBezTo>
                    <a:pt x="1954696" y="349858"/>
                    <a:pt x="2149502" y="161676"/>
                    <a:pt x="2409245" y="80838"/>
                  </a:cubicBezTo>
                  <a:cubicBezTo>
                    <a:pt x="2668988" y="0"/>
                    <a:pt x="3009569" y="55659"/>
                    <a:pt x="3252084" y="263718"/>
                  </a:cubicBezTo>
                  <a:cubicBezTo>
                    <a:pt x="3494599" y="471777"/>
                    <a:pt x="3689405" y="917050"/>
                    <a:pt x="3864334" y="1329193"/>
                  </a:cubicBezTo>
                  <a:cubicBezTo>
                    <a:pt x="4039263" y="1741336"/>
                    <a:pt x="4169134" y="2213113"/>
                    <a:pt x="4301656" y="2736574"/>
                  </a:cubicBezTo>
                  <a:cubicBezTo>
                    <a:pt x="4434178" y="3260035"/>
                    <a:pt x="4546821" y="3864996"/>
                    <a:pt x="4659465" y="4469958"/>
                  </a:cubicBezTo>
                </a:path>
              </a:pathLst>
            </a:cu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/>
            <p:cNvCxnSpPr/>
            <p:nvPr/>
          </p:nvCxnSpPr>
          <p:spPr>
            <a:xfrm flipV="1">
              <a:off x="1562472" y="2564904"/>
              <a:ext cx="6249888" cy="3350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 rot="20336514">
                <a:off x="2103511" y="2578348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36514">
                <a:off x="2103511" y="2578348"/>
                <a:ext cx="136815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287016" y="3464024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016" y="3464024"/>
                <a:ext cx="5760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H="1">
            <a:off x="3898900" y="2459484"/>
            <a:ext cx="30708" cy="104571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616676" y="213113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676" y="2131135"/>
                <a:ext cx="5760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45807" y="341172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807" y="3411725"/>
                <a:ext cx="5760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610868" y="3487308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868" y="3487308"/>
                <a:ext cx="5760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4118566">
                <a:off x="392970" y="2140606"/>
                <a:ext cx="17546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8566">
                <a:off x="392970" y="2140606"/>
                <a:ext cx="17546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112060" y="1052736"/>
                <a:ext cx="3276364" cy="17543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diagram shows a sketch of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r>
                  <a:rPr lang="en-GB" dirty="0"/>
                  <a:t> and the line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Find the area of the shaded region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𝑂𝐴𝐶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60" y="1052736"/>
                <a:ext cx="3276364" cy="17543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750172" y="3020442"/>
                <a:ext cx="407449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What areas should we subtract this time?</a:t>
                </a:r>
              </a:p>
              <a:p>
                <a:r>
                  <a:rPr lang="en-GB" b="1" dirty="0"/>
                  <a:t>Start with triangle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𝑶𝑩𝑪</m:t>
                    </m:r>
                  </m:oMath>
                </a14:m>
                <a:r>
                  <a:rPr lang="en-GB" b="1" dirty="0"/>
                  <a:t> and subtract the area under the curve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172" y="3020442"/>
                <a:ext cx="4074492" cy="923330"/>
              </a:xfrm>
              <a:prstGeom prst="rect">
                <a:avLst/>
              </a:prstGeom>
              <a:blipFill>
                <a:blip r:embed="rId9"/>
                <a:stretch>
                  <a:fillRect l="-1196" t="-3289" r="-1644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339900" y="4073004"/>
                <a:ext cx="4536504" cy="2666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First find points of intersection: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→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    →  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</m:d>
                  </m:oMath>
                </a14:m>
                <a:endParaRPr lang="en-GB" sz="1600" b="1" dirty="0"/>
              </a:p>
              <a:p>
                <a:r>
                  <a:rPr lang="en-GB" sz="1600" b="1" dirty="0"/>
                  <a:t>Also need to find the point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sz="16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→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endParaRPr lang="en-GB" sz="1600" b="1" dirty="0"/>
              </a:p>
              <a:p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1600" b="1" dirty="0"/>
                  <a:t> Area of triangle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𝑶𝑩𝑪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Area under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r>
                  <a:rPr lang="en-GB" sz="1600" b="1" dirty="0"/>
                  <a:t>: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 …=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𝟐𝟔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sz="1600" b="1" dirty="0"/>
              </a:p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b="1" dirty="0"/>
                  <a:t> Shaded area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𝟐𝟔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𝟒𝟗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900" y="4073004"/>
                <a:ext cx="4536504" cy="2666756"/>
              </a:xfrm>
              <a:prstGeom prst="rect">
                <a:avLst/>
              </a:prstGeom>
              <a:blipFill>
                <a:blip r:embed="rId10"/>
                <a:stretch>
                  <a:fillRect l="-806" t="-685" b="-10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4807024" y="3376099"/>
            <a:ext cx="3968676" cy="5863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0800" y="4099992"/>
            <a:ext cx="4267200" cy="26691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913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8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251520" y="806157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2012 Q5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75489"/>
            <a:ext cx="8640960" cy="25771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33376" y="4541705"/>
                <a:ext cx="223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2,8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9,1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76" y="4541705"/>
                <a:ext cx="2232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6251" y="5067783"/>
                <a:ext cx="1656308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57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343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51" y="5067783"/>
                <a:ext cx="1656308" cy="485774"/>
              </a:xfrm>
              <a:prstGeom prst="rect">
                <a:avLst/>
              </a:prstGeom>
              <a:blipFill>
                <a:blip r:embed="rId4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939874" y="4395275"/>
            <a:ext cx="3079676" cy="5196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3376" y="5000461"/>
            <a:ext cx="3079676" cy="5196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06379" y="4006205"/>
                <a:ext cx="3432821" cy="244156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Alternative Method:</a:t>
                </a:r>
              </a:p>
              <a:p>
                <a:r>
                  <a:rPr lang="en-GB" sz="1600" dirty="0"/>
                  <a:t>If the top curve has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and the bottom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, the area between them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This means you can integrate a single expression to get the final area, without any adjustment required after.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379" y="4006205"/>
                <a:ext cx="3432821" cy="2441566"/>
              </a:xfrm>
              <a:prstGeom prst="rect">
                <a:avLst/>
              </a:prstGeom>
              <a:blipFill>
                <a:blip r:embed="rId5"/>
                <a:stretch>
                  <a:fillRect l="-705" t="-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81675" y="4425591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685" y="5010212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7197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13G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79422" y="6242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Pages 304-306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449431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4908" y="150986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9164" y="1828180"/>
                <a:ext cx="4414136" cy="326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2005 1A] </a:t>
                </a:r>
                <a:r>
                  <a:rPr lang="en-GB" sz="1600" dirty="0"/>
                  <a:t>What is the area of the region bounded by the curves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  <a:p>
                <a:endParaRPr lang="en-GB" sz="1600" dirty="0"/>
              </a:p>
              <a:p>
                <a:r>
                  <a:rPr lang="en-GB" sz="1600" i="1" dirty="0"/>
                  <a:t>[MAT 2016 1H] </a:t>
                </a:r>
                <a:r>
                  <a:rPr lang="en-GB" sz="1600" dirty="0"/>
                  <a:t>Consider two functions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For precisely which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 is the area of the region bounded by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bigger than the area of the region bounded by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?</a:t>
                </a:r>
              </a:p>
              <a:p>
                <a:r>
                  <a:rPr lang="en-GB" sz="1600" i="1" dirty="0"/>
                  <a:t>(Your answer should be an inequality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i="1" dirty="0"/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64" y="1828180"/>
                <a:ext cx="4414136" cy="3261790"/>
              </a:xfrm>
              <a:prstGeom prst="rect">
                <a:avLst/>
              </a:prstGeom>
              <a:blipFill>
                <a:blip r:embed="rId2"/>
                <a:stretch>
                  <a:fillRect l="-690" t="-561" b="-14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73960" y="1921373"/>
            <a:ext cx="191387" cy="2710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960" y="3090472"/>
            <a:ext cx="191387" cy="2710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08104" y="1828180"/>
                <a:ext cx="3419996" cy="4624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(Official solution)</a:t>
                </a:r>
              </a:p>
              <a:p>
                <a:r>
                  <a:rPr lang="en-GB" sz="1600" b="1" dirty="0"/>
                  <a:t>The area bounded by the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1600" b="1" dirty="0"/>
                  <a:t> is equal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sub>
                        <m:sup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sup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whilst the area bounded by the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1600" b="1" dirty="0"/>
                  <a:t> is equal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600" b="1" i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g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rad>
                            </m:sub>
                            <m:sup>
                              <m:rad>
                                <m:ra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g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rad>
                            </m:sup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e>
                          </m:nary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We require an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1600" b="1" dirty="0"/>
                  <a:t> so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and so the answer is (e).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1828180"/>
                <a:ext cx="3419996" cy="4624407"/>
              </a:xfrm>
              <a:prstGeom prst="rect">
                <a:avLst/>
              </a:prstGeom>
              <a:blipFill>
                <a:blip r:embed="rId3"/>
                <a:stretch>
                  <a:fillRect l="-1070" t="-396" r="-535" b="-7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5364088" y="1702981"/>
            <a:ext cx="3564012" cy="48943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9293" y="2400549"/>
            <a:ext cx="2730877" cy="5458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1</a:t>
            </a:r>
          </a:p>
        </p:txBody>
      </p:sp>
    </p:spTree>
    <p:extLst>
      <p:ext uri="{BB962C8B-B14F-4D97-AF65-F5344CB8AC3E}">
        <p14:creationId xmlns:p14="http://schemas.microsoft.com/office/powerpoint/2010/main" val="41889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12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13.7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110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74EAA6-2CD5-4855-6032-4D9A21B820C1}"/>
              </a:ext>
            </a:extLst>
          </p:cNvPr>
          <p:cNvSpPr txBox="1"/>
          <p:nvPr/>
        </p:nvSpPr>
        <p:spPr>
          <a:xfrm>
            <a:off x="264908" y="1937130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91C98D-1315-42AB-F951-1C6B60114A77}"/>
                  </a:ext>
                </a:extLst>
              </p:cNvPr>
              <p:cNvSpPr txBox="1"/>
              <p:nvPr/>
            </p:nvSpPr>
            <p:spPr>
              <a:xfrm>
                <a:off x="399164" y="2255442"/>
                <a:ext cx="4414136" cy="326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2005 1A] </a:t>
                </a:r>
                <a:r>
                  <a:rPr lang="en-GB" sz="1600" dirty="0"/>
                  <a:t>What is the area of the region bounded by the curves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  <a:p>
                <a:endParaRPr lang="en-GB" sz="1600" dirty="0"/>
              </a:p>
              <a:p>
                <a:r>
                  <a:rPr lang="en-GB" sz="1600" i="1" dirty="0"/>
                  <a:t>[MAT 2016 1H] </a:t>
                </a:r>
                <a:r>
                  <a:rPr lang="en-GB" sz="1600" dirty="0"/>
                  <a:t>Consider two functions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For precisely which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 is the area of the region bounded by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bigger than the area of the region bounded by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?</a:t>
                </a:r>
              </a:p>
              <a:p>
                <a:r>
                  <a:rPr lang="en-GB" sz="1600" i="1" dirty="0"/>
                  <a:t>(Your answer should be an inequality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i="1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91C98D-1315-42AB-F951-1C6B60114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64" y="2255442"/>
                <a:ext cx="4414136" cy="3261790"/>
              </a:xfrm>
              <a:prstGeom prst="rect">
                <a:avLst/>
              </a:prstGeom>
              <a:blipFill>
                <a:blip r:embed="rId2"/>
                <a:stretch>
                  <a:fillRect l="-690" t="-561" b="-14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AF974D3-29F1-8662-4AB3-55AD3B7D0E3E}"/>
              </a:ext>
            </a:extLst>
          </p:cNvPr>
          <p:cNvSpPr/>
          <p:nvPr/>
        </p:nvSpPr>
        <p:spPr>
          <a:xfrm>
            <a:off x="173960" y="2348635"/>
            <a:ext cx="191387" cy="2710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DB6C8-F80D-0138-1D73-D9FB5310BA89}"/>
              </a:ext>
            </a:extLst>
          </p:cNvPr>
          <p:cNvSpPr/>
          <p:nvPr/>
        </p:nvSpPr>
        <p:spPr>
          <a:xfrm>
            <a:off x="173960" y="3517734"/>
            <a:ext cx="191387" cy="2710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95F7C4-C947-8F14-A6CC-337099AF6AF6}"/>
                  </a:ext>
                </a:extLst>
              </p:cNvPr>
              <p:cNvSpPr txBox="1"/>
              <p:nvPr/>
            </p:nvSpPr>
            <p:spPr>
              <a:xfrm>
                <a:off x="5508104" y="2044204"/>
                <a:ext cx="3419996" cy="4624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(Official solution)</a:t>
                </a:r>
              </a:p>
              <a:p>
                <a:r>
                  <a:rPr lang="en-GB" sz="1600" b="1" dirty="0"/>
                  <a:t>The area bounded by the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sz="1600" b="1" dirty="0"/>
                  <a:t> is equal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sub>
                        <m:sup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rad>
                        </m:sup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whilst the area bounded by the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-axis and the curve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1600" b="1" dirty="0"/>
                  <a:t> is equal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600" b="1" i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g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rad>
                            </m:sub>
                            <m:sup>
                              <m:rad>
                                <m:ra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g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rad>
                            </m:sup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e>
                          </m:nary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We require an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sz="1600" b="1" dirty="0"/>
                  <a:t> so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and so the answer is (e).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95F7C4-C947-8F14-A6CC-337099AF6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044204"/>
                <a:ext cx="3419996" cy="4624407"/>
              </a:xfrm>
              <a:prstGeom prst="rect">
                <a:avLst/>
              </a:prstGeom>
              <a:blipFill>
                <a:blip r:embed="rId3"/>
                <a:stretch>
                  <a:fillRect l="-1070" t="-395" r="-535" b="-6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A7914A8-1728-5C67-81C2-7427F8315496}"/>
              </a:ext>
            </a:extLst>
          </p:cNvPr>
          <p:cNvSpPr/>
          <p:nvPr/>
        </p:nvSpPr>
        <p:spPr>
          <a:xfrm>
            <a:off x="5364088" y="1919005"/>
            <a:ext cx="3564012" cy="48943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795E37-D183-E80E-6EF4-F2A2493AD364}"/>
              </a:ext>
            </a:extLst>
          </p:cNvPr>
          <p:cNvSpPr/>
          <p:nvPr/>
        </p:nvSpPr>
        <p:spPr>
          <a:xfrm>
            <a:off x="999293" y="2827811"/>
            <a:ext cx="2730877" cy="5458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1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20F75C1-5134-03AD-FA3A-333C9D57B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3" y="824061"/>
            <a:ext cx="824865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208B749-D985-119B-097C-88B48F61C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82296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8E788E2-6DB5-562F-5DF3-E83CC046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782910"/>
            <a:ext cx="79152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2E92-41AA-6A69-C6FE-26F8FFDB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CB7A721-3962-77C0-662F-6A28D119CF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AA49191-29F4-E57D-6F76-E7D1C4CECCE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DB15C4-A6CA-6BFB-26B6-A62BD8B7AB9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37F9A7A-2DC2-E8FE-DC36-424823BA5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81" y="836712"/>
            <a:ext cx="806767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FF8D0B1-D2D8-DFA9-79A9-40A2E5F86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1" y="1196752"/>
            <a:ext cx="38385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804</Words>
  <Application>Microsoft Office PowerPoint</Application>
  <PresentationFormat>On-screen Show (4:3)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P1 Chapter 13: Integration  Bounded Areas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2025-09-25T15:32:26Z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