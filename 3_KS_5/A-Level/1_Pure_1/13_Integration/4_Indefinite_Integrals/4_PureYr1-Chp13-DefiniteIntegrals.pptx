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47" r:id="rId5"/>
    <p:sldId id="636" r:id="rId6"/>
    <p:sldId id="637" r:id="rId7"/>
    <p:sldId id="638" r:id="rId8"/>
    <p:sldId id="549" r:id="rId9"/>
    <p:sldId id="543" r:id="rId10"/>
    <p:sldId id="550" r:id="rId11"/>
    <p:sldId id="54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23700-E6B2-4052-821C-6A11D27D937E}" v="9" dt="2025-09-25T15:23:40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4DFDE64-8AFC-4BD6-AF12-53F3776891BC}"/>
    <pc:docChg chg="modSld">
      <pc:chgData name="Dieter Beaven" userId="9bbdb69f-69d0-4759-aa9b-5c090a2da237" providerId="ADAL" clId="{E4DFDE64-8AFC-4BD6-AF12-53F3776891BC}" dt="2025-04-25T15:27:38.398" v="3" actId="20577"/>
      <pc:docMkLst>
        <pc:docMk/>
      </pc:docMkLst>
      <pc:sldChg chg="modSp mod">
        <pc:chgData name="Dieter Beaven" userId="9bbdb69f-69d0-4759-aa9b-5c090a2da237" providerId="ADAL" clId="{E4DFDE64-8AFC-4BD6-AF12-53F3776891BC}" dt="2025-04-25T15:27:33.757" v="0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E4DFDE64-8AFC-4BD6-AF12-53F3776891BC}" dt="2025-04-25T15:27:38.398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A29BA35D-79C6-487C-8309-DC71AAB4C877}"/>
    <pc:docChg chg="modSld">
      <pc:chgData name="Dieter Beaven" userId="9bbdb69f-69d0-4759-aa9b-5c090a2da237" providerId="ADAL" clId="{A29BA35D-79C6-487C-8309-DC71AAB4C877}" dt="2025-04-29T12:03:28.813" v="18" actId="20577"/>
      <pc:docMkLst>
        <pc:docMk/>
      </pc:docMkLst>
      <pc:sldChg chg="modSp mod">
        <pc:chgData name="Dieter Beaven" userId="9bbdb69f-69d0-4759-aa9b-5c090a2da237" providerId="ADAL" clId="{A29BA35D-79C6-487C-8309-DC71AAB4C877}" dt="2025-04-29T12:03:22.599" v="17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29BA35D-79C6-487C-8309-DC71AAB4C877}" dt="2025-04-29T12:03:28.813" v="18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060E9881-C3B8-4BC2-91ED-74881CE1A543}"/>
    <pc:docChg chg="custSel delSld modSld">
      <pc:chgData name="Dieter Beaven" userId="9bbdb69f-69d0-4759-aa9b-5c090a2da237" providerId="ADAL" clId="{060E9881-C3B8-4BC2-91ED-74881CE1A543}" dt="2025-06-20T09:56:31.332" v="9" actId="47"/>
      <pc:docMkLst>
        <pc:docMk/>
      </pc:docMkLst>
      <pc:sldChg chg="addSp delSp modSp mod">
        <pc:chgData name="Dieter Beaven" userId="9bbdb69f-69d0-4759-aa9b-5c090a2da237" providerId="ADAL" clId="{060E9881-C3B8-4BC2-91ED-74881CE1A543}" dt="2025-06-18T14:30:15.148" v="5" actId="22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060E9881-C3B8-4BC2-91ED-74881CE1A543}" dt="2025-06-20T09:56:29.247" v="8" actId="1076"/>
        <pc:sldMkLst>
          <pc:docMk/>
          <pc:sldMk cId="3458699803" sldId="545"/>
        </pc:sldMkLst>
      </pc:sldChg>
      <pc:sldChg chg="addSp modSp mod">
        <pc:chgData name="Dieter Beaven" userId="9bbdb69f-69d0-4759-aa9b-5c090a2da237" providerId="ADAL" clId="{060E9881-C3B8-4BC2-91ED-74881CE1A543}" dt="2025-06-18T14:29:54.349" v="3" actId="107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060E9881-C3B8-4BC2-91ED-74881CE1A543}" dt="2025-06-18T14:30:23.292" v="6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060E9881-C3B8-4BC2-91ED-74881CE1A543}" dt="2025-06-20T09:56:31.332" v="9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5123700-E6B2-4052-821C-6A11D27D937E}"/>
    <pc:docChg chg="custSel delSld modSld">
      <pc:chgData name="Dieter Beaven" userId="9bbdb69f-69d0-4759-aa9b-5c090a2da237" providerId="ADAL" clId="{25123700-E6B2-4052-821C-6A11D27D937E}" dt="2025-09-25T15:23:46.003" v="25" actId="47"/>
      <pc:docMkLst>
        <pc:docMk/>
      </pc:docMkLst>
      <pc:sldChg chg="delSp modSp mod">
        <pc:chgData name="Dieter Beaven" userId="9bbdb69f-69d0-4759-aa9b-5c090a2da237" providerId="ADAL" clId="{25123700-E6B2-4052-821C-6A11D27D937E}" dt="2025-09-25T15:23:13.550" v="15" actId="1076"/>
        <pc:sldMkLst>
          <pc:docMk/>
          <pc:sldMk cId="1723936360" sldId="637"/>
        </pc:sldMkLst>
        <pc:spChg chg="mod">
          <ac:chgData name="Dieter Beaven" userId="9bbdb69f-69d0-4759-aa9b-5c090a2da237" providerId="ADAL" clId="{25123700-E6B2-4052-821C-6A11D27D937E}" dt="2025-09-25T15:23:13.550" v="15" actId="1076"/>
          <ac:spMkLst>
            <pc:docMk/>
            <pc:sldMk cId="1723936360" sldId="637"/>
            <ac:spMk id="18" creationId="{00000000-0000-0000-0000-000000000000}"/>
          </ac:spMkLst>
        </pc:spChg>
        <pc:picChg chg="del">
          <ac:chgData name="Dieter Beaven" userId="9bbdb69f-69d0-4759-aa9b-5c090a2da237" providerId="ADAL" clId="{25123700-E6B2-4052-821C-6A11D27D937E}" dt="2025-09-25T15:22:58.234" v="0" actId="478"/>
          <ac:picMkLst>
            <pc:docMk/>
            <pc:sldMk cId="1723936360" sldId="637"/>
            <ac:picMk id="17" creationId="{00000000-0000-0000-0000-000000000000}"/>
          </ac:picMkLst>
        </pc:picChg>
      </pc:sldChg>
      <pc:sldChg chg="modSp">
        <pc:chgData name="Dieter Beaven" userId="9bbdb69f-69d0-4759-aa9b-5c090a2da237" providerId="ADAL" clId="{25123700-E6B2-4052-821C-6A11D27D937E}" dt="2025-09-25T15:23:40.602" v="24" actId="20577"/>
        <pc:sldMkLst>
          <pc:docMk/>
          <pc:sldMk cId="209510969" sldId="638"/>
        </pc:sldMkLst>
        <pc:spChg chg="mod">
          <ac:chgData name="Dieter Beaven" userId="9bbdb69f-69d0-4759-aa9b-5c090a2da237" providerId="ADAL" clId="{25123700-E6B2-4052-821C-6A11D27D937E}" dt="2025-09-25T15:23:40.602" v="24" actId="20577"/>
          <ac:spMkLst>
            <pc:docMk/>
            <pc:sldMk cId="209510969" sldId="638"/>
            <ac:spMk id="8" creationId="{00000000-0000-0000-0000-000000000000}"/>
          </ac:spMkLst>
        </pc:spChg>
      </pc:sldChg>
      <pc:sldChg chg="del">
        <pc:chgData name="Dieter Beaven" userId="9bbdb69f-69d0-4759-aa9b-5c090a2da237" providerId="ADAL" clId="{25123700-E6B2-4052-821C-6A11D27D937E}" dt="2025-09-25T15:23:46.003" v="25" actId="47"/>
        <pc:sldMkLst>
          <pc:docMk/>
          <pc:sldMk cId="2176048845" sldId="640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E5FE8E75-F1DC-4344-ABC3-BC7C2C246F4F}"/>
    <pc:docChg chg="custSel addSld modSld">
      <pc:chgData name="Dieter Beaven" userId="9bbdb69f-69d0-4759-aa9b-5c090a2da237" providerId="ADAL" clId="{E5FE8E75-F1DC-4344-ABC3-BC7C2C246F4F}" dt="2025-05-12T11:32:30.688" v="27" actId="14100"/>
      <pc:docMkLst>
        <pc:docMk/>
      </pc:docMkLst>
      <pc:sldChg chg="modSp mod">
        <pc:chgData name="Dieter Beaven" userId="9bbdb69f-69d0-4759-aa9b-5c090a2da237" providerId="ADAL" clId="{E5FE8E75-F1DC-4344-ABC3-BC7C2C246F4F}" dt="2025-05-12T11:31:00.170" v="18" actId="20577"/>
        <pc:sldMkLst>
          <pc:docMk/>
          <pc:sldMk cId="3991975165" sldId="547"/>
        </pc:sldMkLst>
      </pc:sldChg>
      <pc:sldChg chg="addSp delSp modSp mod modAnim">
        <pc:chgData name="Dieter Beaven" userId="9bbdb69f-69d0-4759-aa9b-5c090a2da237" providerId="ADAL" clId="{E5FE8E75-F1DC-4344-ABC3-BC7C2C246F4F}" dt="2025-05-12T11:32:30.688" v="27" actId="14100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E5FE8E75-F1DC-4344-ABC3-BC7C2C246F4F}" dt="2025-05-12T11:30:45.771" v="0"/>
        <pc:sldMkLst>
          <pc:docMk/>
          <pc:sldMk cId="3706052693" sldId="636"/>
        </pc:sldMkLst>
      </pc:sldChg>
      <pc:sldChg chg="add">
        <pc:chgData name="Dieter Beaven" userId="9bbdb69f-69d0-4759-aa9b-5c090a2da237" providerId="ADAL" clId="{E5FE8E75-F1DC-4344-ABC3-BC7C2C246F4F}" dt="2025-05-12T11:30:45.771" v="0"/>
        <pc:sldMkLst>
          <pc:docMk/>
          <pc:sldMk cId="1723936360" sldId="637"/>
        </pc:sldMkLst>
      </pc:sldChg>
      <pc:sldChg chg="add">
        <pc:chgData name="Dieter Beaven" userId="9bbdb69f-69d0-4759-aa9b-5c090a2da237" providerId="ADAL" clId="{E5FE8E75-F1DC-4344-ABC3-BC7C2C246F4F}" dt="2025-05-12T11:30:45.771" v="0"/>
        <pc:sldMkLst>
          <pc:docMk/>
          <pc:sldMk cId="209510969" sldId="638"/>
        </pc:sldMkLst>
      </pc:sldChg>
      <pc:sldChg chg="add">
        <pc:chgData name="Dieter Beaven" userId="9bbdb69f-69d0-4759-aa9b-5c090a2da237" providerId="ADAL" clId="{E5FE8E75-F1DC-4344-ABC3-BC7C2C246F4F}" dt="2025-05-12T11:30:45.771" v="0"/>
        <pc:sldMkLst>
          <pc:docMk/>
          <pc:sldMk cId="2176048845" sldId="640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13: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Definite Integrals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/>
          <p:cNvSpPr/>
          <p:nvPr/>
        </p:nvSpPr>
        <p:spPr>
          <a:xfrm>
            <a:off x="6872288" y="2219325"/>
            <a:ext cx="1266825" cy="923925"/>
          </a:xfrm>
          <a:custGeom>
            <a:avLst/>
            <a:gdLst>
              <a:gd name="connsiteX0" fmla="*/ 0 w 1266825"/>
              <a:gd name="connsiteY0" fmla="*/ 919163 h 923925"/>
              <a:gd name="connsiteX1" fmla="*/ 257175 w 1266825"/>
              <a:gd name="connsiteY1" fmla="*/ 461963 h 923925"/>
              <a:gd name="connsiteX2" fmla="*/ 381000 w 1266825"/>
              <a:gd name="connsiteY2" fmla="*/ 276225 h 923925"/>
              <a:gd name="connsiteX3" fmla="*/ 452437 w 1266825"/>
              <a:gd name="connsiteY3" fmla="*/ 176213 h 923925"/>
              <a:gd name="connsiteX4" fmla="*/ 547687 w 1266825"/>
              <a:gd name="connsiteY4" fmla="*/ 80963 h 923925"/>
              <a:gd name="connsiteX5" fmla="*/ 604837 w 1266825"/>
              <a:gd name="connsiteY5" fmla="*/ 28575 h 923925"/>
              <a:gd name="connsiteX6" fmla="*/ 666750 w 1266825"/>
              <a:gd name="connsiteY6" fmla="*/ 0 h 923925"/>
              <a:gd name="connsiteX7" fmla="*/ 714375 w 1266825"/>
              <a:gd name="connsiteY7" fmla="*/ 0 h 923925"/>
              <a:gd name="connsiteX8" fmla="*/ 762000 w 1266825"/>
              <a:gd name="connsiteY8" fmla="*/ 19050 h 923925"/>
              <a:gd name="connsiteX9" fmla="*/ 823912 w 1266825"/>
              <a:gd name="connsiteY9" fmla="*/ 66675 h 923925"/>
              <a:gd name="connsiteX10" fmla="*/ 871537 w 1266825"/>
              <a:gd name="connsiteY10" fmla="*/ 123825 h 923925"/>
              <a:gd name="connsiteX11" fmla="*/ 933450 w 1266825"/>
              <a:gd name="connsiteY11" fmla="*/ 200025 h 923925"/>
              <a:gd name="connsiteX12" fmla="*/ 1009650 w 1266825"/>
              <a:gd name="connsiteY12" fmla="*/ 323850 h 923925"/>
              <a:gd name="connsiteX13" fmla="*/ 1081087 w 1266825"/>
              <a:gd name="connsiteY13" fmla="*/ 409575 h 923925"/>
              <a:gd name="connsiteX14" fmla="*/ 1166812 w 1266825"/>
              <a:gd name="connsiteY14" fmla="*/ 461963 h 923925"/>
              <a:gd name="connsiteX15" fmla="*/ 1266825 w 1266825"/>
              <a:gd name="connsiteY15" fmla="*/ 509588 h 923925"/>
              <a:gd name="connsiteX16" fmla="*/ 1262062 w 1266825"/>
              <a:gd name="connsiteY16" fmla="*/ 923925 h 923925"/>
              <a:gd name="connsiteX17" fmla="*/ 0 w 1266825"/>
              <a:gd name="connsiteY17" fmla="*/ 919163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66825" h="923925">
                <a:moveTo>
                  <a:pt x="0" y="919163"/>
                </a:moveTo>
                <a:lnTo>
                  <a:pt x="257175" y="461963"/>
                </a:lnTo>
                <a:lnTo>
                  <a:pt x="381000" y="276225"/>
                </a:lnTo>
                <a:lnTo>
                  <a:pt x="452437" y="176213"/>
                </a:lnTo>
                <a:lnTo>
                  <a:pt x="547687" y="80963"/>
                </a:lnTo>
                <a:lnTo>
                  <a:pt x="604837" y="28575"/>
                </a:lnTo>
                <a:lnTo>
                  <a:pt x="666750" y="0"/>
                </a:lnTo>
                <a:lnTo>
                  <a:pt x="714375" y="0"/>
                </a:lnTo>
                <a:lnTo>
                  <a:pt x="762000" y="19050"/>
                </a:lnTo>
                <a:lnTo>
                  <a:pt x="823912" y="66675"/>
                </a:lnTo>
                <a:lnTo>
                  <a:pt x="871537" y="123825"/>
                </a:lnTo>
                <a:lnTo>
                  <a:pt x="933450" y="200025"/>
                </a:lnTo>
                <a:lnTo>
                  <a:pt x="1009650" y="323850"/>
                </a:lnTo>
                <a:lnTo>
                  <a:pt x="1081087" y="409575"/>
                </a:lnTo>
                <a:lnTo>
                  <a:pt x="1166812" y="461963"/>
                </a:lnTo>
                <a:lnTo>
                  <a:pt x="1266825" y="509588"/>
                </a:lnTo>
                <a:cubicBezTo>
                  <a:pt x="1265237" y="647700"/>
                  <a:pt x="1263650" y="785813"/>
                  <a:pt x="1262062" y="923925"/>
                </a:cubicBezTo>
                <a:lnTo>
                  <a:pt x="0" y="919163"/>
                </a:lnTo>
                <a:close/>
              </a:path>
            </a:pathLst>
          </a:cu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Definite Integration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1520" y="764704"/>
                <a:ext cx="623460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So far we’ve seen integration as ‘</a:t>
                </a:r>
                <a:r>
                  <a:rPr lang="en-GB" sz="1600" b="1" dirty="0"/>
                  <a:t>the opposite of differentiation</a:t>
                </a:r>
                <a:r>
                  <a:rPr lang="en-GB" sz="1600" dirty="0"/>
                  <a:t>’, allowing us to find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when we know the gradient function </a:t>
                </a:r>
                <a:br>
                  <a:rPr lang="en-GB" sz="16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In practical settings however the most useful use of integration is that </a:t>
                </a:r>
                <a:r>
                  <a:rPr lang="en-GB" sz="1600" b="1" dirty="0"/>
                  <a:t>it finds the area under a graph</a:t>
                </a:r>
                <a:r>
                  <a:rPr lang="en-GB" sz="1600" dirty="0"/>
                  <a:t>. Remember at GCSE for example when you estimated the area under a speed-time graph, using trapeziums, to get the distance?</a:t>
                </a:r>
              </a:p>
              <a:p>
                <a:r>
                  <a:rPr lang="en-GB" sz="1600" dirty="0"/>
                  <a:t>If you knew the equation of the curve, you could get the exact area!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Before we do this, we need to understand how to find a </a:t>
                </a:r>
                <a:r>
                  <a:rPr lang="en-GB" sz="1600" b="1" dirty="0"/>
                  <a:t>definite integral</a:t>
                </a:r>
                <a:r>
                  <a:rPr lang="en-GB" sz="1600" dirty="0"/>
                  <a:t>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6234608" cy="2800767"/>
              </a:xfrm>
              <a:prstGeom prst="rect">
                <a:avLst/>
              </a:prstGeom>
              <a:blipFill>
                <a:blip r:embed="rId2"/>
                <a:stretch>
                  <a:fillRect l="-489" t="-652" r="-196" b="-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6876256" y="1988840"/>
            <a:ext cx="0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876256" y="3140968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6156811" y="2410311"/>
            <a:ext cx="1048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 dirty="0">
                <a:latin typeface="+mj-lt"/>
              </a:rPr>
              <a:t>speed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7107505" y="3154551"/>
            <a:ext cx="1048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 dirty="0">
                <a:latin typeface="+mj-lt"/>
              </a:rPr>
              <a:t>time</a:t>
            </a:r>
            <a:endParaRPr lang="en-GB" dirty="0"/>
          </a:p>
        </p:txBody>
      </p:sp>
      <p:sp>
        <p:nvSpPr>
          <p:cNvPr id="13" name="Freeform: Shape 12"/>
          <p:cNvSpPr/>
          <p:nvPr/>
        </p:nvSpPr>
        <p:spPr>
          <a:xfrm>
            <a:off x="6870700" y="2212393"/>
            <a:ext cx="1511300" cy="924507"/>
          </a:xfrm>
          <a:custGeom>
            <a:avLst/>
            <a:gdLst>
              <a:gd name="connsiteX0" fmla="*/ 0 w 1511300"/>
              <a:gd name="connsiteY0" fmla="*/ 924507 h 924507"/>
              <a:gd name="connsiteX1" fmla="*/ 647700 w 1511300"/>
              <a:gd name="connsiteY1" fmla="*/ 10107 h 924507"/>
              <a:gd name="connsiteX2" fmla="*/ 1117600 w 1511300"/>
              <a:gd name="connsiteY2" fmla="*/ 441907 h 924507"/>
              <a:gd name="connsiteX3" fmla="*/ 1511300 w 1511300"/>
              <a:gd name="connsiteY3" fmla="*/ 543507 h 92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1300" h="924507">
                <a:moveTo>
                  <a:pt x="0" y="924507"/>
                </a:moveTo>
                <a:cubicBezTo>
                  <a:pt x="230716" y="507523"/>
                  <a:pt x="461433" y="90540"/>
                  <a:pt x="647700" y="10107"/>
                </a:cubicBezTo>
                <a:cubicBezTo>
                  <a:pt x="833967" y="-70326"/>
                  <a:pt x="973667" y="353007"/>
                  <a:pt x="1117600" y="441907"/>
                </a:cubicBezTo>
                <a:cubicBezTo>
                  <a:pt x="1261533" y="530807"/>
                  <a:pt x="1386416" y="537157"/>
                  <a:pt x="1511300" y="54350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945784" y="2761878"/>
                <a:ext cx="13171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</m:oMath>
                  </m:oMathPara>
                </a14:m>
                <a:endParaRPr lang="en-GB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784" y="2761878"/>
                <a:ext cx="1317154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440710" y="4647057"/>
                <a:ext cx="2296491" cy="1064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710" y="4647057"/>
                <a:ext cx="2296491" cy="10645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216901" y="3591255"/>
                <a:ext cx="3386922" cy="5232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These are known as </a:t>
                </a:r>
                <a:r>
                  <a:rPr lang="en-GB" sz="1400" b="1" dirty="0"/>
                  <a:t>limits</a:t>
                </a:r>
                <a:r>
                  <a:rPr lang="en-GB" sz="1400" dirty="0"/>
                  <a:t>, which give the values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we’re finding the area between.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901" y="3591255"/>
                <a:ext cx="33869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6627231" y="4642236"/>
            <a:ext cx="0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627231" y="5794364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441186" y="4320757"/>
                <a:ext cx="3924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186" y="4320757"/>
                <a:ext cx="392406" cy="307777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268180" y="5636497"/>
                <a:ext cx="3778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180" y="5636497"/>
                <a:ext cx="37781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696759" y="5415274"/>
                <a:ext cx="13171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</m:oMath>
                  </m:oMathPara>
                </a14:m>
                <a:endParaRPr lang="en-GB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759" y="5415274"/>
                <a:ext cx="1317154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/>
          <p:cNvSpPr/>
          <p:nvPr/>
        </p:nvSpPr>
        <p:spPr>
          <a:xfrm>
            <a:off x="6629400" y="4533900"/>
            <a:ext cx="1457325" cy="1257300"/>
          </a:xfrm>
          <a:custGeom>
            <a:avLst/>
            <a:gdLst>
              <a:gd name="connsiteX0" fmla="*/ 0 w 1457325"/>
              <a:gd name="connsiteY0" fmla="*/ 1257300 h 1257300"/>
              <a:gd name="connsiteX1" fmla="*/ 552450 w 1457325"/>
              <a:gd name="connsiteY1" fmla="*/ 990600 h 1257300"/>
              <a:gd name="connsiteX2" fmla="*/ 1066800 w 1457325"/>
              <a:gd name="connsiteY2" fmla="*/ 590550 h 1257300"/>
              <a:gd name="connsiteX3" fmla="*/ 1457325 w 1457325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7325" h="1257300">
                <a:moveTo>
                  <a:pt x="0" y="1257300"/>
                </a:moveTo>
                <a:cubicBezTo>
                  <a:pt x="187325" y="1179512"/>
                  <a:pt x="374650" y="1101725"/>
                  <a:pt x="552450" y="990600"/>
                </a:cubicBezTo>
                <a:cubicBezTo>
                  <a:pt x="730250" y="879475"/>
                  <a:pt x="915988" y="755650"/>
                  <a:pt x="1066800" y="590550"/>
                </a:cubicBezTo>
                <a:cubicBezTo>
                  <a:pt x="1217612" y="425450"/>
                  <a:pt x="1337468" y="212725"/>
                  <a:pt x="145732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/>
          <p:cNvSpPr/>
          <p:nvPr/>
        </p:nvSpPr>
        <p:spPr>
          <a:xfrm>
            <a:off x="7191375" y="4724400"/>
            <a:ext cx="800100" cy="1066800"/>
          </a:xfrm>
          <a:custGeom>
            <a:avLst/>
            <a:gdLst>
              <a:gd name="connsiteX0" fmla="*/ 0 w 800100"/>
              <a:gd name="connsiteY0" fmla="*/ 1066800 h 1066800"/>
              <a:gd name="connsiteX1" fmla="*/ 0 w 800100"/>
              <a:gd name="connsiteY1" fmla="*/ 809625 h 1066800"/>
              <a:gd name="connsiteX2" fmla="*/ 257175 w 800100"/>
              <a:gd name="connsiteY2" fmla="*/ 619125 h 1066800"/>
              <a:gd name="connsiteX3" fmla="*/ 457200 w 800100"/>
              <a:gd name="connsiteY3" fmla="*/ 447675 h 1066800"/>
              <a:gd name="connsiteX4" fmla="*/ 609600 w 800100"/>
              <a:gd name="connsiteY4" fmla="*/ 285750 h 1066800"/>
              <a:gd name="connsiteX5" fmla="*/ 800100 w 800100"/>
              <a:gd name="connsiteY5" fmla="*/ 0 h 1066800"/>
              <a:gd name="connsiteX6" fmla="*/ 800100 w 800100"/>
              <a:gd name="connsiteY6" fmla="*/ 1066800 h 1066800"/>
              <a:gd name="connsiteX7" fmla="*/ 0 w 800100"/>
              <a:gd name="connsiteY7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0100" h="1066800">
                <a:moveTo>
                  <a:pt x="0" y="1066800"/>
                </a:moveTo>
                <a:lnTo>
                  <a:pt x="0" y="809625"/>
                </a:lnTo>
                <a:lnTo>
                  <a:pt x="257175" y="619125"/>
                </a:lnTo>
                <a:lnTo>
                  <a:pt x="457200" y="447675"/>
                </a:lnTo>
                <a:lnTo>
                  <a:pt x="609600" y="285750"/>
                </a:lnTo>
                <a:lnTo>
                  <a:pt x="800100" y="0"/>
                </a:lnTo>
                <a:lnTo>
                  <a:pt x="800100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19157" y="5790385"/>
                <a:ext cx="3778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157" y="5790385"/>
                <a:ext cx="37781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791320" y="5790385"/>
                <a:ext cx="3778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320" y="5790385"/>
                <a:ext cx="37781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086725" y="4451835"/>
                <a:ext cx="8560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725" y="4451835"/>
                <a:ext cx="856064" cy="307777"/>
              </a:xfrm>
              <a:prstGeom prst="rect">
                <a:avLst/>
              </a:prstGeom>
              <a:blipFill>
                <a:blip r:embed="rId10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256004" y="5331592"/>
                <a:ext cx="702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004" y="5331592"/>
                <a:ext cx="70226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/>
          <p:nvPr/>
        </p:nvCxnSpPr>
        <p:spPr>
          <a:xfrm>
            <a:off x="1360968" y="4114801"/>
            <a:ext cx="372139" cy="574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603898" y="3785190"/>
            <a:ext cx="2902688" cy="361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275368" y="4140574"/>
            <a:ext cx="3902148" cy="738664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400" dirty="0"/>
              <a:t>We integrate as normal, but put expression in </a:t>
            </a:r>
            <a:r>
              <a:rPr lang="en-GB" sz="1400" b="1" dirty="0"/>
              <a:t>square brackets</a:t>
            </a:r>
            <a:r>
              <a:rPr lang="en-GB" sz="1400" dirty="0"/>
              <a:t>, meaning </a:t>
            </a:r>
            <a:r>
              <a:rPr lang="en-GB" sz="1400" b="1" dirty="0"/>
              <a:t>we still need to evaluate the integrated expression using the limits</a:t>
            </a:r>
            <a:r>
              <a:rPr lang="en-GB" sz="1400" dirty="0"/>
              <a:t>.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1329070" y="4136065"/>
            <a:ext cx="233916" cy="1180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476307" y="4890977"/>
            <a:ext cx="606056" cy="23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618736" y="6182213"/>
                <a:ext cx="3902148" cy="5232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−(…)</m:t>
                    </m:r>
                  </m:oMath>
                </a14:m>
                <a:r>
                  <a:rPr lang="en-GB" sz="1400" dirty="0"/>
                  <a:t> and evaluate the expression for each of the limits, top one first.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736" y="6182213"/>
                <a:ext cx="390214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 flipH="1" flipV="1">
            <a:off x="5390707" y="5869172"/>
            <a:ext cx="690559" cy="31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459621" y="4934629"/>
                <a:ext cx="1196738" cy="537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br>
                  <a:rPr lang="en-GB" sz="2800" b="0" dirty="0"/>
                </a:br>
                <a:endParaRPr lang="en-GB" sz="28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621" y="4934629"/>
                <a:ext cx="1196738" cy="5370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3040632" y="5403383"/>
                <a:ext cx="272103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=624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632" y="5403383"/>
                <a:ext cx="2721036" cy="95410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05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2" grpId="0"/>
      <p:bldP spid="23" grpId="0"/>
      <p:bldP spid="25" grpId="0"/>
      <p:bldP spid="26" grpId="0" animBg="1"/>
      <p:bldP spid="27" grpId="0" animBg="1"/>
      <p:bldP spid="28" grpId="0"/>
      <p:bldP spid="29" grpId="0"/>
      <p:bldP spid="30" grpId="0"/>
      <p:bldP spid="31" grpId="0"/>
      <p:bldP spid="41" grpId="0" animBg="1"/>
      <p:bldP spid="49" grpId="0" animBg="1"/>
      <p:bldP spid="53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Another Example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3267" y="1106415"/>
                <a:ext cx="5236537" cy="333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                  =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=12−−12</m:t>
                      </m:r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67" y="1106415"/>
                <a:ext cx="5236537" cy="333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35995" y="1189552"/>
            <a:ext cx="2232248" cy="132343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We </a:t>
            </a:r>
            <a:r>
              <a:rPr lang="en-GB" sz="1600" b="1" dirty="0"/>
              <a:t>DON’T have a constant of integration </a:t>
            </a:r>
            <a:r>
              <a:rPr lang="en-GB" sz="1600" dirty="0"/>
              <a:t>when doing definite integration. I’ll explain why later.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5422605" y="1573619"/>
            <a:ext cx="1013390" cy="277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66119" y="3496396"/>
                <a:ext cx="2232248" cy="1569660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Write out you working EXACTLY as seen here.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−(…)</m:t>
                    </m:r>
                  </m:oMath>
                </a14:m>
                <a:r>
                  <a:rPr lang="en-GB" sz="1600" dirty="0"/>
                  <a:t> brackets are particularly crucial as you’ll otherwise likely make a sign error.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119" y="3496396"/>
                <a:ext cx="2232248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3120829" y="1074257"/>
            <a:ext cx="2004064" cy="11373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240" y="2359081"/>
            <a:ext cx="4632076" cy="11373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240" y="3501967"/>
            <a:ext cx="4632076" cy="953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5932967" y="3444949"/>
            <a:ext cx="439233" cy="1030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67265" y="5284148"/>
                <a:ext cx="5188539" cy="12766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Use of Technology:</a:t>
                </a:r>
              </a:p>
              <a:p>
                <a:r>
                  <a:rPr lang="en-GB" dirty="0"/>
                  <a:t>You can use the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□</m:t>
                            </m:r>
                          </m:e>
                        </m:nary>
                      </m:e>
                    </m:d>
                  </m:oMath>
                </a14:m>
                <a:r>
                  <a:rPr lang="en-GB" dirty="0"/>
                  <a:t> button on your calculator to evaluate definite integrals. </a:t>
                </a:r>
              </a:p>
              <a:p>
                <a:r>
                  <a:rPr lang="en-GB" u="sng" dirty="0"/>
                  <a:t>But only use it to check your answer.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65" y="5284148"/>
                <a:ext cx="5188539" cy="1276696"/>
              </a:xfrm>
              <a:prstGeom prst="rect">
                <a:avLst/>
              </a:prstGeom>
              <a:blipFill>
                <a:blip r:embed="rId4"/>
                <a:stretch>
                  <a:fillRect l="-701" t="-17371" b="-178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93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Problem Solving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9552" y="908720"/>
                <a:ext cx="7734898" cy="74770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is a constant and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𝑃𝑥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+7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show that there are two possible values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find these values.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08720"/>
                <a:ext cx="7734898" cy="747705"/>
              </a:xfrm>
              <a:prstGeom prst="rect">
                <a:avLst/>
              </a:prstGeom>
              <a:blipFill>
                <a:blip r:embed="rId2"/>
                <a:stretch>
                  <a:fillRect t="-46259" b="-4966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43608" y="2060848"/>
                <a:ext cx="5256584" cy="2656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        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        =24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+28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∴24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+28=4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060848"/>
                <a:ext cx="5256584" cy="26563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971600" y="1966018"/>
            <a:ext cx="4824536" cy="27511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38416" y="2028950"/>
                <a:ext cx="22322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Remember: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is a constant, so just treat it as a constant number.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416" y="2028950"/>
                <a:ext cx="2232248" cy="830997"/>
              </a:xfrm>
              <a:prstGeom prst="rect">
                <a:avLst/>
              </a:prstGeom>
              <a:blipFill>
                <a:blip r:embed="rId4"/>
                <a:stretch>
                  <a:fillRect l="-1366" t="-2206"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1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13.4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106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FD7832-5B9B-009E-F8DD-035711CE40F8}"/>
              </a:ext>
            </a:extLst>
          </p:cNvPr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3CE4BF-0C16-F378-C0C5-EA005E36DD39}"/>
              </a:ext>
            </a:extLst>
          </p:cNvPr>
          <p:cNvSpPr txBox="1"/>
          <p:nvPr/>
        </p:nvSpPr>
        <p:spPr>
          <a:xfrm>
            <a:off x="368346" y="1884528"/>
            <a:ext cx="7393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(Classes in a rush may want to skip this exercise and go to the next section, which continues definite integration, but in the context of areas under graphs).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82AFF-126C-220D-92F0-B4EE67E9BF56}"/>
              </a:ext>
            </a:extLst>
          </p:cNvPr>
          <p:cNvSpPr txBox="1"/>
          <p:nvPr/>
        </p:nvSpPr>
        <p:spPr>
          <a:xfrm>
            <a:off x="395536" y="270892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2BF8E0-BCEE-B73F-4DF8-AF751F3F13B3}"/>
                  </a:ext>
                </a:extLst>
              </p:cNvPr>
              <p:cNvSpPr txBox="1"/>
              <p:nvPr/>
            </p:nvSpPr>
            <p:spPr>
              <a:xfrm>
                <a:off x="395536" y="3078252"/>
                <a:ext cx="3888432" cy="3782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2009 1A] </a:t>
                </a:r>
                <a:r>
                  <a:rPr lang="en-GB" dirty="0"/>
                  <a:t>The smallest value of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varies, is what?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𝑰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𝒅𝒙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sSup>
                                <m:sSup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We then use differentiation or completing the square to find that the minimum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600" b="1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𝟒𝟓</m:t>
                        </m:r>
                      </m:den>
                    </m:f>
                  </m:oMath>
                </a14:m>
                <a:r>
                  <a:rPr lang="en-GB" sz="1600" b="1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2BF8E0-BCEE-B73F-4DF8-AF751F3F1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078252"/>
                <a:ext cx="3888432" cy="3782639"/>
              </a:xfrm>
              <a:prstGeom prst="rect">
                <a:avLst/>
              </a:prstGeom>
              <a:blipFill>
                <a:blip r:embed="rId2"/>
                <a:stretch>
                  <a:fillRect l="-1411" t="-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2C25013-02D9-BA7E-81D5-8325FFCF7EA2}"/>
              </a:ext>
            </a:extLst>
          </p:cNvPr>
          <p:cNvSpPr/>
          <p:nvPr/>
        </p:nvSpPr>
        <p:spPr>
          <a:xfrm>
            <a:off x="441101" y="4299857"/>
            <a:ext cx="3797302" cy="24492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5C0865-F343-1881-EB5A-97E39755F181}"/>
              </a:ext>
            </a:extLst>
          </p:cNvPr>
          <p:cNvSpPr/>
          <p:nvPr/>
        </p:nvSpPr>
        <p:spPr>
          <a:xfrm>
            <a:off x="74428" y="3142048"/>
            <a:ext cx="306197" cy="3602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4DDC9-BD96-E867-CE3F-960BB70DF85D}"/>
              </a:ext>
            </a:extLst>
          </p:cNvPr>
          <p:cNvSpPr/>
          <p:nvPr/>
        </p:nvSpPr>
        <p:spPr>
          <a:xfrm>
            <a:off x="4411087" y="2785984"/>
            <a:ext cx="306197" cy="36025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6FE1CE-715F-4D12-2111-C88A7BEFA2F7}"/>
                  </a:ext>
                </a:extLst>
              </p:cNvPr>
              <p:cNvSpPr txBox="1"/>
              <p:nvPr/>
            </p:nvSpPr>
            <p:spPr>
              <a:xfrm>
                <a:off x="4724400" y="2708920"/>
                <a:ext cx="4356100" cy="4606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2015 1D] </a:t>
                </a:r>
                <a:r>
                  <a:rPr lang="en-GB" dirty="0"/>
                  <a:t>Let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𝑥𝑡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 Which of the following statements are true?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is always bigger than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is always bigger than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They are always equal.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is bigger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is bigger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FontTx/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is bigger 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is bigger 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sz="1400" b="1" dirty="0"/>
                  <a:t>(Official </a:t>
                </a:r>
                <a:r>
                  <a:rPr lang="en-GB" sz="1400" b="1" dirty="0" err="1"/>
                  <a:t>Sln</a:t>
                </a:r>
                <a:r>
                  <a:rPr lang="en-GB" sz="1400" b="1" dirty="0"/>
                  <a:t>) Evaluating: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1400" b="1" dirty="0"/>
                  <a:t> and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1400" b="1" dirty="0"/>
                  <a:t>. Hence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</m: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1400" b="1" dirty="0"/>
                  <a:t> and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  <m:d>
                          <m:d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</m: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1400" b="1" dirty="0"/>
                  <a:t>. Hence answer is (B).</a:t>
                </a:r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pPr marL="342900" indent="-342900">
                  <a:buAutoNum type="alphaUcParenR"/>
                </a:pPr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6FE1CE-715F-4D12-2111-C88A7BEFA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708920"/>
                <a:ext cx="4356100" cy="4606389"/>
              </a:xfrm>
              <a:prstGeom prst="rect">
                <a:avLst/>
              </a:prstGeom>
              <a:blipFill>
                <a:blip r:embed="rId3"/>
                <a:stretch>
                  <a:fillRect l="-1119" t="-4762" r="-11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E575B6E-CCF6-A227-1930-71610062DD91}"/>
              </a:ext>
            </a:extLst>
          </p:cNvPr>
          <p:cNvSpPr/>
          <p:nvPr/>
        </p:nvSpPr>
        <p:spPr>
          <a:xfrm>
            <a:off x="4760686" y="6021288"/>
            <a:ext cx="4305435" cy="7278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2FBB6E8-2CE4-4235-8187-0ADCF925A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04900"/>
            <a:ext cx="79248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88EF138-494D-4528-1248-9EB09B73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90" y="1124744"/>
            <a:ext cx="79914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D218221-1F03-49A8-216E-1F403E0B9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47053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61753</TotalTime>
  <Words>626</Words>
  <Application>Microsoft Office PowerPoint</Application>
  <PresentationFormat>On-screen Show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P1 Chapter 13: Integration  Definite Integrals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2025-09-25T15:23:48Z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