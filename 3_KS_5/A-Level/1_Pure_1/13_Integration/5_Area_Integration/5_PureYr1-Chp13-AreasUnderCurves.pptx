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547" r:id="rId5"/>
    <p:sldId id="639" r:id="rId6"/>
    <p:sldId id="643" r:id="rId7"/>
    <p:sldId id="625" r:id="rId8"/>
    <p:sldId id="641" r:id="rId9"/>
    <p:sldId id="549" r:id="rId10"/>
    <p:sldId id="543" r:id="rId11"/>
    <p:sldId id="550" r:id="rId12"/>
    <p:sldId id="645" r:id="rId13"/>
    <p:sldId id="54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12" autoAdjust="0"/>
    <p:restoredTop sz="88534" autoAdjust="0"/>
  </p:normalViewPr>
  <p:slideViewPr>
    <p:cSldViewPr>
      <p:cViewPr varScale="1">
        <p:scale>
          <a:sx n="70" d="100"/>
          <a:sy n="70" d="100"/>
        </p:scale>
        <p:origin x="1332" y="60"/>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ter Beaven" userId="9bbdb69f-69d0-4759-aa9b-5c090a2da237" providerId="ADAL" clId="{EBBC4B42-D64D-4083-91EC-8B7E8CFB82AB}"/>
    <pc:docChg chg="delSld modSld sldOrd">
      <pc:chgData name="Dieter Beaven" userId="9bbdb69f-69d0-4759-aa9b-5c090a2da237" providerId="ADAL" clId="{EBBC4B42-D64D-4083-91EC-8B7E8CFB82AB}" dt="2025-09-25T15:25:41.638" v="2" actId="47"/>
      <pc:docMkLst>
        <pc:docMk/>
      </pc:docMkLst>
      <pc:sldChg chg="ord">
        <pc:chgData name="Dieter Beaven" userId="9bbdb69f-69d0-4759-aa9b-5c090a2da237" providerId="ADAL" clId="{EBBC4B42-D64D-4083-91EC-8B7E8CFB82AB}" dt="2025-09-25T15:25:36.380" v="1"/>
        <pc:sldMkLst>
          <pc:docMk/>
          <pc:sldMk cId="3777078604" sldId="625"/>
        </pc:sldMkLst>
      </pc:sldChg>
      <pc:sldChg chg="ord">
        <pc:chgData name="Dieter Beaven" userId="9bbdb69f-69d0-4759-aa9b-5c090a2da237" providerId="ADAL" clId="{EBBC4B42-D64D-4083-91EC-8B7E8CFB82AB}" dt="2025-09-25T15:25:36.380" v="1"/>
        <pc:sldMkLst>
          <pc:docMk/>
          <pc:sldMk cId="372602372" sldId="641"/>
        </pc:sldMkLst>
      </pc:sldChg>
      <pc:sldChg chg="del">
        <pc:chgData name="Dieter Beaven" userId="9bbdb69f-69d0-4759-aa9b-5c090a2da237" providerId="ADAL" clId="{EBBC4B42-D64D-4083-91EC-8B7E8CFB82AB}" dt="2025-09-25T15:25:41.638" v="2" actId="47"/>
        <pc:sldMkLst>
          <pc:docMk/>
          <pc:sldMk cId="2484263082" sldId="644"/>
        </pc:sldMkLst>
      </pc:sldChg>
    </pc:docChg>
  </pc:docChgLst>
  <pc:docChgLst>
    <pc:chgData name="Dieter Beaven" userId="9bbdb69f-69d0-4759-aa9b-5c090a2da237" providerId="ADAL" clId="{E4DFDE64-8AFC-4BD6-AF12-53F3776891BC}"/>
    <pc:docChg chg="modSld">
      <pc:chgData name="Dieter Beaven" userId="9bbdb69f-69d0-4759-aa9b-5c090a2da237" providerId="ADAL" clId="{E4DFDE64-8AFC-4BD6-AF12-53F3776891BC}" dt="2025-04-25T15:27:38.398" v="3" actId="20577"/>
      <pc:docMkLst>
        <pc:docMk/>
      </pc:docMkLst>
      <pc:sldChg chg="modSp mod">
        <pc:chgData name="Dieter Beaven" userId="9bbdb69f-69d0-4759-aa9b-5c090a2da237" providerId="ADAL" clId="{E4DFDE64-8AFC-4BD6-AF12-53F3776891BC}" dt="2025-04-25T15:27:33.757" v="0" actId="20577"/>
        <pc:sldMkLst>
          <pc:docMk/>
          <pc:sldMk cId="3991975165" sldId="547"/>
        </pc:sldMkLst>
      </pc:sldChg>
      <pc:sldChg chg="modSp mod">
        <pc:chgData name="Dieter Beaven" userId="9bbdb69f-69d0-4759-aa9b-5c090a2da237" providerId="ADAL" clId="{E4DFDE64-8AFC-4BD6-AF12-53F3776891BC}" dt="2025-04-25T15:27:38.398" v="3" actId="20577"/>
        <pc:sldMkLst>
          <pc:docMk/>
          <pc:sldMk cId="3055658135" sldId="549"/>
        </pc:sldMkLst>
      </pc:sldChg>
    </pc:docChg>
  </pc:docChgLst>
  <pc:docChgLst>
    <pc:chgData name="Dieter Beaven" userId="9bbdb69f-69d0-4759-aa9b-5c090a2da237" providerId="ADAL" clId="{A29BA35D-79C6-487C-8309-DC71AAB4C877}"/>
    <pc:docChg chg="modSld">
      <pc:chgData name="Dieter Beaven" userId="9bbdb69f-69d0-4759-aa9b-5c090a2da237" providerId="ADAL" clId="{A29BA35D-79C6-487C-8309-DC71AAB4C877}" dt="2025-04-29T12:03:28.813" v="18" actId="20577"/>
      <pc:docMkLst>
        <pc:docMk/>
      </pc:docMkLst>
      <pc:sldChg chg="modSp mod">
        <pc:chgData name="Dieter Beaven" userId="9bbdb69f-69d0-4759-aa9b-5c090a2da237" providerId="ADAL" clId="{A29BA35D-79C6-487C-8309-DC71AAB4C877}" dt="2025-04-29T12:03:22.599" v="17" actId="20577"/>
        <pc:sldMkLst>
          <pc:docMk/>
          <pc:sldMk cId="3991975165" sldId="547"/>
        </pc:sldMkLst>
      </pc:sldChg>
      <pc:sldChg chg="modSp mod">
        <pc:chgData name="Dieter Beaven" userId="9bbdb69f-69d0-4759-aa9b-5c090a2da237" providerId="ADAL" clId="{A29BA35D-79C6-487C-8309-DC71AAB4C877}" dt="2025-04-29T12:03:28.813" v="18" actId="20577"/>
        <pc:sldMkLst>
          <pc:docMk/>
          <pc:sldMk cId="3055658135" sldId="549"/>
        </pc:sldMkLst>
      </pc:sldChg>
    </pc:docChg>
  </pc:docChgLst>
  <pc:docChgLst>
    <pc:chgData name="Dieter Beaven" userId="9bbdb69f-69d0-4759-aa9b-5c090a2da237" providerId="ADAL" clId="{18DB7A57-8680-4BD1-866C-E957756D7C4E}"/>
    <pc:docChg chg="custSel addSld modSld">
      <pc:chgData name="Dieter Beaven" userId="9bbdb69f-69d0-4759-aa9b-5c090a2da237" providerId="ADAL" clId="{18DB7A57-8680-4BD1-866C-E957756D7C4E}" dt="2025-05-12T11:34:14.232" v="39" actId="6549"/>
      <pc:docMkLst>
        <pc:docMk/>
      </pc:docMkLst>
      <pc:sldChg chg="modSp mod">
        <pc:chgData name="Dieter Beaven" userId="9bbdb69f-69d0-4759-aa9b-5c090a2da237" providerId="ADAL" clId="{18DB7A57-8680-4BD1-866C-E957756D7C4E}" dt="2025-05-12T11:34:14.232" v="39" actId="6549"/>
        <pc:sldMkLst>
          <pc:docMk/>
          <pc:sldMk cId="3991975165" sldId="547"/>
        </pc:sldMkLst>
      </pc:sldChg>
      <pc:sldChg chg="addSp modSp mod modAnim">
        <pc:chgData name="Dieter Beaven" userId="9bbdb69f-69d0-4759-aa9b-5c090a2da237" providerId="ADAL" clId="{18DB7A57-8680-4BD1-866C-E957756D7C4E}" dt="2025-05-12T11:33:56.367" v="17" actId="20577"/>
        <pc:sldMkLst>
          <pc:docMk/>
          <pc:sldMk cId="3055658135" sldId="549"/>
        </pc:sldMkLst>
      </pc:sldChg>
      <pc:sldChg chg="add">
        <pc:chgData name="Dieter Beaven" userId="9bbdb69f-69d0-4759-aa9b-5c090a2da237" providerId="ADAL" clId="{18DB7A57-8680-4BD1-866C-E957756D7C4E}" dt="2025-05-12T11:33:03.783" v="0"/>
        <pc:sldMkLst>
          <pc:docMk/>
          <pc:sldMk cId="3777078604" sldId="625"/>
        </pc:sldMkLst>
      </pc:sldChg>
      <pc:sldChg chg="add">
        <pc:chgData name="Dieter Beaven" userId="9bbdb69f-69d0-4759-aa9b-5c090a2da237" providerId="ADAL" clId="{18DB7A57-8680-4BD1-866C-E957756D7C4E}" dt="2025-05-12T11:33:03.783" v="0"/>
        <pc:sldMkLst>
          <pc:docMk/>
          <pc:sldMk cId="2660792787" sldId="639"/>
        </pc:sldMkLst>
      </pc:sldChg>
      <pc:sldChg chg="add">
        <pc:chgData name="Dieter Beaven" userId="9bbdb69f-69d0-4759-aa9b-5c090a2da237" providerId="ADAL" clId="{18DB7A57-8680-4BD1-866C-E957756D7C4E}" dt="2025-05-12T11:33:03.783" v="0"/>
        <pc:sldMkLst>
          <pc:docMk/>
          <pc:sldMk cId="372602372" sldId="641"/>
        </pc:sldMkLst>
      </pc:sldChg>
      <pc:sldChg chg="add">
        <pc:chgData name="Dieter Beaven" userId="9bbdb69f-69d0-4759-aa9b-5c090a2da237" providerId="ADAL" clId="{18DB7A57-8680-4BD1-866C-E957756D7C4E}" dt="2025-05-12T11:33:03.783" v="0"/>
        <pc:sldMkLst>
          <pc:docMk/>
          <pc:sldMk cId="3979954025" sldId="643"/>
        </pc:sldMkLst>
      </pc:sldChg>
      <pc:sldChg chg="delSp add mod">
        <pc:chgData name="Dieter Beaven" userId="9bbdb69f-69d0-4759-aa9b-5c090a2da237" providerId="ADAL" clId="{18DB7A57-8680-4BD1-866C-E957756D7C4E}" dt="2025-05-12T11:33:12.459" v="1" actId="478"/>
        <pc:sldMkLst>
          <pc:docMk/>
          <pc:sldMk cId="2484263082" sldId="644"/>
        </pc:sldMkLst>
      </pc:sldChg>
    </pc:docChg>
  </pc:docChgLst>
  <pc:docChgLst>
    <pc:chgData name="Dieter Beaven" userId="9bbdb69f-69d0-4759-aa9b-5c090a2da237" providerId="ADAL" clId="{73517785-EB4C-4D85-AC28-4F98C203B6D8}"/>
    <pc:docChg chg="modSld">
      <pc:chgData name="Dieter Beaven" userId="9bbdb69f-69d0-4759-aa9b-5c090a2da237" providerId="ADAL" clId="{73517785-EB4C-4D85-AC28-4F98C203B6D8}" dt="2025-04-24T16:05:52.271" v="12" actId="20577"/>
      <pc:docMkLst>
        <pc:docMk/>
      </pc:docMkLst>
      <pc:sldChg chg="modSp mod">
        <pc:chgData name="Dieter Beaven" userId="9bbdb69f-69d0-4759-aa9b-5c090a2da237" providerId="ADAL" clId="{73517785-EB4C-4D85-AC28-4F98C203B6D8}" dt="2025-04-24T16:05:52.271" v="12" actId="20577"/>
        <pc:sldMkLst>
          <pc:docMk/>
          <pc:sldMk cId="3991975165" sldId="547"/>
        </pc:sldMkLst>
      </pc:sldChg>
    </pc:docChg>
  </pc:docChgLst>
  <pc:docChgLst>
    <pc:chgData name="Dieter Beaven" userId="9bbdb69f-69d0-4759-aa9b-5c090a2da237" providerId="ADAL" clId="{1C892770-E48D-412B-AA99-7BE3E2823042}"/>
    <pc:docChg chg="custSel addSld delSld modSld">
      <pc:chgData name="Dieter Beaven" userId="9bbdb69f-69d0-4759-aa9b-5c090a2da237" providerId="ADAL" clId="{1C892770-E48D-412B-AA99-7BE3E2823042}" dt="2025-04-24T16:01:51.069" v="48"/>
      <pc:docMkLst>
        <pc:docMk/>
      </pc:docMkLst>
      <pc:sldChg chg="del">
        <pc:chgData name="Dieter Beaven" userId="9bbdb69f-69d0-4759-aa9b-5c090a2da237" providerId="ADAL" clId="{1C892770-E48D-412B-AA99-7BE3E2823042}" dt="2025-04-24T16:01:13.369" v="38" actId="47"/>
        <pc:sldMkLst>
          <pc:docMk/>
          <pc:sldMk cId="1020239277" sldId="484"/>
        </pc:sldMkLst>
      </pc:sldChg>
      <pc:sldChg chg="del">
        <pc:chgData name="Dieter Beaven" userId="9bbdb69f-69d0-4759-aa9b-5c090a2da237" providerId="ADAL" clId="{1C892770-E48D-412B-AA99-7BE3E2823042}" dt="2025-04-24T16:01:14.591" v="39" actId="47"/>
        <pc:sldMkLst>
          <pc:docMk/>
          <pc:sldMk cId="2811694845" sldId="513"/>
        </pc:sldMkLst>
      </pc:sldChg>
      <pc:sldChg chg="del">
        <pc:chgData name="Dieter Beaven" userId="9bbdb69f-69d0-4759-aa9b-5c090a2da237" providerId="ADAL" clId="{1C892770-E48D-412B-AA99-7BE3E2823042}" dt="2025-04-24T16:01:15.393" v="40" actId="47"/>
        <pc:sldMkLst>
          <pc:docMk/>
          <pc:sldMk cId="767054381" sldId="514"/>
        </pc:sldMkLst>
      </pc:sldChg>
      <pc:sldChg chg="delSp mod">
        <pc:chgData name="Dieter Beaven" userId="9bbdb69f-69d0-4759-aa9b-5c090a2da237" providerId="ADAL" clId="{1C892770-E48D-412B-AA99-7BE3E2823042}" dt="2025-04-24T16:01:18.643" v="41" actId="478"/>
        <pc:sldMkLst>
          <pc:docMk/>
          <pc:sldMk cId="3896053727" sldId="543"/>
        </pc:sldMkLst>
      </pc:sldChg>
      <pc:sldChg chg="delSp mod">
        <pc:chgData name="Dieter Beaven" userId="9bbdb69f-69d0-4759-aa9b-5c090a2da237" providerId="ADAL" clId="{1C892770-E48D-412B-AA99-7BE3E2823042}" dt="2025-04-24T16:01:20.187" v="42" actId="478"/>
        <pc:sldMkLst>
          <pc:docMk/>
          <pc:sldMk cId="3458699803" sldId="545"/>
        </pc:sldMkLst>
      </pc:sldChg>
      <pc:sldChg chg="modSp mod">
        <pc:chgData name="Dieter Beaven" userId="9bbdb69f-69d0-4759-aa9b-5c090a2da237" providerId="ADAL" clId="{1C892770-E48D-412B-AA99-7BE3E2823042}" dt="2025-04-24T16:01:06.370" v="37" actId="6549"/>
        <pc:sldMkLst>
          <pc:docMk/>
          <pc:sldMk cId="3991975165" sldId="547"/>
        </pc:sldMkLst>
      </pc:sldChg>
      <pc:sldChg chg="modSp mod">
        <pc:chgData name="Dieter Beaven" userId="9bbdb69f-69d0-4759-aa9b-5c090a2da237" providerId="ADAL" clId="{1C892770-E48D-412B-AA99-7BE3E2823042}" dt="2025-04-24T16:01:42.159" v="45" actId="6549"/>
        <pc:sldMkLst>
          <pc:docMk/>
          <pc:sldMk cId="3055658135" sldId="549"/>
        </pc:sldMkLst>
      </pc:sldChg>
      <pc:sldChg chg="add">
        <pc:chgData name="Dieter Beaven" userId="9bbdb69f-69d0-4759-aa9b-5c090a2da237" providerId="ADAL" clId="{1C892770-E48D-412B-AA99-7BE3E2823042}" dt="2025-04-24T16:01:47.507" v="46"/>
        <pc:sldMkLst>
          <pc:docMk/>
          <pc:sldMk cId="4091202299" sldId="550"/>
        </pc:sldMkLst>
      </pc:sldChg>
      <pc:sldChg chg="add">
        <pc:chgData name="Dieter Beaven" userId="9bbdb69f-69d0-4759-aa9b-5c090a2da237" providerId="ADAL" clId="{1C892770-E48D-412B-AA99-7BE3E2823042}" dt="2025-04-24T16:01:48.048" v="47"/>
        <pc:sldMkLst>
          <pc:docMk/>
          <pc:sldMk cId="3826585799" sldId="551"/>
        </pc:sldMkLst>
      </pc:sldChg>
      <pc:sldChg chg="add">
        <pc:chgData name="Dieter Beaven" userId="9bbdb69f-69d0-4759-aa9b-5c090a2da237" providerId="ADAL" clId="{1C892770-E48D-412B-AA99-7BE3E2823042}" dt="2025-04-24T16:01:51.069" v="48"/>
        <pc:sldMkLst>
          <pc:docMk/>
          <pc:sldMk cId="2531956736" sldId="552"/>
        </pc:sldMkLst>
      </pc:sldChg>
    </pc:docChg>
  </pc:docChgLst>
  <pc:docChgLst>
    <pc:chgData name="Dieter Beaven" userId="9bbdb69f-69d0-4759-aa9b-5c090a2da237" providerId="ADAL" clId="{A3F9BB02-FD96-428C-A23F-3925C1CDC411}"/>
    <pc:docChg chg="custSel addSld delSld modSld">
      <pc:chgData name="Dieter Beaven" userId="9bbdb69f-69d0-4759-aa9b-5c090a2da237" providerId="ADAL" clId="{A3F9BB02-FD96-428C-A23F-3925C1CDC411}" dt="2025-06-20T09:57:08.077" v="19" actId="1076"/>
      <pc:docMkLst>
        <pc:docMk/>
      </pc:docMkLst>
      <pc:sldChg chg="addSp delSp modSp mod">
        <pc:chgData name="Dieter Beaven" userId="9bbdb69f-69d0-4759-aa9b-5c090a2da237" providerId="ADAL" clId="{A3F9BB02-FD96-428C-A23F-3925C1CDC411}" dt="2025-06-18T14:31:21.262" v="3" actId="1076"/>
        <pc:sldMkLst>
          <pc:docMk/>
          <pc:sldMk cId="3896053727" sldId="543"/>
        </pc:sldMkLst>
      </pc:sldChg>
      <pc:sldChg chg="addSp modSp mod">
        <pc:chgData name="Dieter Beaven" userId="9bbdb69f-69d0-4759-aa9b-5c090a2da237" providerId="ADAL" clId="{A3F9BB02-FD96-428C-A23F-3925C1CDC411}" dt="2025-06-20T09:57:08.077" v="19" actId="1076"/>
        <pc:sldMkLst>
          <pc:docMk/>
          <pc:sldMk cId="3458699803" sldId="545"/>
        </pc:sldMkLst>
      </pc:sldChg>
      <pc:sldChg chg="addSp modSp mod">
        <pc:chgData name="Dieter Beaven" userId="9bbdb69f-69d0-4759-aa9b-5c090a2da237" providerId="ADAL" clId="{A3F9BB02-FD96-428C-A23F-3925C1CDC411}" dt="2025-06-18T14:31:58.039" v="8" actId="1036"/>
        <pc:sldMkLst>
          <pc:docMk/>
          <pc:sldMk cId="4091202299" sldId="550"/>
        </pc:sldMkLst>
      </pc:sldChg>
      <pc:sldChg chg="del">
        <pc:chgData name="Dieter Beaven" userId="9bbdb69f-69d0-4759-aa9b-5c090a2da237" providerId="ADAL" clId="{A3F9BB02-FD96-428C-A23F-3925C1CDC411}" dt="2025-06-18T14:32:40.797" v="15" actId="47"/>
        <pc:sldMkLst>
          <pc:docMk/>
          <pc:sldMk cId="3826585799" sldId="551"/>
        </pc:sldMkLst>
      </pc:sldChg>
      <pc:sldChg chg="del">
        <pc:chgData name="Dieter Beaven" userId="9bbdb69f-69d0-4759-aa9b-5c090a2da237" providerId="ADAL" clId="{A3F9BB02-FD96-428C-A23F-3925C1CDC411}" dt="2025-06-20T09:57:02.229" v="18" actId="47"/>
        <pc:sldMkLst>
          <pc:docMk/>
          <pc:sldMk cId="2531956736" sldId="552"/>
        </pc:sldMkLst>
      </pc:sldChg>
      <pc:sldChg chg="addSp modSp add mod">
        <pc:chgData name="Dieter Beaven" userId="9bbdb69f-69d0-4759-aa9b-5c090a2da237" providerId="ADAL" clId="{A3F9BB02-FD96-428C-A23F-3925C1CDC411}" dt="2025-06-18T14:32:37.503" v="14" actId="1036"/>
        <pc:sldMkLst>
          <pc:docMk/>
          <pc:sldMk cId="260993284" sldId="645"/>
        </pc:sldMkLst>
      </pc:sldChg>
    </pc:docChg>
  </pc:docChgLst>
  <pc:docChgLst>
    <pc:chgData name="Dieter Beaven" userId="9bbdb69f-69d0-4759-aa9b-5c090a2da237" providerId="ADAL" clId="{5BC22596-4F92-4FA2-85D4-CE6A6FE2A641}"/>
    <pc:docChg chg="custSel addSld modSld">
      <pc:chgData name="Dieter Beaven" userId="9bbdb69f-69d0-4759-aa9b-5c090a2da237" providerId="ADAL" clId="{5BC22596-4F92-4FA2-85D4-CE6A6FE2A641}" dt="2024-09-17T16:11:36.921" v="3" actId="478"/>
      <pc:docMkLst>
        <pc:docMk/>
      </pc:docMkLst>
      <pc:sldChg chg="delSp add mod">
        <pc:chgData name="Dieter Beaven" userId="9bbdb69f-69d0-4759-aa9b-5c090a2da237" providerId="ADAL" clId="{5BC22596-4F92-4FA2-85D4-CE6A6FE2A641}" dt="2024-09-17T16:11:36.921" v="3" actId="478"/>
        <pc:sldMkLst>
          <pc:docMk/>
          <pc:sldMk cId="3896053727" sldId="543"/>
        </pc:sldMkLst>
      </pc:sldChg>
      <pc:sldChg chg="delSp add mod">
        <pc:chgData name="Dieter Beaven" userId="9bbdb69f-69d0-4759-aa9b-5c090a2da237" providerId="ADAL" clId="{5BC22596-4F92-4FA2-85D4-CE6A6FE2A641}" dt="2024-09-17T16:11:35.672" v="2" actId="478"/>
        <pc:sldMkLst>
          <pc:docMk/>
          <pc:sldMk cId="446446822" sldId="544"/>
        </pc:sldMkLst>
      </pc:sldChg>
      <pc:sldChg chg="delSp add mod">
        <pc:chgData name="Dieter Beaven" userId="9bbdb69f-69d0-4759-aa9b-5c090a2da237" providerId="ADAL" clId="{5BC22596-4F92-4FA2-85D4-CE6A6FE2A641}" dt="2024-09-17T16:11:34.191" v="1" actId="478"/>
        <pc:sldMkLst>
          <pc:docMk/>
          <pc:sldMk cId="3458699803" sldId="545"/>
        </pc:sldMkLst>
      </pc:sldChg>
    </pc:docChg>
  </pc:docChgLst>
  <pc:docChgLst>
    <pc:chgData name="Dieter Beaven" userId="9bbdb69f-69d0-4759-aa9b-5c090a2da237" providerId="ADAL" clId="{2A5AE0E2-2788-4AA7-8B3C-A04471EF5D14}"/>
    <pc:docChg chg="custSel addSld delSld modSld">
      <pc:chgData name="Dieter Beaven" userId="9bbdb69f-69d0-4759-aa9b-5c090a2da237" providerId="ADAL" clId="{2A5AE0E2-2788-4AA7-8B3C-A04471EF5D14}" dt="2024-09-17T16:09:35.830" v="251" actId="47"/>
      <pc:docMkLst>
        <pc:docMk/>
      </pc:docMkLst>
      <pc:sldChg chg="del">
        <pc:chgData name="Dieter Beaven" userId="9bbdb69f-69d0-4759-aa9b-5c090a2da237" providerId="ADAL" clId="{2A5AE0E2-2788-4AA7-8B3C-A04471EF5D14}" dt="2024-09-17T16:01:05.070" v="1" actId="47"/>
        <pc:sldMkLst>
          <pc:docMk/>
          <pc:sldMk cId="2913017854" sldId="481"/>
        </pc:sldMkLst>
      </pc:sldChg>
      <pc:sldChg chg="del">
        <pc:chgData name="Dieter Beaven" userId="9bbdb69f-69d0-4759-aa9b-5c090a2da237" providerId="ADAL" clId="{2A5AE0E2-2788-4AA7-8B3C-A04471EF5D14}" dt="2024-09-17T16:01:10.136" v="3" actId="47"/>
        <pc:sldMkLst>
          <pc:docMk/>
          <pc:sldMk cId="3808051470" sldId="483"/>
        </pc:sldMkLst>
      </pc:sldChg>
      <pc:sldChg chg="modSp mod">
        <pc:chgData name="Dieter Beaven" userId="9bbdb69f-69d0-4759-aa9b-5c090a2da237" providerId="ADAL" clId="{2A5AE0E2-2788-4AA7-8B3C-A04471EF5D14}" dt="2024-09-17T16:06:58.646" v="119" actId="6549"/>
        <pc:sldMkLst>
          <pc:docMk/>
          <pc:sldMk cId="2097919484" sldId="503"/>
        </pc:sldMkLst>
      </pc:sldChg>
      <pc:sldChg chg="modSp mod">
        <pc:chgData name="Dieter Beaven" userId="9bbdb69f-69d0-4759-aa9b-5c090a2da237" providerId="ADAL" clId="{2A5AE0E2-2788-4AA7-8B3C-A04471EF5D14}" dt="2024-09-17T16:08:22.961" v="181" actId="20577"/>
        <pc:sldMkLst>
          <pc:docMk/>
          <pc:sldMk cId="216391128" sldId="521"/>
        </pc:sldMkLst>
      </pc:sldChg>
      <pc:sldChg chg="modSp mod">
        <pc:chgData name="Dieter Beaven" userId="9bbdb69f-69d0-4759-aa9b-5c090a2da237" providerId="ADAL" clId="{2A5AE0E2-2788-4AA7-8B3C-A04471EF5D14}" dt="2024-09-17T16:09:15.811" v="250" actId="20577"/>
        <pc:sldMkLst>
          <pc:docMk/>
          <pc:sldMk cId="280797512" sldId="524"/>
        </pc:sldMkLst>
      </pc:sldChg>
      <pc:sldChg chg="del">
        <pc:chgData name="Dieter Beaven" userId="9bbdb69f-69d0-4759-aa9b-5c090a2da237" providerId="ADAL" clId="{2A5AE0E2-2788-4AA7-8B3C-A04471EF5D14}" dt="2024-09-17T16:09:35.830" v="251" actId="47"/>
        <pc:sldMkLst>
          <pc:docMk/>
          <pc:sldMk cId="2491822179" sldId="525"/>
        </pc:sldMkLst>
      </pc:sldChg>
      <pc:sldChg chg="del">
        <pc:chgData name="Dieter Beaven" userId="9bbdb69f-69d0-4759-aa9b-5c090a2da237" providerId="ADAL" clId="{2A5AE0E2-2788-4AA7-8B3C-A04471EF5D14}" dt="2024-09-17T16:01:06.407" v="2" actId="47"/>
        <pc:sldMkLst>
          <pc:docMk/>
          <pc:sldMk cId="3958245491" sldId="526"/>
        </pc:sldMkLst>
      </pc:sldChg>
      <pc:sldChg chg="modSp add mod">
        <pc:chgData name="Dieter Beaven" userId="9bbdb69f-69d0-4759-aa9b-5c090a2da237" providerId="ADAL" clId="{2A5AE0E2-2788-4AA7-8B3C-A04471EF5D14}" dt="2024-09-17T16:01:47.892" v="41" actId="20577"/>
        <pc:sldMkLst>
          <pc:docMk/>
          <pc:sldMk cId="3991975165" sldId="547"/>
        </pc:sldMkLst>
      </pc:sldChg>
      <pc:sldChg chg="modSp add mod">
        <pc:chgData name="Dieter Beaven" userId="9bbdb69f-69d0-4759-aa9b-5c090a2da237" providerId="ADAL" clId="{2A5AE0E2-2788-4AA7-8B3C-A04471EF5D14}" dt="2024-09-17T16:04:57.733" v="104" actId="20577"/>
        <pc:sldMkLst>
          <pc:docMk/>
          <pc:sldMk cId="4071243651" sldId="548"/>
        </pc:sldMkLst>
      </pc:sldChg>
      <pc:sldChg chg="modSp add mod">
        <pc:chgData name="Dieter Beaven" userId="9bbdb69f-69d0-4759-aa9b-5c090a2da237" providerId="ADAL" clId="{2A5AE0E2-2788-4AA7-8B3C-A04471EF5D14}" dt="2024-09-17T16:03:59.444" v="54" actId="20577"/>
        <pc:sldMkLst>
          <pc:docMk/>
          <pc:sldMk cId="3055658135" sldId="549"/>
        </pc:sldMkLst>
      </pc:sldChg>
      <pc:sldChg chg="modSp add mod">
        <pc:chgData name="Dieter Beaven" userId="9bbdb69f-69d0-4759-aa9b-5c090a2da237" providerId="ADAL" clId="{2A5AE0E2-2788-4AA7-8B3C-A04471EF5D14}" dt="2024-09-17T16:07:44.310" v="168" actId="20577"/>
        <pc:sldMkLst>
          <pc:docMk/>
          <pc:sldMk cId="4190994049" sldId="550"/>
        </pc:sldMkLst>
      </pc:sldChg>
      <pc:sldChg chg="modSp add mod">
        <pc:chgData name="Dieter Beaven" userId="9bbdb69f-69d0-4759-aa9b-5c090a2da237" providerId="ADAL" clId="{2A5AE0E2-2788-4AA7-8B3C-A04471EF5D14}" dt="2024-09-17T16:08:53.370" v="235" actId="20577"/>
        <pc:sldMkLst>
          <pc:docMk/>
          <pc:sldMk cId="2915845008" sldId="551"/>
        </pc:sldMkLst>
      </pc:sldChg>
    </pc:docChg>
  </pc:docChgLst>
  <pc:docChgLst>
    <pc:chgData name="Dieter Beaven" userId="9bbdb69f-69d0-4759-aa9b-5c090a2da237" providerId="ADAL" clId="{3736D5E5-739F-49F8-8648-95658EB5771D}"/>
    <pc:docChg chg="undo custSel delSld modSld">
      <pc:chgData name="Dieter Beaven" userId="9bbdb69f-69d0-4759-aa9b-5c090a2da237" providerId="ADAL" clId="{3736D5E5-739F-49F8-8648-95658EB5771D}" dt="2024-09-20T16:27:38.428" v="45" actId="20577"/>
      <pc:docMkLst>
        <pc:docMk/>
      </pc:docMkLst>
      <pc:sldChg chg="modSp">
        <pc:chgData name="Dieter Beaven" userId="9bbdb69f-69d0-4759-aa9b-5c090a2da237" providerId="ADAL" clId="{3736D5E5-739F-49F8-8648-95658EB5771D}" dt="2024-09-20T16:27:38.428" v="45" actId="20577"/>
        <pc:sldMkLst>
          <pc:docMk/>
          <pc:sldMk cId="1020239277" sldId="484"/>
        </pc:sldMkLst>
      </pc:sldChg>
      <pc:sldChg chg="del">
        <pc:chgData name="Dieter Beaven" userId="9bbdb69f-69d0-4759-aa9b-5c090a2da237" providerId="ADAL" clId="{3736D5E5-739F-49F8-8648-95658EB5771D}" dt="2024-09-17T16:12:19.708" v="5" actId="47"/>
        <pc:sldMkLst>
          <pc:docMk/>
          <pc:sldMk cId="2097919484" sldId="503"/>
        </pc:sldMkLst>
      </pc:sldChg>
      <pc:sldChg chg="addSp delSp modSp mod addAnim delAnim">
        <pc:chgData name="Dieter Beaven" userId="9bbdb69f-69d0-4759-aa9b-5c090a2da237" providerId="ADAL" clId="{3736D5E5-739F-49F8-8648-95658EB5771D}" dt="2024-09-20T16:26:58.661" v="27" actId="1076"/>
        <pc:sldMkLst>
          <pc:docMk/>
          <pc:sldMk cId="2811694845" sldId="513"/>
        </pc:sldMkLst>
      </pc:sldChg>
      <pc:sldChg chg="del">
        <pc:chgData name="Dieter Beaven" userId="9bbdb69f-69d0-4759-aa9b-5c090a2da237" providerId="ADAL" clId="{3736D5E5-739F-49F8-8648-95658EB5771D}" dt="2024-09-17T16:12:18.145" v="1" actId="47"/>
        <pc:sldMkLst>
          <pc:docMk/>
          <pc:sldMk cId="3587264838" sldId="515"/>
        </pc:sldMkLst>
      </pc:sldChg>
      <pc:sldChg chg="del">
        <pc:chgData name="Dieter Beaven" userId="9bbdb69f-69d0-4759-aa9b-5c090a2da237" providerId="ADAL" clId="{3736D5E5-739F-49F8-8648-95658EB5771D}" dt="2024-09-17T16:12:18.486" v="2" actId="47"/>
        <pc:sldMkLst>
          <pc:docMk/>
          <pc:sldMk cId="1162890895" sldId="516"/>
        </pc:sldMkLst>
      </pc:sldChg>
      <pc:sldChg chg="del">
        <pc:chgData name="Dieter Beaven" userId="9bbdb69f-69d0-4759-aa9b-5c090a2da237" providerId="ADAL" clId="{3736D5E5-739F-49F8-8648-95658EB5771D}" dt="2024-09-17T16:12:19.107" v="3" actId="47"/>
        <pc:sldMkLst>
          <pc:docMk/>
          <pc:sldMk cId="2008796709" sldId="517"/>
        </pc:sldMkLst>
      </pc:sldChg>
      <pc:sldChg chg="del">
        <pc:chgData name="Dieter Beaven" userId="9bbdb69f-69d0-4759-aa9b-5c090a2da237" providerId="ADAL" clId="{3736D5E5-739F-49F8-8648-95658EB5771D}" dt="2024-09-17T16:12:19.696" v="4" actId="47"/>
        <pc:sldMkLst>
          <pc:docMk/>
          <pc:sldMk cId="3124780132" sldId="518"/>
        </pc:sldMkLst>
      </pc:sldChg>
      <pc:sldChg chg="del">
        <pc:chgData name="Dieter Beaven" userId="9bbdb69f-69d0-4759-aa9b-5c090a2da237" providerId="ADAL" clId="{3736D5E5-739F-49F8-8648-95658EB5771D}" dt="2024-09-17T16:12:20.787" v="7" actId="47"/>
        <pc:sldMkLst>
          <pc:docMk/>
          <pc:sldMk cId="3312647161" sldId="519"/>
        </pc:sldMkLst>
      </pc:sldChg>
      <pc:sldChg chg="del">
        <pc:chgData name="Dieter Beaven" userId="9bbdb69f-69d0-4759-aa9b-5c090a2da237" providerId="ADAL" clId="{3736D5E5-739F-49F8-8648-95658EB5771D}" dt="2024-09-17T16:12:21.247" v="8" actId="47"/>
        <pc:sldMkLst>
          <pc:docMk/>
          <pc:sldMk cId="3196817432" sldId="520"/>
        </pc:sldMkLst>
      </pc:sldChg>
      <pc:sldChg chg="del">
        <pc:chgData name="Dieter Beaven" userId="9bbdb69f-69d0-4759-aa9b-5c090a2da237" providerId="ADAL" clId="{3736D5E5-739F-49F8-8648-95658EB5771D}" dt="2024-09-17T16:12:21.260" v="9" actId="47"/>
        <pc:sldMkLst>
          <pc:docMk/>
          <pc:sldMk cId="216391128" sldId="521"/>
        </pc:sldMkLst>
      </pc:sldChg>
      <pc:sldChg chg="del">
        <pc:chgData name="Dieter Beaven" userId="9bbdb69f-69d0-4759-aa9b-5c090a2da237" providerId="ADAL" clId="{3736D5E5-739F-49F8-8648-95658EB5771D}" dt="2024-09-17T16:12:23.138" v="11" actId="47"/>
        <pc:sldMkLst>
          <pc:docMk/>
          <pc:sldMk cId="3052028698" sldId="522"/>
        </pc:sldMkLst>
      </pc:sldChg>
      <pc:sldChg chg="del">
        <pc:chgData name="Dieter Beaven" userId="9bbdb69f-69d0-4759-aa9b-5c090a2da237" providerId="ADAL" clId="{3736D5E5-739F-49F8-8648-95658EB5771D}" dt="2024-09-17T16:12:24.348" v="12" actId="47"/>
        <pc:sldMkLst>
          <pc:docMk/>
          <pc:sldMk cId="623853206" sldId="523"/>
        </pc:sldMkLst>
      </pc:sldChg>
      <pc:sldChg chg="del">
        <pc:chgData name="Dieter Beaven" userId="9bbdb69f-69d0-4759-aa9b-5c090a2da237" providerId="ADAL" clId="{3736D5E5-739F-49F8-8648-95658EB5771D}" dt="2024-09-17T16:12:25.073" v="13" actId="47"/>
        <pc:sldMkLst>
          <pc:docMk/>
          <pc:sldMk cId="280797512" sldId="524"/>
        </pc:sldMkLst>
      </pc:sldChg>
      <pc:sldChg chg="addSp modSp mod">
        <pc:chgData name="Dieter Beaven" userId="9bbdb69f-69d0-4759-aa9b-5c090a2da237" providerId="ADAL" clId="{3736D5E5-739F-49F8-8648-95658EB5771D}" dt="2024-09-20T16:25:21.649" v="17" actId="1035"/>
        <pc:sldMkLst>
          <pc:docMk/>
          <pc:sldMk cId="3896053727" sldId="543"/>
        </pc:sldMkLst>
      </pc:sldChg>
      <pc:sldChg chg="del">
        <pc:chgData name="Dieter Beaven" userId="9bbdb69f-69d0-4759-aa9b-5c090a2da237" providerId="ADAL" clId="{3736D5E5-739F-49F8-8648-95658EB5771D}" dt="2024-09-20T16:25:25.114" v="18" actId="47"/>
        <pc:sldMkLst>
          <pc:docMk/>
          <pc:sldMk cId="446446822" sldId="544"/>
        </pc:sldMkLst>
      </pc:sldChg>
      <pc:sldChg chg="addSp modSp mod">
        <pc:chgData name="Dieter Beaven" userId="9bbdb69f-69d0-4759-aa9b-5c090a2da237" providerId="ADAL" clId="{3736D5E5-739F-49F8-8648-95658EB5771D}" dt="2024-09-20T16:26:14.209" v="20" actId="1076"/>
        <pc:sldMkLst>
          <pc:docMk/>
          <pc:sldMk cId="3458699803" sldId="545"/>
        </pc:sldMkLst>
      </pc:sldChg>
      <pc:sldChg chg="del">
        <pc:chgData name="Dieter Beaven" userId="9bbdb69f-69d0-4759-aa9b-5c090a2da237" providerId="ADAL" clId="{3736D5E5-739F-49F8-8648-95658EB5771D}" dt="2024-09-17T16:12:17.231" v="0" actId="47"/>
        <pc:sldMkLst>
          <pc:docMk/>
          <pc:sldMk cId="4071243651" sldId="548"/>
        </pc:sldMkLst>
      </pc:sldChg>
      <pc:sldChg chg="del">
        <pc:chgData name="Dieter Beaven" userId="9bbdb69f-69d0-4759-aa9b-5c090a2da237" providerId="ADAL" clId="{3736D5E5-739F-49F8-8648-95658EB5771D}" dt="2024-09-17T16:12:20.028" v="6" actId="47"/>
        <pc:sldMkLst>
          <pc:docMk/>
          <pc:sldMk cId="4190994049" sldId="550"/>
        </pc:sldMkLst>
      </pc:sldChg>
      <pc:sldChg chg="del">
        <pc:chgData name="Dieter Beaven" userId="9bbdb69f-69d0-4759-aa9b-5c090a2da237" providerId="ADAL" clId="{3736D5E5-739F-49F8-8648-95658EB5771D}" dt="2024-09-17T16:12:21.650" v="10" actId="47"/>
        <pc:sldMkLst>
          <pc:docMk/>
          <pc:sldMk cId="2915845008" sldId="551"/>
        </pc:sldMkLst>
      </pc:sldChg>
    </pc:docChg>
  </pc:docChgLst>
  <pc:docChgLst>
    <pc:chgData name="Dieter Beaven" userId="S::dbeaven@newsteadwood.co.uk::9bbdb69f-69d0-4759-aa9b-5c090a2da237" providerId="AD" clId="Web-{6BD7071B-32F0-A215-B523-DBD5E937F1B5}"/>
    <pc:docChg chg="modSld">
      <pc:chgData name="Dieter Beaven" userId="S::dbeaven@newsteadwood.co.uk::9bbdb69f-69d0-4759-aa9b-5c090a2da237" providerId="AD" clId="Web-{6BD7071B-32F0-A215-B523-DBD5E937F1B5}" dt="2024-09-23T10:28:21.091" v="1" actId="20577"/>
      <pc:docMkLst>
        <pc:docMk/>
      </pc:docMkLst>
      <pc:sldChg chg="modSp">
        <pc:chgData name="Dieter Beaven" userId="S::dbeaven@newsteadwood.co.uk::9bbdb69f-69d0-4759-aa9b-5c090a2da237" providerId="AD" clId="Web-{6BD7071B-32F0-A215-B523-DBD5E937F1B5}" dt="2024-09-23T10:28:21.091" v="1" actId="20577"/>
        <pc:sldMkLst>
          <pc:docMk/>
          <pc:sldMk cId="3991975165" sldId="5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25/09/2025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28161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87517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32520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566172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2005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340891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179336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99712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406649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202339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25/09/2025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a:p>
        </p:txBody>
      </p:sp>
    </p:spTree>
    <p:extLst>
      <p:ext uri="{BB962C8B-B14F-4D97-AF65-F5344CB8AC3E}">
        <p14:creationId xmlns:p14="http://schemas.microsoft.com/office/powerpoint/2010/main" val="962211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25/09/2025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6.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64.png"/><Relationship Id="rId10" Type="http://schemas.openxmlformats.org/officeDocument/2006/relationships/image" Target="../media/image91.png"/><Relationship Id="rId4" Type="http://schemas.openxmlformats.org/officeDocument/2006/relationships/image" Target="../media/image68.png"/><Relationship Id="rId9" Type="http://schemas.openxmlformats.org/officeDocument/2006/relationships/image" Target="../media/image90.png"/><Relationship Id="rId14" Type="http://schemas.openxmlformats.org/officeDocument/2006/relationships/image" Target="../media/image95.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3.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5.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3" Type="http://schemas.openxmlformats.org/officeDocument/2006/relationships/image" Target="../media/image106.png"/><Relationship Id="rId7" Type="http://schemas.openxmlformats.org/officeDocument/2006/relationships/image" Target="../media/image109.png"/><Relationship Id="rId12" Type="http://schemas.openxmlformats.org/officeDocument/2006/relationships/image" Target="../media/image114.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10" Type="http://schemas.openxmlformats.org/officeDocument/2006/relationships/image" Target="../media/image112.png"/><Relationship Id="rId4" Type="http://schemas.openxmlformats.org/officeDocument/2006/relationships/image" Target="../media/image3.png"/><Relationship Id="rId9" Type="http://schemas.openxmlformats.org/officeDocument/2006/relationships/image" Target="../media/image111.png"/><Relationship Id="rId14" Type="http://schemas.openxmlformats.org/officeDocument/2006/relationships/image" Target="../media/image11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520" y="2130425"/>
            <a:ext cx="8640960" cy="3026767"/>
          </a:xfrm>
        </p:spPr>
        <p:txBody>
          <a:bodyPr>
            <a:normAutofit/>
          </a:bodyPr>
          <a:lstStyle/>
          <a:p>
            <a:r>
              <a:rPr lang="en-GB" b="1" dirty="0">
                <a:solidFill>
                  <a:srgbClr val="92D050"/>
                </a:solidFill>
              </a:rPr>
              <a:t>P1 Chapter 13: </a:t>
            </a:r>
            <a:r>
              <a:rPr lang="en-GB" dirty="0">
                <a:solidFill>
                  <a:schemeClr val="accent5"/>
                </a:solidFill>
              </a:rPr>
              <a:t>Integration</a:t>
            </a:r>
            <a:br>
              <a:rPr lang="en-GB" dirty="0"/>
            </a:br>
            <a:br>
              <a:rPr lang="en-GB"/>
            </a:br>
            <a:r>
              <a:rPr lang="en-GB"/>
              <a:t>Areas </a:t>
            </a:r>
            <a:r>
              <a:rPr lang="en-GB" dirty="0"/>
              <a:t>Under Curves  </a:t>
            </a:r>
          </a:p>
        </p:txBody>
      </p:sp>
      <p:cxnSp>
        <p:nvCxnSpPr>
          <p:cNvPr id="8" name="Straight Connector 7"/>
          <p:cNvCxnSpPr/>
          <p:nvPr/>
        </p:nvCxnSpPr>
        <p:spPr>
          <a:xfrm>
            <a:off x="0" y="1268760"/>
            <a:ext cx="9144000"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975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reeform: Shape 24"/>
          <p:cNvSpPr/>
          <p:nvPr/>
        </p:nvSpPr>
        <p:spPr>
          <a:xfrm>
            <a:off x="2019300" y="4785360"/>
            <a:ext cx="1661160" cy="1120140"/>
          </a:xfrm>
          <a:custGeom>
            <a:avLst/>
            <a:gdLst>
              <a:gd name="connsiteX0" fmla="*/ 0 w 1661160"/>
              <a:gd name="connsiteY0" fmla="*/ 1120140 h 1120140"/>
              <a:gd name="connsiteX1" fmla="*/ 1661160 w 1661160"/>
              <a:gd name="connsiteY1" fmla="*/ 1120140 h 1120140"/>
              <a:gd name="connsiteX2" fmla="*/ 1493520 w 1661160"/>
              <a:gd name="connsiteY2" fmla="*/ 723900 h 1120140"/>
              <a:gd name="connsiteX3" fmla="*/ 1379220 w 1661160"/>
              <a:gd name="connsiteY3" fmla="*/ 487680 h 1120140"/>
              <a:gd name="connsiteX4" fmla="*/ 1295400 w 1661160"/>
              <a:gd name="connsiteY4" fmla="*/ 327660 h 1120140"/>
              <a:gd name="connsiteX5" fmla="*/ 1181100 w 1661160"/>
              <a:gd name="connsiteY5" fmla="*/ 175260 h 1120140"/>
              <a:gd name="connsiteX6" fmla="*/ 1066800 w 1661160"/>
              <a:gd name="connsiteY6" fmla="*/ 60960 h 1120140"/>
              <a:gd name="connsiteX7" fmla="*/ 967740 w 1661160"/>
              <a:gd name="connsiteY7" fmla="*/ 0 h 1120140"/>
              <a:gd name="connsiteX8" fmla="*/ 883920 w 1661160"/>
              <a:gd name="connsiteY8" fmla="*/ 0 h 1120140"/>
              <a:gd name="connsiteX9" fmla="*/ 762000 w 1661160"/>
              <a:gd name="connsiteY9" fmla="*/ 30480 h 1120140"/>
              <a:gd name="connsiteX10" fmla="*/ 632460 w 1661160"/>
              <a:gd name="connsiteY10" fmla="*/ 129540 h 1120140"/>
              <a:gd name="connsiteX11" fmla="*/ 495300 w 1661160"/>
              <a:gd name="connsiteY11" fmla="*/ 274320 h 1120140"/>
              <a:gd name="connsiteX12" fmla="*/ 381000 w 1661160"/>
              <a:gd name="connsiteY12" fmla="*/ 449580 h 1120140"/>
              <a:gd name="connsiteX13" fmla="*/ 205740 w 1661160"/>
              <a:gd name="connsiteY13" fmla="*/ 723900 h 1120140"/>
              <a:gd name="connsiteX14" fmla="*/ 60960 w 1661160"/>
              <a:gd name="connsiteY14" fmla="*/ 998220 h 1120140"/>
              <a:gd name="connsiteX15" fmla="*/ 0 w 1661160"/>
              <a:gd name="connsiteY15" fmla="*/ 1120140 h 112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1160" h="1120140">
                <a:moveTo>
                  <a:pt x="0" y="1120140"/>
                </a:moveTo>
                <a:lnTo>
                  <a:pt x="1661160" y="1120140"/>
                </a:lnTo>
                <a:lnTo>
                  <a:pt x="1493520" y="723900"/>
                </a:lnTo>
                <a:lnTo>
                  <a:pt x="1379220" y="487680"/>
                </a:lnTo>
                <a:lnTo>
                  <a:pt x="1295400" y="327660"/>
                </a:lnTo>
                <a:lnTo>
                  <a:pt x="1181100" y="175260"/>
                </a:lnTo>
                <a:lnTo>
                  <a:pt x="1066800" y="60960"/>
                </a:lnTo>
                <a:lnTo>
                  <a:pt x="967740" y="0"/>
                </a:lnTo>
                <a:lnTo>
                  <a:pt x="883920" y="0"/>
                </a:lnTo>
                <a:lnTo>
                  <a:pt x="762000" y="30480"/>
                </a:lnTo>
                <a:lnTo>
                  <a:pt x="632460" y="129540"/>
                </a:lnTo>
                <a:lnTo>
                  <a:pt x="495300" y="274320"/>
                </a:lnTo>
                <a:lnTo>
                  <a:pt x="381000" y="449580"/>
                </a:lnTo>
                <a:lnTo>
                  <a:pt x="205740" y="723900"/>
                </a:lnTo>
                <a:lnTo>
                  <a:pt x="60960" y="998220"/>
                </a:lnTo>
                <a:lnTo>
                  <a:pt x="0" y="1120140"/>
                </a:lnTo>
                <a:close/>
              </a:path>
            </a:pathLst>
          </a:custGeom>
          <a:solidFill>
            <a:schemeClr val="accent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Areas under curves</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382133" y="1092083"/>
                <a:ext cx="5760640" cy="1248803"/>
              </a:xfrm>
              <a:prstGeom prst="rect">
                <a:avLst/>
              </a:prstGeom>
              <a:noFill/>
            </p:spPr>
            <p:txBody>
              <a:bodyPr wrap="square" rtlCol="0">
                <a:spAutoFit/>
              </a:bodyPr>
              <a:lstStyle/>
              <a:p>
                <a:r>
                  <a:rPr lang="en-GB" dirty="0"/>
                  <a:t>Earlier we saw that the definite integral </a:t>
                </a:r>
                <a14:m>
                  <m:oMath xmlns:m="http://schemas.openxmlformats.org/officeDocument/2006/math">
                    <m:nary>
                      <m:naryPr>
                        <m:ctrlPr>
                          <a:rPr lang="en-GB" b="1" i="1" smtClean="0">
                            <a:latin typeface="Cambria Math" panose="02040503050406030204" pitchFamily="18" charset="0"/>
                          </a:rPr>
                        </m:ctrlPr>
                      </m:naryPr>
                      <m:sub>
                        <m:r>
                          <a:rPr lang="en-GB" b="1" i="1" smtClean="0">
                            <a:latin typeface="Cambria Math" panose="02040503050406030204" pitchFamily="18" charset="0"/>
                          </a:rPr>
                          <m:t>𝒂</m:t>
                        </m:r>
                      </m:sub>
                      <m:sup>
                        <m:r>
                          <a:rPr lang="en-GB" b="1" i="1" smtClean="0">
                            <a:latin typeface="Cambria Math" panose="02040503050406030204" pitchFamily="18" charset="0"/>
                          </a:rPr>
                          <m:t>𝒃</m:t>
                        </m:r>
                      </m:sup>
                      <m:e>
                        <m:r>
                          <a:rPr lang="en-GB" b="1" i="1" smtClean="0">
                            <a:latin typeface="Cambria Math" panose="02040503050406030204" pitchFamily="18" charset="0"/>
                          </a:rPr>
                          <m:t>𝒇</m:t>
                        </m:r>
                        <m:r>
                          <a:rPr lang="en-GB" b="1" i="1" smtClean="0">
                            <a:latin typeface="Cambria Math" panose="02040503050406030204" pitchFamily="18" charset="0"/>
                          </a:rPr>
                          <m:t>(</m:t>
                        </m:r>
                        <m:r>
                          <a:rPr lang="en-GB" b="1" i="1" smtClean="0">
                            <a:latin typeface="Cambria Math" panose="02040503050406030204" pitchFamily="18" charset="0"/>
                          </a:rPr>
                          <m:t>𝒙</m:t>
                        </m:r>
                        <m:r>
                          <a:rPr lang="en-GB" b="1" i="1" smtClean="0">
                            <a:latin typeface="Cambria Math" panose="02040503050406030204" pitchFamily="18" charset="0"/>
                          </a:rPr>
                          <m:t>)</m:t>
                        </m:r>
                      </m:e>
                    </m:nary>
                    <m:r>
                      <a:rPr lang="en-GB" b="1" i="1" smtClean="0">
                        <a:latin typeface="Cambria Math" panose="02040503050406030204" pitchFamily="18" charset="0"/>
                      </a:rPr>
                      <m:t> </m:t>
                    </m:r>
                    <m:r>
                      <a:rPr lang="en-GB" b="1" i="1" smtClean="0">
                        <a:latin typeface="Cambria Math" panose="02040503050406030204" pitchFamily="18" charset="0"/>
                      </a:rPr>
                      <m:t>𝒅𝒙</m:t>
                    </m:r>
                  </m:oMath>
                </a14:m>
                <a:r>
                  <a:rPr lang="en-GB" b="1" dirty="0"/>
                  <a:t> </a:t>
                </a:r>
                <a:r>
                  <a:rPr lang="en-GB" dirty="0"/>
                  <a:t>gives the </a:t>
                </a:r>
                <a:r>
                  <a:rPr lang="en-GB" b="1" dirty="0"/>
                  <a:t>area</a:t>
                </a:r>
                <a:r>
                  <a:rPr lang="en-GB" dirty="0"/>
                  <a:t> between a positive curve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a14:m>
                <a:r>
                  <a:rPr lang="en-GB" dirty="0"/>
                  <a:t>, the </a:t>
                </a:r>
                <a14:m>
                  <m:oMath xmlns:m="http://schemas.openxmlformats.org/officeDocument/2006/math">
                    <m:r>
                      <a:rPr lang="en-GB" b="1" i="1" smtClean="0">
                        <a:latin typeface="Cambria Math" panose="02040503050406030204" pitchFamily="18" charset="0"/>
                      </a:rPr>
                      <m:t>𝒙</m:t>
                    </m:r>
                  </m:oMath>
                </a14:m>
                <a:r>
                  <a:rPr lang="en-GB" b="1" dirty="0"/>
                  <a:t>-axis</a:t>
                </a:r>
                <a:r>
                  <a:rPr lang="en-GB" dirty="0"/>
                  <a:t>, and the lines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𝑎</m:t>
                    </m:r>
                  </m:oMath>
                </a14:m>
                <a:r>
                  <a:rPr lang="en-GB" dirty="0"/>
                  <a:t> and </a:t>
                </a:r>
                <a14:m>
                  <m:oMath xmlns:m="http://schemas.openxmlformats.org/officeDocument/2006/math">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𝑏</m:t>
                    </m:r>
                  </m:oMath>
                </a14:m>
                <a:r>
                  <a:rPr lang="en-GB" dirty="0"/>
                  <a:t>.</a:t>
                </a:r>
              </a:p>
              <a:p>
                <a:r>
                  <a:rPr lang="en-GB" sz="1400" dirty="0"/>
                  <a:t>(We’ll see </a:t>
                </a:r>
                <a:r>
                  <a:rPr lang="en-GB" sz="1400" u="sng" dirty="0"/>
                  <a:t>why</a:t>
                </a:r>
                <a:r>
                  <a:rPr lang="en-GB" sz="1400" dirty="0"/>
                  <a:t> this works in a sec)</a:t>
                </a:r>
              </a:p>
            </p:txBody>
          </p:sp>
        </mc:Choice>
        <mc:Fallback xmlns="">
          <p:sp>
            <p:nvSpPr>
              <p:cNvPr id="5" name="TextBox 4"/>
              <p:cNvSpPr txBox="1">
                <a:spLocks noRot="1" noChangeAspect="1" noMove="1" noResize="1" noEditPoints="1" noAdjustHandles="1" noChangeArrowheads="1" noChangeShapeType="1" noTextEdit="1"/>
              </p:cNvSpPr>
              <p:nvPr/>
            </p:nvSpPr>
            <p:spPr>
              <a:xfrm>
                <a:off x="382133" y="1092083"/>
                <a:ext cx="5760640" cy="1248803"/>
              </a:xfrm>
              <a:prstGeom prst="rect">
                <a:avLst/>
              </a:prstGeom>
              <a:blipFill>
                <a:blip r:embed="rId2"/>
                <a:stretch>
                  <a:fillRect l="-952" t="-38537" b="-4390"/>
                </a:stretch>
              </a:blipFill>
            </p:spPr>
            <p:txBody>
              <a:bodyPr/>
              <a:lstStyle/>
              <a:p>
                <a:r>
                  <a:rPr lang="en-GB">
                    <a:noFill/>
                  </a:rPr>
                  <a:t> </a:t>
                </a:r>
              </a:p>
            </p:txBody>
          </p:sp>
        </mc:Fallback>
      </mc:AlternateContent>
      <p:cxnSp>
        <p:nvCxnSpPr>
          <p:cNvPr id="6" name="Straight Arrow Connector 5"/>
          <p:cNvCxnSpPr/>
          <p:nvPr/>
        </p:nvCxnSpPr>
        <p:spPr>
          <a:xfrm flipV="1">
            <a:off x="6510273" y="1186655"/>
            <a:ext cx="0" cy="115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6510273" y="2338783"/>
            <a:ext cx="17281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p:cNvSpPr txBox="1"/>
              <p:nvPr/>
            </p:nvSpPr>
            <p:spPr>
              <a:xfrm>
                <a:off x="6324228" y="865176"/>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𝑦</m:t>
                      </m:r>
                    </m:oMath>
                  </m:oMathPara>
                </a14:m>
                <a:endParaRPr lang="en-GB" sz="1400" dirty="0"/>
              </a:p>
            </p:txBody>
          </p:sp>
        </mc:Choice>
        <mc:Fallback xmlns="">
          <p:sp>
            <p:nvSpPr>
              <p:cNvPr id="8" name="TextBox 7"/>
              <p:cNvSpPr txBox="1">
                <a:spLocks noRot="1" noChangeAspect="1" noMove="1" noResize="1" noEditPoints="1" noAdjustHandles="1" noChangeArrowheads="1" noChangeShapeType="1" noTextEdit="1"/>
              </p:cNvSpPr>
              <p:nvPr/>
            </p:nvSpPr>
            <p:spPr>
              <a:xfrm>
                <a:off x="6324228" y="865176"/>
                <a:ext cx="392406" cy="307777"/>
              </a:xfrm>
              <a:prstGeom prst="rect">
                <a:avLst/>
              </a:prstGeom>
              <a:blipFill>
                <a:blip r:embed="rId3"/>
                <a:stretch>
                  <a:fillRect b="-2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8151222" y="2180916"/>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𝑥</m:t>
                      </m:r>
                    </m:oMath>
                  </m:oMathPara>
                </a14:m>
                <a:endParaRPr lang="en-GB" sz="1400" dirty="0"/>
              </a:p>
            </p:txBody>
          </p:sp>
        </mc:Choice>
        <mc:Fallback xmlns="">
          <p:sp>
            <p:nvSpPr>
              <p:cNvPr id="9" name="TextBox 8"/>
              <p:cNvSpPr txBox="1">
                <a:spLocks noRot="1" noChangeAspect="1" noMove="1" noResize="1" noEditPoints="1" noAdjustHandles="1" noChangeArrowheads="1" noChangeShapeType="1" noTextEdit="1"/>
              </p:cNvSpPr>
              <p:nvPr/>
            </p:nvSpPr>
            <p:spPr>
              <a:xfrm>
                <a:off x="8151222" y="2180916"/>
                <a:ext cx="377816" cy="3077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579801" y="1959693"/>
                <a:ext cx="1317154"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100" b="0" i="1" smtClean="0">
                          <a:solidFill>
                            <a:schemeClr val="bg1"/>
                          </a:solidFill>
                          <a:latin typeface="Cambria Math" panose="02040503050406030204" pitchFamily="18" charset="0"/>
                        </a:rPr>
                        <m:t>𝐴𝑟𝑒𝑎</m:t>
                      </m:r>
                      <m:r>
                        <a:rPr lang="en-GB" sz="1100" b="0" i="1" smtClean="0">
                          <a:solidFill>
                            <a:schemeClr val="bg1"/>
                          </a:solidFill>
                          <a:latin typeface="Cambria Math" panose="02040503050406030204" pitchFamily="18" charset="0"/>
                        </a:rPr>
                        <m:t>=</m:t>
                      </m:r>
                      <m:r>
                        <a:rPr lang="en-GB" sz="1100" b="0" i="1" smtClean="0">
                          <a:solidFill>
                            <a:schemeClr val="bg1"/>
                          </a:solidFill>
                          <a:latin typeface="Cambria Math" panose="02040503050406030204" pitchFamily="18" charset="0"/>
                        </a:rPr>
                        <m:t>𝑑𝑖𝑠𝑡𝑎𝑛𝑐𝑒</m:t>
                      </m:r>
                    </m:oMath>
                  </m:oMathPara>
                </a14:m>
                <a:endParaRPr lang="en-GB" sz="1100" dirty="0">
                  <a:solidFill>
                    <a:schemeClr val="bg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579801" y="1959693"/>
                <a:ext cx="1317154" cy="261610"/>
              </a:xfrm>
              <a:prstGeom prst="rect">
                <a:avLst/>
              </a:prstGeom>
              <a:blipFill>
                <a:blip r:embed="rId5"/>
                <a:stretch>
                  <a:fillRect/>
                </a:stretch>
              </a:blipFill>
            </p:spPr>
            <p:txBody>
              <a:bodyPr/>
              <a:lstStyle/>
              <a:p>
                <a:r>
                  <a:rPr lang="en-GB">
                    <a:noFill/>
                  </a:rPr>
                  <a:t> </a:t>
                </a:r>
              </a:p>
            </p:txBody>
          </p:sp>
        </mc:Fallback>
      </mc:AlternateContent>
      <p:sp>
        <p:nvSpPr>
          <p:cNvPr id="11" name="Freeform: Shape 10"/>
          <p:cNvSpPr/>
          <p:nvPr/>
        </p:nvSpPr>
        <p:spPr>
          <a:xfrm>
            <a:off x="6512442" y="1078319"/>
            <a:ext cx="1457325" cy="1257300"/>
          </a:xfrm>
          <a:custGeom>
            <a:avLst/>
            <a:gdLst>
              <a:gd name="connsiteX0" fmla="*/ 0 w 1457325"/>
              <a:gd name="connsiteY0" fmla="*/ 1257300 h 1257300"/>
              <a:gd name="connsiteX1" fmla="*/ 552450 w 1457325"/>
              <a:gd name="connsiteY1" fmla="*/ 990600 h 1257300"/>
              <a:gd name="connsiteX2" fmla="*/ 1066800 w 1457325"/>
              <a:gd name="connsiteY2" fmla="*/ 590550 h 1257300"/>
              <a:gd name="connsiteX3" fmla="*/ 1457325 w 1457325"/>
              <a:gd name="connsiteY3" fmla="*/ 0 h 1257300"/>
            </a:gdLst>
            <a:ahLst/>
            <a:cxnLst>
              <a:cxn ang="0">
                <a:pos x="connsiteX0" y="connsiteY0"/>
              </a:cxn>
              <a:cxn ang="0">
                <a:pos x="connsiteX1" y="connsiteY1"/>
              </a:cxn>
              <a:cxn ang="0">
                <a:pos x="connsiteX2" y="connsiteY2"/>
              </a:cxn>
              <a:cxn ang="0">
                <a:pos x="connsiteX3" y="connsiteY3"/>
              </a:cxn>
            </a:cxnLst>
            <a:rect l="l" t="t" r="r" b="b"/>
            <a:pathLst>
              <a:path w="1457325" h="1257300">
                <a:moveTo>
                  <a:pt x="0" y="1257300"/>
                </a:moveTo>
                <a:cubicBezTo>
                  <a:pt x="187325" y="1179512"/>
                  <a:pt x="374650" y="1101725"/>
                  <a:pt x="552450" y="990600"/>
                </a:cubicBezTo>
                <a:cubicBezTo>
                  <a:pt x="730250" y="879475"/>
                  <a:pt x="915988" y="755650"/>
                  <a:pt x="1066800" y="590550"/>
                </a:cubicBezTo>
                <a:cubicBezTo>
                  <a:pt x="1217612" y="425450"/>
                  <a:pt x="1337468" y="212725"/>
                  <a:pt x="1457325"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p:cNvSpPr/>
          <p:nvPr/>
        </p:nvSpPr>
        <p:spPr>
          <a:xfrm>
            <a:off x="7074417" y="1268819"/>
            <a:ext cx="800100" cy="1066800"/>
          </a:xfrm>
          <a:custGeom>
            <a:avLst/>
            <a:gdLst>
              <a:gd name="connsiteX0" fmla="*/ 0 w 800100"/>
              <a:gd name="connsiteY0" fmla="*/ 1066800 h 1066800"/>
              <a:gd name="connsiteX1" fmla="*/ 0 w 800100"/>
              <a:gd name="connsiteY1" fmla="*/ 809625 h 1066800"/>
              <a:gd name="connsiteX2" fmla="*/ 257175 w 800100"/>
              <a:gd name="connsiteY2" fmla="*/ 619125 h 1066800"/>
              <a:gd name="connsiteX3" fmla="*/ 457200 w 800100"/>
              <a:gd name="connsiteY3" fmla="*/ 447675 h 1066800"/>
              <a:gd name="connsiteX4" fmla="*/ 609600 w 800100"/>
              <a:gd name="connsiteY4" fmla="*/ 285750 h 1066800"/>
              <a:gd name="connsiteX5" fmla="*/ 800100 w 800100"/>
              <a:gd name="connsiteY5" fmla="*/ 0 h 1066800"/>
              <a:gd name="connsiteX6" fmla="*/ 800100 w 800100"/>
              <a:gd name="connsiteY6" fmla="*/ 1066800 h 1066800"/>
              <a:gd name="connsiteX7" fmla="*/ 0 w 800100"/>
              <a:gd name="connsiteY7" fmla="*/ 1066800 h 106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0100" h="1066800">
                <a:moveTo>
                  <a:pt x="0" y="1066800"/>
                </a:moveTo>
                <a:lnTo>
                  <a:pt x="0" y="809625"/>
                </a:lnTo>
                <a:lnTo>
                  <a:pt x="257175" y="619125"/>
                </a:lnTo>
                <a:lnTo>
                  <a:pt x="457200" y="447675"/>
                </a:lnTo>
                <a:lnTo>
                  <a:pt x="609600" y="285750"/>
                </a:lnTo>
                <a:lnTo>
                  <a:pt x="800100" y="0"/>
                </a:lnTo>
                <a:lnTo>
                  <a:pt x="800100" y="1066800"/>
                </a:lnTo>
                <a:lnTo>
                  <a:pt x="0" y="1066800"/>
                </a:lnTo>
                <a:close/>
              </a:path>
            </a:pathLst>
          </a:custGeom>
          <a:solidFill>
            <a:schemeClr val="accent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3" name="TextBox 12"/>
              <p:cNvSpPr txBox="1"/>
              <p:nvPr/>
            </p:nvSpPr>
            <p:spPr>
              <a:xfrm>
                <a:off x="6902199" y="2334804"/>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𝑎</m:t>
                      </m:r>
                    </m:oMath>
                  </m:oMathPara>
                </a14:m>
                <a:endParaRPr lang="en-GB" sz="1400" dirty="0"/>
              </a:p>
            </p:txBody>
          </p:sp>
        </mc:Choice>
        <mc:Fallback xmlns="">
          <p:sp>
            <p:nvSpPr>
              <p:cNvPr id="13" name="TextBox 12"/>
              <p:cNvSpPr txBox="1">
                <a:spLocks noRot="1" noChangeAspect="1" noMove="1" noResize="1" noEditPoints="1" noAdjustHandles="1" noChangeArrowheads="1" noChangeShapeType="1" noTextEdit="1"/>
              </p:cNvSpPr>
              <p:nvPr/>
            </p:nvSpPr>
            <p:spPr>
              <a:xfrm>
                <a:off x="6902199" y="2334804"/>
                <a:ext cx="377816" cy="307777"/>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674362" y="2334804"/>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𝑏</m:t>
                      </m:r>
                    </m:oMath>
                  </m:oMathPara>
                </a14:m>
                <a:endParaRPr lang="en-GB" sz="1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7674362" y="2334804"/>
                <a:ext cx="377816" cy="3077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969767" y="996254"/>
                <a:ext cx="1036010"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𝑦</m:t>
                      </m:r>
                      <m:r>
                        <a:rPr lang="en-GB" sz="1400" b="0" i="1" smtClean="0">
                          <a:latin typeface="Cambria Math" panose="02040503050406030204" pitchFamily="18" charset="0"/>
                        </a:rPr>
                        <m:t>=</m:t>
                      </m:r>
                      <m:r>
                        <a:rPr lang="en-GB" sz="1400" b="0" i="1" smtClean="0">
                          <a:latin typeface="Cambria Math" panose="02040503050406030204" pitchFamily="18" charset="0"/>
                        </a:rPr>
                        <m:t>𝑓</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m:oMathPara>
                </a14:m>
                <a:endParaRPr lang="en-GB" sz="1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969767" y="996254"/>
                <a:ext cx="1036010" cy="307777"/>
              </a:xfrm>
              <a:prstGeom prst="rect">
                <a:avLst/>
              </a:prstGeom>
              <a:blipFill>
                <a:blip r:embed="rId8"/>
                <a:stretch>
                  <a:fillRect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139046" y="1876011"/>
                <a:ext cx="70226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000" b="0" i="1" smtClean="0">
                          <a:solidFill>
                            <a:schemeClr val="bg1"/>
                          </a:solidFill>
                          <a:latin typeface="Cambria Math" panose="02040503050406030204" pitchFamily="18" charset="0"/>
                        </a:rPr>
                        <m:t>𝐴𝑟𝑒𝑎</m:t>
                      </m:r>
                    </m:oMath>
                  </m:oMathPara>
                </a14:m>
                <a:endParaRPr lang="en-GB" sz="1100" dirty="0">
                  <a:solidFill>
                    <a:schemeClr val="bg1"/>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7139046" y="1876011"/>
                <a:ext cx="702260" cy="400110"/>
              </a:xfrm>
              <a:prstGeom prst="rect">
                <a:avLst/>
              </a:prstGeom>
              <a:blipFill>
                <a:blip r:embed="rId9"/>
                <a:stretch>
                  <a:fillRect r="-5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65093" y="3055304"/>
                <a:ext cx="5305471" cy="646331"/>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Find the area of the finite region between the curve with equation </a:t>
                </a:r>
                <a14:m>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=20−</m:t>
                    </m:r>
                    <m:r>
                      <a:rPr lang="en-GB" b="0" i="1" smtClean="0">
                        <a:latin typeface="Cambria Math" panose="02040503050406030204" pitchFamily="18" charset="0"/>
                      </a:rPr>
                      <m:t>𝑥</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𝑥</m:t>
                        </m:r>
                      </m:e>
                      <m:sup>
                        <m:r>
                          <a:rPr lang="en-GB" b="0" i="1" smtClean="0">
                            <a:latin typeface="Cambria Math" panose="02040503050406030204" pitchFamily="18" charset="0"/>
                          </a:rPr>
                          <m:t>2</m:t>
                        </m:r>
                      </m:sup>
                    </m:sSup>
                  </m:oMath>
                </a14:m>
                <a:r>
                  <a:rPr lang="en-GB" dirty="0"/>
                  <a:t> and the </a:t>
                </a:r>
                <a14:m>
                  <m:oMath xmlns:m="http://schemas.openxmlformats.org/officeDocument/2006/math">
                    <m:r>
                      <a:rPr lang="en-GB" b="0" i="1" smtClean="0">
                        <a:latin typeface="Cambria Math" panose="02040503050406030204" pitchFamily="18" charset="0"/>
                      </a:rPr>
                      <m:t>𝑥</m:t>
                    </m:r>
                  </m:oMath>
                </a14:m>
                <a:r>
                  <a:rPr lang="en-GB" dirty="0"/>
                  <a:t>-axis.</a:t>
                </a:r>
              </a:p>
            </p:txBody>
          </p:sp>
        </mc:Choice>
        <mc:Fallback xmlns="">
          <p:sp>
            <p:nvSpPr>
              <p:cNvPr id="17" name="TextBox 16"/>
              <p:cNvSpPr txBox="1">
                <a:spLocks noRot="1" noChangeAspect="1" noMove="1" noResize="1" noEditPoints="1" noAdjustHandles="1" noChangeArrowheads="1" noChangeShapeType="1" noTextEdit="1"/>
              </p:cNvSpPr>
              <p:nvPr/>
            </p:nvSpPr>
            <p:spPr>
              <a:xfrm>
                <a:off x="565093" y="3055304"/>
                <a:ext cx="5305471" cy="646331"/>
              </a:xfrm>
              <a:prstGeom prst="rect">
                <a:avLst/>
              </a:prstGeom>
              <a:blipFill>
                <a:blip r:embed="rId10"/>
                <a:stretch>
                  <a:fillRect b="-230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cxnSp>
        <p:nvCxnSpPr>
          <p:cNvPr id="18" name="Straight Arrow Connector 17"/>
          <p:cNvCxnSpPr/>
          <p:nvPr/>
        </p:nvCxnSpPr>
        <p:spPr>
          <a:xfrm flipV="1">
            <a:off x="3131840" y="4423261"/>
            <a:ext cx="0" cy="21020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1773882" y="5907305"/>
            <a:ext cx="28594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2964202" y="4110793"/>
                <a:ext cx="39240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𝑦</m:t>
                      </m:r>
                    </m:oMath>
                  </m:oMathPara>
                </a14:m>
                <a:endParaRPr lang="en-GB"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964202" y="4110793"/>
                <a:ext cx="392406" cy="307777"/>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578545" y="5745510"/>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4578545" y="5745510"/>
                <a:ext cx="377816" cy="307777"/>
              </a:xfrm>
              <a:prstGeom prst="rect">
                <a:avLst/>
              </a:prstGeom>
              <a:blipFill>
                <a:blip r:embed="rId4"/>
                <a:stretch>
                  <a:fillRect/>
                </a:stretch>
              </a:blipFill>
            </p:spPr>
            <p:txBody>
              <a:bodyPr/>
              <a:lstStyle/>
              <a:p>
                <a:r>
                  <a:rPr lang="en-GB">
                    <a:noFill/>
                  </a:rPr>
                  <a:t> </a:t>
                </a:r>
              </a:p>
            </p:txBody>
          </p:sp>
        </mc:Fallback>
      </mc:AlternateContent>
      <p:sp>
        <p:nvSpPr>
          <p:cNvPr id="24" name="Freeform: Shape 23"/>
          <p:cNvSpPr/>
          <p:nvPr/>
        </p:nvSpPr>
        <p:spPr>
          <a:xfrm>
            <a:off x="1786270" y="4774008"/>
            <a:ext cx="2083982" cy="1626792"/>
          </a:xfrm>
          <a:custGeom>
            <a:avLst/>
            <a:gdLst>
              <a:gd name="connsiteX0" fmla="*/ 0 w 2083982"/>
              <a:gd name="connsiteY0" fmla="*/ 1605527 h 1626792"/>
              <a:gd name="connsiteX1" fmla="*/ 1127051 w 2083982"/>
              <a:gd name="connsiteY1" fmla="*/ 11 h 1626792"/>
              <a:gd name="connsiteX2" fmla="*/ 2083982 w 2083982"/>
              <a:gd name="connsiteY2" fmla="*/ 1626792 h 1626792"/>
            </a:gdLst>
            <a:ahLst/>
            <a:cxnLst>
              <a:cxn ang="0">
                <a:pos x="connsiteX0" y="connsiteY0"/>
              </a:cxn>
              <a:cxn ang="0">
                <a:pos x="connsiteX1" y="connsiteY1"/>
              </a:cxn>
              <a:cxn ang="0">
                <a:pos x="connsiteX2" y="connsiteY2"/>
              </a:cxn>
            </a:cxnLst>
            <a:rect l="l" t="t" r="r" b="b"/>
            <a:pathLst>
              <a:path w="2083982" h="1626792">
                <a:moveTo>
                  <a:pt x="0" y="1605527"/>
                </a:moveTo>
                <a:cubicBezTo>
                  <a:pt x="389860" y="800997"/>
                  <a:pt x="779721" y="-3533"/>
                  <a:pt x="1127051" y="11"/>
                </a:cubicBezTo>
                <a:cubicBezTo>
                  <a:pt x="1474381" y="3555"/>
                  <a:pt x="1779181" y="815173"/>
                  <a:pt x="2083982" y="162679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4916568" y="3877473"/>
                <a:ext cx="3600400" cy="2860720"/>
              </a:xfrm>
              <a:prstGeom prst="rect">
                <a:avLst/>
              </a:prstGeom>
              <a:noFill/>
            </p:spPr>
            <p:txBody>
              <a:bodyPr wrap="square" rtlCol="0">
                <a:spAutoFit/>
              </a:bodyPr>
              <a:lstStyle/>
              <a:p>
                <a:r>
                  <a:rPr lang="en-GB" sz="1400" b="1" dirty="0"/>
                  <a:t>Factorise in order to find roots:</a:t>
                </a:r>
              </a:p>
              <a:p>
                <a:pP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𝟐𝟎</m:t>
                      </m:r>
                      <m:r>
                        <a:rPr lang="en-GB" sz="1400" b="1" i="1" smtClean="0">
                          <a:latin typeface="Cambria Math" panose="02040503050406030204" pitchFamily="18" charset="0"/>
                        </a:rPr>
                        <m:t>−</m:t>
                      </m:r>
                      <m:r>
                        <a:rPr lang="en-GB" sz="1400" b="1" i="1" smtClean="0">
                          <a:latin typeface="Cambria Math" panose="02040503050406030204" pitchFamily="18" charset="0"/>
                        </a:rPr>
                        <m:t>𝒙</m:t>
                      </m:r>
                      <m:r>
                        <a:rPr lang="en-GB" sz="1400" b="1" i="1" smtClean="0">
                          <a:latin typeface="Cambria Math" panose="02040503050406030204" pitchFamily="18" charset="0"/>
                        </a:rPr>
                        <m:t>−</m:t>
                      </m:r>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 xmlns:m="http://schemas.openxmlformats.org/officeDocument/2006/math">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𝟐𝟎</m:t>
                      </m:r>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 xmlns:m="http://schemas.openxmlformats.org/officeDocument/2006/math">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𝟓</m:t>
                          </m:r>
                        </m:e>
                      </m:d>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𝟒</m:t>
                          </m:r>
                        </m:e>
                      </m:d>
                      <m:r>
                        <a:rPr lang="en-GB" sz="1400" b="1" i="1" smtClean="0">
                          <a:latin typeface="Cambria Math" panose="02040503050406030204" pitchFamily="18" charset="0"/>
                        </a:rPr>
                        <m:t>=</m:t>
                      </m:r>
                      <m:r>
                        <a:rPr lang="en-GB" sz="1400" b="1" i="1" smtClean="0">
                          <a:latin typeface="Cambria Math" panose="02040503050406030204" pitchFamily="18" charset="0"/>
                        </a:rPr>
                        <m:t>𝟎</m:t>
                      </m:r>
                    </m:oMath>
                    <m:oMath xmlns:m="http://schemas.openxmlformats.org/officeDocument/2006/math">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𝟓</m:t>
                      </m:r>
                      <m:r>
                        <a:rPr lang="en-GB" sz="1400" b="1" i="1" smtClean="0">
                          <a:latin typeface="Cambria Math" panose="02040503050406030204" pitchFamily="18" charset="0"/>
                        </a:rPr>
                        <m:t> </m:t>
                      </m:r>
                      <m:r>
                        <a:rPr lang="en-GB" sz="1400" b="1" i="1" smtClean="0">
                          <a:latin typeface="Cambria Math" panose="02040503050406030204" pitchFamily="18" charset="0"/>
                        </a:rPr>
                        <m:t>𝒐𝒓</m:t>
                      </m:r>
                      <m:r>
                        <a:rPr lang="en-GB" sz="1400" b="1" i="1" smtClean="0">
                          <a:latin typeface="Cambria Math" panose="02040503050406030204" pitchFamily="18" charset="0"/>
                        </a:rPr>
                        <m:t> </m:t>
                      </m:r>
                      <m:r>
                        <a:rPr lang="en-GB" sz="1400" b="1" i="1" smtClean="0">
                          <a:latin typeface="Cambria Math" panose="02040503050406030204" pitchFamily="18" charset="0"/>
                        </a:rPr>
                        <m:t>𝒙</m:t>
                      </m:r>
                      <m:r>
                        <a:rPr lang="en-GB" sz="1400" b="1" i="1" smtClean="0">
                          <a:latin typeface="Cambria Math" panose="02040503050406030204" pitchFamily="18" charset="0"/>
                        </a:rPr>
                        <m:t>=</m:t>
                      </m:r>
                      <m:r>
                        <a:rPr lang="en-GB" sz="1400" b="1" i="1" smtClean="0">
                          <a:latin typeface="Cambria Math" panose="02040503050406030204" pitchFamily="18" charset="0"/>
                        </a:rPr>
                        <m:t>𝟒</m:t>
                      </m:r>
                    </m:oMath>
                  </m:oMathPara>
                </a14:m>
                <a:endParaRPr lang="en-GB" sz="1400" b="1" dirty="0"/>
              </a:p>
              <a:p>
                <a:endParaRPr lang="en-GB" sz="300" b="1" dirty="0"/>
              </a:p>
              <a:p>
                <a:r>
                  <a:rPr lang="en-GB" sz="1400" b="1" dirty="0"/>
                  <a:t>Therefore area between curve and </a:t>
                </a:r>
                <a14:m>
                  <m:oMath xmlns:m="http://schemas.openxmlformats.org/officeDocument/2006/math">
                    <m:r>
                      <a:rPr lang="en-GB" sz="1400" b="1" i="1" smtClean="0">
                        <a:latin typeface="Cambria Math" panose="02040503050406030204" pitchFamily="18" charset="0"/>
                      </a:rPr>
                      <m:t>𝒙</m:t>
                    </m:r>
                  </m:oMath>
                </a14:m>
                <a:r>
                  <a:rPr lang="en-GB" sz="1400" b="1" dirty="0"/>
                  <a:t>-axis is:</a:t>
                </a:r>
              </a:p>
              <a:p>
                <a:pPr/>
                <a14:m>
                  <m:oMathPara xmlns:m="http://schemas.openxmlformats.org/officeDocument/2006/math">
                    <m:oMathParaPr>
                      <m:jc m:val="centerGroup"/>
                    </m:oMathParaPr>
                    <m:oMath xmlns:m="http://schemas.openxmlformats.org/officeDocument/2006/math">
                      <m:nary>
                        <m:naryPr>
                          <m:ctrlPr>
                            <a:rPr lang="en-GB" sz="1400" b="1" i="1" smtClean="0">
                              <a:latin typeface="Cambria Math" panose="02040503050406030204" pitchFamily="18" charset="0"/>
                            </a:rPr>
                          </m:ctrlPr>
                        </m:naryPr>
                        <m:sub>
                          <m:r>
                            <a:rPr lang="en-GB" sz="1400" b="1" i="1" smtClean="0">
                              <a:latin typeface="Cambria Math" panose="02040503050406030204" pitchFamily="18" charset="0"/>
                            </a:rPr>
                            <m:t>−</m:t>
                          </m:r>
                          <m:r>
                            <a:rPr lang="en-GB" sz="1400" b="1" i="1" smtClean="0">
                              <a:latin typeface="Cambria Math" panose="02040503050406030204" pitchFamily="18" charset="0"/>
                            </a:rPr>
                            <m:t>𝟓</m:t>
                          </m:r>
                        </m:sub>
                        <m:sup>
                          <m:r>
                            <a:rPr lang="en-GB" sz="1400" b="1" i="1" smtClean="0">
                              <a:latin typeface="Cambria Math" panose="02040503050406030204" pitchFamily="18" charset="0"/>
                            </a:rPr>
                            <m:t>𝟒</m:t>
                          </m:r>
                        </m:sup>
                        <m:e>
                          <m:r>
                            <a:rPr lang="en-GB" sz="1400" b="1" i="1" smtClean="0">
                              <a:latin typeface="Cambria Math" panose="02040503050406030204" pitchFamily="18" charset="0"/>
                            </a:rPr>
                            <m:t>𝟐𝟎</m:t>
                          </m:r>
                          <m:r>
                            <a:rPr lang="en-GB" sz="1400" b="1" i="1" smtClean="0">
                              <a:latin typeface="Cambria Math" panose="02040503050406030204" pitchFamily="18" charset="0"/>
                            </a:rPr>
                            <m:t>−</m:t>
                          </m:r>
                          <m:r>
                            <a:rPr lang="en-GB" sz="1400" b="1" i="1" smtClean="0">
                              <a:latin typeface="Cambria Math" panose="02040503050406030204" pitchFamily="18" charset="0"/>
                            </a:rPr>
                            <m:t>𝒙</m:t>
                          </m:r>
                          <m:r>
                            <a:rPr lang="en-GB" sz="1400" b="1" i="1" smtClean="0">
                              <a:latin typeface="Cambria Math" panose="02040503050406030204" pitchFamily="18" charset="0"/>
                            </a:rPr>
                            <m:t>−</m:t>
                          </m:r>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 </m:t>
                          </m:r>
                          <m:r>
                            <a:rPr lang="en-GB" sz="1400" b="1" i="1" smtClean="0">
                              <a:latin typeface="Cambria Math" panose="02040503050406030204" pitchFamily="18" charset="0"/>
                            </a:rPr>
                            <m:t>𝒅𝒙</m:t>
                          </m:r>
                        </m:e>
                      </m:nary>
                      <m:r>
                        <a:rPr lang="en-GB" sz="1400" b="1" i="1" smtClean="0">
                          <a:latin typeface="Cambria Math" panose="02040503050406030204" pitchFamily="18" charset="0"/>
                        </a:rPr>
                        <m:t>=</m:t>
                      </m:r>
                      <m:sSubSup>
                        <m:sSubSupPr>
                          <m:ctrlPr>
                            <a:rPr lang="en-GB" sz="1400" b="1" i="1" smtClean="0">
                              <a:latin typeface="Cambria Math" panose="02040503050406030204" pitchFamily="18" charset="0"/>
                            </a:rPr>
                          </m:ctrlPr>
                        </m:sSubSupPr>
                        <m:e>
                          <m:d>
                            <m:dPr>
                              <m:begChr m:val="["/>
                              <m:endChr m:val="]"/>
                              <m:ctrlPr>
                                <a:rPr lang="en-GB" sz="1400" b="1" i="1" smtClean="0">
                                  <a:latin typeface="Cambria Math" panose="02040503050406030204" pitchFamily="18" charset="0"/>
                                </a:rPr>
                              </m:ctrlPr>
                            </m:dPr>
                            <m:e>
                              <m:r>
                                <a:rPr lang="en-GB" sz="1400" b="1" i="1" smtClean="0">
                                  <a:latin typeface="Cambria Math" panose="02040503050406030204" pitchFamily="18" charset="0"/>
                                </a:rPr>
                                <m:t>𝟐𝟎</m:t>
                              </m:r>
                              <m:r>
                                <a:rPr lang="en-GB" sz="1400" b="1" i="1" smtClean="0">
                                  <a:latin typeface="Cambria Math" panose="02040503050406030204" pitchFamily="18" charset="0"/>
                                </a:rPr>
                                <m:t>𝒙</m:t>
                              </m:r>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𝟏</m:t>
                                  </m:r>
                                </m:num>
                                <m:den>
                                  <m:r>
                                    <a:rPr lang="en-GB" sz="1400" b="1" i="1" smtClean="0">
                                      <a:latin typeface="Cambria Math" panose="02040503050406030204" pitchFamily="18" charset="0"/>
                                    </a:rPr>
                                    <m:t>𝟐</m:t>
                                  </m:r>
                                </m:den>
                              </m:f>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𝟐</m:t>
                                  </m:r>
                                </m:sup>
                              </m:sSup>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𝟏</m:t>
                                  </m:r>
                                </m:num>
                                <m:den>
                                  <m:r>
                                    <a:rPr lang="en-GB" sz="1400" b="1" i="1" smtClean="0">
                                      <a:latin typeface="Cambria Math" panose="02040503050406030204" pitchFamily="18" charset="0"/>
                                    </a:rPr>
                                    <m:t>𝟑</m:t>
                                  </m:r>
                                </m:den>
                              </m:f>
                              <m:sSup>
                                <m:sSupPr>
                                  <m:ctrlPr>
                                    <a:rPr lang="en-GB" sz="1400" b="1" i="1" smtClean="0">
                                      <a:latin typeface="Cambria Math" panose="02040503050406030204" pitchFamily="18" charset="0"/>
                                    </a:rPr>
                                  </m:ctrlPr>
                                </m:sSupPr>
                                <m:e>
                                  <m:r>
                                    <a:rPr lang="en-GB" sz="1400" b="1" i="1" smtClean="0">
                                      <a:latin typeface="Cambria Math" panose="02040503050406030204" pitchFamily="18" charset="0"/>
                                    </a:rPr>
                                    <m:t>𝒙</m:t>
                                  </m:r>
                                </m:e>
                                <m:sup>
                                  <m:r>
                                    <a:rPr lang="en-GB" sz="1400" b="1" i="1" smtClean="0">
                                      <a:latin typeface="Cambria Math" panose="02040503050406030204" pitchFamily="18" charset="0"/>
                                    </a:rPr>
                                    <m:t>𝟑</m:t>
                                  </m:r>
                                </m:sup>
                              </m:sSup>
                            </m:e>
                          </m:d>
                        </m:e>
                        <m:sub>
                          <m:r>
                            <a:rPr lang="en-GB" sz="1400" b="1" i="1" smtClean="0">
                              <a:latin typeface="Cambria Math" panose="02040503050406030204" pitchFamily="18" charset="0"/>
                            </a:rPr>
                            <m:t>−</m:t>
                          </m:r>
                          <m:r>
                            <a:rPr lang="en-GB" sz="1400" b="1" i="1" smtClean="0">
                              <a:latin typeface="Cambria Math" panose="02040503050406030204" pitchFamily="18" charset="0"/>
                            </a:rPr>
                            <m:t>𝟓</m:t>
                          </m:r>
                        </m:sub>
                        <m:sup>
                          <m:r>
                            <a:rPr lang="en-GB" sz="1400" b="1" i="1" smtClean="0">
                              <a:latin typeface="Cambria Math" panose="02040503050406030204" pitchFamily="18" charset="0"/>
                            </a:rPr>
                            <m:t>𝟒</m:t>
                          </m:r>
                        </m:sup>
                      </m:sSubSup>
                    </m:oMath>
                    <m:oMath xmlns:m="http://schemas.openxmlformats.org/officeDocument/2006/math">
                      <m:r>
                        <a:rPr lang="en-GB" sz="1400" b="1" i="1" smtClean="0">
                          <a:latin typeface="Cambria Math" panose="02040503050406030204" pitchFamily="18" charset="0"/>
                        </a:rPr>
                        <m:t>   =</m:t>
                      </m:r>
                      <m:d>
                        <m:dPr>
                          <m:ctrlPr>
                            <a:rPr lang="en-GB" sz="1400" b="1" i="1" smtClean="0">
                              <a:latin typeface="Cambria Math" panose="02040503050406030204" pitchFamily="18" charset="0"/>
                            </a:rPr>
                          </m:ctrlPr>
                        </m:dPr>
                        <m:e>
                          <m:r>
                            <a:rPr lang="en-GB" sz="1400" b="1" i="1" smtClean="0">
                              <a:latin typeface="Cambria Math" panose="02040503050406030204" pitchFamily="18" charset="0"/>
                            </a:rPr>
                            <m:t>𝟖𝟎</m:t>
                          </m:r>
                          <m:r>
                            <a:rPr lang="en-GB" sz="1400" b="1" i="1" smtClean="0">
                              <a:latin typeface="Cambria Math" panose="02040503050406030204" pitchFamily="18" charset="0"/>
                            </a:rPr>
                            <m:t>−</m:t>
                          </m:r>
                          <m:r>
                            <a:rPr lang="en-GB" sz="1400" b="1" i="1" smtClean="0">
                              <a:latin typeface="Cambria Math" panose="02040503050406030204" pitchFamily="18" charset="0"/>
                            </a:rPr>
                            <m:t>𝟖</m:t>
                          </m:r>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𝟔𝟒</m:t>
                              </m:r>
                            </m:num>
                            <m:den>
                              <m:r>
                                <a:rPr lang="en-GB" sz="1400" b="1" i="1" smtClean="0">
                                  <a:latin typeface="Cambria Math" panose="02040503050406030204" pitchFamily="18" charset="0"/>
                                </a:rPr>
                                <m:t>𝟑</m:t>
                              </m:r>
                            </m:den>
                          </m:f>
                        </m:e>
                      </m:d>
                      <m:r>
                        <a:rPr lang="en-GB" sz="1400" b="1" i="1" smtClean="0">
                          <a:latin typeface="Cambria Math" panose="02040503050406030204" pitchFamily="18" charset="0"/>
                        </a:rPr>
                        <m:t>−</m:t>
                      </m:r>
                      <m:d>
                        <m:dPr>
                          <m:ctrlPr>
                            <a:rPr lang="en-GB" sz="1400" b="1" i="1" smtClean="0">
                              <a:latin typeface="Cambria Math" panose="02040503050406030204" pitchFamily="18" charset="0"/>
                            </a:rPr>
                          </m:ctrlPr>
                        </m:dPr>
                        <m:e>
                          <m:r>
                            <a:rPr lang="en-GB" sz="1400" b="1" i="1" smtClean="0">
                              <a:latin typeface="Cambria Math" panose="02040503050406030204" pitchFamily="18" charset="0"/>
                            </a:rPr>
                            <m:t>−</m:t>
                          </m:r>
                          <m:r>
                            <a:rPr lang="en-GB" sz="1400" b="1" i="1" smtClean="0">
                              <a:latin typeface="Cambria Math" panose="02040503050406030204" pitchFamily="18" charset="0"/>
                            </a:rPr>
                            <m:t>𝟏𝟎𝟎</m:t>
                          </m:r>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𝟐𝟓</m:t>
                              </m:r>
                            </m:num>
                            <m:den>
                              <m:r>
                                <a:rPr lang="en-GB" sz="1400" b="1" i="1" smtClean="0">
                                  <a:latin typeface="Cambria Math" panose="02040503050406030204" pitchFamily="18" charset="0"/>
                                </a:rPr>
                                <m:t>𝟐</m:t>
                              </m:r>
                            </m:den>
                          </m:f>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𝟏𝟐𝟓</m:t>
                              </m:r>
                            </m:num>
                            <m:den>
                              <m:r>
                                <a:rPr lang="en-GB" sz="1400" b="1" i="1" smtClean="0">
                                  <a:latin typeface="Cambria Math" panose="02040503050406030204" pitchFamily="18" charset="0"/>
                                </a:rPr>
                                <m:t>𝟑</m:t>
                              </m:r>
                            </m:den>
                          </m:f>
                        </m:e>
                      </m:d>
                    </m:oMath>
                    <m:oMath xmlns:m="http://schemas.openxmlformats.org/officeDocument/2006/math">
                      <m:r>
                        <a:rPr lang="en-GB" sz="1400" b="1" i="0" smtClean="0">
                          <a:latin typeface="Cambria Math" panose="02040503050406030204" pitchFamily="18" charset="0"/>
                        </a:rPr>
                        <m:t>   </m:t>
                      </m:r>
                      <m:r>
                        <a:rPr lang="en-GB" sz="1400" b="1" i="1" smtClean="0">
                          <a:latin typeface="Cambria Math" panose="02040503050406030204" pitchFamily="18" charset="0"/>
                        </a:rPr>
                        <m:t>=</m:t>
                      </m:r>
                      <m:f>
                        <m:fPr>
                          <m:ctrlPr>
                            <a:rPr lang="en-GB" sz="1400" b="1" i="1" smtClean="0">
                              <a:latin typeface="Cambria Math" panose="02040503050406030204" pitchFamily="18" charset="0"/>
                            </a:rPr>
                          </m:ctrlPr>
                        </m:fPr>
                        <m:num>
                          <m:r>
                            <a:rPr lang="en-GB" sz="1400" b="1" i="1" smtClean="0">
                              <a:latin typeface="Cambria Math" panose="02040503050406030204" pitchFamily="18" charset="0"/>
                            </a:rPr>
                            <m:t>𝟐𝟒𝟑</m:t>
                          </m:r>
                        </m:num>
                        <m:den>
                          <m:r>
                            <a:rPr lang="en-GB" sz="1400" b="1" i="1" smtClean="0">
                              <a:latin typeface="Cambria Math" panose="02040503050406030204" pitchFamily="18" charset="0"/>
                            </a:rPr>
                            <m:t>𝟐</m:t>
                          </m:r>
                        </m:den>
                      </m:f>
                    </m:oMath>
                  </m:oMathPara>
                </a14:m>
                <a:endParaRPr lang="en-GB" sz="1400" b="1" dirty="0"/>
              </a:p>
            </p:txBody>
          </p:sp>
        </mc:Choice>
        <mc:Fallback xmlns="">
          <p:sp>
            <p:nvSpPr>
              <p:cNvPr id="26" name="TextBox 25"/>
              <p:cNvSpPr txBox="1">
                <a:spLocks noRot="1" noChangeAspect="1" noMove="1" noResize="1" noEditPoints="1" noAdjustHandles="1" noChangeArrowheads="1" noChangeShapeType="1" noTextEdit="1"/>
              </p:cNvSpPr>
              <p:nvPr/>
            </p:nvSpPr>
            <p:spPr>
              <a:xfrm>
                <a:off x="4916568" y="3877473"/>
                <a:ext cx="3600400" cy="2860720"/>
              </a:xfrm>
              <a:prstGeom prst="rect">
                <a:avLst/>
              </a:prstGeom>
              <a:blipFill>
                <a:blip r:embed="rId12"/>
                <a:stretch>
                  <a:fillRect l="-508" t="-4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1899094" y="5888315"/>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−5</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1899094" y="5888315"/>
                <a:ext cx="377816" cy="30777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465380" y="5896672"/>
                <a:ext cx="377816" cy="3077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4</m:t>
                      </m:r>
                    </m:oMath>
                  </m:oMathPara>
                </a14:m>
                <a:endParaRPr lang="en-GB" sz="1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3465380" y="5896672"/>
                <a:ext cx="377816" cy="307777"/>
              </a:xfrm>
              <a:prstGeom prst="rect">
                <a:avLst/>
              </a:prstGeom>
              <a:blipFill>
                <a:blip r:embed="rId14"/>
                <a:stretch>
                  <a:fillRect/>
                </a:stretch>
              </a:blipFill>
            </p:spPr>
            <p:txBody>
              <a:bodyPr/>
              <a:lstStyle/>
              <a:p>
                <a:r>
                  <a:rPr lang="en-GB">
                    <a:noFill/>
                  </a:rPr>
                  <a:t> </a:t>
                </a:r>
              </a:p>
            </p:txBody>
          </p:sp>
        </mc:Fallback>
      </mc:AlternateContent>
      <p:sp>
        <p:nvSpPr>
          <p:cNvPr id="29" name="Rectangle 28"/>
          <p:cNvSpPr/>
          <p:nvPr/>
        </p:nvSpPr>
        <p:spPr>
          <a:xfrm>
            <a:off x="855520" y="3745178"/>
            <a:ext cx="7555712" cy="290369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dirty="0"/>
              <a:t>?</a:t>
            </a:r>
          </a:p>
        </p:txBody>
      </p:sp>
    </p:spTree>
    <p:extLst>
      <p:ext uri="{BB962C8B-B14F-4D97-AF65-F5344CB8AC3E}">
        <p14:creationId xmlns:p14="http://schemas.microsoft.com/office/powerpoint/2010/main" val="26607927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9"/>
                                        </p:tgtEl>
                                      </p:cBhvr>
                                    </p:animEffect>
                                    <p:set>
                                      <p:cBhvr>
                                        <p:cTn id="7" dur="1" fill="hold">
                                          <p:stCondLst>
                                            <p:cond delay="499"/>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childTnLst>
        </p:cTn>
      </p:par>
    </p:tnLst>
    <p:bldLst>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Test Your Understanding</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22" name="Picture 21"/>
          <p:cNvPicPr>
            <a:picLocks noChangeAspect="1"/>
          </p:cNvPicPr>
          <p:nvPr/>
        </p:nvPicPr>
        <p:blipFill>
          <a:blip r:embed="rId2"/>
          <a:stretch>
            <a:fillRect/>
          </a:stretch>
        </p:blipFill>
        <p:spPr>
          <a:xfrm>
            <a:off x="251520" y="1186871"/>
            <a:ext cx="5972175" cy="5591175"/>
          </a:xfrm>
          <a:prstGeom prst="rect">
            <a:avLst/>
          </a:prstGeom>
          <a:effectLst>
            <a:outerShdw blurRad="63500" sx="102000" sy="102000" algn="ctr" rotWithShape="0">
              <a:prstClr val="black">
                <a:alpha val="40000"/>
              </a:prstClr>
            </a:outerShdw>
          </a:effectLst>
        </p:spPr>
      </p:pic>
      <p:sp>
        <p:nvSpPr>
          <p:cNvPr id="23" name="TextBox 22"/>
          <p:cNvSpPr txBox="1"/>
          <p:nvPr/>
        </p:nvSpPr>
        <p:spPr>
          <a:xfrm>
            <a:off x="251520" y="836712"/>
            <a:ext cx="2555180"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GB" dirty="0"/>
              <a:t>Edexcel C2 Jan 2013 Q9c</a:t>
            </a:r>
          </a:p>
        </p:txBody>
      </p:sp>
      <p:sp>
        <p:nvSpPr>
          <p:cNvPr id="30" name="TextBox 29"/>
          <p:cNvSpPr txBox="1"/>
          <p:nvPr/>
        </p:nvSpPr>
        <p:spPr>
          <a:xfrm>
            <a:off x="6639024" y="5919440"/>
            <a:ext cx="1728192" cy="369332"/>
          </a:xfrm>
          <a:prstGeom prst="rect">
            <a:avLst/>
          </a:prstGeom>
          <a:noFill/>
        </p:spPr>
        <p:txBody>
          <a:bodyPr wrap="square" rtlCol="0">
            <a:spAutoFit/>
          </a:bodyPr>
          <a:lstStyle/>
          <a:p>
            <a:r>
              <a:rPr lang="en-GB" b="1" dirty="0"/>
              <a:t>Solution: 12</a:t>
            </a:r>
          </a:p>
        </p:txBody>
      </p:sp>
      <p:sp>
        <p:nvSpPr>
          <p:cNvPr id="31" name="Rectangle 30"/>
          <p:cNvSpPr/>
          <p:nvPr/>
        </p:nvSpPr>
        <p:spPr>
          <a:xfrm>
            <a:off x="6639024" y="5689584"/>
            <a:ext cx="1703277" cy="82904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dirty="0"/>
              <a:t>?</a:t>
            </a:r>
          </a:p>
        </p:txBody>
      </p:sp>
    </p:spTree>
    <p:extLst>
      <p:ext uri="{BB962C8B-B14F-4D97-AF65-F5344CB8AC3E}">
        <p14:creationId xmlns:p14="http://schemas.microsoft.com/office/powerpoint/2010/main" val="397995402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childTnLst>
                          </p:cTn>
                        </p:par>
                      </p:childTnLst>
                    </p:cTn>
                  </p:par>
                </p:childTnLst>
              </p:cTn>
              <p:nextCondLst>
                <p:cond evt="onClick" delay="0">
                  <p:tgtEl>
                    <p:spTgt spid="31"/>
                  </p:tgtEl>
                </p:cond>
              </p:nextCondLst>
            </p:seq>
          </p:childTnLst>
        </p:cTn>
      </p:par>
    </p:tnLst>
    <p:bldLst>
      <p:bldP spid="3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345424" y="4318634"/>
            <a:ext cx="1249200" cy="1249452"/>
          </a:xfrm>
          <a:prstGeom prst="ellipse">
            <a:avLst/>
          </a:prstGeom>
          <a:pattFill prst="dkDnDiag">
            <a:fgClr>
              <a:schemeClr val="bg1">
                <a:lumMod val="50000"/>
              </a:schemeClr>
            </a:fgClr>
            <a:bgClr>
              <a:schemeClr val="bg1"/>
            </a:bgClr>
          </a:patt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2" name="Group 17"/>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Just for your interest…</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455958" y="762285"/>
            <a:ext cx="6192688" cy="954107"/>
          </a:xfrm>
          <a:prstGeom prst="rect">
            <a:avLst/>
          </a:prstGeom>
          <a:noFill/>
        </p:spPr>
        <p:txBody>
          <a:bodyPr wrap="square" rtlCol="0">
            <a:spAutoFit/>
          </a:bodyPr>
          <a:lstStyle/>
          <a:p>
            <a:pPr algn="ctr"/>
            <a:r>
              <a:rPr lang="en-GB" sz="2800" dirty="0"/>
              <a:t>Why does integrating a function give you the area under the graph?</a:t>
            </a:r>
          </a:p>
        </p:txBody>
      </p:sp>
      <p:pic>
        <p:nvPicPr>
          <p:cNvPr id="8" name="Picture 2" descr="Image result for stick man scratching hea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76528" y="806861"/>
            <a:ext cx="806504" cy="96135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450650" y="1780600"/>
            <a:ext cx="3537150" cy="2308324"/>
          </a:xfrm>
          <a:prstGeom prst="rect">
            <a:avLst/>
          </a:prstGeom>
          <a:noFill/>
        </p:spPr>
        <p:txBody>
          <a:bodyPr wrap="square" rtlCol="0">
            <a:spAutoFit/>
          </a:bodyPr>
          <a:lstStyle/>
          <a:p>
            <a:r>
              <a:rPr lang="en-GB" b="1" dirty="0"/>
              <a:t>Part 1:</a:t>
            </a:r>
          </a:p>
          <a:p>
            <a:r>
              <a:rPr lang="en-GB" sz="1400" dirty="0"/>
              <a:t>You’re already familiar with the idea that gradient is the rate at which a quantity changes, and we consider an infinitesimally small change in the variable.</a:t>
            </a:r>
          </a:p>
          <a:p>
            <a:r>
              <a:rPr lang="en-GB" sz="1400" b="1" dirty="0"/>
              <a:t>You could consider the gradient as the little bit you’re adding on each time.</a:t>
            </a:r>
          </a:p>
          <a:p>
            <a:endParaRPr lang="en-GB" sz="1400" dirty="0"/>
          </a:p>
          <a:p>
            <a:r>
              <a:rPr lang="en-GB" sz="1400" dirty="0"/>
              <a:t>Here’s some practical examples using formulae you covered in your younger years!</a:t>
            </a:r>
          </a:p>
        </p:txBody>
      </p:sp>
      <p:sp>
        <p:nvSpPr>
          <p:cNvPr id="17" name="Oval 16"/>
          <p:cNvSpPr/>
          <p:nvPr/>
        </p:nvSpPr>
        <p:spPr>
          <a:xfrm>
            <a:off x="395536" y="4364354"/>
            <a:ext cx="1152700" cy="115212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9" name="TextBox 18"/>
              <p:cNvSpPr txBox="1"/>
              <p:nvPr/>
            </p:nvSpPr>
            <p:spPr>
              <a:xfrm>
                <a:off x="1048869" y="4158962"/>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𝑑𝑟</m:t>
                      </m:r>
                    </m:oMath>
                  </m:oMathPara>
                </a14:m>
                <a:endParaRPr lang="en-GB" sz="12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048869" y="4158962"/>
                <a:ext cx="504056" cy="276999"/>
              </a:xfrm>
              <a:prstGeom prst="rect">
                <a:avLst/>
              </a:prstGeom>
              <a:blipFill>
                <a:blip r:embed="rId3"/>
                <a:stretch>
                  <a:fillRect/>
                </a:stretch>
              </a:blipFill>
            </p:spPr>
            <p:txBody>
              <a:bodyPr/>
              <a:lstStyle/>
              <a:p>
                <a:r>
                  <a:rPr lang="en-GB">
                    <a:noFill/>
                  </a:rPr>
                  <a:t> </a:t>
                </a:r>
              </a:p>
            </p:txBody>
          </p:sp>
        </mc:Fallback>
      </mc:AlternateContent>
      <p:cxnSp>
        <p:nvCxnSpPr>
          <p:cNvPr id="22" name="Straight Arrow Connector 21"/>
          <p:cNvCxnSpPr/>
          <p:nvPr/>
        </p:nvCxnSpPr>
        <p:spPr>
          <a:xfrm flipV="1">
            <a:off x="1118421" y="4267200"/>
            <a:ext cx="69029" cy="20157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p:cNvSpPr txBox="1"/>
              <p:nvPr/>
            </p:nvSpPr>
            <p:spPr>
              <a:xfrm>
                <a:off x="1636283" y="4188586"/>
                <a:ext cx="2834117" cy="2655792"/>
              </a:xfrm>
              <a:prstGeom prst="rect">
                <a:avLst/>
              </a:prstGeom>
              <a:noFill/>
            </p:spPr>
            <p:txBody>
              <a:bodyPr wrap="square" rtlCol="0">
                <a:spAutoFit/>
              </a:bodyPr>
              <a:lstStyle/>
              <a:p>
                <a:r>
                  <a:rPr lang="en-GB" sz="1400" dirty="0"/>
                  <a:t>If you wanted to consider the rate at which the area of a circle increases with respect to the radius, consider a small change </a:t>
                </a:r>
                <a14:m>
                  <m:oMath xmlns:m="http://schemas.openxmlformats.org/officeDocument/2006/math">
                    <m:r>
                      <a:rPr lang="en-GB" sz="1400" b="0" i="1" smtClean="0">
                        <a:latin typeface="Cambria Math" panose="02040503050406030204" pitchFamily="18" charset="0"/>
                      </a:rPr>
                      <m:t>𝑑𝑟</m:t>
                    </m:r>
                  </m:oMath>
                </a14:m>
                <a:r>
                  <a:rPr lang="en-GB" sz="1400" dirty="0"/>
                  <a:t> in the radius.</a:t>
                </a:r>
              </a:p>
              <a:p>
                <a:r>
                  <a:rPr lang="en-GB" sz="1400" dirty="0"/>
                  <a:t>The change in area is an infinitely thin ring, which looks like you’ve drawn a circumference.</a:t>
                </a:r>
              </a:p>
              <a:p>
                <a:r>
                  <a:rPr lang="en-GB" sz="1400" dirty="0"/>
                  <a:t>So what is this rate?</a:t>
                </a:r>
              </a:p>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𝐴</m:t>
                      </m:r>
                      <m:r>
                        <a:rPr lang="en-GB" sz="1400" b="0" i="1" smtClean="0">
                          <a:latin typeface="Cambria Math" panose="02040503050406030204" pitchFamily="18" charset="0"/>
                        </a:rPr>
                        <m:t>=</m:t>
                      </m:r>
                      <m:r>
                        <a:rPr lang="en-GB" sz="1400" b="0" i="1" smtClean="0">
                          <a:latin typeface="Cambria Math" panose="02040503050406030204" pitchFamily="18" charset="0"/>
                        </a:rPr>
                        <m:t>𝜋</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𝑟</m:t>
                          </m:r>
                        </m:e>
                        <m:sup>
                          <m:r>
                            <a:rPr lang="en-GB" sz="1400" b="0" i="1" smtClean="0">
                              <a:latin typeface="Cambria Math" panose="02040503050406030204" pitchFamily="18" charset="0"/>
                            </a:rPr>
                            <m:t>2</m:t>
                          </m:r>
                        </m:sup>
                      </m:sSup>
                    </m:oMath>
                    <m:oMath xmlns:m="http://schemas.openxmlformats.org/officeDocument/2006/math">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𝑑𝐴</m:t>
                          </m:r>
                        </m:num>
                        <m:den>
                          <m:r>
                            <a:rPr lang="en-GB" sz="1400" b="0" i="1" smtClean="0">
                              <a:latin typeface="Cambria Math" panose="02040503050406030204" pitchFamily="18" charset="0"/>
                            </a:rPr>
                            <m:t>𝑑𝑟</m:t>
                          </m:r>
                        </m:den>
                      </m:f>
                      <m:r>
                        <a:rPr lang="en-GB" sz="1400" b="0" i="1" smtClean="0">
                          <a:latin typeface="Cambria Math" panose="02040503050406030204" pitchFamily="18" charset="0"/>
                        </a:rPr>
                        <m:t>=2</m:t>
                      </m:r>
                      <m:r>
                        <a:rPr lang="en-GB" sz="1400" b="0" i="1" smtClean="0">
                          <a:latin typeface="Cambria Math" panose="02040503050406030204" pitchFamily="18" charset="0"/>
                        </a:rPr>
                        <m:t>𝜋</m:t>
                      </m:r>
                      <m:r>
                        <a:rPr lang="en-GB" sz="1400" b="0" i="1" smtClean="0">
                          <a:latin typeface="Cambria Math" panose="02040503050406030204" pitchFamily="18" charset="0"/>
                        </a:rPr>
                        <m:t>𝑟</m:t>
                      </m:r>
                    </m:oMath>
                  </m:oMathPara>
                </a14:m>
                <a:endParaRPr lang="en-GB" sz="1400" dirty="0"/>
              </a:p>
              <a:p>
                <a:endParaRPr lang="en-GB" sz="1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1636283" y="4188586"/>
                <a:ext cx="2834117" cy="2655792"/>
              </a:xfrm>
              <a:prstGeom prst="rect">
                <a:avLst/>
              </a:prstGeom>
              <a:blipFill>
                <a:blip r:embed="rId4"/>
                <a:stretch>
                  <a:fillRect l="-645" t="-459" r="-1290"/>
                </a:stretch>
              </a:blipFill>
            </p:spPr>
            <p:txBody>
              <a:bodyPr/>
              <a:lstStyle/>
              <a:p>
                <a:r>
                  <a:rPr lang="en-GB">
                    <a:noFill/>
                  </a:rPr>
                  <a:t> </a:t>
                </a:r>
              </a:p>
            </p:txBody>
          </p:sp>
        </mc:Fallback>
      </mc:AlternateContent>
      <p:pic>
        <p:nvPicPr>
          <p:cNvPr id="30" name="Picture 29"/>
          <p:cNvPicPr>
            <a:picLocks noChangeAspect="1"/>
          </p:cNvPicPr>
          <p:nvPr/>
        </p:nvPicPr>
        <p:blipFill>
          <a:blip r:embed="rId5"/>
          <a:stretch>
            <a:fillRect/>
          </a:stretch>
        </p:blipFill>
        <p:spPr>
          <a:xfrm>
            <a:off x="242474" y="6308443"/>
            <a:ext cx="1022800" cy="502791"/>
          </a:xfrm>
          <a:prstGeom prst="rect">
            <a:avLst/>
          </a:prstGeom>
        </p:spPr>
      </p:pic>
      <p:sp>
        <p:nvSpPr>
          <p:cNvPr id="31" name="TextBox 30"/>
          <p:cNvSpPr txBox="1"/>
          <p:nvPr/>
        </p:nvSpPr>
        <p:spPr>
          <a:xfrm>
            <a:off x="1190846" y="6410882"/>
            <a:ext cx="1752241" cy="430887"/>
          </a:xfrm>
          <a:prstGeom prst="rect">
            <a:avLst/>
          </a:prstGeom>
          <a:noFill/>
        </p:spPr>
        <p:txBody>
          <a:bodyPr wrap="square" rtlCol="0">
            <a:spAutoFit/>
          </a:bodyPr>
          <a:lstStyle/>
          <a:p>
            <a:r>
              <a:rPr lang="en-GB" sz="1100" b="1" dirty="0"/>
              <a:t>OMG THAT </a:t>
            </a:r>
            <a:r>
              <a:rPr lang="en-GB" sz="1100" b="1" u="sng" dirty="0"/>
              <a:t>IS</a:t>
            </a:r>
            <a:r>
              <a:rPr lang="en-GB" sz="1100" b="1" dirty="0"/>
              <a:t> THE CIRCUMFERENCE</a:t>
            </a:r>
          </a:p>
        </p:txBody>
      </p:sp>
      <p:cxnSp>
        <p:nvCxnSpPr>
          <p:cNvPr id="33" name="Straight Connector 32"/>
          <p:cNvCxnSpPr/>
          <p:nvPr/>
        </p:nvCxnSpPr>
        <p:spPr>
          <a:xfrm>
            <a:off x="4457462" y="2071481"/>
            <a:ext cx="0" cy="4464496"/>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V="1">
            <a:off x="946150" y="4464099"/>
            <a:ext cx="179401" cy="53970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p:cNvSpPr txBox="1"/>
              <p:nvPr/>
            </p:nvSpPr>
            <p:spPr>
              <a:xfrm>
                <a:off x="900907" y="4637480"/>
                <a:ext cx="5040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𝑟</m:t>
                      </m:r>
                    </m:oMath>
                  </m:oMathPara>
                </a14:m>
                <a:endParaRPr lang="en-GB" sz="1200" dirty="0"/>
              </a:p>
            </p:txBody>
          </p:sp>
        </mc:Choice>
        <mc:Fallback xmlns="">
          <p:sp>
            <p:nvSpPr>
              <p:cNvPr id="37" name="TextBox 36"/>
              <p:cNvSpPr txBox="1">
                <a:spLocks noRot="1" noChangeAspect="1" noMove="1" noResize="1" noEditPoints="1" noAdjustHandles="1" noChangeArrowheads="1" noChangeShapeType="1" noTextEdit="1"/>
              </p:cNvSpPr>
              <p:nvPr/>
            </p:nvSpPr>
            <p:spPr>
              <a:xfrm>
                <a:off x="900907" y="4637480"/>
                <a:ext cx="504056" cy="276999"/>
              </a:xfrm>
              <a:prstGeom prst="rect">
                <a:avLst/>
              </a:prstGeom>
              <a:blipFill>
                <a:blip r:embed="rId6"/>
                <a:stretch>
                  <a:fillRect/>
                </a:stretch>
              </a:blipFill>
            </p:spPr>
            <p:txBody>
              <a:bodyPr/>
              <a:lstStyle/>
              <a:p>
                <a:r>
                  <a:rPr lang="en-GB">
                    <a:noFill/>
                  </a:rPr>
                  <a:t> </a:t>
                </a:r>
              </a:p>
            </p:txBody>
          </p:sp>
        </mc:Fallback>
      </mc:AlternateContent>
      <p:sp>
        <p:nvSpPr>
          <p:cNvPr id="40" name="Oval 39"/>
          <p:cNvSpPr/>
          <p:nvPr/>
        </p:nvSpPr>
        <p:spPr>
          <a:xfrm>
            <a:off x="4858072" y="2142681"/>
            <a:ext cx="360000" cy="360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1" name="Oval 40"/>
          <p:cNvSpPr/>
          <p:nvPr/>
        </p:nvSpPr>
        <p:spPr>
          <a:xfrm>
            <a:off x="4893691" y="2178679"/>
            <a:ext cx="288000" cy="288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2" name="Oval 41"/>
          <p:cNvSpPr/>
          <p:nvPr/>
        </p:nvSpPr>
        <p:spPr>
          <a:xfrm>
            <a:off x="4928063" y="2217109"/>
            <a:ext cx="216000" cy="21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4" name="Oval 43"/>
          <p:cNvSpPr/>
          <p:nvPr/>
        </p:nvSpPr>
        <p:spPr>
          <a:xfrm>
            <a:off x="4821348" y="2104442"/>
            <a:ext cx="432000" cy="432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5" name="Oval 44"/>
          <p:cNvSpPr/>
          <p:nvPr/>
        </p:nvSpPr>
        <p:spPr>
          <a:xfrm>
            <a:off x="4784253" y="2067295"/>
            <a:ext cx="504000" cy="504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6" name="Oval 45"/>
          <p:cNvSpPr/>
          <p:nvPr/>
        </p:nvSpPr>
        <p:spPr>
          <a:xfrm>
            <a:off x="4745148" y="2033980"/>
            <a:ext cx="576000" cy="576000"/>
          </a:xfrm>
          <a:prstGeom prst="ellips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7" name="TextBox 46"/>
          <p:cNvSpPr txBox="1"/>
          <p:nvPr/>
        </p:nvSpPr>
        <p:spPr>
          <a:xfrm>
            <a:off x="5357780" y="1922625"/>
            <a:ext cx="3658629" cy="2031325"/>
          </a:xfrm>
          <a:prstGeom prst="rect">
            <a:avLst/>
          </a:prstGeom>
          <a:noFill/>
        </p:spPr>
        <p:txBody>
          <a:bodyPr wrap="square" rtlCol="0">
            <a:spAutoFit/>
          </a:bodyPr>
          <a:lstStyle/>
          <a:p>
            <a:r>
              <a:rPr lang="en-GB" sz="1400" dirty="0"/>
              <a:t>So to draw a shaded circle (which has area!), it’s a bit like repeatedly drawing the circumference of a circle with gradually increasing radius.</a:t>
            </a:r>
          </a:p>
          <a:p>
            <a:r>
              <a:rPr lang="en-GB" sz="1400" b="1" dirty="0"/>
              <a:t>Since the circumference is what the </a:t>
            </a:r>
            <a:r>
              <a:rPr lang="en-GB" sz="1400" b="1" u="sng" dirty="0"/>
              <a:t>area is increasing by each time</a:t>
            </a:r>
            <a:r>
              <a:rPr lang="en-GB" sz="1400" b="1" dirty="0"/>
              <a:t>, the circumference is the gradient of the area of the circle, and conversely (by the definition of integration being the opposite of differentiation), the area is the integral of the circumference.</a:t>
            </a:r>
          </a:p>
        </p:txBody>
      </p:sp>
      <mc:AlternateContent xmlns:mc="http://schemas.openxmlformats.org/markup-compatibility/2006" xmlns:a14="http://schemas.microsoft.com/office/drawing/2010/main">
        <mc:Choice Requires="a14">
          <p:sp>
            <p:nvSpPr>
              <p:cNvPr id="48" name="TextBox 47"/>
              <p:cNvSpPr txBox="1"/>
              <p:nvPr/>
            </p:nvSpPr>
            <p:spPr>
              <a:xfrm>
                <a:off x="4691984" y="3957127"/>
                <a:ext cx="4228732" cy="1920269"/>
              </a:xfrm>
              <a:prstGeom prst="rect">
                <a:avLst/>
              </a:prstGeom>
              <a:noFill/>
            </p:spPr>
            <p:txBody>
              <a:bodyPr wrap="square" rtlCol="0">
                <a:spAutoFit/>
              </a:bodyPr>
              <a:lstStyle/>
              <a:p>
                <a:r>
                  <a:rPr lang="en-GB" sz="1200" u="sng" dirty="0"/>
                  <a:t>You might be rightly upset that you can’t add a length to an area </a:t>
                </a:r>
                <a:r>
                  <a:rPr lang="en-GB" sz="1200" dirty="0"/>
                  <a:t>(only an area to an area, innit).</a:t>
                </a:r>
              </a:p>
              <a:p>
                <a:r>
                  <a:rPr lang="en-GB" sz="1200" dirty="0"/>
                  <a:t>But by considering the infinitely thin width </a:t>
                </a:r>
                <a14:m>
                  <m:oMath xmlns:m="http://schemas.openxmlformats.org/officeDocument/2006/math">
                    <m:r>
                      <a:rPr lang="en-GB" sz="1200" b="0" i="1" smtClean="0">
                        <a:latin typeface="Cambria Math" panose="02040503050406030204" pitchFamily="18" charset="0"/>
                      </a:rPr>
                      <m:t>𝑑𝑟</m:t>
                    </m:r>
                  </m:oMath>
                </a14:m>
                <a:r>
                  <a:rPr lang="en-GB" sz="1200" dirty="0"/>
                  <a:t> of the circumference you’re drawing, it does have area!</a:t>
                </a:r>
              </a:p>
              <a:p>
                <a:pPr/>
                <a14:m>
                  <m:oMathPara xmlns:m="http://schemas.openxmlformats.org/officeDocument/2006/math">
                    <m:oMathParaPr>
                      <m:jc m:val="centerGroup"/>
                    </m:oMathParaPr>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𝑑𝐴</m:t>
                          </m:r>
                        </m:num>
                        <m:den>
                          <m:r>
                            <a:rPr lang="en-GB" sz="1200" b="0" i="1" smtClean="0">
                              <a:latin typeface="Cambria Math" panose="02040503050406030204" pitchFamily="18" charset="0"/>
                            </a:rPr>
                            <m:t>𝑑𝑟</m:t>
                          </m:r>
                        </m:den>
                      </m:f>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r>
                        <a:rPr lang="en-GB" sz="1200" b="0" i="1" smtClean="0">
                          <a:latin typeface="Cambria Math" panose="02040503050406030204" pitchFamily="18" charset="0"/>
                        </a:rPr>
                        <m:t>     →    </m:t>
                      </m:r>
                      <m:r>
                        <a:rPr lang="en-GB" sz="1200" b="0" i="1" smtClean="0">
                          <a:latin typeface="Cambria Math" panose="02040503050406030204" pitchFamily="18" charset="0"/>
                        </a:rPr>
                        <m:t>𝑑𝐴</m:t>
                      </m:r>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r>
                        <a:rPr lang="en-GB" sz="1200" b="0" i="1" smtClean="0">
                          <a:latin typeface="Cambria Math" panose="02040503050406030204" pitchFamily="18" charset="0"/>
                        </a:rPr>
                        <m:t> </m:t>
                      </m:r>
                      <m:r>
                        <a:rPr lang="en-GB" sz="1200" b="0" i="1" smtClean="0">
                          <a:latin typeface="Cambria Math" panose="02040503050406030204" pitchFamily="18" charset="0"/>
                        </a:rPr>
                        <m:t>𝑑𝑟</m:t>
                      </m:r>
                    </m:oMath>
                  </m:oMathPara>
                </a14:m>
                <a:endParaRPr lang="en-GB" sz="1200" dirty="0"/>
              </a:p>
              <a:p>
                <a:r>
                  <a:rPr lang="en-GB" sz="1200" dirty="0"/>
                  <a:t>i.e. the change in area, </a:t>
                </a:r>
                <a14:m>
                  <m:oMath xmlns:m="http://schemas.openxmlformats.org/officeDocument/2006/math">
                    <m:r>
                      <a:rPr lang="en-GB" sz="1200" b="0" i="1" smtClean="0">
                        <a:latin typeface="Cambria Math" panose="02040503050406030204" pitchFamily="18" charset="0"/>
                      </a:rPr>
                      <m:t>𝑑𝐴</m:t>
                    </m:r>
                  </m:oMath>
                </a14:m>
                <a:r>
                  <a:rPr lang="en-GB" sz="1200" dirty="0"/>
                  <a:t>, is </a:t>
                </a:r>
                <a14:m>
                  <m:oMath xmlns:m="http://schemas.openxmlformats.org/officeDocument/2006/math">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r>
                      <a:rPr lang="en-GB" sz="1200" b="0" i="1" smtClean="0">
                        <a:latin typeface="Cambria Math" panose="02040503050406030204" pitchFamily="18" charset="0"/>
                      </a:rPr>
                      <m:t>×</m:t>
                    </m:r>
                    <m:r>
                      <a:rPr lang="en-GB" sz="1200" b="0" i="1" smtClean="0">
                        <a:latin typeface="Cambria Math" panose="02040503050406030204" pitchFamily="18" charset="0"/>
                      </a:rPr>
                      <m:t>𝑑𝑟</m:t>
                    </m:r>
                  </m:oMath>
                </a14:m>
                <a:endParaRPr lang="en-GB" sz="1200" dirty="0"/>
              </a:p>
              <a:p>
                <a:r>
                  <a:rPr lang="en-GB" sz="1200" dirty="0"/>
                  <a:t>If we ‘roll out’ the added area we’re adding each time, this forms a rectangle, whose length hopefully corresponds to the circumference of the circle:</a:t>
                </a:r>
              </a:p>
            </p:txBody>
          </p:sp>
        </mc:Choice>
        <mc:Fallback xmlns="">
          <p:sp>
            <p:nvSpPr>
              <p:cNvPr id="48" name="TextBox 47"/>
              <p:cNvSpPr txBox="1">
                <a:spLocks noRot="1" noChangeAspect="1" noMove="1" noResize="1" noEditPoints="1" noAdjustHandles="1" noChangeArrowheads="1" noChangeShapeType="1" noTextEdit="1"/>
              </p:cNvSpPr>
              <p:nvPr/>
            </p:nvSpPr>
            <p:spPr>
              <a:xfrm>
                <a:off x="4691984" y="3957127"/>
                <a:ext cx="4228732" cy="1920269"/>
              </a:xfrm>
              <a:prstGeom prst="rect">
                <a:avLst/>
              </a:prstGeom>
              <a:blipFill>
                <a:blip r:embed="rId7"/>
                <a:stretch>
                  <a:fillRect l="-144" r="-144" b="-1587"/>
                </a:stretch>
              </a:blipFill>
            </p:spPr>
            <p:txBody>
              <a:bodyPr/>
              <a:lstStyle/>
              <a:p>
                <a:r>
                  <a:rPr lang="en-GB">
                    <a:noFill/>
                  </a:rPr>
                  <a:t> </a:t>
                </a:r>
              </a:p>
            </p:txBody>
          </p:sp>
        </mc:Fallback>
      </mc:AlternateContent>
      <p:sp>
        <p:nvSpPr>
          <p:cNvPr id="49" name="Rectangle 48"/>
          <p:cNvSpPr/>
          <p:nvPr/>
        </p:nvSpPr>
        <p:spPr>
          <a:xfrm>
            <a:off x="5175543" y="6022543"/>
            <a:ext cx="3242360" cy="79995"/>
          </a:xfrm>
          <a:prstGeom prst="rect">
            <a:avLst/>
          </a:prstGeom>
          <a:pattFill prst="dkUpDiag">
            <a:fgClr>
              <a:schemeClr val="bg1">
                <a:lumMod val="75000"/>
              </a:schemeClr>
            </a:fgClr>
            <a:bgClr>
              <a:schemeClr val="bg1"/>
            </a:bgClr>
          </a:patt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6502212" y="5681121"/>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m:t>
                      </m:r>
                    </m:oMath>
                  </m:oMathPara>
                </a14:m>
                <a:endParaRPr lang="en-GB" sz="12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502212" y="5681121"/>
                <a:ext cx="576064" cy="276999"/>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8405728" y="5883141"/>
                <a:ext cx="57606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200" b="0" i="1" smtClean="0">
                          <a:latin typeface="Cambria Math" panose="02040503050406030204" pitchFamily="18" charset="0"/>
                        </a:rPr>
                        <m:t>𝑑𝑟</m:t>
                      </m:r>
                    </m:oMath>
                  </m:oMathPara>
                </a14:m>
                <a:endParaRPr lang="en-GB" sz="1200" dirty="0"/>
              </a:p>
            </p:txBody>
          </p:sp>
        </mc:Choice>
        <mc:Fallback xmlns="">
          <p:sp>
            <p:nvSpPr>
              <p:cNvPr id="51" name="TextBox 50"/>
              <p:cNvSpPr txBox="1">
                <a:spLocks noRot="1" noChangeAspect="1" noMove="1" noResize="1" noEditPoints="1" noAdjustHandles="1" noChangeArrowheads="1" noChangeShapeType="1" noTextEdit="1"/>
              </p:cNvSpPr>
              <p:nvPr/>
            </p:nvSpPr>
            <p:spPr>
              <a:xfrm>
                <a:off x="8405728" y="5883141"/>
                <a:ext cx="576064" cy="276999"/>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4820244" y="6182583"/>
                <a:ext cx="4075324" cy="542969"/>
              </a:xfrm>
              <a:prstGeom prst="rect">
                <a:avLst/>
              </a:prstGeom>
              <a:noFill/>
            </p:spPr>
            <p:txBody>
              <a:bodyPr wrap="square" rtlCol="0">
                <a:spAutoFit/>
              </a:bodyPr>
              <a:lstStyle/>
              <a:p>
                <a:r>
                  <a:rPr lang="en-GB" sz="1200" dirty="0"/>
                  <a:t>If the added area is </a:t>
                </a:r>
                <a14:m>
                  <m:oMath xmlns:m="http://schemas.openxmlformats.org/officeDocument/2006/math">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r>
                      <a:rPr lang="en-GB" sz="1200" b="0" i="1" smtClean="0">
                        <a:latin typeface="Cambria Math" panose="02040503050406030204" pitchFamily="18" charset="0"/>
                      </a:rPr>
                      <m:t> </m:t>
                    </m:r>
                    <m:r>
                      <a:rPr lang="en-GB" sz="1200" b="0" i="1" smtClean="0">
                        <a:latin typeface="Cambria Math" panose="02040503050406030204" pitchFamily="18" charset="0"/>
                      </a:rPr>
                      <m:t>𝑑𝑟</m:t>
                    </m:r>
                  </m:oMath>
                </a14:m>
                <a:r>
                  <a:rPr lang="en-GB" sz="1200" dirty="0"/>
                  <a:t> and the thickness is </a:t>
                </a:r>
                <a14:m>
                  <m:oMath xmlns:m="http://schemas.openxmlformats.org/officeDocument/2006/math">
                    <m:r>
                      <a:rPr lang="en-GB" sz="1200" b="0" i="1" smtClean="0">
                        <a:latin typeface="Cambria Math" panose="02040503050406030204" pitchFamily="18" charset="0"/>
                      </a:rPr>
                      <m:t>𝑑𝑟</m:t>
                    </m:r>
                  </m:oMath>
                </a14:m>
                <a:r>
                  <a:rPr lang="en-GB" sz="1200" dirty="0"/>
                  <a:t>, then the length is </a:t>
                </a:r>
                <a14:m>
                  <m:oMath xmlns:m="http://schemas.openxmlformats.org/officeDocument/2006/math">
                    <m:f>
                      <m:fPr>
                        <m:ctrlPr>
                          <a:rPr lang="en-GB" sz="1200" b="0" i="1" smtClean="0">
                            <a:latin typeface="Cambria Math" panose="02040503050406030204" pitchFamily="18" charset="0"/>
                          </a:rPr>
                        </m:ctrlPr>
                      </m:fPr>
                      <m:num>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r>
                          <a:rPr lang="en-GB" sz="1200" b="0" i="1" smtClean="0">
                            <a:latin typeface="Cambria Math" panose="02040503050406030204" pitchFamily="18" charset="0"/>
                          </a:rPr>
                          <m:t> </m:t>
                        </m:r>
                        <m:r>
                          <a:rPr lang="en-GB" sz="1200" b="0" i="1" smtClean="0">
                            <a:latin typeface="Cambria Math" panose="02040503050406030204" pitchFamily="18" charset="0"/>
                          </a:rPr>
                          <m:t>𝑑𝑟</m:t>
                        </m:r>
                      </m:num>
                      <m:den>
                        <m:r>
                          <a:rPr lang="en-GB" sz="1200" b="0" i="1" smtClean="0">
                            <a:latin typeface="Cambria Math" panose="02040503050406030204" pitchFamily="18" charset="0"/>
                          </a:rPr>
                          <m:t>𝑑𝑟</m:t>
                        </m:r>
                      </m:den>
                    </m:f>
                    <m:r>
                      <a:rPr lang="en-GB" sz="1200" b="0" i="1" smtClean="0">
                        <a:latin typeface="Cambria Math" panose="02040503050406030204" pitchFamily="18" charset="0"/>
                      </a:rPr>
                      <m:t>=2</m:t>
                    </m:r>
                    <m:r>
                      <a:rPr lang="en-GB" sz="1200" b="0" i="1" smtClean="0">
                        <a:latin typeface="Cambria Math" panose="02040503050406030204" pitchFamily="18" charset="0"/>
                      </a:rPr>
                      <m:t>𝜋</m:t>
                    </m:r>
                    <m:r>
                      <a:rPr lang="en-GB" sz="1200" b="0" i="1" smtClean="0">
                        <a:latin typeface="Cambria Math" panose="02040503050406030204" pitchFamily="18" charset="0"/>
                      </a:rPr>
                      <m:t>𝑟</m:t>
                    </m:r>
                  </m:oMath>
                </a14:m>
                <a:r>
                  <a:rPr lang="en-GB" sz="1200" dirty="0"/>
                  <a:t> as expected.</a:t>
                </a:r>
              </a:p>
            </p:txBody>
          </p:sp>
        </mc:Choice>
        <mc:Fallback xmlns="">
          <p:sp>
            <p:nvSpPr>
              <p:cNvPr id="53" name="TextBox 52"/>
              <p:cNvSpPr txBox="1">
                <a:spLocks noRot="1" noChangeAspect="1" noMove="1" noResize="1" noEditPoints="1" noAdjustHandles="1" noChangeArrowheads="1" noChangeShapeType="1" noTextEdit="1"/>
              </p:cNvSpPr>
              <p:nvPr/>
            </p:nvSpPr>
            <p:spPr>
              <a:xfrm>
                <a:off x="4820244" y="6182583"/>
                <a:ext cx="4075324" cy="542969"/>
              </a:xfrm>
              <a:prstGeom prst="rect">
                <a:avLst/>
              </a:prstGeom>
              <a:blipFill>
                <a:blip r:embed="rId10"/>
                <a:stretch>
                  <a:fillRect l="-150" b="-1124"/>
                </a:stretch>
              </a:blipFill>
            </p:spPr>
            <p:txBody>
              <a:bodyPr/>
              <a:lstStyle/>
              <a:p>
                <a:r>
                  <a:rPr lang="en-GB">
                    <a:noFill/>
                  </a:rPr>
                  <a:t> </a:t>
                </a:r>
              </a:p>
            </p:txBody>
          </p:sp>
        </mc:Fallback>
      </mc:AlternateContent>
      <p:cxnSp>
        <p:nvCxnSpPr>
          <p:cNvPr id="55" name="Straight Arrow Connector 54"/>
          <p:cNvCxnSpPr/>
          <p:nvPr/>
        </p:nvCxnSpPr>
        <p:spPr>
          <a:xfrm>
            <a:off x="5175543" y="5915039"/>
            <a:ext cx="324236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8516679" y="5922335"/>
            <a:ext cx="0" cy="23391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Arrow: Right 59"/>
          <p:cNvSpPr/>
          <p:nvPr/>
        </p:nvSpPr>
        <p:spPr>
          <a:xfrm rot="19146225">
            <a:off x="4237917" y="359264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7078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 name="TextBox 44"/>
              <p:cNvSpPr txBox="1"/>
              <p:nvPr/>
            </p:nvSpPr>
            <p:spPr>
              <a:xfrm>
                <a:off x="5028261" y="3985820"/>
                <a:ext cx="4010115" cy="271343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sz="1400" dirty="0"/>
                  <a:t>Since </a:t>
                </a:r>
                <a14:m>
                  <m:oMath xmlns:m="http://schemas.openxmlformats.org/officeDocument/2006/math">
                    <m:r>
                      <a:rPr lang="en-GB" sz="1400" b="0" i="1" smtClean="0">
                        <a:latin typeface="Cambria Math" panose="02040503050406030204" pitchFamily="18" charset="0"/>
                      </a:rPr>
                      <m:t>𝑓</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e>
                    </m:d>
                    <m:r>
                      <a:rPr lang="en-GB" sz="1400" b="0" i="1" smtClean="0">
                        <a:latin typeface="Cambria Math" panose="02040503050406030204" pitchFamily="18" charset="0"/>
                      </a:rPr>
                      <m:t>=</m:t>
                    </m:r>
                    <m:r>
                      <a:rPr lang="en-GB" sz="1400" b="0" i="1" smtClean="0">
                        <a:latin typeface="Cambria Math" panose="02040503050406030204" pitchFamily="18" charset="0"/>
                      </a:rPr>
                      <m:t>𝐴</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the area function </a:t>
                </a:r>
                <a14:m>
                  <m:oMath xmlns:m="http://schemas.openxmlformats.org/officeDocument/2006/math">
                    <m:r>
                      <a:rPr lang="en-GB" sz="1400" b="0" i="1" dirty="0" smtClean="0">
                        <a:latin typeface="Cambria Math" panose="02040503050406030204" pitchFamily="18" charset="0"/>
                      </a:rPr>
                      <m:t>𝐴</m:t>
                    </m:r>
                    <m:r>
                      <a:rPr lang="en-GB" sz="1400" b="0" i="1" dirty="0" smtClean="0">
                        <a:latin typeface="Cambria Math" panose="02040503050406030204" pitchFamily="18" charset="0"/>
                      </a:rPr>
                      <m:t>(</m:t>
                    </m:r>
                    <m:r>
                      <a:rPr lang="en-GB" sz="1400" b="0" i="1" dirty="0" smtClean="0">
                        <a:latin typeface="Cambria Math" panose="02040503050406030204" pitchFamily="18" charset="0"/>
                      </a:rPr>
                      <m:t>𝑥</m:t>
                    </m:r>
                    <m:r>
                      <a:rPr lang="en-GB" sz="1400" b="0" i="1" dirty="0" smtClean="0">
                        <a:latin typeface="Cambria Math" panose="02040503050406030204" pitchFamily="18" charset="0"/>
                      </a:rPr>
                      <m:t>)</m:t>
                    </m:r>
                  </m:oMath>
                </a14:m>
                <a:r>
                  <a:rPr lang="en-GB" sz="1400" dirty="0"/>
                  <a:t> is the integral of </a:t>
                </a:r>
                <a14:m>
                  <m:oMath xmlns:m="http://schemas.openxmlformats.org/officeDocument/2006/math">
                    <m:r>
                      <a:rPr lang="en-GB" sz="1400" b="0" i="1" smtClean="0">
                        <a:latin typeface="Cambria Math" panose="02040503050406030204" pitchFamily="18" charset="0"/>
                      </a:rPr>
                      <m:t>𝑓</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Thus:</a:t>
                </a:r>
              </a:p>
              <a:p>
                <a:pPr/>
                <a14:m>
                  <m:oMathPara xmlns:m="http://schemas.openxmlformats.org/officeDocument/2006/math">
                    <m:oMathParaPr>
                      <m:jc m:val="centerGroup"/>
                    </m:oMathParaPr>
                    <m:oMath xmlns:m="http://schemas.openxmlformats.org/officeDocument/2006/math">
                      <m:nary>
                        <m:naryPr>
                          <m:ctrlPr>
                            <a:rPr lang="en-GB" sz="1400" i="1">
                              <a:latin typeface="Cambria Math" panose="02040503050406030204" pitchFamily="18" charset="0"/>
                            </a:rPr>
                          </m:ctrlPr>
                        </m:naryPr>
                        <m:sub>
                          <m:r>
                            <a:rPr lang="en-GB" sz="1400" i="1">
                              <a:latin typeface="Cambria Math" panose="02040503050406030204" pitchFamily="18" charset="0"/>
                            </a:rPr>
                            <m:t>𝑏</m:t>
                          </m:r>
                        </m:sub>
                        <m:sup>
                          <m:r>
                            <a:rPr lang="en-GB" sz="1400" i="1">
                              <a:latin typeface="Cambria Math" panose="02040503050406030204" pitchFamily="18" charset="0"/>
                            </a:rPr>
                            <m:t>𝑎</m:t>
                          </m:r>
                        </m:sup>
                        <m:e>
                          <m:r>
                            <a:rPr lang="en-GB" sz="1400" i="1">
                              <a:latin typeface="Cambria Math" panose="02040503050406030204" pitchFamily="18" charset="0"/>
                            </a:rPr>
                            <m:t>𝑓</m:t>
                          </m:r>
                          <m:d>
                            <m:dPr>
                              <m:ctrlPr>
                                <a:rPr lang="en-GB" sz="1400" i="1">
                                  <a:latin typeface="Cambria Math" panose="02040503050406030204" pitchFamily="18" charset="0"/>
                                </a:rPr>
                              </m:ctrlPr>
                            </m:dPr>
                            <m:e>
                              <m:r>
                                <a:rPr lang="en-GB" sz="1400" i="1">
                                  <a:latin typeface="Cambria Math" panose="02040503050406030204" pitchFamily="18" charset="0"/>
                                </a:rPr>
                                <m:t>𝑥</m:t>
                              </m:r>
                            </m:e>
                          </m:d>
                          <m:r>
                            <a:rPr lang="en-GB" sz="1400" i="1">
                              <a:latin typeface="Cambria Math" panose="02040503050406030204" pitchFamily="18" charset="0"/>
                            </a:rPr>
                            <m:t> </m:t>
                          </m:r>
                          <m:r>
                            <a:rPr lang="en-GB" sz="1400" i="1">
                              <a:latin typeface="Cambria Math" panose="02040503050406030204" pitchFamily="18" charset="0"/>
                            </a:rPr>
                            <m:t>𝑑𝑥</m:t>
                          </m:r>
                        </m:e>
                      </m:nary>
                      <m:r>
                        <a:rPr lang="en-GB" sz="1400" b="0" i="1" smtClean="0">
                          <a:latin typeface="Cambria Math" panose="02040503050406030204" pitchFamily="18" charset="0"/>
                        </a:rPr>
                        <m:t>=</m:t>
                      </m:r>
                      <m:sSubSup>
                        <m:sSubSupPr>
                          <m:ctrlPr>
                            <a:rPr lang="en-GB" sz="1400" b="0" i="1" smtClean="0">
                              <a:latin typeface="Cambria Math" panose="02040503050406030204" pitchFamily="18" charset="0"/>
                            </a:rPr>
                          </m:ctrlPr>
                        </m:sSubSupPr>
                        <m:e>
                          <m:d>
                            <m:dPr>
                              <m:begChr m:val="["/>
                              <m:endChr m:val="]"/>
                              <m:ctrlPr>
                                <a:rPr lang="en-GB" sz="1400" b="0" i="1" smtClean="0">
                                  <a:latin typeface="Cambria Math" panose="02040503050406030204" pitchFamily="18" charset="0"/>
                                </a:rPr>
                              </m:ctrlPr>
                            </m:dPr>
                            <m:e>
                              <m:r>
                                <a:rPr lang="en-GB" sz="1400" b="0" i="1" smtClean="0">
                                  <a:latin typeface="Cambria Math" panose="02040503050406030204" pitchFamily="18" charset="0"/>
                                </a:rPr>
                                <m:t>𝐴</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e>
                              </m:d>
                            </m:e>
                          </m:d>
                        </m:e>
                        <m:sub>
                          <m:r>
                            <a:rPr lang="en-GB" sz="1400" b="0" i="1" smtClean="0">
                              <a:latin typeface="Cambria Math" panose="02040503050406030204" pitchFamily="18" charset="0"/>
                            </a:rPr>
                            <m:t>𝑎</m:t>
                          </m:r>
                        </m:sub>
                        <m:sup>
                          <m:r>
                            <a:rPr lang="en-GB" sz="1400" b="0" i="1" smtClean="0">
                              <a:latin typeface="Cambria Math" panose="02040503050406030204" pitchFamily="18" charset="0"/>
                            </a:rPr>
                            <m:t>𝑏</m:t>
                          </m:r>
                        </m:sup>
                      </m:sSubSup>
                      <m:r>
                        <a:rPr lang="en-GB" sz="1400" b="0" i="1" smtClean="0">
                          <a:latin typeface="Cambria Math" panose="02040503050406030204" pitchFamily="18" charset="0"/>
                        </a:rPr>
                        <m:t>    =</m:t>
                      </m:r>
                      <m:r>
                        <a:rPr lang="en-GB" sz="1400" b="0" i="1" smtClean="0">
                          <a:latin typeface="Cambria Math" panose="02040503050406030204" pitchFamily="18" charset="0"/>
                        </a:rPr>
                        <m:t>𝐴</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𝑏</m:t>
                          </m:r>
                        </m:e>
                      </m:d>
                      <m:r>
                        <a:rPr lang="en-GB" sz="1400" b="0" i="1" smtClean="0">
                          <a:latin typeface="Cambria Math" panose="02040503050406030204" pitchFamily="18" charset="0"/>
                        </a:rPr>
                        <m:t>−</m:t>
                      </m:r>
                      <m:r>
                        <a:rPr lang="en-GB" sz="1400" b="0" i="1" smtClean="0">
                          <a:latin typeface="Cambria Math" panose="02040503050406030204" pitchFamily="18" charset="0"/>
                        </a:rPr>
                        <m:t>𝐴</m:t>
                      </m:r>
                      <m:r>
                        <a:rPr lang="en-GB" sz="1400" b="0" i="1" smtClean="0">
                          <a:latin typeface="Cambria Math" panose="02040503050406030204" pitchFamily="18" charset="0"/>
                        </a:rPr>
                        <m:t>(</m:t>
                      </m:r>
                      <m:r>
                        <a:rPr lang="en-GB" sz="1400" b="0" i="1" smtClean="0">
                          <a:latin typeface="Cambria Math" panose="02040503050406030204" pitchFamily="18" charset="0"/>
                        </a:rPr>
                        <m:t>𝑎</m:t>
                      </m:r>
                      <m:r>
                        <a:rPr lang="en-GB" sz="1400" b="0" i="1" smtClean="0">
                          <a:latin typeface="Cambria Math" panose="02040503050406030204" pitchFamily="18" charset="0"/>
                        </a:rPr>
                        <m:t>)</m:t>
                      </m:r>
                    </m:oMath>
                  </m:oMathPara>
                </a14:m>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a:p>
                <a:endParaRPr lang="en-GB" sz="1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5028261" y="3985820"/>
                <a:ext cx="4010115" cy="2713435"/>
              </a:xfrm>
              <a:prstGeom prst="rect">
                <a:avLst/>
              </a:prstGeom>
              <a:blipFill>
                <a:blip r:embed="rId2"/>
                <a:stretch>
                  <a:fillRect l="-3179" t="-1136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65" name="Freeform: Shape 64"/>
          <p:cNvSpPr/>
          <p:nvPr/>
        </p:nvSpPr>
        <p:spPr>
          <a:xfrm>
            <a:off x="5517243" y="5549900"/>
            <a:ext cx="680357" cy="654050"/>
          </a:xfrm>
          <a:custGeom>
            <a:avLst/>
            <a:gdLst>
              <a:gd name="connsiteX0" fmla="*/ 0 w 730250"/>
              <a:gd name="connsiteY0" fmla="*/ 641350 h 641350"/>
              <a:gd name="connsiteX1" fmla="*/ 730250 w 730250"/>
              <a:gd name="connsiteY1" fmla="*/ 641350 h 641350"/>
              <a:gd name="connsiteX2" fmla="*/ 723900 w 730250"/>
              <a:gd name="connsiteY2" fmla="*/ 0 h 641350"/>
              <a:gd name="connsiteX3" fmla="*/ 482600 w 730250"/>
              <a:gd name="connsiteY3" fmla="*/ 76200 h 641350"/>
              <a:gd name="connsiteX4" fmla="*/ 298450 w 730250"/>
              <a:gd name="connsiteY4" fmla="*/ 158750 h 641350"/>
              <a:gd name="connsiteX5" fmla="*/ 6350 w 730250"/>
              <a:gd name="connsiteY5" fmla="*/ 24765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250" h="641350">
                <a:moveTo>
                  <a:pt x="0" y="641350"/>
                </a:moveTo>
                <a:lnTo>
                  <a:pt x="730250" y="641350"/>
                </a:lnTo>
                <a:cubicBezTo>
                  <a:pt x="728133" y="427567"/>
                  <a:pt x="726017" y="213783"/>
                  <a:pt x="723900" y="0"/>
                </a:cubicBezTo>
                <a:lnTo>
                  <a:pt x="482600" y="76200"/>
                </a:lnTo>
                <a:lnTo>
                  <a:pt x="298450" y="158750"/>
                </a:lnTo>
                <a:lnTo>
                  <a:pt x="6350" y="247650"/>
                </a:lnTo>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reeform: Shape 19"/>
          <p:cNvSpPr/>
          <p:nvPr/>
        </p:nvSpPr>
        <p:spPr>
          <a:xfrm>
            <a:off x="5293966" y="337402"/>
            <a:ext cx="1956392" cy="1180214"/>
          </a:xfrm>
          <a:custGeom>
            <a:avLst/>
            <a:gdLst>
              <a:gd name="connsiteX0" fmla="*/ 0 w 1945759"/>
              <a:gd name="connsiteY0" fmla="*/ 669851 h 1180214"/>
              <a:gd name="connsiteX1" fmla="*/ 1105786 w 1945759"/>
              <a:gd name="connsiteY1" fmla="*/ 340242 h 1180214"/>
              <a:gd name="connsiteX2" fmla="*/ 1435396 w 1945759"/>
              <a:gd name="connsiteY2" fmla="*/ 212651 h 1180214"/>
              <a:gd name="connsiteX3" fmla="*/ 1807535 w 1945759"/>
              <a:gd name="connsiteY3" fmla="*/ 53163 h 1180214"/>
              <a:gd name="connsiteX4" fmla="*/ 1945759 w 1945759"/>
              <a:gd name="connsiteY4" fmla="*/ 0 h 1180214"/>
              <a:gd name="connsiteX5" fmla="*/ 1945759 w 1945759"/>
              <a:gd name="connsiteY5" fmla="*/ 1180214 h 1180214"/>
              <a:gd name="connsiteX6" fmla="*/ 31898 w 1945759"/>
              <a:gd name="connsiteY6" fmla="*/ 1180214 h 1180214"/>
              <a:gd name="connsiteX7" fmla="*/ 0 w 1945759"/>
              <a:gd name="connsiteY7" fmla="*/ 669851 h 1180214"/>
              <a:gd name="connsiteX0" fmla="*/ 10633 w 1956392"/>
              <a:gd name="connsiteY0" fmla="*/ 669851 h 1180214"/>
              <a:gd name="connsiteX1" fmla="*/ 1116419 w 1956392"/>
              <a:gd name="connsiteY1" fmla="*/ 340242 h 1180214"/>
              <a:gd name="connsiteX2" fmla="*/ 1446029 w 1956392"/>
              <a:gd name="connsiteY2" fmla="*/ 212651 h 1180214"/>
              <a:gd name="connsiteX3" fmla="*/ 1818168 w 1956392"/>
              <a:gd name="connsiteY3" fmla="*/ 53163 h 1180214"/>
              <a:gd name="connsiteX4" fmla="*/ 1956392 w 1956392"/>
              <a:gd name="connsiteY4" fmla="*/ 0 h 1180214"/>
              <a:gd name="connsiteX5" fmla="*/ 1956392 w 1956392"/>
              <a:gd name="connsiteY5" fmla="*/ 1180214 h 1180214"/>
              <a:gd name="connsiteX6" fmla="*/ 0 w 1956392"/>
              <a:gd name="connsiteY6" fmla="*/ 1180214 h 1180214"/>
              <a:gd name="connsiteX7" fmla="*/ 10633 w 1956392"/>
              <a:gd name="connsiteY7" fmla="*/ 669851 h 118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6392" h="1180214">
                <a:moveTo>
                  <a:pt x="10633" y="669851"/>
                </a:moveTo>
                <a:lnTo>
                  <a:pt x="1116419" y="340242"/>
                </a:lnTo>
                <a:lnTo>
                  <a:pt x="1446029" y="212651"/>
                </a:lnTo>
                <a:lnTo>
                  <a:pt x="1818168" y="53163"/>
                </a:lnTo>
                <a:lnTo>
                  <a:pt x="1956392" y="0"/>
                </a:lnTo>
                <a:lnTo>
                  <a:pt x="1956392" y="1180214"/>
                </a:lnTo>
                <a:lnTo>
                  <a:pt x="0" y="1180214"/>
                </a:lnTo>
                <a:lnTo>
                  <a:pt x="10633" y="669851"/>
                </a:lnTo>
                <a:close/>
              </a:path>
            </a:pathLst>
          </a:custGeom>
          <a:solidFill>
            <a:schemeClr val="accent1">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361160" y="93272"/>
            <a:ext cx="3401213" cy="584775"/>
          </a:xfrm>
          <a:prstGeom prst="rect">
            <a:avLst/>
          </a:prstGeom>
          <a:noFill/>
        </p:spPr>
        <p:txBody>
          <a:bodyPr wrap="square" rtlCol="0">
            <a:spAutoFit/>
          </a:bodyPr>
          <a:lstStyle/>
          <a:p>
            <a:r>
              <a:rPr lang="en-GB" b="1" dirty="0"/>
              <a:t>Part 2:</a:t>
            </a:r>
          </a:p>
          <a:p>
            <a:r>
              <a:rPr lang="en-GB" sz="1400" dirty="0"/>
              <a:t>It gets better!</a:t>
            </a:r>
          </a:p>
        </p:txBody>
      </p:sp>
      <p:sp>
        <p:nvSpPr>
          <p:cNvPr id="6" name="Oval 5"/>
          <p:cNvSpPr/>
          <p:nvPr/>
        </p:nvSpPr>
        <p:spPr>
          <a:xfrm>
            <a:off x="505644" y="802199"/>
            <a:ext cx="1008112" cy="10081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 name="Oval 6"/>
          <p:cNvSpPr/>
          <p:nvPr/>
        </p:nvSpPr>
        <p:spPr>
          <a:xfrm>
            <a:off x="514295" y="1136136"/>
            <a:ext cx="1001731" cy="328204"/>
          </a:xfrm>
          <a:prstGeom prst="ellipse">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 name="TextBox 7"/>
              <p:cNvSpPr txBox="1"/>
              <p:nvPr/>
            </p:nvSpPr>
            <p:spPr>
              <a:xfrm>
                <a:off x="1562078" y="639947"/>
                <a:ext cx="1910337" cy="1613199"/>
              </a:xfrm>
              <a:prstGeom prst="rect">
                <a:avLst/>
              </a:prstGeom>
              <a:noFill/>
            </p:spPr>
            <p:txBody>
              <a:bodyPr wrap="square" rtlCol="0">
                <a:spAutoFit/>
              </a:bodyPr>
              <a:lstStyle/>
              <a:p>
                <a:r>
                  <a:rPr lang="en-GB" sz="1400" dirty="0"/>
                  <a:t>Consider the volume of a sphere:</a:t>
                </a:r>
              </a:p>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𝑉</m:t>
                      </m:r>
                      <m:r>
                        <a:rPr lang="en-GB" sz="1400" b="0" i="1" smtClean="0">
                          <a:latin typeface="Cambria Math" panose="02040503050406030204" pitchFamily="18" charset="0"/>
                        </a:rPr>
                        <m:t>=</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4</m:t>
                          </m:r>
                        </m:num>
                        <m:den>
                          <m:r>
                            <a:rPr lang="en-GB" sz="1400" b="0" i="1" smtClean="0">
                              <a:latin typeface="Cambria Math" panose="02040503050406030204" pitchFamily="18" charset="0"/>
                            </a:rPr>
                            <m:t>3</m:t>
                          </m:r>
                        </m:den>
                      </m:f>
                      <m:r>
                        <a:rPr lang="en-GB" sz="1400" b="0" i="1" smtClean="0">
                          <a:latin typeface="Cambria Math" panose="02040503050406030204" pitchFamily="18" charset="0"/>
                        </a:rPr>
                        <m:t>𝜋</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𝑟</m:t>
                          </m:r>
                        </m:e>
                        <m:sup>
                          <m:r>
                            <a:rPr lang="en-GB" sz="1400" b="0" i="1" smtClean="0">
                              <a:latin typeface="Cambria Math" panose="02040503050406030204" pitchFamily="18" charset="0"/>
                            </a:rPr>
                            <m:t>3</m:t>
                          </m:r>
                        </m:sup>
                      </m:sSup>
                    </m:oMath>
                    <m:oMath xmlns:m="http://schemas.openxmlformats.org/officeDocument/2006/math">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𝑑𝑉</m:t>
                          </m:r>
                        </m:num>
                        <m:den>
                          <m:r>
                            <a:rPr lang="en-GB" sz="1400" b="0" i="1" smtClean="0">
                              <a:latin typeface="Cambria Math" panose="02040503050406030204" pitchFamily="18" charset="0"/>
                            </a:rPr>
                            <m:t>𝑑𝑟</m:t>
                          </m:r>
                        </m:den>
                      </m:f>
                      <m:r>
                        <a:rPr lang="en-GB" sz="1400" b="0" i="1" smtClean="0">
                          <a:latin typeface="Cambria Math" panose="02040503050406030204" pitchFamily="18" charset="0"/>
                        </a:rPr>
                        <m:t>=4</m:t>
                      </m:r>
                      <m:r>
                        <a:rPr lang="en-GB" sz="1400" b="0" i="1" smtClean="0">
                          <a:latin typeface="Cambria Math" panose="02040503050406030204" pitchFamily="18" charset="0"/>
                        </a:rPr>
                        <m:t>𝜋</m:t>
                      </m:r>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𝑟</m:t>
                          </m:r>
                        </m:e>
                        <m:sup>
                          <m:r>
                            <a:rPr lang="en-GB" sz="1400" b="0" i="1" smtClean="0">
                              <a:latin typeface="Cambria Math" panose="02040503050406030204" pitchFamily="18" charset="0"/>
                            </a:rPr>
                            <m:t>2</m:t>
                          </m:r>
                        </m:sup>
                      </m:sSup>
                    </m:oMath>
                  </m:oMathPara>
                </a14:m>
                <a:endParaRPr lang="en-GB" sz="1400" dirty="0"/>
              </a:p>
              <a:p>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1562078" y="639947"/>
                <a:ext cx="1910337" cy="1613199"/>
              </a:xfrm>
              <a:prstGeom prst="rect">
                <a:avLst/>
              </a:prstGeom>
              <a:blipFill>
                <a:blip r:embed="rId3"/>
                <a:stretch>
                  <a:fillRect l="-955" t="-755" r="-637"/>
                </a:stretch>
              </a:blipFill>
            </p:spPr>
            <p:txBody>
              <a:bodyPr/>
              <a:lstStyle/>
              <a:p>
                <a:r>
                  <a:rPr lang="en-GB">
                    <a:noFill/>
                  </a:rPr>
                  <a:t> </a:t>
                </a:r>
              </a:p>
            </p:txBody>
          </p:sp>
        </mc:Fallback>
      </mc:AlternateContent>
      <p:pic>
        <p:nvPicPr>
          <p:cNvPr id="9" name="Picture 8"/>
          <p:cNvPicPr>
            <a:picLocks noChangeAspect="1"/>
          </p:cNvPicPr>
          <p:nvPr/>
        </p:nvPicPr>
        <p:blipFill>
          <a:blip r:embed="rId4"/>
          <a:stretch>
            <a:fillRect/>
          </a:stretch>
        </p:blipFill>
        <p:spPr>
          <a:xfrm>
            <a:off x="548763" y="2001750"/>
            <a:ext cx="1022800" cy="502791"/>
          </a:xfrm>
          <a:prstGeom prst="rect">
            <a:avLst/>
          </a:prstGeom>
        </p:spPr>
      </p:pic>
      <p:sp>
        <p:nvSpPr>
          <p:cNvPr id="10" name="TextBox 9"/>
          <p:cNvSpPr txBox="1"/>
          <p:nvPr/>
        </p:nvSpPr>
        <p:spPr>
          <a:xfrm>
            <a:off x="1494760" y="2059212"/>
            <a:ext cx="1752241" cy="430887"/>
          </a:xfrm>
          <a:prstGeom prst="rect">
            <a:avLst/>
          </a:prstGeom>
          <a:noFill/>
        </p:spPr>
        <p:txBody>
          <a:bodyPr wrap="square" rtlCol="0">
            <a:spAutoFit/>
          </a:bodyPr>
          <a:lstStyle/>
          <a:p>
            <a:r>
              <a:rPr lang="en-GB" sz="1100" b="1" dirty="0"/>
              <a:t>OMG THAT’S THE SURFACE AREA</a:t>
            </a:r>
          </a:p>
        </p:txBody>
      </p:sp>
      <p:sp>
        <p:nvSpPr>
          <p:cNvPr id="11" name="TextBox 10"/>
          <p:cNvSpPr txBox="1"/>
          <p:nvPr/>
        </p:nvSpPr>
        <p:spPr>
          <a:xfrm>
            <a:off x="371214" y="2613537"/>
            <a:ext cx="3238987" cy="584775"/>
          </a:xfrm>
          <a:prstGeom prst="rect">
            <a:avLst/>
          </a:prstGeom>
          <a:noFill/>
        </p:spPr>
        <p:txBody>
          <a:bodyPr wrap="square" rtlCol="0">
            <a:spAutoFit/>
          </a:bodyPr>
          <a:lstStyle/>
          <a:p>
            <a:r>
              <a:rPr lang="en-GB" sz="1400" dirty="0"/>
              <a:t>This works for a similar reason to before.</a:t>
            </a:r>
          </a:p>
          <a:p>
            <a:endParaRPr lang="en-GB" dirty="0"/>
          </a:p>
        </p:txBody>
      </p:sp>
      <p:cxnSp>
        <p:nvCxnSpPr>
          <p:cNvPr id="13" name="Straight Arrow Connector 12"/>
          <p:cNvCxnSpPr/>
          <p:nvPr/>
        </p:nvCxnSpPr>
        <p:spPr>
          <a:xfrm flipH="1" flipV="1">
            <a:off x="5778500" y="228600"/>
            <a:ext cx="7649" cy="12894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5210085" y="1518067"/>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Freeform: Shape 18"/>
          <p:cNvSpPr/>
          <p:nvPr/>
        </p:nvSpPr>
        <p:spPr>
          <a:xfrm>
            <a:off x="5304599" y="241709"/>
            <a:ext cx="2573080" cy="776177"/>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Lst>
            <a:ahLst/>
            <a:cxnLst>
              <a:cxn ang="0">
                <a:pos x="connsiteX0" y="connsiteY0"/>
              </a:cxn>
              <a:cxn ang="0">
                <a:pos x="connsiteX1" y="connsiteY1"/>
              </a:cxn>
              <a:cxn ang="0">
                <a:pos x="connsiteX2" y="connsiteY2"/>
              </a:cxn>
              <a:cxn ang="0">
                <a:pos x="connsiteX3" y="connsiteY3"/>
              </a:cxn>
            </a:cxnLst>
            <a:rect l="l" t="t" r="r" b="b"/>
            <a:pathLst>
              <a:path w="2573080" h="776177">
                <a:moveTo>
                  <a:pt x="0" y="776177"/>
                </a:moveTo>
                <a:cubicBezTo>
                  <a:pt x="477579" y="635295"/>
                  <a:pt x="955158" y="494414"/>
                  <a:pt x="1275907" y="382772"/>
                </a:cubicBezTo>
                <a:cubicBezTo>
                  <a:pt x="1596656" y="271130"/>
                  <a:pt x="1708297" y="170121"/>
                  <a:pt x="1924493" y="106326"/>
                </a:cubicBezTo>
                <a:cubicBezTo>
                  <a:pt x="2140689" y="42531"/>
                  <a:pt x="2356884" y="21265"/>
                  <a:pt x="257308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1" name="TextBox 20"/>
              <p:cNvSpPr txBox="1"/>
              <p:nvPr/>
            </p:nvSpPr>
            <p:spPr>
              <a:xfrm>
                <a:off x="7053499" y="1471130"/>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𝑥</m:t>
                      </m:r>
                    </m:oMath>
                  </m:oMathPara>
                </a14:m>
                <a:endParaRPr lang="en-GB" sz="1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7053499" y="1471130"/>
                <a:ext cx="347884" cy="307777"/>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747232" y="701989"/>
                <a:ext cx="49811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𝑓</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m:oMathPara>
                </a14:m>
                <a:endParaRPr lang="en-GB" sz="1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747232" y="701989"/>
                <a:ext cx="498118" cy="307777"/>
              </a:xfrm>
              <a:prstGeom prst="rect">
                <a:avLst/>
              </a:prstGeom>
              <a:blipFill>
                <a:blip r:embed="rId6"/>
                <a:stretch>
                  <a:fillRect r="-3659" b="-58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6117664" y="927509"/>
                <a:ext cx="4734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oMath>
                  </m:oMathPara>
                </a14:m>
                <a:endParaRPr lang="en-GB" dirty="0"/>
              </a:p>
            </p:txBody>
          </p:sp>
        </mc:Choice>
        <mc:Fallback xmlns="">
          <p:sp>
            <p:nvSpPr>
              <p:cNvPr id="23" name="TextBox 22"/>
              <p:cNvSpPr txBox="1">
                <a:spLocks noRot="1" noChangeAspect="1" noMove="1" noResize="1" noEditPoints="1" noAdjustHandles="1" noChangeArrowheads="1" noChangeShapeType="1" noTextEdit="1"/>
              </p:cNvSpPr>
              <p:nvPr/>
            </p:nvSpPr>
            <p:spPr>
              <a:xfrm>
                <a:off x="6117664" y="927509"/>
                <a:ext cx="473475" cy="369332"/>
              </a:xfrm>
              <a:prstGeom prst="rect">
                <a:avLst/>
              </a:prstGeom>
              <a:blipFill>
                <a:blip r:embed="rId7"/>
                <a:stretch>
                  <a:fillRect r="-42857" b="-13115"/>
                </a:stretch>
              </a:blipFill>
            </p:spPr>
            <p:txBody>
              <a:bodyPr/>
              <a:lstStyle/>
              <a:p>
                <a:r>
                  <a:rPr lang="en-GB">
                    <a:noFill/>
                  </a:rPr>
                  <a:t> </a:t>
                </a:r>
              </a:p>
            </p:txBody>
          </p:sp>
        </mc:Fallback>
      </mc:AlternateContent>
      <p:sp>
        <p:nvSpPr>
          <p:cNvPr id="24" name="Rectangle 23"/>
          <p:cNvSpPr/>
          <p:nvPr/>
        </p:nvSpPr>
        <p:spPr>
          <a:xfrm>
            <a:off x="7250358" y="316137"/>
            <a:ext cx="265814" cy="1201479"/>
          </a:xfrm>
          <a:prstGeom prst="rect">
            <a:avLst/>
          </a:prstGeom>
          <a:solidFill>
            <a:schemeClr val="accent2">
              <a:alpha val="61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6" name="TextBox 25"/>
              <p:cNvSpPr txBox="1"/>
              <p:nvPr/>
            </p:nvSpPr>
            <p:spPr>
              <a:xfrm>
                <a:off x="4367141" y="1759546"/>
                <a:ext cx="4710223" cy="1384995"/>
              </a:xfrm>
              <a:prstGeom prst="rect">
                <a:avLst/>
              </a:prstGeom>
              <a:noFill/>
            </p:spPr>
            <p:txBody>
              <a:bodyPr wrap="square" rtlCol="0">
                <a:spAutoFit/>
              </a:bodyPr>
              <a:lstStyle/>
              <a:p>
                <a:r>
                  <a:rPr lang="en-GB" sz="1400" dirty="0"/>
                  <a:t>And the same principle applies to area under a graph. If </a:t>
                </a:r>
                <a14:m>
                  <m:oMath xmlns:m="http://schemas.openxmlformats.org/officeDocument/2006/math">
                    <m:r>
                      <a:rPr lang="en-GB" sz="1400" b="0" i="1" smtClean="0">
                        <a:latin typeface="Cambria Math" panose="02040503050406030204" pitchFamily="18" charset="0"/>
                      </a:rPr>
                      <m:t>𝐴</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gives the area up to </a:t>
                </a:r>
                <a14:m>
                  <m:oMath xmlns:m="http://schemas.openxmlformats.org/officeDocument/2006/math">
                    <m:r>
                      <a:rPr lang="en-GB" sz="1400" b="0" i="1" smtClean="0">
                        <a:latin typeface="Cambria Math" panose="02040503050406030204" pitchFamily="18" charset="0"/>
                      </a:rPr>
                      <m:t>𝑥</m:t>
                    </m:r>
                  </m:oMath>
                </a14:m>
                <a:r>
                  <a:rPr lang="en-GB" sz="1400" dirty="0"/>
                  <a:t>, then what we’re ‘adding on each time’ (i.e. the gradient) is sort of like drawing a line of length </a:t>
                </a:r>
                <a14:m>
                  <m:oMath xmlns:m="http://schemas.openxmlformats.org/officeDocument/2006/math">
                    <m:r>
                      <a:rPr lang="en-GB" sz="1400" b="0" i="1" smtClean="0">
                        <a:latin typeface="Cambria Math" panose="02040503050406030204" pitchFamily="18" charset="0"/>
                      </a:rPr>
                      <m:t>𝑓</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at the right-most end each time (or more accurately, an infinitely thin rectangle of area </a:t>
                </a:r>
                <a14:m>
                  <m:oMath xmlns:m="http://schemas.openxmlformats.org/officeDocument/2006/math">
                    <m:r>
                      <a:rPr lang="en-GB" sz="1400" b="0" i="1" smtClean="0">
                        <a:latin typeface="Cambria Math" panose="02040503050406030204" pitchFamily="18" charset="0"/>
                      </a:rPr>
                      <m:t>𝑓</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e>
                    </m:d>
                    <m:r>
                      <a:rPr lang="en-GB" sz="1400" b="0" i="1" smtClean="0">
                        <a:latin typeface="Cambria Math" panose="02040503050406030204" pitchFamily="18" charset="0"/>
                      </a:rPr>
                      <m:t>×</m:t>
                    </m:r>
                    <m:r>
                      <a:rPr lang="en-GB" sz="1400" b="0" i="1" smtClean="0">
                        <a:latin typeface="Cambria Math" panose="02040503050406030204" pitchFamily="18" charset="0"/>
                      </a:rPr>
                      <m:t>h</m:t>
                    </m:r>
                  </m:oMath>
                </a14:m>
                <a:r>
                  <a:rPr lang="en-GB" sz="1400" dirty="0"/>
                  <a:t>). Thus if </a:t>
                </a:r>
                <a14:m>
                  <m:oMath xmlns:m="http://schemas.openxmlformats.org/officeDocument/2006/math">
                    <m:r>
                      <a:rPr lang="en-GB" sz="1400" b="0" i="1" smtClean="0">
                        <a:latin typeface="Cambria Math" panose="02040503050406030204" pitchFamily="18" charset="0"/>
                      </a:rPr>
                      <m:t>𝑓</m:t>
                    </m:r>
                    <m:r>
                      <a:rPr lang="en-GB" sz="1400" b="0" i="1" smtClean="0">
                        <a:latin typeface="Cambria Math" panose="02040503050406030204" pitchFamily="18" charset="0"/>
                      </a:rPr>
                      <m:t>(</m:t>
                    </m:r>
                    <m:r>
                      <a:rPr lang="en-GB" sz="1400" b="0" i="1" smtClean="0">
                        <a:latin typeface="Cambria Math" panose="02040503050406030204" pitchFamily="18" charset="0"/>
                      </a:rPr>
                      <m:t>𝑥</m:t>
                    </m:r>
                    <m:r>
                      <a:rPr lang="en-GB" sz="1400" b="0" i="1" smtClean="0">
                        <a:latin typeface="Cambria Math" panose="02040503050406030204" pitchFamily="18" charset="0"/>
                      </a:rPr>
                      <m:t>)</m:t>
                    </m:r>
                  </m:oMath>
                </a14:m>
                <a:r>
                  <a:rPr lang="en-GB" sz="1400" dirty="0"/>
                  <a:t> is the gradient of the area, then conversely the area is the integral of </a:t>
                </a:r>
                <a14:m>
                  <m:oMath xmlns:m="http://schemas.openxmlformats.org/officeDocument/2006/math">
                    <m:r>
                      <a:rPr lang="en-GB" sz="1400" b="0" i="1" smtClean="0">
                        <a:latin typeface="Cambria Math" panose="02040503050406030204" pitchFamily="18" charset="0"/>
                      </a:rPr>
                      <m:t>𝑓</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e>
                    </m:d>
                  </m:oMath>
                </a14:m>
                <a:r>
                  <a:rPr lang="en-GB" sz="1400" dirty="0"/>
                  <a:t>.</a:t>
                </a:r>
              </a:p>
            </p:txBody>
          </p:sp>
        </mc:Choice>
        <mc:Fallback xmlns="">
          <p:sp>
            <p:nvSpPr>
              <p:cNvPr id="26" name="TextBox 25"/>
              <p:cNvSpPr txBox="1">
                <a:spLocks noRot="1" noChangeAspect="1" noMove="1" noResize="1" noEditPoints="1" noAdjustHandles="1" noChangeArrowheads="1" noChangeShapeType="1" noTextEdit="1"/>
              </p:cNvSpPr>
              <p:nvPr/>
            </p:nvSpPr>
            <p:spPr>
              <a:xfrm>
                <a:off x="4367141" y="1759546"/>
                <a:ext cx="4710223" cy="1384995"/>
              </a:xfrm>
              <a:prstGeom prst="rect">
                <a:avLst/>
              </a:prstGeom>
              <a:blipFill>
                <a:blip r:embed="rId8"/>
                <a:stretch>
                  <a:fillRect l="-388" t="-881" r="-1035" b="-35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325493" y="1471542"/>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m:t>
                      </m:r>
                      <m:r>
                        <a:rPr lang="en-GB" sz="1400" b="0" i="1" smtClean="0">
                          <a:latin typeface="Cambria Math" panose="02040503050406030204" pitchFamily="18" charset="0"/>
                        </a:rPr>
                        <m:t>h</m:t>
                      </m:r>
                    </m:oMath>
                  </m:oMathPara>
                </a14:m>
                <a:endParaRPr lang="en-GB" sz="1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7325493" y="1471542"/>
                <a:ext cx="624707" cy="307777"/>
              </a:xfrm>
              <a:prstGeom prst="rect">
                <a:avLst/>
              </a:prstGeom>
              <a:blipFill>
                <a:blip r:embed="rId9"/>
                <a:stretch>
                  <a:fillRect/>
                </a:stretch>
              </a:blipFill>
            </p:spPr>
            <p:txBody>
              <a:bodyPr/>
              <a:lstStyle/>
              <a:p>
                <a:r>
                  <a:rPr lang="en-GB">
                    <a:noFill/>
                  </a:rPr>
                  <a:t> </a:t>
                </a:r>
              </a:p>
            </p:txBody>
          </p:sp>
        </mc:Fallback>
      </mc:AlternateContent>
      <p:cxnSp>
        <p:nvCxnSpPr>
          <p:cNvPr id="29" name="Straight Arrow Connector 28"/>
          <p:cNvCxnSpPr/>
          <p:nvPr/>
        </p:nvCxnSpPr>
        <p:spPr>
          <a:xfrm flipH="1">
            <a:off x="7198168" y="294872"/>
            <a:ext cx="4807" cy="1209931"/>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30" name="Arrow: Right 29"/>
          <p:cNvSpPr/>
          <p:nvPr/>
        </p:nvSpPr>
        <p:spPr>
          <a:xfrm>
            <a:off x="3800473" y="1566938"/>
            <a:ext cx="415679" cy="23007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32" name="Straight Connector 31"/>
          <p:cNvCxnSpPr/>
          <p:nvPr/>
        </p:nvCxnSpPr>
        <p:spPr>
          <a:xfrm>
            <a:off x="281112" y="3311410"/>
            <a:ext cx="8640960" cy="0"/>
          </a:xfrm>
          <a:prstGeom prst="line">
            <a:avLst/>
          </a:prstGeom>
        </p:spPr>
        <p:style>
          <a:lnRef idx="1">
            <a:schemeClr val="dk1"/>
          </a:lnRef>
          <a:fillRef idx="0">
            <a:schemeClr val="dk1"/>
          </a:fillRef>
          <a:effectRef idx="0">
            <a:schemeClr val="dk1"/>
          </a:effectRef>
          <a:fontRef idx="minor">
            <a:schemeClr val="tx1"/>
          </a:fontRef>
        </p:style>
      </p:cxnSp>
      <p:sp>
        <p:nvSpPr>
          <p:cNvPr id="33" name="TextBox 32"/>
          <p:cNvSpPr txBox="1"/>
          <p:nvPr/>
        </p:nvSpPr>
        <p:spPr>
          <a:xfrm>
            <a:off x="40484" y="3428355"/>
            <a:ext cx="4953701" cy="323165"/>
          </a:xfrm>
          <a:prstGeom prst="rect">
            <a:avLst/>
          </a:prstGeom>
          <a:noFill/>
        </p:spPr>
        <p:txBody>
          <a:bodyPr wrap="square" rtlCol="0">
            <a:spAutoFit/>
          </a:bodyPr>
          <a:lstStyle/>
          <a:p>
            <a:r>
              <a:rPr lang="en-GB" sz="1200" dirty="0"/>
              <a:t>This gives us an </a:t>
            </a:r>
            <a:r>
              <a:rPr lang="en-GB" sz="1200" b="1" dirty="0"/>
              <a:t>intuitive</a:t>
            </a:r>
            <a:r>
              <a:rPr lang="en-GB" sz="1200" dirty="0"/>
              <a:t> sense of why it works, but we need a formal proof:</a:t>
            </a:r>
          </a:p>
          <a:p>
            <a:endParaRPr lang="en-GB" sz="300" dirty="0"/>
          </a:p>
        </p:txBody>
      </p:sp>
      <p:cxnSp>
        <p:nvCxnSpPr>
          <p:cNvPr id="34" name="Straight Arrow Connector 33"/>
          <p:cNvCxnSpPr/>
          <p:nvPr/>
        </p:nvCxnSpPr>
        <p:spPr>
          <a:xfrm flipH="1">
            <a:off x="7249161" y="1460500"/>
            <a:ext cx="281939" cy="7620"/>
          </a:xfrm>
          <a:prstGeom prst="straightConnector1">
            <a:avLst/>
          </a:prstGeom>
          <a:ln>
            <a:solidFill>
              <a:schemeClr val="tx1"/>
            </a:solidFill>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8" name="TextBox 37"/>
              <p:cNvSpPr txBox="1"/>
              <p:nvPr/>
            </p:nvSpPr>
            <p:spPr>
              <a:xfrm>
                <a:off x="7203242" y="1196196"/>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h</m:t>
                      </m:r>
                    </m:oMath>
                  </m:oMathPara>
                </a14:m>
                <a:endParaRPr lang="en-GB" sz="1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7203242" y="1196196"/>
                <a:ext cx="347884" cy="307777"/>
              </a:xfrm>
              <a:prstGeom prst="rect">
                <a:avLst/>
              </a:prstGeom>
              <a:blipFill>
                <a:blip r:embed="rId10"/>
                <a:stretch>
                  <a:fillRect/>
                </a:stretch>
              </a:blipFill>
            </p:spPr>
            <p:txBody>
              <a:bodyPr/>
              <a:lstStyle/>
              <a:p>
                <a:r>
                  <a:rPr lang="en-GB">
                    <a:noFill/>
                  </a:rPr>
                  <a:t> </a:t>
                </a:r>
              </a:p>
            </p:txBody>
          </p:sp>
        </mc:Fallback>
      </mc:AlternateContent>
      <p:sp>
        <p:nvSpPr>
          <p:cNvPr id="40" name="Arrow: Right 39"/>
          <p:cNvSpPr/>
          <p:nvPr/>
        </p:nvSpPr>
        <p:spPr>
          <a:xfrm rot="7575731">
            <a:off x="3849842" y="3080808"/>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2" name="Rectangle 41"/>
              <p:cNvSpPr/>
              <p:nvPr/>
            </p:nvSpPr>
            <p:spPr>
              <a:xfrm>
                <a:off x="241300" y="3763453"/>
                <a:ext cx="4572000" cy="3014095"/>
              </a:xfrm>
              <a:prstGeom prst="rect">
                <a:avLst/>
              </a:prstGeom>
              <a:solidFill>
                <a:schemeClr val="bg1"/>
              </a:solidFill>
              <a:effectLst>
                <a:outerShdw blurRad="63500" sx="102000" sy="102000" algn="ctr" rotWithShape="0">
                  <a:prstClr val="black">
                    <a:alpha val="40000"/>
                  </a:prstClr>
                </a:outerShdw>
              </a:effectLst>
            </p:spPr>
            <p:txBody>
              <a:bodyPr>
                <a:spAutoFit/>
              </a:bodyPr>
              <a:lstStyle/>
              <a:p>
                <a:pPr lvl="0"/>
                <a:r>
                  <a:rPr lang="en-GB" sz="1200" dirty="0">
                    <a:solidFill>
                      <a:prstClr val="black"/>
                    </a:solidFill>
                  </a:rPr>
                  <a:t>Using the diagram above, the area up to </a:t>
                </a:r>
                <a14:m>
                  <m:oMath xmlns:m="http://schemas.openxmlformats.org/officeDocument/2006/math">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oMath>
                </a14:m>
                <a:r>
                  <a:rPr lang="en-GB" sz="1200" dirty="0">
                    <a:solidFill>
                      <a:prstClr val="black"/>
                    </a:solidFill>
                  </a:rPr>
                  <a:t>, i.e. </a:t>
                </a:r>
                <a14:m>
                  <m:oMath xmlns:m="http://schemas.openxmlformats.org/officeDocument/2006/math">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a14:m>
                <a:r>
                  <a:rPr lang="en-GB" sz="1200" dirty="0">
                    <a:solidFill>
                      <a:prstClr val="black"/>
                    </a:solidFill>
                  </a:rPr>
                  <a:t>, is approximately the area up to </a:t>
                </a:r>
                <a14:m>
                  <m:oMath xmlns:m="http://schemas.openxmlformats.org/officeDocument/2006/math">
                    <m:r>
                      <a:rPr lang="en-GB" sz="1200" i="1">
                        <a:solidFill>
                          <a:prstClr val="black"/>
                        </a:solidFill>
                        <a:latin typeface="Cambria Math" panose="02040503050406030204" pitchFamily="18" charset="0"/>
                      </a:rPr>
                      <m:t>𝑥</m:t>
                    </m:r>
                  </m:oMath>
                </a14:m>
                <a:r>
                  <a:rPr lang="en-GB" sz="1200" dirty="0">
                    <a:solidFill>
                      <a:prstClr val="black"/>
                    </a:solidFill>
                  </a:rPr>
                  <a:t> plus the added rectangular strip:</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Rearranging:</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oMath>
                  </m:oMathPara>
                </a14:m>
                <a:endParaRPr lang="en-GB" sz="1200" dirty="0">
                  <a:solidFill>
                    <a:prstClr val="black"/>
                  </a:solidFill>
                </a:endParaRPr>
              </a:p>
              <a:p>
                <a:pPr lvl="0"/>
                <a:r>
                  <a:rPr lang="en-GB" sz="1200" dirty="0">
                    <a:solidFill>
                      <a:prstClr val="black"/>
                    </a:solidFill>
                  </a:rPr>
                  <a:t>In the limit, as the rectangle becomes infinitely thin, this becomes an equality:</a:t>
                </a: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r>
                  <a:rPr lang="en-GB" sz="1200" dirty="0">
                    <a:solidFill>
                      <a:prstClr val="black"/>
                    </a:solidFill>
                  </a:rPr>
                  <a:t>But we know from differentiating by first principles that:</a:t>
                </a:r>
              </a:p>
              <a:p>
                <a:pPr lvl="0"/>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rPr>
                          </m:ctrlPr>
                        </m:sSupPr>
                        <m:e>
                          <m:r>
                            <a:rPr lang="en-GB" sz="1200" i="1">
                              <a:solidFill>
                                <a:prstClr val="black"/>
                              </a:solidFill>
                              <a:latin typeface="Cambria Math" panose="02040503050406030204" pitchFamily="18" charset="0"/>
                            </a:rPr>
                            <m:t>𝐴</m:t>
                          </m:r>
                        </m:e>
                        <m:sup>
                          <m:r>
                            <a:rPr lang="en-GB" sz="1200" i="1">
                              <a:solidFill>
                                <a:prstClr val="black"/>
                              </a:solidFill>
                              <a:latin typeface="Cambria Math" panose="02040503050406030204" pitchFamily="18" charset="0"/>
                            </a:rPr>
                            <m:t>′</m:t>
                          </m:r>
                        </m:sup>
                      </m:sSup>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func>
                        <m:funcPr>
                          <m:ctrlPr>
                            <a:rPr lang="en-GB" sz="1200" i="1">
                              <a:solidFill>
                                <a:prstClr val="black"/>
                              </a:solidFill>
                              <a:latin typeface="Cambria Math" panose="02040503050406030204" pitchFamily="18" charset="0"/>
                            </a:rPr>
                          </m:ctrlPr>
                        </m:funcPr>
                        <m:fName>
                          <m:limLow>
                            <m:limLowPr>
                              <m:ctrlPr>
                                <a:rPr lang="en-GB" sz="1200" i="1">
                                  <a:solidFill>
                                    <a:prstClr val="black"/>
                                  </a:solidFill>
                                  <a:latin typeface="Cambria Math" panose="02040503050406030204" pitchFamily="18" charset="0"/>
                                </a:rPr>
                              </m:ctrlPr>
                            </m:limLowPr>
                            <m:e>
                              <m:r>
                                <m:rPr>
                                  <m:sty m:val="p"/>
                                </m:rPr>
                                <a:rPr lang="en-GB" sz="1200">
                                  <a:solidFill>
                                    <a:prstClr val="black"/>
                                  </a:solidFill>
                                  <a:latin typeface="Cambria Math" panose="02040503050406030204" pitchFamily="18" charset="0"/>
                                </a:rPr>
                                <m:t>lim</m:t>
                              </m:r>
                            </m:e>
                            <m:lim>
                              <m:r>
                                <a:rPr lang="en-GB" sz="1200" i="1">
                                  <a:solidFill>
                                    <a:prstClr val="black"/>
                                  </a:solidFill>
                                  <a:latin typeface="Cambria Math" panose="02040503050406030204" pitchFamily="18" charset="0"/>
                                </a:rPr>
                                <m:t>h</m:t>
                              </m:r>
                              <m:r>
                                <a:rPr lang="en-GB" sz="1200" i="1">
                                  <a:solidFill>
                                    <a:prstClr val="black"/>
                                  </a:solidFill>
                                  <a:latin typeface="Cambria Math" panose="02040503050406030204" pitchFamily="18" charset="0"/>
                                </a:rPr>
                                <m:t>→0</m:t>
                              </m:r>
                            </m:lim>
                          </m:limLow>
                        </m:fName>
                        <m:e>
                          <m:f>
                            <m:fPr>
                              <m:ctrlPr>
                                <a:rPr lang="en-GB" sz="1200" i="1">
                                  <a:solidFill>
                                    <a:prstClr val="black"/>
                                  </a:solidFill>
                                  <a:latin typeface="Cambria Math" panose="02040503050406030204" pitchFamily="18" charset="0"/>
                                </a:rPr>
                              </m:ctrlPr>
                            </m:fPr>
                            <m:num>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h</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num>
                            <m:den>
                              <m:r>
                                <a:rPr lang="en-GB" sz="1200" i="1">
                                  <a:solidFill>
                                    <a:prstClr val="black"/>
                                  </a:solidFill>
                                  <a:latin typeface="Cambria Math" panose="02040503050406030204" pitchFamily="18" charset="0"/>
                                </a:rPr>
                                <m:t>h</m:t>
                              </m:r>
                            </m:den>
                          </m:f>
                        </m:e>
                      </m:func>
                    </m:oMath>
                  </m:oMathPara>
                </a14:m>
                <a:endParaRPr lang="en-GB" sz="1200" dirty="0">
                  <a:solidFill>
                    <a:prstClr val="black"/>
                  </a:solidFill>
                </a:endParaRPr>
              </a:p>
              <a:p>
                <a:pPr lvl="0"/>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𝑓</m:t>
                      </m:r>
                      <m:d>
                        <m:dPr>
                          <m:ctrlPr>
                            <a:rPr lang="en-GB" sz="1200" i="1">
                              <a:solidFill>
                                <a:prstClr val="black"/>
                              </a:solidFill>
                              <a:latin typeface="Cambria Math" panose="02040503050406030204" pitchFamily="18" charset="0"/>
                            </a:rPr>
                          </m:ctrlPr>
                        </m:dPr>
                        <m:e>
                          <m:r>
                            <a:rPr lang="en-GB" sz="1200" i="1">
                              <a:solidFill>
                                <a:prstClr val="black"/>
                              </a:solidFill>
                              <a:latin typeface="Cambria Math" panose="02040503050406030204" pitchFamily="18" charset="0"/>
                            </a:rPr>
                            <m:t>𝑥</m:t>
                          </m:r>
                        </m:e>
                      </m:d>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𝐴</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m:oMathPara>
                </a14:m>
                <a:endParaRPr lang="en-GB" sz="1200" dirty="0">
                  <a:solidFill>
                    <a:prstClr val="black"/>
                  </a:solidFill>
                </a:endParaRPr>
              </a:p>
              <a:p>
                <a:pPr lvl="0"/>
                <a:r>
                  <a:rPr lang="en-GB" sz="1200" dirty="0">
                    <a:solidFill>
                      <a:prstClr val="black"/>
                    </a:solidFill>
                  </a:rPr>
                  <a:t>And thus we have proven that the gradient of the area function is indeed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(and hence the integral of </a:t>
                </a:r>
                <a14:m>
                  <m:oMath xmlns:m="http://schemas.openxmlformats.org/officeDocument/2006/math">
                    <m:r>
                      <a:rPr lang="en-GB" sz="1200" i="1">
                        <a:solidFill>
                          <a:prstClr val="black"/>
                        </a:solidFill>
                        <a:latin typeface="Cambria Math" panose="02040503050406030204" pitchFamily="18" charset="0"/>
                      </a:rPr>
                      <m:t>𝑓</m:t>
                    </m:r>
                    <m:r>
                      <a:rPr lang="en-GB" sz="1200" i="1">
                        <a:solidFill>
                          <a:prstClr val="black"/>
                        </a:solidFill>
                        <a:latin typeface="Cambria Math" panose="02040503050406030204" pitchFamily="18" charset="0"/>
                      </a:rPr>
                      <m:t>(</m:t>
                    </m:r>
                    <m:r>
                      <a:rPr lang="en-GB" sz="1200" i="1">
                        <a:solidFill>
                          <a:prstClr val="black"/>
                        </a:solidFill>
                        <a:latin typeface="Cambria Math" panose="02040503050406030204" pitchFamily="18" charset="0"/>
                      </a:rPr>
                      <m:t>𝑥</m:t>
                    </m:r>
                    <m:r>
                      <a:rPr lang="en-GB" sz="1200" i="1">
                        <a:solidFill>
                          <a:prstClr val="black"/>
                        </a:solidFill>
                        <a:latin typeface="Cambria Math" panose="02040503050406030204" pitchFamily="18" charset="0"/>
                      </a:rPr>
                      <m:t>)</m:t>
                    </m:r>
                  </m:oMath>
                </a14:m>
                <a:r>
                  <a:rPr lang="en-GB" sz="1200" dirty="0">
                    <a:solidFill>
                      <a:prstClr val="black"/>
                    </a:solidFill>
                  </a:rPr>
                  <a:t> the area).</a:t>
                </a:r>
              </a:p>
            </p:txBody>
          </p:sp>
        </mc:Choice>
        <mc:Fallback xmlns="">
          <p:sp>
            <p:nvSpPr>
              <p:cNvPr id="42" name="Rectangle 41"/>
              <p:cNvSpPr>
                <a:spLocks noRot="1" noChangeAspect="1" noMove="1" noResize="1" noEditPoints="1" noAdjustHandles="1" noChangeArrowheads="1" noChangeShapeType="1" noTextEdit="1"/>
              </p:cNvSpPr>
              <p:nvPr/>
            </p:nvSpPr>
            <p:spPr>
              <a:xfrm>
                <a:off x="241300" y="3763453"/>
                <a:ext cx="4572000" cy="3014095"/>
              </a:xfrm>
              <a:prstGeom prst="rect">
                <a:avLst/>
              </a:prstGeom>
              <a:blipFill>
                <a:blip r:embed="rId11"/>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032285" y="3385628"/>
                <a:ext cx="4010115" cy="582660"/>
              </a:xfrm>
              <a:prstGeom prst="rect">
                <a:avLst/>
              </a:prstGeom>
              <a:noFill/>
            </p:spPr>
            <p:txBody>
              <a:bodyPr wrap="square" rtlCol="0">
                <a:spAutoFit/>
              </a:bodyPr>
              <a:lstStyle/>
              <a:p>
                <a:r>
                  <a:rPr lang="en-GB" sz="1400" b="1" dirty="0"/>
                  <a:t>But we’re missing one final bit</a:t>
                </a:r>
                <a:r>
                  <a:rPr lang="en-GB" sz="1400" dirty="0"/>
                  <a:t>: Why does </a:t>
                </a:r>
                <a14:m>
                  <m:oMath xmlns:m="http://schemas.openxmlformats.org/officeDocument/2006/math">
                    <m:nary>
                      <m:naryPr>
                        <m:ctrlPr>
                          <a:rPr lang="en-GB" sz="1400" b="0" i="1" smtClean="0">
                            <a:latin typeface="Cambria Math" panose="02040503050406030204" pitchFamily="18" charset="0"/>
                          </a:rPr>
                        </m:ctrlPr>
                      </m:naryPr>
                      <m:sub>
                        <m:r>
                          <a:rPr lang="en-GB" sz="1400" b="0" i="1" smtClean="0">
                            <a:latin typeface="Cambria Math" panose="02040503050406030204" pitchFamily="18" charset="0"/>
                          </a:rPr>
                          <m:t>𝑏</m:t>
                        </m:r>
                      </m:sub>
                      <m:sup>
                        <m:r>
                          <a:rPr lang="en-GB" sz="1400" b="0" i="1" smtClean="0">
                            <a:latin typeface="Cambria Math" panose="02040503050406030204" pitchFamily="18" charset="0"/>
                          </a:rPr>
                          <m:t>𝑎</m:t>
                        </m:r>
                      </m:sup>
                      <m:e>
                        <m:r>
                          <a:rPr lang="en-GB" sz="1400" b="0" i="1" smtClean="0">
                            <a:latin typeface="Cambria Math" panose="02040503050406030204" pitchFamily="18" charset="0"/>
                          </a:rPr>
                          <m:t>𝑓</m:t>
                        </m:r>
                        <m:d>
                          <m:dPr>
                            <m:ctrlPr>
                              <a:rPr lang="en-GB" sz="1400" b="0" i="1" smtClean="0">
                                <a:latin typeface="Cambria Math" panose="02040503050406030204" pitchFamily="18" charset="0"/>
                              </a:rPr>
                            </m:ctrlPr>
                          </m:dPr>
                          <m:e>
                            <m:r>
                              <a:rPr lang="en-GB" sz="1400" b="0" i="1" smtClean="0">
                                <a:latin typeface="Cambria Math" panose="02040503050406030204" pitchFamily="18" charset="0"/>
                              </a:rPr>
                              <m:t>𝑥</m:t>
                            </m:r>
                          </m:e>
                        </m:d>
                        <m:r>
                          <a:rPr lang="en-GB" sz="1400" b="0" i="1" smtClean="0">
                            <a:latin typeface="Cambria Math" panose="02040503050406030204" pitchFamily="18" charset="0"/>
                          </a:rPr>
                          <m:t> </m:t>
                        </m:r>
                        <m:r>
                          <a:rPr lang="en-GB" sz="1400" b="0" i="1" smtClean="0">
                            <a:latin typeface="Cambria Math" panose="02040503050406030204" pitchFamily="18" charset="0"/>
                          </a:rPr>
                          <m:t>𝑑𝑥</m:t>
                        </m:r>
                      </m:e>
                    </m:nary>
                  </m:oMath>
                </a14:m>
                <a:r>
                  <a:rPr lang="en-GB" sz="1400" dirty="0"/>
                  <a:t> give the area between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m:t>
                    </m:r>
                    <m:r>
                      <a:rPr lang="en-GB" sz="1400" b="0" i="1" smtClean="0">
                        <a:latin typeface="Cambria Math" panose="02040503050406030204" pitchFamily="18" charset="0"/>
                      </a:rPr>
                      <m:t>𝑎</m:t>
                    </m:r>
                  </m:oMath>
                </a14:m>
                <a:r>
                  <a:rPr lang="en-GB" sz="1400" dirty="0"/>
                  <a:t> and </a:t>
                </a:r>
                <a14:m>
                  <m:oMath xmlns:m="http://schemas.openxmlformats.org/officeDocument/2006/math">
                    <m:r>
                      <a:rPr lang="en-GB" sz="1400" b="0" i="1" smtClean="0">
                        <a:latin typeface="Cambria Math" panose="02040503050406030204" pitchFamily="18" charset="0"/>
                      </a:rPr>
                      <m:t>𝑥</m:t>
                    </m:r>
                    <m:r>
                      <a:rPr lang="en-GB" sz="1400" b="0" i="1" smtClean="0">
                        <a:latin typeface="Cambria Math" panose="02040503050406030204" pitchFamily="18" charset="0"/>
                      </a:rPr>
                      <m:t>=</m:t>
                    </m:r>
                    <m:r>
                      <a:rPr lang="en-GB" sz="1400" b="0" i="1" smtClean="0">
                        <a:latin typeface="Cambria Math" panose="02040503050406030204" pitchFamily="18" charset="0"/>
                      </a:rPr>
                      <m:t>𝑏</m:t>
                    </m:r>
                  </m:oMath>
                </a14:m>
                <a:r>
                  <a:rPr lang="en-GB" sz="140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5032285" y="3385628"/>
                <a:ext cx="4010115" cy="582660"/>
              </a:xfrm>
              <a:prstGeom prst="rect">
                <a:avLst/>
              </a:prstGeom>
              <a:blipFill>
                <a:blip r:embed="rId12"/>
                <a:stretch>
                  <a:fillRect l="-7306" t="-27083" b="-100000"/>
                </a:stretch>
              </a:blipFill>
            </p:spPr>
            <p:txBody>
              <a:bodyPr/>
              <a:lstStyle/>
              <a:p>
                <a:r>
                  <a:rPr lang="en-GB">
                    <a:noFill/>
                  </a:rPr>
                  <a:t> </a:t>
                </a:r>
              </a:p>
            </p:txBody>
          </p:sp>
        </mc:Fallback>
      </mc:AlternateContent>
      <p:sp>
        <p:nvSpPr>
          <p:cNvPr id="44" name="Arrow: Right 43"/>
          <p:cNvSpPr/>
          <p:nvPr/>
        </p:nvSpPr>
        <p:spPr>
          <a:xfrm rot="19545040">
            <a:off x="4517199" y="5376677"/>
            <a:ext cx="490137" cy="24721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47" name="Straight Arrow Connector 46"/>
          <p:cNvCxnSpPr/>
          <p:nvPr/>
        </p:nvCxnSpPr>
        <p:spPr>
          <a:xfrm flipH="1" flipV="1">
            <a:off x="5283563" y="5331460"/>
            <a:ext cx="3050" cy="9944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5090160" y="6202680"/>
            <a:ext cx="13487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Freeform: Shape 48"/>
          <p:cNvSpPr/>
          <p:nvPr/>
        </p:nvSpPr>
        <p:spPr>
          <a:xfrm>
            <a:off x="5119386" y="5516152"/>
            <a:ext cx="1208213" cy="391461"/>
          </a:xfrm>
          <a:custGeom>
            <a:avLst/>
            <a:gdLst>
              <a:gd name="connsiteX0" fmla="*/ 0 w 2573080"/>
              <a:gd name="connsiteY0" fmla="*/ 776177 h 776177"/>
              <a:gd name="connsiteX1" fmla="*/ 1275907 w 2573080"/>
              <a:gd name="connsiteY1" fmla="*/ 382772 h 776177"/>
              <a:gd name="connsiteX2" fmla="*/ 1924493 w 2573080"/>
              <a:gd name="connsiteY2" fmla="*/ 106326 h 776177"/>
              <a:gd name="connsiteX3" fmla="*/ 2573080 w 2573080"/>
              <a:gd name="connsiteY3" fmla="*/ 0 h 776177"/>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2115880"/>
              <a:gd name="connsiteY0" fmla="*/ 722186 h 722186"/>
              <a:gd name="connsiteX1" fmla="*/ 1275907 w 2115880"/>
              <a:gd name="connsiteY1" fmla="*/ 328781 h 722186"/>
              <a:gd name="connsiteX2" fmla="*/ 1924493 w 2115880"/>
              <a:gd name="connsiteY2" fmla="*/ 52335 h 722186"/>
              <a:gd name="connsiteX3" fmla="*/ 2115880 w 2115880"/>
              <a:gd name="connsiteY3" fmla="*/ 0 h 722186"/>
              <a:gd name="connsiteX0" fmla="*/ 0 w 1924493"/>
              <a:gd name="connsiteY0" fmla="*/ 669851 h 669851"/>
              <a:gd name="connsiteX1" fmla="*/ 1275907 w 1924493"/>
              <a:gd name="connsiteY1" fmla="*/ 276446 h 669851"/>
              <a:gd name="connsiteX2" fmla="*/ 1924493 w 1924493"/>
              <a:gd name="connsiteY2" fmla="*/ 0 h 669851"/>
              <a:gd name="connsiteX0" fmla="*/ 0 w 1208213"/>
              <a:gd name="connsiteY0" fmla="*/ 475484 h 475484"/>
              <a:gd name="connsiteX1" fmla="*/ 559627 w 1208213"/>
              <a:gd name="connsiteY1" fmla="*/ 276446 h 475484"/>
              <a:gd name="connsiteX2" fmla="*/ 1208213 w 1208213"/>
              <a:gd name="connsiteY2" fmla="*/ 0 h 475484"/>
            </a:gdLst>
            <a:ahLst/>
            <a:cxnLst>
              <a:cxn ang="0">
                <a:pos x="connsiteX0" y="connsiteY0"/>
              </a:cxn>
              <a:cxn ang="0">
                <a:pos x="connsiteX1" y="connsiteY1"/>
              </a:cxn>
              <a:cxn ang="0">
                <a:pos x="connsiteX2" y="connsiteY2"/>
              </a:cxn>
            </a:cxnLst>
            <a:rect l="l" t="t" r="r" b="b"/>
            <a:pathLst>
              <a:path w="1208213" h="475484">
                <a:moveTo>
                  <a:pt x="0" y="475484"/>
                </a:moveTo>
                <a:cubicBezTo>
                  <a:pt x="477579" y="334602"/>
                  <a:pt x="358258" y="355693"/>
                  <a:pt x="559627" y="276446"/>
                </a:cubicBezTo>
                <a:cubicBezTo>
                  <a:pt x="760996" y="197199"/>
                  <a:pt x="1068218" y="54797"/>
                  <a:pt x="1208213"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50" name="TextBox 49"/>
              <p:cNvSpPr txBox="1"/>
              <p:nvPr/>
            </p:nvSpPr>
            <p:spPr>
              <a:xfrm>
                <a:off x="5361432" y="6121462"/>
                <a:ext cx="34788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𝑎</m:t>
                      </m:r>
                    </m:oMath>
                  </m:oMathPara>
                </a14:m>
                <a:endParaRPr lang="en-GB" sz="1400" dirty="0"/>
              </a:p>
            </p:txBody>
          </p:sp>
        </mc:Choice>
        <mc:Fallback xmlns="">
          <p:sp>
            <p:nvSpPr>
              <p:cNvPr id="50" name="TextBox 49"/>
              <p:cNvSpPr txBox="1">
                <a:spLocks noRot="1" noChangeAspect="1" noMove="1" noResize="1" noEditPoints="1" noAdjustHandles="1" noChangeArrowheads="1" noChangeShapeType="1" noTextEdit="1"/>
              </p:cNvSpPr>
              <p:nvPr/>
            </p:nvSpPr>
            <p:spPr>
              <a:xfrm>
                <a:off x="5361432" y="6121462"/>
                <a:ext cx="347884" cy="307777"/>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877901" y="6153624"/>
                <a:ext cx="624707"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𝑏</m:t>
                      </m:r>
                    </m:oMath>
                  </m:oMathPara>
                </a14:m>
                <a:endParaRPr lang="en-GB" sz="1400" dirty="0"/>
              </a:p>
            </p:txBody>
          </p:sp>
        </mc:Choice>
        <mc:Fallback xmlns="">
          <p:sp>
            <p:nvSpPr>
              <p:cNvPr id="55" name="TextBox 54"/>
              <p:cNvSpPr txBox="1">
                <a:spLocks noRot="1" noChangeAspect="1" noMove="1" noResize="1" noEditPoints="1" noAdjustHandles="1" noChangeArrowheads="1" noChangeShapeType="1" noTextEdit="1"/>
              </p:cNvSpPr>
              <p:nvPr/>
            </p:nvSpPr>
            <p:spPr>
              <a:xfrm>
                <a:off x="5877901" y="6153624"/>
                <a:ext cx="624707" cy="307777"/>
              </a:xfrm>
              <a:prstGeom prst="rect">
                <a:avLst/>
              </a:prstGeom>
              <a:blipFill>
                <a:blip r:embed="rId14"/>
                <a:stretch>
                  <a:fillRect/>
                </a:stretch>
              </a:blipFill>
            </p:spPr>
            <p:txBody>
              <a:bodyPr/>
              <a:lstStyle/>
              <a:p>
                <a:r>
                  <a:rPr lang="en-GB">
                    <a:noFill/>
                  </a:rPr>
                  <a:t> </a:t>
                </a:r>
              </a:p>
            </p:txBody>
          </p:sp>
        </mc:Fallback>
      </mc:AlternateContent>
      <p:sp>
        <p:nvSpPr>
          <p:cNvPr id="60" name="Arrow: Right 59"/>
          <p:cNvSpPr/>
          <p:nvPr/>
        </p:nvSpPr>
        <p:spPr>
          <a:xfrm rot="5400000">
            <a:off x="1996733" y="-301966"/>
            <a:ext cx="431801" cy="103574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cxnSp>
        <p:nvCxnSpPr>
          <p:cNvPr id="62" name="Straight Connector 61"/>
          <p:cNvCxnSpPr/>
          <p:nvPr/>
        </p:nvCxnSpPr>
        <p:spPr>
          <a:xfrm>
            <a:off x="5523593" y="5803900"/>
            <a:ext cx="0" cy="409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6187168" y="5565775"/>
            <a:ext cx="6350" cy="648364"/>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6451600" y="4921275"/>
                <a:ext cx="2642325" cy="1546577"/>
              </a:xfrm>
              <a:prstGeom prst="rect">
                <a:avLst/>
              </a:prstGeom>
              <a:noFill/>
            </p:spPr>
            <p:txBody>
              <a:bodyPr wrap="square" rtlCol="0">
                <a:spAutoFit/>
              </a:bodyPr>
              <a:lstStyle/>
              <a:p>
                <a:r>
                  <a:rPr lang="en-GB" sz="1050" dirty="0"/>
                  <a:t>The area between </a:t>
                </a:r>
                <a14:m>
                  <m:oMath xmlns:m="http://schemas.openxmlformats.org/officeDocument/2006/math">
                    <m:r>
                      <a:rPr lang="en-GB" sz="1050" b="0" i="1" smtClean="0">
                        <a:latin typeface="Cambria Math" panose="02040503050406030204" pitchFamily="18" charset="0"/>
                      </a:rPr>
                      <m:t>𝑎</m:t>
                    </m:r>
                  </m:oMath>
                </a14:m>
                <a:r>
                  <a:rPr lang="en-GB" sz="1050" dirty="0"/>
                  <a:t> and </a:t>
                </a:r>
                <a14:m>
                  <m:oMath xmlns:m="http://schemas.openxmlformats.org/officeDocument/2006/math">
                    <m:r>
                      <a:rPr lang="en-GB" sz="1050" b="0" i="1" smtClean="0">
                        <a:latin typeface="Cambria Math" panose="02040503050406030204" pitchFamily="18" charset="0"/>
                      </a:rPr>
                      <m:t>𝑏</m:t>
                    </m:r>
                  </m:oMath>
                </a14:m>
                <a:r>
                  <a:rPr lang="en-GB" sz="1050" dirty="0"/>
                  <a:t> is the area up to </a:t>
                </a:r>
                <a14:m>
                  <m:oMath xmlns:m="http://schemas.openxmlformats.org/officeDocument/2006/math">
                    <m:r>
                      <a:rPr lang="en-GB" sz="1050" b="0" i="1" smtClean="0">
                        <a:latin typeface="Cambria Math" panose="02040503050406030204" pitchFamily="18" charset="0"/>
                      </a:rPr>
                      <m:t>𝑏</m:t>
                    </m:r>
                  </m:oMath>
                </a14:m>
                <a:r>
                  <a:rPr lang="en-GB" sz="1050" dirty="0"/>
                  <a:t>, i.e. </a:t>
                </a:r>
                <a14:m>
                  <m:oMath xmlns:m="http://schemas.openxmlformats.org/officeDocument/2006/math">
                    <m:r>
                      <a:rPr lang="en-GB" sz="1050" b="0" i="1" smtClean="0">
                        <a:latin typeface="Cambria Math" panose="02040503050406030204" pitchFamily="18" charset="0"/>
                      </a:rPr>
                      <m:t>𝐴</m:t>
                    </m:r>
                    <m:r>
                      <a:rPr lang="en-GB" sz="1050" b="0" i="1" smtClean="0">
                        <a:latin typeface="Cambria Math" panose="02040503050406030204" pitchFamily="18" charset="0"/>
                      </a:rPr>
                      <m:t>(</m:t>
                    </m:r>
                    <m:r>
                      <a:rPr lang="en-GB" sz="1050" b="0" i="1" smtClean="0">
                        <a:latin typeface="Cambria Math" panose="02040503050406030204" pitchFamily="18" charset="0"/>
                      </a:rPr>
                      <m:t>𝑏</m:t>
                    </m:r>
                    <m:r>
                      <a:rPr lang="en-GB" sz="1050" b="0" i="1" smtClean="0">
                        <a:latin typeface="Cambria Math" panose="02040503050406030204" pitchFamily="18" charset="0"/>
                      </a:rPr>
                      <m:t>)</m:t>
                    </m:r>
                  </m:oMath>
                </a14:m>
                <a:r>
                  <a:rPr lang="en-GB" sz="1050" dirty="0"/>
                  <a:t>, with the area up to </a:t>
                </a:r>
                <a14:m>
                  <m:oMath xmlns:m="http://schemas.openxmlformats.org/officeDocument/2006/math">
                    <m:r>
                      <a:rPr lang="en-GB" sz="1050" b="0" i="1" smtClean="0">
                        <a:latin typeface="Cambria Math" panose="02040503050406030204" pitchFamily="18" charset="0"/>
                      </a:rPr>
                      <m:t>𝑎</m:t>
                    </m:r>
                  </m:oMath>
                </a14:m>
                <a:r>
                  <a:rPr lang="en-GB" sz="1050" dirty="0"/>
                  <a:t>, i.e. </a:t>
                </a:r>
                <a14:m>
                  <m:oMath xmlns:m="http://schemas.openxmlformats.org/officeDocument/2006/math">
                    <m:r>
                      <a:rPr lang="en-GB" sz="1050" b="0" i="1" smtClean="0">
                        <a:latin typeface="Cambria Math" panose="02040503050406030204" pitchFamily="18" charset="0"/>
                      </a:rPr>
                      <m:t>𝐴</m:t>
                    </m:r>
                    <m:d>
                      <m:dPr>
                        <m:ctrlPr>
                          <a:rPr lang="en-GB" sz="1050" b="0" i="1" smtClean="0">
                            <a:latin typeface="Cambria Math" panose="02040503050406030204" pitchFamily="18" charset="0"/>
                          </a:rPr>
                        </m:ctrlPr>
                      </m:dPr>
                      <m:e>
                        <m:r>
                          <a:rPr lang="en-GB" sz="1050" b="0" i="1" smtClean="0">
                            <a:latin typeface="Cambria Math" panose="02040503050406030204" pitchFamily="18" charset="0"/>
                          </a:rPr>
                          <m:t>𝑎</m:t>
                        </m:r>
                      </m:e>
                    </m:d>
                  </m:oMath>
                </a14:m>
                <a:r>
                  <a:rPr lang="en-GB" sz="1050" dirty="0"/>
                  <a:t>, cut out. This gives </a:t>
                </a:r>
                <a14:m>
                  <m:oMath xmlns:m="http://schemas.openxmlformats.org/officeDocument/2006/math">
                    <m:r>
                      <a:rPr lang="en-GB" sz="1050" b="0" i="1" smtClean="0">
                        <a:latin typeface="Cambria Math" panose="02040503050406030204" pitchFamily="18" charset="0"/>
                      </a:rPr>
                      <m:t>𝐴</m:t>
                    </m:r>
                    <m:d>
                      <m:dPr>
                        <m:ctrlPr>
                          <a:rPr lang="en-GB" sz="1050" b="0" i="1" smtClean="0">
                            <a:latin typeface="Cambria Math" panose="02040503050406030204" pitchFamily="18" charset="0"/>
                          </a:rPr>
                        </m:ctrlPr>
                      </m:dPr>
                      <m:e>
                        <m:r>
                          <a:rPr lang="en-GB" sz="1050" b="0" i="1" smtClean="0">
                            <a:latin typeface="Cambria Math" panose="02040503050406030204" pitchFamily="18" charset="0"/>
                          </a:rPr>
                          <m:t>𝑏</m:t>
                        </m:r>
                      </m:e>
                    </m:d>
                    <m:r>
                      <a:rPr lang="en-GB" sz="1050" b="0" i="1" smtClean="0">
                        <a:latin typeface="Cambria Math" panose="02040503050406030204" pitchFamily="18" charset="0"/>
                      </a:rPr>
                      <m:t>−</m:t>
                    </m:r>
                    <m:r>
                      <a:rPr lang="en-GB" sz="1050" b="0" i="1" smtClean="0">
                        <a:latin typeface="Cambria Math" panose="02040503050406030204" pitchFamily="18" charset="0"/>
                      </a:rPr>
                      <m:t>𝐴</m:t>
                    </m:r>
                    <m:d>
                      <m:dPr>
                        <m:ctrlPr>
                          <a:rPr lang="en-GB" sz="1050" b="0" i="1" smtClean="0">
                            <a:latin typeface="Cambria Math" panose="02040503050406030204" pitchFamily="18" charset="0"/>
                          </a:rPr>
                        </m:ctrlPr>
                      </m:dPr>
                      <m:e>
                        <m:r>
                          <a:rPr lang="en-GB" sz="1050" b="0" i="1" smtClean="0">
                            <a:latin typeface="Cambria Math" panose="02040503050406030204" pitchFamily="18" charset="0"/>
                          </a:rPr>
                          <m:t>𝑎</m:t>
                        </m:r>
                      </m:e>
                    </m:d>
                  </m:oMath>
                </a14:m>
                <a:r>
                  <a:rPr lang="en-GB" sz="1050" dirty="0"/>
                  <a:t> as expected.</a:t>
                </a:r>
              </a:p>
              <a:p>
                <a:r>
                  <a:rPr lang="en-GB" sz="1050" dirty="0"/>
                  <a:t>Because we obtained </a:t>
                </a:r>
                <a14:m>
                  <m:oMath xmlns:m="http://schemas.openxmlformats.org/officeDocument/2006/math">
                    <m:r>
                      <a:rPr lang="en-GB" sz="1050" b="0" i="1" smtClean="0">
                        <a:latin typeface="Cambria Math" panose="02040503050406030204" pitchFamily="18" charset="0"/>
                      </a:rPr>
                      <m:t>𝐴</m:t>
                    </m:r>
                    <m:r>
                      <a:rPr lang="en-GB" sz="1050" b="0" i="1" smtClean="0">
                        <a:latin typeface="Cambria Math" panose="02040503050406030204" pitchFamily="18" charset="0"/>
                      </a:rPr>
                      <m:t>(</m:t>
                    </m:r>
                    <m:r>
                      <a:rPr lang="en-GB" sz="1050" b="0" i="1" smtClean="0">
                        <a:latin typeface="Cambria Math" panose="02040503050406030204" pitchFamily="18" charset="0"/>
                      </a:rPr>
                      <m:t>𝑥</m:t>
                    </m:r>
                    <m:r>
                      <a:rPr lang="en-GB" sz="1050" b="0" i="1" smtClean="0">
                        <a:latin typeface="Cambria Math" panose="02040503050406030204" pitchFamily="18" charset="0"/>
                      </a:rPr>
                      <m:t>)</m:t>
                    </m:r>
                  </m:oMath>
                </a14:m>
                <a:r>
                  <a:rPr lang="en-GB" sz="1050" dirty="0"/>
                  <a:t> by an integration, we have a constant of integration </a:t>
                </a:r>
                <a14:m>
                  <m:oMath xmlns:m="http://schemas.openxmlformats.org/officeDocument/2006/math">
                    <m:r>
                      <a:rPr lang="en-GB" sz="1050" b="0" i="1" smtClean="0">
                        <a:latin typeface="Cambria Math" panose="02040503050406030204" pitchFamily="18" charset="0"/>
                      </a:rPr>
                      <m:t>+</m:t>
                    </m:r>
                    <m:r>
                      <a:rPr lang="en-GB" sz="1050" b="0" i="1" smtClean="0">
                        <a:latin typeface="Cambria Math" panose="02040503050406030204" pitchFamily="18" charset="0"/>
                      </a:rPr>
                      <m:t>𝑐</m:t>
                    </m:r>
                  </m:oMath>
                </a14:m>
                <a:r>
                  <a:rPr lang="en-GB" sz="1050" dirty="0"/>
                  <a:t>. But because of the subtraction </a:t>
                </a:r>
                <a14:m>
                  <m:oMath xmlns:m="http://schemas.openxmlformats.org/officeDocument/2006/math">
                    <m:r>
                      <a:rPr lang="en-GB" sz="1050" b="0" i="1" smtClean="0">
                        <a:latin typeface="Cambria Math" panose="02040503050406030204" pitchFamily="18" charset="0"/>
                      </a:rPr>
                      <m:t>𝐴</m:t>
                    </m:r>
                    <m:d>
                      <m:dPr>
                        <m:ctrlPr>
                          <a:rPr lang="en-GB" sz="1050" b="0" i="1" smtClean="0">
                            <a:latin typeface="Cambria Math" panose="02040503050406030204" pitchFamily="18" charset="0"/>
                          </a:rPr>
                        </m:ctrlPr>
                      </m:dPr>
                      <m:e>
                        <m:r>
                          <a:rPr lang="en-GB" sz="1050" b="0" i="1" smtClean="0">
                            <a:latin typeface="Cambria Math" panose="02040503050406030204" pitchFamily="18" charset="0"/>
                          </a:rPr>
                          <m:t>𝑏</m:t>
                        </m:r>
                      </m:e>
                    </m:d>
                    <m:r>
                      <a:rPr lang="en-GB" sz="1050" b="0" i="1" smtClean="0">
                        <a:latin typeface="Cambria Math" panose="02040503050406030204" pitchFamily="18" charset="0"/>
                      </a:rPr>
                      <m:t>−</m:t>
                    </m:r>
                    <m:r>
                      <a:rPr lang="en-GB" sz="1050" b="0" i="1" smtClean="0">
                        <a:latin typeface="Cambria Math" panose="02040503050406030204" pitchFamily="18" charset="0"/>
                      </a:rPr>
                      <m:t>𝐴</m:t>
                    </m:r>
                    <m:r>
                      <a:rPr lang="en-GB" sz="1050" b="0" i="1" smtClean="0">
                        <a:latin typeface="Cambria Math" panose="02040503050406030204" pitchFamily="18" charset="0"/>
                      </a:rPr>
                      <m:t>(</m:t>
                    </m:r>
                    <m:r>
                      <a:rPr lang="en-GB" sz="1050" b="0" i="1" smtClean="0">
                        <a:latin typeface="Cambria Math" panose="02040503050406030204" pitchFamily="18" charset="0"/>
                      </a:rPr>
                      <m:t>𝑎</m:t>
                    </m:r>
                    <m:r>
                      <a:rPr lang="en-GB" sz="1050" b="0" i="1" smtClean="0">
                        <a:latin typeface="Cambria Math" panose="02040503050406030204" pitchFamily="18" charset="0"/>
                      </a:rPr>
                      <m:t>)</m:t>
                    </m:r>
                  </m:oMath>
                </a14:m>
                <a:r>
                  <a:rPr lang="en-GB" sz="1050" dirty="0"/>
                  <a:t>, these constants in each of </a:t>
                </a:r>
                <a14:m>
                  <m:oMath xmlns:m="http://schemas.openxmlformats.org/officeDocument/2006/math">
                    <m:r>
                      <a:rPr lang="en-GB" sz="1050" b="0" i="1" smtClean="0">
                        <a:latin typeface="Cambria Math" panose="02040503050406030204" pitchFamily="18" charset="0"/>
                      </a:rPr>
                      <m:t>𝐴</m:t>
                    </m:r>
                    <m:r>
                      <a:rPr lang="en-GB" sz="1050" b="0" i="1" smtClean="0">
                        <a:latin typeface="Cambria Math" panose="02040503050406030204" pitchFamily="18" charset="0"/>
                      </a:rPr>
                      <m:t>(</m:t>
                    </m:r>
                    <m:r>
                      <a:rPr lang="en-GB" sz="1050" b="0" i="1" smtClean="0">
                        <a:latin typeface="Cambria Math" panose="02040503050406030204" pitchFamily="18" charset="0"/>
                      </a:rPr>
                      <m:t>𝑏</m:t>
                    </m:r>
                    <m:r>
                      <a:rPr lang="en-GB" sz="1050" b="0" i="1" smtClean="0">
                        <a:latin typeface="Cambria Math" panose="02040503050406030204" pitchFamily="18" charset="0"/>
                      </a:rPr>
                      <m:t>)</m:t>
                    </m:r>
                  </m:oMath>
                </a14:m>
                <a:r>
                  <a:rPr lang="en-GB" sz="1050" dirty="0"/>
                  <a:t> and </a:t>
                </a:r>
                <a14:m>
                  <m:oMath xmlns:m="http://schemas.openxmlformats.org/officeDocument/2006/math">
                    <m:r>
                      <a:rPr lang="en-GB" sz="1050" b="0" i="1" smtClean="0">
                        <a:latin typeface="Cambria Math" panose="02040503050406030204" pitchFamily="18" charset="0"/>
                      </a:rPr>
                      <m:t>𝐴</m:t>
                    </m:r>
                    <m:d>
                      <m:dPr>
                        <m:ctrlPr>
                          <a:rPr lang="en-GB" sz="1050" b="0" i="1" smtClean="0">
                            <a:latin typeface="Cambria Math" panose="02040503050406030204" pitchFamily="18" charset="0"/>
                          </a:rPr>
                        </m:ctrlPr>
                      </m:dPr>
                      <m:e>
                        <m:r>
                          <a:rPr lang="en-GB" sz="1050" b="0" i="1" smtClean="0">
                            <a:latin typeface="Cambria Math" panose="02040503050406030204" pitchFamily="18" charset="0"/>
                          </a:rPr>
                          <m:t>𝑎</m:t>
                        </m:r>
                      </m:e>
                    </m:d>
                  </m:oMath>
                </a14:m>
                <a:r>
                  <a:rPr lang="en-GB" sz="1050" dirty="0"/>
                  <a:t> cancel, which explains why the constant is not present in definite integration.</a:t>
                </a:r>
              </a:p>
            </p:txBody>
          </p:sp>
        </mc:Choice>
        <mc:Fallback xmlns="">
          <p:sp>
            <p:nvSpPr>
              <p:cNvPr id="67" name="TextBox 66"/>
              <p:cNvSpPr txBox="1">
                <a:spLocks noRot="1" noChangeAspect="1" noMove="1" noResize="1" noEditPoints="1" noAdjustHandles="1" noChangeArrowheads="1" noChangeShapeType="1" noTextEdit="1"/>
              </p:cNvSpPr>
              <p:nvPr/>
            </p:nvSpPr>
            <p:spPr>
              <a:xfrm>
                <a:off x="6451600" y="4921275"/>
                <a:ext cx="2642325" cy="1546577"/>
              </a:xfrm>
              <a:prstGeom prst="rect">
                <a:avLst/>
              </a:prstGeom>
              <a:blipFill>
                <a:blip r:embed="rId15"/>
                <a:stretch>
                  <a:fillRect r="-230" b="-1181"/>
                </a:stretch>
              </a:blipFill>
            </p:spPr>
            <p:txBody>
              <a:bodyPr/>
              <a:lstStyle/>
              <a:p>
                <a:r>
                  <a:rPr lang="en-GB">
                    <a:noFill/>
                  </a:rPr>
                  <a:t> </a:t>
                </a:r>
              </a:p>
            </p:txBody>
          </p:sp>
        </mc:Fallback>
      </mc:AlternateContent>
      <p:cxnSp>
        <p:nvCxnSpPr>
          <p:cNvPr id="70" name="Straight Arrow Connector 69"/>
          <p:cNvCxnSpPr/>
          <p:nvPr/>
        </p:nvCxnSpPr>
        <p:spPr>
          <a:xfrm flipH="1">
            <a:off x="6206220" y="5210175"/>
            <a:ext cx="235855" cy="240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flipV="1">
            <a:off x="4951655" y="3322042"/>
            <a:ext cx="0" cy="452043"/>
          </a:xfrm>
          <a:prstGeom prst="line">
            <a:avLst/>
          </a:prstGeom>
        </p:spPr>
        <p:style>
          <a:lnRef idx="1">
            <a:schemeClr val="dk1"/>
          </a:lnRef>
          <a:fillRef idx="0">
            <a:schemeClr val="dk1"/>
          </a:fillRef>
          <a:effectRef idx="0">
            <a:schemeClr val="dk1"/>
          </a:effectRef>
          <a:fontRef idx="minor">
            <a:schemeClr val="tx1"/>
          </a:fontRef>
        </p:style>
      </p:cxnSp>
      <p:sp>
        <p:nvSpPr>
          <p:cNvPr id="77" name="TextBox 76"/>
          <p:cNvSpPr txBox="1"/>
          <p:nvPr/>
        </p:nvSpPr>
        <p:spPr>
          <a:xfrm>
            <a:off x="5178056" y="6524932"/>
            <a:ext cx="3683993" cy="27699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dirty="0"/>
              <a:t>This is known as the Fundamental Theorem of Calculus.</a:t>
            </a:r>
          </a:p>
        </p:txBody>
      </p:sp>
    </p:spTree>
    <p:extLst>
      <p:ext uri="{BB962C8B-B14F-4D97-AF65-F5344CB8AC3E}">
        <p14:creationId xmlns:p14="http://schemas.microsoft.com/office/powerpoint/2010/main" val="372602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latin typeface="+mj-lt"/>
                </a:rPr>
                <a:t>Exercise 13.5</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sp>
        <p:nvSpPr>
          <p:cNvPr id="5" name="TextBox 4"/>
          <p:cNvSpPr txBox="1"/>
          <p:nvPr/>
        </p:nvSpPr>
        <p:spPr>
          <a:xfrm>
            <a:off x="395536" y="725840"/>
            <a:ext cx="7920880" cy="830997"/>
          </a:xfrm>
          <a:prstGeom prst="rect">
            <a:avLst/>
          </a:prstGeom>
          <a:noFill/>
        </p:spPr>
        <p:txBody>
          <a:bodyPr wrap="square" rtlCol="0">
            <a:spAutoFit/>
          </a:bodyPr>
          <a:lstStyle/>
          <a:p>
            <a:r>
              <a:rPr lang="en-GB" sz="2400" dirty="0"/>
              <a:t>Pearson Pure Mathematics Year 1/AS</a:t>
            </a:r>
          </a:p>
          <a:p>
            <a:r>
              <a:rPr lang="en-GB" sz="2400" dirty="0"/>
              <a:t>Page 107</a:t>
            </a:r>
          </a:p>
        </p:txBody>
      </p:sp>
      <p:cxnSp>
        <p:nvCxnSpPr>
          <p:cNvPr id="6" name="Straight Connector 5"/>
          <p:cNvCxnSpPr/>
          <p:nvPr/>
        </p:nvCxnSpPr>
        <p:spPr>
          <a:xfrm>
            <a:off x="0" y="1628800"/>
            <a:ext cx="9144000" cy="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6F963F5B-CB2A-6152-2A17-03E15234E7F5}"/>
              </a:ext>
            </a:extLst>
          </p:cNvPr>
          <p:cNvSpPr txBox="1"/>
          <p:nvPr/>
        </p:nvSpPr>
        <p:spPr>
          <a:xfrm>
            <a:off x="264908" y="1700808"/>
            <a:ext cx="2232248" cy="369332"/>
          </a:xfrm>
          <a:prstGeom prst="rect">
            <a:avLst/>
          </a:prstGeom>
          <a:noFill/>
        </p:spPr>
        <p:txBody>
          <a:bodyPr wrap="square" rtlCol="0">
            <a:spAutoFit/>
          </a:bodyPr>
          <a:lstStyle/>
          <a:p>
            <a:r>
              <a:rPr lang="en-GB" b="1" dirty="0"/>
              <a:t>Extension</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210B365-EA73-9A73-1FD3-AE910A6E67B3}"/>
                  </a:ext>
                </a:extLst>
              </p:cNvPr>
              <p:cNvSpPr txBox="1"/>
              <p:nvPr/>
            </p:nvSpPr>
            <p:spPr>
              <a:xfrm>
                <a:off x="221364" y="2031820"/>
                <a:ext cx="4016807" cy="4714817"/>
              </a:xfrm>
              <a:prstGeom prst="rect">
                <a:avLst/>
              </a:prstGeom>
              <a:noFill/>
            </p:spPr>
            <p:txBody>
              <a:bodyPr wrap="square" rtlCol="0">
                <a:spAutoFit/>
              </a:bodyPr>
              <a:lstStyle/>
              <a:p>
                <a:r>
                  <a:rPr lang="en-GB" sz="1600" i="1" dirty="0"/>
                  <a:t>[MAT 2007 1H] </a:t>
                </a:r>
                <a:r>
                  <a:rPr lang="en-GB" sz="1600" dirty="0"/>
                  <a:t>Given a function </a:t>
                </a:r>
                <a14:m>
                  <m:oMath xmlns:m="http://schemas.openxmlformats.org/officeDocument/2006/math">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m:t>
                    </m:r>
                  </m:oMath>
                </a14:m>
                <a:r>
                  <a:rPr lang="en-GB" sz="1600" dirty="0"/>
                  <a:t>, you are told that </a:t>
                </a:r>
              </a:p>
              <a:p>
                <a:pPr/>
                <a14:m>
                  <m:oMathPara xmlns:m="http://schemas.openxmlformats.org/officeDocument/2006/math">
                    <m:oMathParaPr>
                      <m:jc m:val="centerGroup"/>
                    </m:oMathParaPr>
                    <m:oMath xmlns:m="http://schemas.openxmlformats.org/officeDocument/2006/math">
                      <m:nary>
                        <m:naryPr>
                          <m:ctrlPr>
                            <a:rPr lang="en-GB" sz="1600" b="0" i="1" smtClean="0">
                              <a:latin typeface="Cambria Math" panose="02040503050406030204" pitchFamily="18" charset="0"/>
                            </a:rPr>
                          </m:ctrlPr>
                        </m:naryPr>
                        <m:sub>
                          <m:r>
                            <a:rPr lang="en-GB" sz="1600" b="0" i="1" smtClean="0">
                              <a:latin typeface="Cambria Math" panose="02040503050406030204" pitchFamily="18" charset="0"/>
                            </a:rPr>
                            <m:t>0</m:t>
                          </m:r>
                        </m:sub>
                        <m:sup>
                          <m:r>
                            <a:rPr lang="en-GB" sz="1600" b="0" i="1" smtClean="0">
                              <a:latin typeface="Cambria Math" panose="02040503050406030204" pitchFamily="18" charset="0"/>
                            </a:rPr>
                            <m:t>1</m:t>
                          </m:r>
                        </m:sup>
                        <m:e>
                          <m:r>
                            <a:rPr lang="en-GB" sz="1600" b="0" i="1" smtClean="0">
                              <a:latin typeface="Cambria Math" panose="02040503050406030204" pitchFamily="18" charset="0"/>
                            </a:rPr>
                            <m:t>3</m:t>
                          </m:r>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e>
                          </m:d>
                          <m:r>
                            <a:rPr lang="en-GB" sz="1600" b="0" i="1" smtClean="0">
                              <a:latin typeface="Cambria Math" panose="02040503050406030204" pitchFamily="18" charset="0"/>
                            </a:rPr>
                            <m:t> </m:t>
                          </m:r>
                          <m:r>
                            <a:rPr lang="en-GB" sz="1600" b="0" i="1" smtClean="0">
                              <a:latin typeface="Cambria Math" panose="02040503050406030204" pitchFamily="18" charset="0"/>
                            </a:rPr>
                            <m:t>𝑑𝑥</m:t>
                          </m:r>
                        </m:e>
                      </m:nary>
                      <m:r>
                        <a:rPr lang="en-GB" sz="1600" b="0" i="1" smtClean="0">
                          <a:latin typeface="Cambria Math" panose="02040503050406030204" pitchFamily="18" charset="0"/>
                        </a:rPr>
                        <m:t>+</m:t>
                      </m:r>
                      <m:nary>
                        <m:naryPr>
                          <m:ctrlPr>
                            <a:rPr lang="en-GB" sz="1600" b="0" i="1" smtClean="0">
                              <a:latin typeface="Cambria Math" panose="02040503050406030204" pitchFamily="18" charset="0"/>
                            </a:rPr>
                          </m:ctrlPr>
                        </m:naryPr>
                        <m:sub>
                          <m:r>
                            <a:rPr lang="en-GB" sz="1600" b="0" i="1" smtClean="0">
                              <a:latin typeface="Cambria Math" panose="02040503050406030204" pitchFamily="18" charset="0"/>
                            </a:rPr>
                            <m:t>1</m:t>
                          </m:r>
                        </m:sub>
                        <m:sup>
                          <m:r>
                            <a:rPr lang="en-GB" sz="1600" b="0" i="1" smtClean="0">
                              <a:latin typeface="Cambria Math" panose="02040503050406030204" pitchFamily="18" charset="0"/>
                            </a:rPr>
                            <m:t>2</m:t>
                          </m:r>
                        </m:sup>
                        <m:e>
                          <m:r>
                            <a:rPr lang="en-GB" sz="1600" b="0" i="1" smtClean="0">
                              <a:latin typeface="Cambria Math" panose="02040503050406030204" pitchFamily="18" charset="0"/>
                            </a:rPr>
                            <m:t>2</m:t>
                          </m:r>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e>
                          </m:d>
                          <m:r>
                            <a:rPr lang="en-GB" sz="1600" b="0" i="1" smtClean="0">
                              <a:latin typeface="Cambria Math" panose="02040503050406030204" pitchFamily="18" charset="0"/>
                            </a:rPr>
                            <m:t> </m:t>
                          </m:r>
                          <m:r>
                            <a:rPr lang="en-GB" sz="1600" b="0" i="1" smtClean="0">
                              <a:latin typeface="Cambria Math" panose="02040503050406030204" pitchFamily="18" charset="0"/>
                            </a:rPr>
                            <m:t>𝑑𝑥</m:t>
                          </m:r>
                        </m:e>
                      </m:nary>
                      <m:r>
                        <a:rPr lang="en-GB" sz="1600" b="0" i="1" smtClean="0">
                          <a:latin typeface="Cambria Math" panose="02040503050406030204" pitchFamily="18" charset="0"/>
                        </a:rPr>
                        <m:t>=7</m:t>
                      </m:r>
                    </m:oMath>
                    <m:oMath xmlns:m="http://schemas.openxmlformats.org/officeDocument/2006/math">
                      <m:nary>
                        <m:naryPr>
                          <m:ctrlPr>
                            <a:rPr lang="en-GB" sz="1600" i="1">
                              <a:latin typeface="Cambria Math" panose="02040503050406030204" pitchFamily="18" charset="0"/>
                            </a:rPr>
                          </m:ctrlPr>
                        </m:naryPr>
                        <m:sub>
                          <m:r>
                            <a:rPr lang="en-GB" sz="1600" i="1">
                              <a:latin typeface="Cambria Math" panose="02040503050406030204" pitchFamily="18" charset="0"/>
                            </a:rPr>
                            <m:t>0</m:t>
                          </m:r>
                        </m:sub>
                        <m:sup>
                          <m:r>
                            <a:rPr lang="en-GB" sz="1600" b="0" i="1" smtClean="0">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nary>
                        <m:naryPr>
                          <m:ctrlPr>
                            <a:rPr lang="en-GB" sz="1600" i="1">
                              <a:latin typeface="Cambria Math" panose="02040503050406030204" pitchFamily="18" charset="0"/>
                            </a:rPr>
                          </m:ctrlPr>
                        </m:naryPr>
                        <m:sub>
                          <m:r>
                            <a:rPr lang="en-GB" sz="1600" i="1">
                              <a:latin typeface="Cambria Math" panose="02040503050406030204" pitchFamily="18" charset="0"/>
                            </a:rPr>
                            <m:t>1</m:t>
                          </m:r>
                        </m:sub>
                        <m:sup>
                          <m:r>
                            <a:rPr lang="en-GB" sz="1600" i="1">
                              <a:latin typeface="Cambria Math" panose="02040503050406030204" pitchFamily="18" charset="0"/>
                            </a:rPr>
                            <m:t>2</m:t>
                          </m:r>
                        </m:sup>
                        <m:e>
                          <m:r>
                            <a:rPr lang="en-GB" sz="1600" i="1">
                              <a:latin typeface="Cambria Math" panose="02040503050406030204" pitchFamily="18" charset="0"/>
                            </a:rPr>
                            <m:t>𝑓</m:t>
                          </m:r>
                          <m:d>
                            <m:dPr>
                              <m:ctrlPr>
                                <a:rPr lang="en-GB" sz="1600" i="1">
                                  <a:latin typeface="Cambria Math" panose="02040503050406030204" pitchFamily="18" charset="0"/>
                                </a:rPr>
                              </m:ctrlPr>
                            </m:dPr>
                            <m:e>
                              <m:r>
                                <a:rPr lang="en-GB" sz="1600" i="1">
                                  <a:latin typeface="Cambria Math" panose="02040503050406030204" pitchFamily="18" charset="0"/>
                                </a:rPr>
                                <m:t>𝑥</m:t>
                              </m:r>
                            </m:e>
                          </m:d>
                          <m:r>
                            <a:rPr lang="en-GB" sz="1600" i="1">
                              <a:latin typeface="Cambria Math" panose="02040503050406030204" pitchFamily="18" charset="0"/>
                            </a:rPr>
                            <m:t> </m:t>
                          </m:r>
                          <m:r>
                            <a:rPr lang="en-GB" sz="1600" i="1">
                              <a:latin typeface="Cambria Math" panose="02040503050406030204" pitchFamily="18" charset="0"/>
                            </a:rPr>
                            <m:t>𝑑𝑥</m:t>
                          </m:r>
                        </m:e>
                      </m:nary>
                      <m:r>
                        <a:rPr lang="en-GB" sz="1600" i="1">
                          <a:latin typeface="Cambria Math" panose="02040503050406030204" pitchFamily="18" charset="0"/>
                        </a:rPr>
                        <m:t>=</m:t>
                      </m:r>
                      <m:r>
                        <a:rPr lang="en-GB" sz="1600" b="0" i="1" smtClean="0">
                          <a:latin typeface="Cambria Math" panose="02040503050406030204" pitchFamily="18" charset="0"/>
                        </a:rPr>
                        <m:t>1</m:t>
                      </m:r>
                    </m:oMath>
                  </m:oMathPara>
                </a14:m>
                <a:endParaRPr lang="en-GB" sz="1600" dirty="0"/>
              </a:p>
              <a:p>
                <a:r>
                  <a:rPr lang="en-GB" sz="1600" dirty="0"/>
                  <a:t>It follows that </a:t>
                </a:r>
                <a14:m>
                  <m:oMath xmlns:m="http://schemas.openxmlformats.org/officeDocument/2006/math">
                    <m:nary>
                      <m:naryPr>
                        <m:ctrlPr>
                          <a:rPr lang="en-GB" sz="1600" b="0" i="1" smtClean="0">
                            <a:latin typeface="Cambria Math" panose="02040503050406030204" pitchFamily="18" charset="0"/>
                          </a:rPr>
                        </m:ctrlPr>
                      </m:naryPr>
                      <m:sub>
                        <m:r>
                          <a:rPr lang="en-GB" sz="1600" b="0" i="1" smtClean="0">
                            <a:latin typeface="Cambria Math" panose="02040503050406030204" pitchFamily="18" charset="0"/>
                          </a:rPr>
                          <m:t>0</m:t>
                        </m:r>
                      </m:sub>
                      <m:sup>
                        <m:r>
                          <a:rPr lang="en-GB" sz="1600" b="0" i="1" smtClean="0">
                            <a:latin typeface="Cambria Math" panose="02040503050406030204" pitchFamily="18" charset="0"/>
                          </a:rPr>
                          <m:t>2</m:t>
                        </m:r>
                      </m:sup>
                      <m:e>
                        <m:r>
                          <a:rPr lang="en-GB" sz="1600" b="0" i="1" smtClean="0">
                            <a:latin typeface="Cambria Math" panose="02040503050406030204" pitchFamily="18" charset="0"/>
                          </a:rPr>
                          <m:t>𝑓</m:t>
                        </m:r>
                        <m:r>
                          <a:rPr lang="en-GB" sz="1600" b="0" i="1" smtClean="0">
                            <a:latin typeface="Cambria Math" panose="02040503050406030204" pitchFamily="18" charset="0"/>
                          </a:rPr>
                          <m:t>(</m:t>
                        </m:r>
                        <m:r>
                          <a:rPr lang="en-GB" sz="1600" b="0" i="1" smtClean="0">
                            <a:latin typeface="Cambria Math" panose="02040503050406030204" pitchFamily="18" charset="0"/>
                          </a:rPr>
                          <m:t>𝑥</m:t>
                        </m:r>
                        <m:r>
                          <a:rPr lang="en-GB" sz="1600" b="0" i="1" smtClean="0">
                            <a:latin typeface="Cambria Math" panose="02040503050406030204" pitchFamily="18" charset="0"/>
                          </a:rPr>
                          <m:t>)</m:t>
                        </m:r>
                      </m:e>
                    </m:nary>
                    <m:r>
                      <a:rPr lang="en-GB" sz="1600" b="0" i="1" smtClean="0">
                        <a:latin typeface="Cambria Math" panose="02040503050406030204" pitchFamily="18" charset="0"/>
                      </a:rPr>
                      <m:t> </m:t>
                    </m:r>
                    <m:r>
                      <a:rPr lang="en-GB" sz="1600" b="0" i="1" smtClean="0">
                        <a:latin typeface="Cambria Math" panose="02040503050406030204" pitchFamily="18" charset="0"/>
                      </a:rPr>
                      <m:t>𝑑𝑥</m:t>
                    </m:r>
                  </m:oMath>
                </a14:m>
                <a:r>
                  <a:rPr lang="en-GB" sz="1600" dirty="0"/>
                  <a:t> equals what?</a:t>
                </a:r>
              </a:p>
              <a:p>
                <a:r>
                  <a:rPr lang="en-GB" sz="1600" b="1" dirty="0"/>
                  <a:t>Because the area between </a:t>
                </a:r>
                <a14:m>
                  <m:oMath xmlns:m="http://schemas.openxmlformats.org/officeDocument/2006/math">
                    <m:r>
                      <a:rPr lang="en-GB" sz="1600" b="1" i="1">
                        <a:latin typeface="Cambria Math" panose="02040503050406030204" pitchFamily="18" charset="0"/>
                      </a:rPr>
                      <m:t>𝒙</m:t>
                    </m:r>
                    <m:r>
                      <a:rPr lang="en-GB" sz="1600" b="1" i="1">
                        <a:latin typeface="Cambria Math" panose="02040503050406030204" pitchFamily="18" charset="0"/>
                      </a:rPr>
                      <m:t>=</m:t>
                    </m:r>
                    <m:r>
                      <a:rPr lang="en-GB" sz="1600" b="1" i="1">
                        <a:latin typeface="Cambria Math" panose="02040503050406030204" pitchFamily="18" charset="0"/>
                      </a:rPr>
                      <m:t>𝟎</m:t>
                    </m:r>
                  </m:oMath>
                </a14:m>
                <a:r>
                  <a:rPr lang="en-GB" sz="1600" b="1" dirty="0"/>
                  <a:t> and 2 is the sum of the area between 0 and 1, and between 1 and 2, it follows that </a:t>
                </a:r>
                <a14:m>
                  <m:oMath xmlns:m="http://schemas.openxmlformats.org/officeDocument/2006/math">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Also note that </a:t>
                </a:r>
                <a14:m>
                  <m:oMath xmlns:m="http://schemas.openxmlformats.org/officeDocument/2006/math">
                    <m:nary>
                      <m:naryPr>
                        <m:subHide m:val="on"/>
                        <m:supHide m:val="on"/>
                        <m:ctrlPr>
                          <a:rPr lang="en-GB" sz="1600" b="1" i="1" smtClean="0">
                            <a:latin typeface="Cambria Math" panose="02040503050406030204" pitchFamily="18" charset="0"/>
                          </a:rPr>
                        </m:ctrlPr>
                      </m:naryPr>
                      <m:sub/>
                      <m:sup/>
                      <m:e>
                        <m:r>
                          <a:rPr lang="en-GB" sz="1600" b="1" i="1" smtClean="0">
                            <a:latin typeface="Cambria Math" panose="02040503050406030204" pitchFamily="18" charset="0"/>
                          </a:rPr>
                          <m:t>𝒌𝒇</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𝒙</m:t>
                            </m:r>
                          </m:e>
                        </m:d>
                        <m:r>
                          <a:rPr lang="en-GB" sz="1600" b="1" i="1" smtClean="0">
                            <a:latin typeface="Cambria Math" panose="02040503050406030204" pitchFamily="18" charset="0"/>
                          </a:rPr>
                          <m:t> </m:t>
                        </m:r>
                        <m:r>
                          <a:rPr lang="en-GB" sz="1600" b="1" i="1" smtClean="0">
                            <a:latin typeface="Cambria Math" panose="02040503050406030204" pitchFamily="18" charset="0"/>
                          </a:rPr>
                          <m:t>𝒅𝒙</m:t>
                        </m:r>
                      </m:e>
                    </m:nary>
                    <m:r>
                      <a:rPr lang="en-GB" sz="1600" b="1" i="1" smtClean="0">
                        <a:latin typeface="Cambria Math" panose="02040503050406030204" pitchFamily="18" charset="0"/>
                      </a:rPr>
                      <m:t>=</m:t>
                    </m:r>
                    <m:r>
                      <a:rPr lang="en-GB" sz="1600" b="1" i="1" smtClean="0">
                        <a:latin typeface="Cambria Math" panose="02040503050406030204" pitchFamily="18" charset="0"/>
                      </a:rPr>
                      <m:t>𝒌</m:t>
                    </m:r>
                    <m:nary>
                      <m:naryPr>
                        <m:subHide m:val="on"/>
                        <m:supHide m:val="on"/>
                        <m:ctrlPr>
                          <a:rPr lang="en-GB" sz="1600" b="1" i="1" smtClean="0">
                            <a:latin typeface="Cambria Math" panose="02040503050406030204" pitchFamily="18" charset="0"/>
                          </a:rPr>
                        </m:ctrlPr>
                      </m:naryPr>
                      <m:sub/>
                      <m:sup/>
                      <m:e>
                        <m:r>
                          <a:rPr lang="en-GB" sz="1600" b="1" i="1" smtClean="0">
                            <a:latin typeface="Cambria Math" panose="02040503050406030204" pitchFamily="18" charset="0"/>
                          </a:rPr>
                          <m:t>𝒇</m:t>
                        </m:r>
                        <m:r>
                          <a:rPr lang="en-GB" sz="1600" b="1" i="1" smtClean="0">
                            <a:latin typeface="Cambria Math" panose="02040503050406030204" pitchFamily="18" charset="0"/>
                          </a:rPr>
                          <m:t>(</m:t>
                        </m:r>
                        <m:r>
                          <a:rPr lang="en-GB" sz="1600" b="1" i="1" smtClean="0">
                            <a:latin typeface="Cambria Math" panose="02040503050406030204" pitchFamily="18" charset="0"/>
                          </a:rPr>
                          <m:t>𝒙</m:t>
                        </m:r>
                        <m:r>
                          <a:rPr lang="en-GB" sz="1600" b="1" i="1" smtClean="0">
                            <a:latin typeface="Cambria Math" panose="02040503050406030204" pitchFamily="18" charset="0"/>
                          </a:rPr>
                          <m:t>)</m:t>
                        </m:r>
                      </m:e>
                    </m:nary>
                    <m:r>
                      <a:rPr lang="en-GB" sz="1600" b="1" i="1" smtClean="0">
                        <a:latin typeface="Cambria Math" panose="02040503050406030204" pitchFamily="18" charset="0"/>
                      </a:rPr>
                      <m:t> </m:t>
                    </m:r>
                    <m:r>
                      <a:rPr lang="en-GB" sz="1600" b="1" i="1" smtClean="0">
                        <a:latin typeface="Cambria Math" panose="02040503050406030204" pitchFamily="18" charset="0"/>
                      </a:rPr>
                      <m:t>𝒅𝒙</m:t>
                    </m:r>
                  </m:oMath>
                </a14:m>
                <a:endParaRPr lang="en-GB" sz="1600" b="1" dirty="0"/>
              </a:p>
              <a:p>
                <a:r>
                  <a:rPr lang="en-GB" sz="1600" b="1" dirty="0"/>
                  <a:t>Letting </a:t>
                </a:r>
                <a14:m>
                  <m:oMath xmlns:m="http://schemas.openxmlformats.org/officeDocument/2006/math">
                    <m:r>
                      <a:rPr lang="en-GB" sz="1600" b="1" i="1">
                        <a:latin typeface="Cambria Math" panose="02040503050406030204" pitchFamily="18" charset="0"/>
                      </a:rPr>
                      <m:t>𝒂</m:t>
                    </m:r>
                    <m:r>
                      <a:rPr lang="en-GB" sz="1600" b="1" i="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𝟎</m:t>
                        </m:r>
                      </m:sub>
                      <m:sup>
                        <m:r>
                          <a:rPr lang="en-GB" sz="1600" b="1" i="1">
                            <a:latin typeface="Cambria Math" panose="02040503050406030204" pitchFamily="18" charset="0"/>
                          </a:rPr>
                          <m:t>𝟏</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and </a:t>
                </a:r>
                <a14:m>
                  <m:oMath xmlns:m="http://schemas.openxmlformats.org/officeDocument/2006/math">
                    <m:r>
                      <a:rPr lang="en-GB" sz="1600" b="1" i="1">
                        <a:latin typeface="Cambria Math" panose="02040503050406030204" pitchFamily="18" charset="0"/>
                      </a:rPr>
                      <m:t>𝒃</m:t>
                    </m:r>
                    <m:r>
                      <a:rPr lang="en-GB" sz="1600" b="1">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𝟏</m:t>
                        </m:r>
                      </m:sub>
                      <m:sup>
                        <m:r>
                          <a:rPr lang="en-GB" sz="1600" b="1" i="1">
                            <a:latin typeface="Cambria Math" panose="02040503050406030204" pitchFamily="18" charset="0"/>
                          </a:rPr>
                          <m:t>𝟐</m:t>
                        </m:r>
                      </m:sup>
                      <m:e>
                        <m:r>
                          <a:rPr lang="en-GB" sz="1600" b="1" i="1">
                            <a:latin typeface="Cambria Math" panose="02040503050406030204" pitchFamily="18" charset="0"/>
                          </a:rPr>
                          <m:t>𝒇</m:t>
                        </m:r>
                        <m:d>
                          <m:dPr>
                            <m:ctrlPr>
                              <a:rPr lang="en-GB" sz="1600" b="1" i="1">
                                <a:latin typeface="Cambria Math" panose="02040503050406030204" pitchFamily="18" charset="0"/>
                              </a:rPr>
                            </m:ctrlPr>
                          </m:dPr>
                          <m:e>
                            <m:r>
                              <a:rPr lang="en-GB" sz="1600" b="1" i="1">
                                <a:latin typeface="Cambria Math" panose="02040503050406030204" pitchFamily="18" charset="0"/>
                              </a:rPr>
                              <m:t>𝒙</m:t>
                            </m:r>
                          </m:e>
                        </m:d>
                        <m:r>
                          <a:rPr lang="en-GB" sz="1600" b="1" i="1">
                            <a:latin typeface="Cambria Math" panose="02040503050406030204" pitchFamily="18" charset="0"/>
                          </a:rPr>
                          <m:t> </m:t>
                        </m:r>
                        <m:r>
                          <a:rPr lang="en-GB" sz="1600" b="1" i="1">
                            <a:latin typeface="Cambria Math" panose="02040503050406030204" pitchFamily="18" charset="0"/>
                          </a:rPr>
                          <m:t>𝒅𝒙</m:t>
                        </m:r>
                      </m:e>
                    </m:nary>
                  </m:oMath>
                </a14:m>
                <a:r>
                  <a:rPr lang="en-GB" sz="1600" b="1" dirty="0"/>
                  <a:t> purely for convenience, then:</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𝟑</m:t>
                      </m:r>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𝒃</m:t>
                      </m:r>
                      <m:r>
                        <a:rPr lang="en-GB" sz="1600" b="1" i="1" smtClean="0">
                          <a:latin typeface="Cambria Math" panose="02040503050406030204" pitchFamily="18" charset="0"/>
                        </a:rPr>
                        <m:t>=</m:t>
                      </m:r>
                      <m:r>
                        <a:rPr lang="en-GB" sz="1600" b="1" i="1" smtClean="0">
                          <a:latin typeface="Cambria Math" panose="02040503050406030204" pitchFamily="18" charset="0"/>
                        </a:rPr>
                        <m:t>𝟕</m:t>
                      </m:r>
                    </m:oMath>
                    <m:oMath xmlns:m="http://schemas.openxmlformats.org/officeDocument/2006/math">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𝒃</m:t>
                          </m:r>
                        </m:e>
                      </m:d>
                      <m:r>
                        <a:rPr lang="en-GB" sz="1600" b="1" i="1" smtClean="0">
                          <a:latin typeface="Cambria Math" panose="02040503050406030204" pitchFamily="18" charset="0"/>
                        </a:rPr>
                        <m:t>+</m:t>
                      </m:r>
                      <m:r>
                        <a:rPr lang="en-GB" sz="1600" b="1" i="1" smtClean="0">
                          <a:latin typeface="Cambria Math" panose="02040503050406030204" pitchFamily="18" charset="0"/>
                        </a:rPr>
                        <m:t>𝒃</m:t>
                      </m:r>
                      <m:r>
                        <a:rPr lang="en-GB" sz="1600" b="1" i="1" smtClean="0">
                          <a:latin typeface="Cambria Math" panose="02040503050406030204" pitchFamily="18" charset="0"/>
                        </a:rPr>
                        <m:t>=</m:t>
                      </m:r>
                      <m:r>
                        <a:rPr lang="en-GB" sz="1600" b="1" i="1" smtClean="0">
                          <a:latin typeface="Cambria Math" panose="02040503050406030204" pitchFamily="18" charset="0"/>
                        </a:rPr>
                        <m:t>𝟏</m:t>
                      </m:r>
                    </m:oMath>
                  </m:oMathPara>
                </a14:m>
                <a:endParaRPr lang="en-GB" sz="1600" b="1" dirty="0"/>
              </a:p>
              <a:p>
                <a:r>
                  <a:rPr lang="en-GB" sz="1600" b="1" dirty="0"/>
                  <a:t>Solve, </a:t>
                </a:r>
                <a14:m>
                  <m:oMath xmlns:m="http://schemas.openxmlformats.org/officeDocument/2006/math">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𝟑</m:t>
                    </m:r>
                    <m:r>
                      <a:rPr lang="en-GB" sz="1600" b="1" i="1" smtClean="0">
                        <a:latin typeface="Cambria Math" panose="02040503050406030204" pitchFamily="18" charset="0"/>
                      </a:rPr>
                      <m:t>, </m:t>
                    </m:r>
                    <m:r>
                      <a:rPr lang="en-GB" sz="1600" b="1" i="1" smtClean="0">
                        <a:latin typeface="Cambria Math" panose="02040503050406030204" pitchFamily="18" charset="0"/>
                      </a:rPr>
                      <m:t>𝒃</m:t>
                    </m:r>
                    <m:r>
                      <a:rPr lang="en-GB" sz="1600" b="1" i="1" smtClean="0">
                        <a:latin typeface="Cambria Math" panose="02040503050406030204" pitchFamily="18" charset="0"/>
                      </a:rPr>
                      <m:t>=−</m:t>
                    </m:r>
                    <m:r>
                      <a:rPr lang="en-GB" sz="1600" b="1" i="1" smtClean="0">
                        <a:latin typeface="Cambria Math" panose="02040503050406030204" pitchFamily="18" charset="0"/>
                      </a:rPr>
                      <m:t>𝟏</m:t>
                    </m:r>
                  </m:oMath>
                </a14:m>
                <a:r>
                  <a:rPr lang="en-GB" sz="1600" b="1" dirty="0"/>
                  <a:t>, </a:t>
                </a:r>
                <a14:m>
                  <m:oMath xmlns:m="http://schemas.openxmlformats.org/officeDocument/2006/math">
                    <m:r>
                      <a:rPr lang="en-GB" sz="1600" b="1" i="1" smtClean="0">
                        <a:latin typeface="Cambria Math" panose="02040503050406030204" pitchFamily="18" charset="0"/>
                      </a:rPr>
                      <m:t>∴</m:t>
                    </m:r>
                    <m:r>
                      <a:rPr lang="en-GB" sz="1600" b="1" i="1" smtClean="0">
                        <a:latin typeface="Cambria Math" panose="02040503050406030204" pitchFamily="18" charset="0"/>
                      </a:rPr>
                      <m:t>𝒂</m:t>
                    </m:r>
                    <m:r>
                      <a:rPr lang="en-GB" sz="1600" b="1" i="1" smtClean="0">
                        <a:latin typeface="Cambria Math" panose="02040503050406030204" pitchFamily="18" charset="0"/>
                      </a:rPr>
                      <m:t>+</m:t>
                    </m:r>
                    <m:r>
                      <a:rPr lang="en-GB" sz="1600" b="1" i="1" smtClean="0">
                        <a:latin typeface="Cambria Math" panose="02040503050406030204" pitchFamily="18" charset="0"/>
                      </a:rPr>
                      <m:t>𝒃</m:t>
                    </m:r>
                    <m:r>
                      <a:rPr lang="en-GB" sz="1600" b="1" i="1" smtClean="0">
                        <a:latin typeface="Cambria Math" panose="02040503050406030204" pitchFamily="18" charset="0"/>
                      </a:rPr>
                      <m:t>=</m:t>
                    </m:r>
                    <m:r>
                      <a:rPr lang="en-GB" sz="1600" b="1" i="1" smtClean="0">
                        <a:latin typeface="Cambria Math" panose="02040503050406030204" pitchFamily="18" charset="0"/>
                      </a:rPr>
                      <m:t>𝟐</m:t>
                    </m:r>
                  </m:oMath>
                </a14:m>
                <a:endParaRPr lang="en-GB" sz="1600" b="1" dirty="0"/>
              </a:p>
            </p:txBody>
          </p:sp>
        </mc:Choice>
        <mc:Fallback xmlns="">
          <p:sp>
            <p:nvSpPr>
              <p:cNvPr id="8" name="TextBox 7">
                <a:extLst>
                  <a:ext uri="{FF2B5EF4-FFF2-40B4-BE49-F238E27FC236}">
                    <a16:creationId xmlns:a16="http://schemas.microsoft.com/office/drawing/2014/main" id="{C210B365-EA73-9A73-1FD3-AE910A6E67B3}"/>
                  </a:ext>
                </a:extLst>
              </p:cNvPr>
              <p:cNvSpPr txBox="1">
                <a:spLocks noRot="1" noChangeAspect="1" noMove="1" noResize="1" noEditPoints="1" noAdjustHandles="1" noChangeArrowheads="1" noChangeShapeType="1" noTextEdit="1"/>
              </p:cNvSpPr>
              <p:nvPr/>
            </p:nvSpPr>
            <p:spPr>
              <a:xfrm>
                <a:off x="221364" y="2031820"/>
                <a:ext cx="4016807" cy="4714817"/>
              </a:xfrm>
              <a:prstGeom prst="rect">
                <a:avLst/>
              </a:prstGeom>
              <a:blipFill>
                <a:blip r:embed="rId2"/>
                <a:stretch>
                  <a:fillRect l="-8649" t="-388" r="-1062" b="-6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43EF1D8-E800-E3FD-FDEF-A4959E161B1B}"/>
                  </a:ext>
                </a:extLst>
              </p:cNvPr>
              <p:cNvSpPr txBox="1"/>
              <p:nvPr/>
            </p:nvSpPr>
            <p:spPr>
              <a:xfrm>
                <a:off x="4932040" y="1891748"/>
                <a:ext cx="4110360" cy="5024132"/>
              </a:xfrm>
              <a:prstGeom prst="rect">
                <a:avLst/>
              </a:prstGeom>
              <a:noFill/>
            </p:spPr>
            <p:txBody>
              <a:bodyPr wrap="square" rtlCol="0">
                <a:spAutoFit/>
              </a:bodyPr>
              <a:lstStyle/>
              <a:p>
                <a:r>
                  <a:rPr lang="en-GB" sz="1600" i="1" dirty="0"/>
                  <a:t>[MAT 2011 1G] </a:t>
                </a:r>
                <a:endParaRPr lang="en-GB" sz="1600" dirty="0"/>
              </a:p>
              <a:p>
                <a:r>
                  <a:rPr lang="en-GB" sz="1600" dirty="0"/>
                  <a:t>A graph of the function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𝑓</m:t>
                    </m:r>
                    <m:d>
                      <m:dPr>
                        <m:ctrlPr>
                          <a:rPr lang="en-GB" sz="1600" b="0" i="1" smtClean="0">
                            <a:latin typeface="Cambria Math" panose="02040503050406030204" pitchFamily="18" charset="0"/>
                          </a:rPr>
                        </m:ctrlPr>
                      </m:dPr>
                      <m:e>
                        <m:r>
                          <a:rPr lang="en-GB" sz="1600" b="0" i="1" smtClean="0">
                            <a:latin typeface="Cambria Math" panose="02040503050406030204" pitchFamily="18" charset="0"/>
                          </a:rPr>
                          <m:t>𝑥</m:t>
                        </m:r>
                      </m:e>
                    </m:d>
                  </m:oMath>
                </a14:m>
                <a:r>
                  <a:rPr lang="en-GB" sz="1600" dirty="0"/>
                  <a:t> is sketched on the axes below:</a:t>
                </a:r>
              </a:p>
              <a:p>
                <a:endParaRPr lang="en-GB" sz="1600" dirty="0"/>
              </a:p>
              <a:p>
                <a:endParaRPr lang="en-GB" sz="1600" dirty="0"/>
              </a:p>
              <a:p>
                <a:endParaRPr lang="en-GB" sz="1600" dirty="0"/>
              </a:p>
              <a:p>
                <a:endParaRPr lang="en-GB" sz="1600" dirty="0"/>
              </a:p>
              <a:p>
                <a:endParaRPr lang="en-GB" sz="1600" dirty="0"/>
              </a:p>
              <a:p>
                <a:r>
                  <a:rPr lang="en-GB" sz="1600" dirty="0"/>
                  <a:t>What is the value of </a:t>
                </a:r>
                <a14:m>
                  <m:oMath xmlns:m="http://schemas.openxmlformats.org/officeDocument/2006/math">
                    <m:nary>
                      <m:naryPr>
                        <m:ctrlPr>
                          <a:rPr lang="en-GB" sz="1600" i="1" smtClean="0">
                            <a:latin typeface="Cambria Math" panose="02040503050406030204" pitchFamily="18" charset="0"/>
                          </a:rPr>
                        </m:ctrlPr>
                      </m:naryPr>
                      <m:sub>
                        <m:r>
                          <a:rPr lang="en-GB" sz="1600" b="0" i="1" smtClean="0">
                            <a:latin typeface="Cambria Math" panose="02040503050406030204" pitchFamily="18" charset="0"/>
                          </a:rPr>
                          <m:t>−1</m:t>
                        </m:r>
                      </m:sub>
                      <m:sup>
                        <m:r>
                          <a:rPr lang="en-GB" sz="1600" b="0" i="1" smtClean="0">
                            <a:latin typeface="Cambria Math" panose="02040503050406030204" pitchFamily="18" charset="0"/>
                          </a:rPr>
                          <m:t>1</m:t>
                        </m:r>
                      </m:sup>
                      <m:e>
                        <m:r>
                          <a:rPr lang="en-GB" sz="1600" b="0" i="1" smtClean="0">
                            <a:latin typeface="Cambria Math" panose="02040503050406030204" pitchFamily="18" charset="0"/>
                          </a:rPr>
                          <m:t>𝑓</m:t>
                        </m:r>
                        <m:r>
                          <a:rPr lang="en-GB" sz="1600" b="0" i="1" smtClean="0">
                            <a:latin typeface="Cambria Math" panose="02040503050406030204" pitchFamily="18" charset="0"/>
                          </a:rPr>
                          <m:t>(</m:t>
                        </m:r>
                        <m:sSup>
                          <m:sSupPr>
                            <m:ctrlPr>
                              <a:rPr lang="en-GB" sz="160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−1)</m:t>
                        </m:r>
                      </m:e>
                    </m:nary>
                    <m:r>
                      <a:rPr lang="en-GB" sz="1600" b="0" i="1" smtClean="0">
                        <a:latin typeface="Cambria Math" panose="02040503050406030204" pitchFamily="18" charset="0"/>
                      </a:rPr>
                      <m:t> </m:t>
                    </m:r>
                    <m:r>
                      <a:rPr lang="en-GB" sz="1600" b="0" i="1" smtClean="0">
                        <a:latin typeface="Cambria Math" panose="02040503050406030204" pitchFamily="18" charset="0"/>
                      </a:rPr>
                      <m:t>𝑑𝑥</m:t>
                    </m:r>
                  </m:oMath>
                </a14:m>
                <a:r>
                  <a:rPr lang="en-GB" sz="1600" dirty="0"/>
                  <a:t>?</a:t>
                </a:r>
              </a:p>
              <a:p>
                <a:r>
                  <a:rPr lang="en-GB" sz="1600" b="1" dirty="0"/>
                  <a:t>We first need to reflect on what part of the function </a:t>
                </a:r>
                <a14:m>
                  <m:oMath xmlns:m="http://schemas.openxmlformats.org/officeDocument/2006/math">
                    <m:r>
                      <a:rPr lang="en-GB" sz="1600" b="1" i="1" smtClean="0">
                        <a:latin typeface="Cambria Math" panose="02040503050406030204" pitchFamily="18" charset="0"/>
                      </a:rPr>
                      <m:t>𝒇</m:t>
                    </m:r>
                  </m:oMath>
                </a14:m>
                <a:r>
                  <a:rPr lang="en-GB" sz="1600" b="1" dirty="0"/>
                  <a:t> we’re actually using. </a:t>
                </a:r>
                <a14:m>
                  <m:oMath xmlns:m="http://schemas.openxmlformats.org/officeDocument/2006/math">
                    <m:r>
                      <a:rPr lang="en-GB" sz="1600" b="1" i="1" smtClean="0">
                        <a:latin typeface="Cambria Math" panose="02040503050406030204" pitchFamily="18" charset="0"/>
                      </a:rPr>
                      <m:t>𝒙</m:t>
                    </m:r>
                  </m:oMath>
                </a14:m>
                <a:r>
                  <a:rPr lang="en-GB" sz="1600" b="1" dirty="0"/>
                  <a:t> in the integral varies between -1 and 1, thus </a:t>
                </a:r>
                <a14:m>
                  <m:oMath xmlns:m="http://schemas.openxmlformats.org/officeDocument/2006/math">
                    <m:sSup>
                      <m:sSupPr>
                        <m:ctrlPr>
                          <a:rPr lang="en-GB" sz="1600" b="1" i="1" smtClean="0">
                            <a:latin typeface="Cambria Math" panose="02040503050406030204" pitchFamily="18" charset="0"/>
                          </a:rPr>
                        </m:ctrlPr>
                      </m:sSupPr>
                      <m:e>
                        <m:r>
                          <a:rPr lang="en-GB" sz="1600" b="1" i="1" smtClean="0">
                            <a:latin typeface="Cambria Math" panose="02040503050406030204" pitchFamily="18" charset="0"/>
                          </a:rPr>
                          <m:t>𝒙</m:t>
                        </m:r>
                      </m:e>
                      <m:sup>
                        <m:r>
                          <a:rPr lang="en-GB" sz="1600" b="1" i="1" smtClean="0">
                            <a:latin typeface="Cambria Math" panose="02040503050406030204" pitchFamily="18" charset="0"/>
                          </a:rPr>
                          <m:t>𝟐</m:t>
                        </m:r>
                      </m:sup>
                    </m:sSup>
                    <m:r>
                      <a:rPr lang="en-GB" sz="1600" b="1" i="1" smtClean="0">
                        <a:latin typeface="Cambria Math" panose="02040503050406030204" pitchFamily="18" charset="0"/>
                      </a:rPr>
                      <m:t>−</m:t>
                    </m:r>
                    <m:r>
                      <a:rPr lang="en-GB" sz="1600" b="1" i="1" smtClean="0">
                        <a:latin typeface="Cambria Math" panose="02040503050406030204" pitchFamily="18" charset="0"/>
                      </a:rPr>
                      <m:t>𝟏</m:t>
                    </m:r>
                  </m:oMath>
                </a14:m>
                <a:r>
                  <a:rPr lang="en-GB" sz="1600" b="1" dirty="0"/>
                  <a:t>, i.e. the input of </a:t>
                </a:r>
                <a14:m>
                  <m:oMath xmlns:m="http://schemas.openxmlformats.org/officeDocument/2006/math">
                    <m:r>
                      <a:rPr lang="en-GB" sz="1600" b="1" i="1" smtClean="0">
                        <a:latin typeface="Cambria Math" panose="02040503050406030204" pitchFamily="18" charset="0"/>
                      </a:rPr>
                      <m:t>𝒇</m:t>
                    </m:r>
                  </m:oMath>
                </a14:m>
                <a:r>
                  <a:rPr lang="en-GB" sz="1600" b="1" dirty="0"/>
                  <a:t>, varies between -1 and 0.</a:t>
                </a:r>
              </a:p>
              <a:p>
                <a:r>
                  <a:rPr lang="en-GB" sz="1600" b="1" dirty="0"/>
                  <a:t>We’re therefore only using the left half of the graph, and thus </a:t>
                </a:r>
                <a14:m>
                  <m:oMath xmlns:m="http://schemas.openxmlformats.org/officeDocument/2006/math">
                    <m:r>
                      <a:rPr lang="en-GB" sz="1600" b="1" i="1" smtClean="0">
                        <a:latin typeface="Cambria Math" panose="02040503050406030204" pitchFamily="18" charset="0"/>
                      </a:rPr>
                      <m:t>𝒇</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𝒙</m:t>
                        </m:r>
                      </m:e>
                    </m:d>
                    <m:r>
                      <a:rPr lang="en-GB" sz="1600" b="1" i="1" smtClean="0">
                        <a:latin typeface="Cambria Math" panose="02040503050406030204" pitchFamily="18" charset="0"/>
                      </a:rPr>
                      <m:t>=</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𝟏</m:t>
                    </m:r>
                  </m:oMath>
                </a14:m>
                <a:endParaRPr lang="en-GB" sz="1600" b="1" dirty="0"/>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m:t>
                      </m:r>
                      <m:nary>
                        <m:naryPr>
                          <m:ctrlPr>
                            <a:rPr lang="en-GB" sz="1600" b="1" i="1">
                              <a:latin typeface="Cambria Math" panose="02040503050406030204" pitchFamily="18" charset="0"/>
                            </a:rPr>
                          </m:ctrlPr>
                        </m:naryPr>
                        <m:sub>
                          <m:r>
                            <a:rPr lang="en-GB" sz="1600" b="1" i="1">
                              <a:latin typeface="Cambria Math" panose="02040503050406030204" pitchFamily="18" charset="0"/>
                            </a:rPr>
                            <m:t>−</m:t>
                          </m:r>
                          <m:r>
                            <a:rPr lang="en-GB" sz="1600" b="1" i="1">
                              <a:latin typeface="Cambria Math" panose="02040503050406030204" pitchFamily="18" charset="0"/>
                            </a:rPr>
                            <m:t>𝟏</m:t>
                          </m:r>
                        </m:sub>
                        <m:sup>
                          <m:r>
                            <a:rPr lang="en-GB" sz="1600" b="1" i="1">
                              <a:latin typeface="Cambria Math" panose="02040503050406030204" pitchFamily="18" charset="0"/>
                            </a:rPr>
                            <m:t>𝟏</m:t>
                          </m:r>
                        </m:sup>
                        <m:e>
                          <m:r>
                            <a:rPr lang="en-GB" sz="1600" b="1" i="1">
                              <a:latin typeface="Cambria Math" panose="02040503050406030204" pitchFamily="18" charset="0"/>
                            </a:rPr>
                            <m:t>𝒇</m:t>
                          </m:r>
                          <m:r>
                            <a:rPr lang="en-GB" sz="1600" b="1" i="1">
                              <a:latin typeface="Cambria Math" panose="02040503050406030204" pitchFamily="18" charset="0"/>
                            </a:rPr>
                            <m:t>(</m:t>
                          </m:r>
                          <m:sSup>
                            <m:sSupPr>
                              <m:ctrlPr>
                                <a:rPr lang="en-GB" sz="1600" b="1" i="1">
                                  <a:latin typeface="Cambria Math" panose="02040503050406030204" pitchFamily="18" charset="0"/>
                                </a:rPr>
                              </m:ctrlPr>
                            </m:sSupPr>
                            <m:e>
                              <m:r>
                                <a:rPr lang="en-GB" sz="1600" b="1" i="1">
                                  <a:latin typeface="Cambria Math" panose="02040503050406030204" pitchFamily="18" charset="0"/>
                                </a:rPr>
                                <m:t>𝒙</m:t>
                              </m:r>
                            </m:e>
                            <m:sup>
                              <m:r>
                                <a:rPr lang="en-GB" sz="1600" b="1" i="1">
                                  <a:latin typeface="Cambria Math" panose="02040503050406030204" pitchFamily="18" charset="0"/>
                                </a:rPr>
                                <m:t>𝟐</m:t>
                              </m:r>
                            </m:sup>
                          </m:sSup>
                          <m:r>
                            <a:rPr lang="en-GB" sz="1600" b="1" i="1">
                              <a:latin typeface="Cambria Math" panose="02040503050406030204" pitchFamily="18" charset="0"/>
                            </a:rPr>
                            <m:t>−</m:t>
                          </m:r>
                          <m:r>
                            <a:rPr lang="en-GB" sz="1600" b="1" i="1">
                              <a:latin typeface="Cambria Math" panose="02040503050406030204" pitchFamily="18" charset="0"/>
                            </a:rPr>
                            <m:t>𝟏</m:t>
                          </m:r>
                          <m:r>
                            <a:rPr lang="en-GB" sz="1600" b="1" i="1">
                              <a:latin typeface="Cambria Math" panose="02040503050406030204" pitchFamily="18" charset="0"/>
                            </a:rPr>
                            <m:t>)</m:t>
                          </m:r>
                        </m:e>
                      </m:nary>
                      <m:r>
                        <a:rPr lang="en-GB" sz="1600" b="1" i="1">
                          <a:latin typeface="Cambria Math" panose="02040503050406030204" pitchFamily="18" charset="0"/>
                        </a:rPr>
                        <m:t> </m:t>
                      </m:r>
                      <m:r>
                        <a:rPr lang="en-GB" sz="1600" b="1" i="1">
                          <a:latin typeface="Cambria Math" panose="02040503050406030204" pitchFamily="18" charset="0"/>
                        </a:rPr>
                        <m:t>𝒅𝒙</m:t>
                      </m:r>
                      <m:r>
                        <a:rPr lang="en-GB" sz="1600" b="1" i="1" smtClean="0">
                          <a:latin typeface="Cambria Math" panose="02040503050406030204" pitchFamily="18" charset="0"/>
                        </a:rPr>
                        <m:t>=</m:t>
                      </m:r>
                      <m:nary>
                        <m:naryPr>
                          <m:ctrlPr>
                            <a:rPr lang="en-GB" sz="1600" b="1" i="1" smtClean="0">
                              <a:latin typeface="Cambria Math" panose="02040503050406030204" pitchFamily="18" charset="0"/>
                            </a:rPr>
                          </m:ctrlPr>
                        </m:naryPr>
                        <m:sub>
                          <m:r>
                            <a:rPr lang="en-GB" sz="1600" b="1" i="1" smtClean="0">
                              <a:latin typeface="Cambria Math" panose="02040503050406030204" pitchFamily="18" charset="0"/>
                            </a:rPr>
                            <m:t>−</m:t>
                          </m:r>
                          <m:r>
                            <a:rPr lang="en-GB" sz="1600" b="1" i="1" smtClean="0">
                              <a:latin typeface="Cambria Math" panose="02040503050406030204" pitchFamily="18" charset="0"/>
                            </a:rPr>
                            <m:t>𝟏</m:t>
                          </m:r>
                        </m:sub>
                        <m:sup>
                          <m:r>
                            <a:rPr lang="en-GB" sz="1600" b="1" i="1" smtClean="0">
                              <a:latin typeface="Cambria Math" panose="02040503050406030204" pitchFamily="18" charset="0"/>
                            </a:rPr>
                            <m:t>𝟏</m:t>
                          </m:r>
                        </m:sup>
                        <m:e>
                          <m:d>
                            <m:dPr>
                              <m:ctrlPr>
                                <a:rPr lang="en-GB" sz="1600" b="1" i="1" smtClean="0">
                                  <a:latin typeface="Cambria Math" panose="02040503050406030204" pitchFamily="18" charset="0"/>
                                </a:rPr>
                              </m:ctrlPr>
                            </m:dPr>
                            <m:e>
                              <m:sSup>
                                <m:sSupPr>
                                  <m:ctrlPr>
                                    <a:rPr lang="en-GB" sz="1600" b="1" i="1" smtClean="0">
                                      <a:latin typeface="Cambria Math" panose="02040503050406030204" pitchFamily="18" charset="0"/>
                                    </a:rPr>
                                  </m:ctrlPr>
                                </m:sSupPr>
                                <m:e>
                                  <m:r>
                                    <a:rPr lang="en-GB" sz="1600" b="1" i="1" smtClean="0">
                                      <a:latin typeface="Cambria Math" panose="02040503050406030204" pitchFamily="18" charset="0"/>
                                    </a:rPr>
                                    <m:t>𝒙</m:t>
                                  </m:r>
                                </m:e>
                                <m:sup>
                                  <m:r>
                                    <a:rPr lang="en-GB" sz="1600" b="1" i="1" smtClean="0">
                                      <a:latin typeface="Cambria Math" panose="02040503050406030204" pitchFamily="18" charset="0"/>
                                    </a:rPr>
                                    <m:t>𝟐</m:t>
                                  </m:r>
                                </m:sup>
                              </m:sSup>
                              <m:r>
                                <a:rPr lang="en-GB" sz="1600" b="1" i="1" smtClean="0">
                                  <a:latin typeface="Cambria Math" panose="02040503050406030204" pitchFamily="18" charset="0"/>
                                </a:rPr>
                                <m:t>−</m:t>
                              </m:r>
                              <m:r>
                                <a:rPr lang="en-GB" sz="1600" b="1" i="1" smtClean="0">
                                  <a:latin typeface="Cambria Math" panose="02040503050406030204" pitchFamily="18" charset="0"/>
                                </a:rPr>
                                <m:t>𝟏</m:t>
                              </m:r>
                            </m:e>
                          </m:d>
                          <m:r>
                            <a:rPr lang="en-GB" sz="1600" b="1" i="1" smtClean="0">
                              <a:latin typeface="Cambria Math" panose="02040503050406030204" pitchFamily="18" charset="0"/>
                            </a:rPr>
                            <m:t>+</m:t>
                          </m:r>
                          <m:r>
                            <a:rPr lang="en-GB" sz="1600" b="1" i="1" smtClean="0">
                              <a:latin typeface="Cambria Math" panose="02040503050406030204" pitchFamily="18" charset="0"/>
                            </a:rPr>
                            <m:t>𝟏</m:t>
                          </m:r>
                          <m:r>
                            <a:rPr lang="en-GB" sz="1600" b="1" i="1" smtClean="0">
                              <a:latin typeface="Cambria Math" panose="02040503050406030204" pitchFamily="18" charset="0"/>
                            </a:rPr>
                            <m:t> </m:t>
                          </m:r>
                          <m:r>
                            <a:rPr lang="en-GB" sz="1600" b="1" i="1" smtClean="0">
                              <a:latin typeface="Cambria Math" panose="02040503050406030204" pitchFamily="18" charset="0"/>
                            </a:rPr>
                            <m:t>𝒅𝒙</m:t>
                          </m:r>
                        </m:e>
                      </m:nary>
                    </m:oMath>
                    <m:oMath xmlns:m="http://schemas.openxmlformats.org/officeDocument/2006/math">
                      <m:r>
                        <a:rPr lang="en-GB" sz="1600" b="1" i="1" smtClean="0">
                          <a:latin typeface="Cambria Math" panose="02040503050406030204" pitchFamily="18" charset="0"/>
                        </a:rPr>
                        <m:t>=</m:t>
                      </m:r>
                      <m:sSubSup>
                        <m:sSubSupPr>
                          <m:ctrlPr>
                            <a:rPr lang="en-GB" sz="1600" b="1" i="1" smtClean="0">
                              <a:latin typeface="Cambria Math" panose="02040503050406030204" pitchFamily="18" charset="0"/>
                            </a:rPr>
                          </m:ctrlPr>
                        </m:sSubSupPr>
                        <m:e>
                          <m:d>
                            <m:dPr>
                              <m:begChr m:val="["/>
                              <m:endChr m:val="]"/>
                              <m:ctrlPr>
                                <a:rPr lang="en-GB" sz="1600" b="1" i="1" smtClean="0">
                                  <a:latin typeface="Cambria Math" panose="02040503050406030204" pitchFamily="18" charset="0"/>
                                </a:rPr>
                              </m:ctrlPr>
                            </m:dPr>
                            <m:e>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𝟏</m:t>
                                  </m:r>
                                </m:num>
                                <m:den>
                                  <m:r>
                                    <a:rPr lang="en-GB" sz="1600" b="1" i="1" smtClean="0">
                                      <a:latin typeface="Cambria Math" panose="02040503050406030204" pitchFamily="18" charset="0"/>
                                    </a:rPr>
                                    <m:t>𝟑</m:t>
                                  </m:r>
                                </m:den>
                              </m:f>
                              <m:sSup>
                                <m:sSupPr>
                                  <m:ctrlPr>
                                    <a:rPr lang="en-GB" sz="1600" b="1" i="1" smtClean="0">
                                      <a:latin typeface="Cambria Math" panose="02040503050406030204" pitchFamily="18" charset="0"/>
                                    </a:rPr>
                                  </m:ctrlPr>
                                </m:sSupPr>
                                <m:e>
                                  <m:r>
                                    <a:rPr lang="en-GB" sz="1600" b="1" i="1" smtClean="0">
                                      <a:latin typeface="Cambria Math" panose="02040503050406030204" pitchFamily="18" charset="0"/>
                                    </a:rPr>
                                    <m:t>𝒙</m:t>
                                  </m:r>
                                </m:e>
                                <m:sup>
                                  <m:r>
                                    <a:rPr lang="en-GB" sz="1600" b="1" i="1" smtClean="0">
                                      <a:latin typeface="Cambria Math" panose="02040503050406030204" pitchFamily="18" charset="0"/>
                                    </a:rPr>
                                    <m:t>𝟑</m:t>
                                  </m:r>
                                </m:sup>
                              </m:sSup>
                            </m:e>
                          </m:d>
                        </m:e>
                        <m:sub>
                          <m:r>
                            <a:rPr lang="en-GB" sz="1600" b="1" i="1" smtClean="0">
                              <a:latin typeface="Cambria Math" panose="02040503050406030204" pitchFamily="18" charset="0"/>
                            </a:rPr>
                            <m:t>−</m:t>
                          </m:r>
                          <m:r>
                            <a:rPr lang="en-GB" sz="1600" b="1" i="1" smtClean="0">
                              <a:latin typeface="Cambria Math" panose="02040503050406030204" pitchFamily="18" charset="0"/>
                            </a:rPr>
                            <m:t>𝟏</m:t>
                          </m:r>
                        </m:sub>
                        <m:sup>
                          <m:r>
                            <a:rPr lang="en-GB" sz="1600" b="1" i="1" smtClean="0">
                              <a:latin typeface="Cambria Math" panose="02040503050406030204" pitchFamily="18" charset="0"/>
                            </a:rPr>
                            <m:t>𝟏</m:t>
                          </m:r>
                        </m:sup>
                      </m:sSubSup>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𝟏</m:t>
                              </m:r>
                            </m:num>
                            <m:den>
                              <m:r>
                                <a:rPr lang="en-GB" sz="1600" b="1" i="1" smtClean="0">
                                  <a:latin typeface="Cambria Math" panose="02040503050406030204" pitchFamily="18" charset="0"/>
                                </a:rPr>
                                <m:t>𝟑</m:t>
                              </m:r>
                            </m:den>
                          </m:f>
                        </m:e>
                      </m:d>
                      <m:r>
                        <a:rPr lang="en-GB" sz="1600" b="1" i="1" smtClean="0">
                          <a:latin typeface="Cambria Math" panose="02040503050406030204" pitchFamily="18" charset="0"/>
                        </a:rPr>
                        <m:t>−</m:t>
                      </m:r>
                      <m:d>
                        <m:dPr>
                          <m:ctrlPr>
                            <a:rPr lang="en-GB" sz="1600" b="1" i="1" smtClean="0">
                              <a:latin typeface="Cambria Math" panose="02040503050406030204" pitchFamily="18" charset="0"/>
                            </a:rPr>
                          </m:ctrlPr>
                        </m:dPr>
                        <m:e>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𝟏</m:t>
                              </m:r>
                            </m:num>
                            <m:den>
                              <m:r>
                                <a:rPr lang="en-GB" sz="1600" b="1" i="1" smtClean="0">
                                  <a:latin typeface="Cambria Math" panose="02040503050406030204" pitchFamily="18" charset="0"/>
                                </a:rPr>
                                <m:t>𝟑</m:t>
                              </m:r>
                            </m:den>
                          </m:f>
                        </m:e>
                      </m:d>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𝟐</m:t>
                          </m:r>
                        </m:num>
                        <m:den>
                          <m:r>
                            <a:rPr lang="en-GB" sz="1600" b="1" i="1" smtClean="0">
                              <a:latin typeface="Cambria Math" panose="02040503050406030204" pitchFamily="18" charset="0"/>
                            </a:rPr>
                            <m:t>𝟑</m:t>
                          </m:r>
                        </m:den>
                      </m:f>
                    </m:oMath>
                  </m:oMathPara>
                </a14:m>
                <a:endParaRPr lang="en-GB" sz="1600" b="1" dirty="0"/>
              </a:p>
            </p:txBody>
          </p:sp>
        </mc:Choice>
        <mc:Fallback xmlns="">
          <p:sp>
            <p:nvSpPr>
              <p:cNvPr id="9" name="TextBox 8">
                <a:extLst>
                  <a:ext uri="{FF2B5EF4-FFF2-40B4-BE49-F238E27FC236}">
                    <a16:creationId xmlns:a16="http://schemas.microsoft.com/office/drawing/2014/main" id="{843EF1D8-E800-E3FD-FDEF-A4959E161B1B}"/>
                  </a:ext>
                </a:extLst>
              </p:cNvPr>
              <p:cNvSpPr txBox="1">
                <a:spLocks noRot="1" noChangeAspect="1" noMove="1" noResize="1" noEditPoints="1" noAdjustHandles="1" noChangeArrowheads="1" noChangeShapeType="1" noTextEdit="1"/>
              </p:cNvSpPr>
              <p:nvPr/>
            </p:nvSpPr>
            <p:spPr>
              <a:xfrm>
                <a:off x="4932040" y="1891748"/>
                <a:ext cx="4110360" cy="5024132"/>
              </a:xfrm>
              <a:prstGeom prst="rect">
                <a:avLst/>
              </a:prstGeom>
              <a:blipFill>
                <a:blip r:embed="rId3"/>
                <a:stretch>
                  <a:fillRect l="-742" t="-364"/>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A93B9058-F5F9-5560-0F8D-D571E33927F8}"/>
              </a:ext>
            </a:extLst>
          </p:cNvPr>
          <p:cNvPicPr>
            <a:picLocks noChangeAspect="1"/>
          </p:cNvPicPr>
          <p:nvPr/>
        </p:nvPicPr>
        <p:blipFill>
          <a:blip r:embed="rId4"/>
          <a:stretch>
            <a:fillRect/>
          </a:stretch>
        </p:blipFill>
        <p:spPr>
          <a:xfrm>
            <a:off x="5296580" y="2696014"/>
            <a:ext cx="3179763" cy="1120242"/>
          </a:xfrm>
          <a:prstGeom prst="rect">
            <a:avLst/>
          </a:prstGeom>
        </p:spPr>
      </p:pic>
      <p:sp>
        <p:nvSpPr>
          <p:cNvPr id="11" name="Rectangle 10">
            <a:extLst>
              <a:ext uri="{FF2B5EF4-FFF2-40B4-BE49-F238E27FC236}">
                <a16:creationId xmlns:a16="http://schemas.microsoft.com/office/drawing/2014/main" id="{8CD2C3B7-58A7-1B00-8010-D5D1ACBEAC15}"/>
              </a:ext>
            </a:extLst>
          </p:cNvPr>
          <p:cNvSpPr/>
          <p:nvPr/>
        </p:nvSpPr>
        <p:spPr>
          <a:xfrm>
            <a:off x="287411" y="4037474"/>
            <a:ext cx="3971473" cy="27759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dirty="0"/>
              <a:t>?</a:t>
            </a:r>
          </a:p>
        </p:txBody>
      </p:sp>
      <p:sp>
        <p:nvSpPr>
          <p:cNvPr id="12" name="Rectangle 11">
            <a:extLst>
              <a:ext uri="{FF2B5EF4-FFF2-40B4-BE49-F238E27FC236}">
                <a16:creationId xmlns:a16="http://schemas.microsoft.com/office/drawing/2014/main" id="{ACC9B950-0F65-1D94-D436-A1728F847132}"/>
              </a:ext>
            </a:extLst>
          </p:cNvPr>
          <p:cNvSpPr/>
          <p:nvPr/>
        </p:nvSpPr>
        <p:spPr>
          <a:xfrm>
            <a:off x="5001484" y="4269454"/>
            <a:ext cx="3881260" cy="254392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fontAlgn="auto">
              <a:spcBef>
                <a:spcPts val="0"/>
              </a:spcBef>
              <a:spcAft>
                <a:spcPts val="0"/>
              </a:spcAft>
              <a:defRPr/>
            </a:pPr>
            <a:r>
              <a:rPr lang="en-GB" dirty="0"/>
              <a:t>?</a:t>
            </a:r>
          </a:p>
        </p:txBody>
      </p:sp>
      <p:sp>
        <p:nvSpPr>
          <p:cNvPr id="13" name="Rectangle 12">
            <a:extLst>
              <a:ext uri="{FF2B5EF4-FFF2-40B4-BE49-F238E27FC236}">
                <a16:creationId xmlns:a16="http://schemas.microsoft.com/office/drawing/2014/main" id="{452E68D4-EA56-E5BD-012C-686D841BA3D6}"/>
              </a:ext>
            </a:extLst>
          </p:cNvPr>
          <p:cNvSpPr/>
          <p:nvPr/>
        </p:nvSpPr>
        <p:spPr>
          <a:xfrm>
            <a:off x="85060" y="2099613"/>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1</a:t>
            </a:r>
          </a:p>
        </p:txBody>
      </p:sp>
      <p:sp>
        <p:nvSpPr>
          <p:cNvPr id="14" name="Rectangle 13">
            <a:extLst>
              <a:ext uri="{FF2B5EF4-FFF2-40B4-BE49-F238E27FC236}">
                <a16:creationId xmlns:a16="http://schemas.microsoft.com/office/drawing/2014/main" id="{DDD9A07B-3FCE-62A2-4782-D4CCFA717ED4}"/>
              </a:ext>
            </a:extLst>
          </p:cNvPr>
          <p:cNvSpPr/>
          <p:nvPr/>
        </p:nvSpPr>
        <p:spPr>
          <a:xfrm>
            <a:off x="4740653" y="1964112"/>
            <a:ext cx="191387" cy="27100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2</a:t>
            </a:r>
          </a:p>
        </p:txBody>
      </p:sp>
    </p:spTree>
    <p:extLst>
      <p:ext uri="{BB962C8B-B14F-4D97-AF65-F5344CB8AC3E}">
        <p14:creationId xmlns:p14="http://schemas.microsoft.com/office/powerpoint/2010/main" val="305565813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FD0A126B-988E-C0EA-6A74-F4009E1FF9C3}"/>
              </a:ext>
            </a:extLst>
          </p:cNvPr>
          <p:cNvPicPr>
            <a:picLocks noChangeAspect="1"/>
          </p:cNvPicPr>
          <p:nvPr/>
        </p:nvPicPr>
        <p:blipFill>
          <a:blip r:embed="rId2"/>
          <a:stretch>
            <a:fillRect/>
          </a:stretch>
        </p:blipFill>
        <p:spPr>
          <a:xfrm>
            <a:off x="642365" y="908720"/>
            <a:ext cx="7858125" cy="5229225"/>
          </a:xfrm>
          <a:prstGeom prst="rect">
            <a:avLst/>
          </a:prstGeom>
        </p:spPr>
      </p:pic>
    </p:spTree>
    <p:extLst>
      <p:ext uri="{BB962C8B-B14F-4D97-AF65-F5344CB8AC3E}">
        <p14:creationId xmlns:p14="http://schemas.microsoft.com/office/powerpoint/2010/main" val="3896053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33AC-846C-1B51-B0D6-66FCEF5199D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A33E61B-5971-C1CA-63B6-84D4E8CD15B9}"/>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91569A6F-F775-6BAD-E18A-F451C7CF95D5}"/>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24CF18F9-8040-27F2-298F-E639F1017697}"/>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9BB8746C-9308-FAF6-EED4-71598F858EFA}"/>
              </a:ext>
            </a:extLst>
          </p:cNvPr>
          <p:cNvPicPr>
            <a:picLocks noChangeAspect="1"/>
          </p:cNvPicPr>
          <p:nvPr/>
        </p:nvPicPr>
        <p:blipFill>
          <a:blip r:embed="rId2"/>
          <a:stretch>
            <a:fillRect/>
          </a:stretch>
        </p:blipFill>
        <p:spPr>
          <a:xfrm>
            <a:off x="570928" y="965795"/>
            <a:ext cx="8001000" cy="5343525"/>
          </a:xfrm>
          <a:prstGeom prst="rect">
            <a:avLst/>
          </a:prstGeom>
        </p:spPr>
      </p:pic>
    </p:spTree>
    <p:extLst>
      <p:ext uri="{BB962C8B-B14F-4D97-AF65-F5344CB8AC3E}">
        <p14:creationId xmlns:p14="http://schemas.microsoft.com/office/powerpoint/2010/main" val="4091202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FF1D-077C-F572-9E99-49EDBBC142B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5EF6806-357C-A4C0-B2EB-43975ACCBC22}"/>
              </a:ext>
            </a:extLst>
          </p:cNvPr>
          <p:cNvGrpSpPr/>
          <p:nvPr/>
        </p:nvGrpSpPr>
        <p:grpSpPr>
          <a:xfrm>
            <a:off x="0" y="0"/>
            <a:ext cx="9143074" cy="599127"/>
            <a:chOff x="0" y="13335"/>
            <a:chExt cx="9144218" cy="599127"/>
          </a:xfrm>
        </p:grpSpPr>
        <p:sp>
          <p:nvSpPr>
            <p:cNvPr id="3" name="TextBox 32">
              <a:extLst>
                <a:ext uri="{FF2B5EF4-FFF2-40B4-BE49-F238E27FC236}">
                  <a16:creationId xmlns:a16="http://schemas.microsoft.com/office/drawing/2014/main" id="{715EF2C4-7960-D90B-2265-9571D32850C5}"/>
                </a:ext>
              </a:extLst>
            </p:cNvPr>
            <p:cNvSpPr txBox="1"/>
            <p:nvPr/>
          </p:nvSpPr>
          <p:spPr>
            <a:xfrm>
              <a:off x="0" y="13335"/>
              <a:ext cx="9144000" cy="59912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dirty="0"/>
                <a:t>Homework Exercise</a:t>
              </a:r>
            </a:p>
          </p:txBody>
        </p:sp>
        <p:cxnSp>
          <p:nvCxnSpPr>
            <p:cNvPr id="4" name="Straight Connector 3">
              <a:extLst>
                <a:ext uri="{FF2B5EF4-FFF2-40B4-BE49-F238E27FC236}">
                  <a16:creationId xmlns:a16="http://schemas.microsoft.com/office/drawing/2014/main" id="{3E9C4A61-E1A8-EB39-D321-1F141E52777E}"/>
                </a:ext>
              </a:extLst>
            </p:cNvPr>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795D44C5-3A66-BC07-5BF9-727EDCBF5A0C}"/>
              </a:ext>
            </a:extLst>
          </p:cNvPr>
          <p:cNvPicPr>
            <a:picLocks noChangeAspect="1"/>
          </p:cNvPicPr>
          <p:nvPr/>
        </p:nvPicPr>
        <p:blipFill>
          <a:blip r:embed="rId2"/>
          <a:stretch>
            <a:fillRect/>
          </a:stretch>
        </p:blipFill>
        <p:spPr>
          <a:xfrm>
            <a:off x="499490" y="991741"/>
            <a:ext cx="8143875" cy="2581275"/>
          </a:xfrm>
          <a:prstGeom prst="rect">
            <a:avLst/>
          </a:prstGeom>
        </p:spPr>
      </p:pic>
    </p:spTree>
    <p:extLst>
      <p:ext uri="{BB962C8B-B14F-4D97-AF65-F5344CB8AC3E}">
        <p14:creationId xmlns:p14="http://schemas.microsoft.com/office/powerpoint/2010/main" val="26099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87744"/>
            <a:chOff x="0" y="13335"/>
            <a:chExt cx="9144218" cy="587744"/>
          </a:xfrm>
        </p:grpSpPr>
        <p:sp>
          <p:nvSpPr>
            <p:cNvPr id="3" name="TextBox 32"/>
            <p:cNvSpPr txBox="1"/>
            <p:nvPr/>
          </p:nvSpPr>
          <p:spPr>
            <a:xfrm>
              <a:off x="0" y="13335"/>
              <a:ext cx="9144000" cy="58477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sz="3200"/>
                <a:t>Homework</a:t>
              </a:r>
              <a:r>
                <a:rPr lang="en-GB" sz="3200">
                  <a:latin typeface="+mj-lt"/>
                </a:rPr>
                <a:t> </a:t>
              </a:r>
              <a:r>
                <a:rPr lang="en-GB" sz="3200" dirty="0">
                  <a:latin typeface="+mj-lt"/>
                </a:rPr>
                <a:t>Answers</a:t>
              </a:r>
              <a:endParaRPr lang="en-GB" sz="3200" dirty="0"/>
            </a:p>
          </p:txBody>
        </p:sp>
        <p:cxnSp>
          <p:nvCxnSpPr>
            <p:cNvPr id="4" name="Straight Connector 3"/>
            <p:cNvCxnSpPr/>
            <p:nvPr/>
          </p:nvCxnSpPr>
          <p:spPr>
            <a:xfrm>
              <a:off x="218" y="601079"/>
              <a:ext cx="9144000" cy="0"/>
            </a:xfrm>
            <a:prstGeom prst="line">
              <a:avLst/>
            </a:prstGeom>
            <a:effectLst/>
          </p:spPr>
          <p:style>
            <a:lnRef idx="3">
              <a:schemeClr val="accent3"/>
            </a:lnRef>
            <a:fillRef idx="0">
              <a:schemeClr val="accent3"/>
            </a:fillRef>
            <a:effectRef idx="2">
              <a:schemeClr val="accent3"/>
            </a:effectRef>
            <a:fontRef idx="minor">
              <a:schemeClr val="tx1"/>
            </a:fontRef>
          </p:style>
        </p:cxnSp>
      </p:grpSp>
      <p:pic>
        <p:nvPicPr>
          <p:cNvPr id="6" name="Picture 5">
            <a:extLst>
              <a:ext uri="{FF2B5EF4-FFF2-40B4-BE49-F238E27FC236}">
                <a16:creationId xmlns:a16="http://schemas.microsoft.com/office/drawing/2014/main" id="{1BCFE7B3-BEDE-338D-238C-42AC1289F390}"/>
              </a:ext>
            </a:extLst>
          </p:cNvPr>
          <p:cNvPicPr>
            <a:picLocks noChangeAspect="1"/>
          </p:cNvPicPr>
          <p:nvPr/>
        </p:nvPicPr>
        <p:blipFill>
          <a:blip r:embed="rId2"/>
          <a:stretch>
            <a:fillRect/>
          </a:stretch>
        </p:blipFill>
        <p:spPr>
          <a:xfrm>
            <a:off x="539552" y="1052736"/>
            <a:ext cx="4600575" cy="1714500"/>
          </a:xfrm>
          <a:prstGeom prst="rect">
            <a:avLst/>
          </a:prstGeom>
        </p:spPr>
      </p:pic>
    </p:spTree>
    <p:extLst>
      <p:ext uri="{BB962C8B-B14F-4D97-AF65-F5344CB8AC3E}">
        <p14:creationId xmlns:p14="http://schemas.microsoft.com/office/powerpoint/2010/main" val="34586998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2145CED0C8C3544A5BCCC2783BB773D" ma:contentTypeVersion="18" ma:contentTypeDescription="Create a new document." ma:contentTypeScope="" ma:versionID="071d80e8befb16289be70b0ed95d7a13">
  <xsd:schema xmlns:xsd="http://www.w3.org/2001/XMLSchema" xmlns:xs="http://www.w3.org/2001/XMLSchema" xmlns:p="http://schemas.microsoft.com/office/2006/metadata/properties" xmlns:ns2="faa1ecaf-a1aa-4fc9-8c75-2805352e1f65" xmlns:ns3="f9cd3b9a-9a6c-485a-81b7-4082693b5161" targetNamespace="http://schemas.microsoft.com/office/2006/metadata/properties" ma:root="true" ma:fieldsID="bfedc4b824bdcf7bc3afcdacf96d42fb" ns2:_="" ns3:_="">
    <xsd:import namespace="faa1ecaf-a1aa-4fc9-8c75-2805352e1f65"/>
    <xsd:import namespace="f9cd3b9a-9a6c-485a-81b7-4082693b51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LengthInSeconds" minOccurs="0"/>
                <xsd:element ref="ns2:MediaServiceObjectDetectorVersions" minOccurs="0"/>
                <xsd:element ref="ns2:lcf76f155ced4ddcb4097134ff3c332f" minOccurs="0"/>
                <xsd:element ref="ns3:TaxCatchAll"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a1ecaf-a1aa-4fc9-8c75-2805352e1f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5c9266d-873e-4384-88ad-117b2e21bbbb"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cd3b9a-9a6c-485a-81b7-4082693b516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dd2894-802d-4a2b-8969-adc31d00c97c}" ma:internalName="TaxCatchAll" ma:showField="CatchAllData" ma:web="f9cd3b9a-9a6c-485a-81b7-4082693b51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a1ecaf-a1aa-4fc9-8c75-2805352e1f65">
      <Terms xmlns="http://schemas.microsoft.com/office/infopath/2007/PartnerControls"/>
    </lcf76f155ced4ddcb4097134ff3c332f>
    <TaxCatchAll xmlns="f9cd3b9a-9a6c-485a-81b7-4082693b5161" xsi:nil="true"/>
  </documentManagement>
</p:properties>
</file>

<file path=customXml/itemProps1.xml><?xml version="1.0" encoding="utf-8"?>
<ds:datastoreItem xmlns:ds="http://schemas.openxmlformats.org/officeDocument/2006/customXml" ds:itemID="{A8F9F0BF-CA8C-4D24-90A1-67BA839288EB}">
  <ds:schemaRefs>
    <ds:schemaRef ds:uri="http://schemas.microsoft.com/sharepoint/v3/contenttype/forms"/>
  </ds:schemaRefs>
</ds:datastoreItem>
</file>

<file path=customXml/itemProps2.xml><?xml version="1.0" encoding="utf-8"?>
<ds:datastoreItem xmlns:ds="http://schemas.openxmlformats.org/officeDocument/2006/customXml" ds:itemID="{C9CFC61B-804A-451F-96CB-09693B4087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a1ecaf-a1aa-4fc9-8c75-2805352e1f65"/>
    <ds:schemaRef ds:uri="f9cd3b9a-9a6c-485a-81b7-4082693b51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78994C-A71F-42AC-8C1A-2D47B8B074D2}">
  <ds:schemaRefs>
    <ds:schemaRef ds:uri="http://schemas.microsoft.com/office/2006/metadata/properties"/>
    <ds:schemaRef ds:uri="http://schemas.microsoft.com/office/infopath/2007/PartnerControls"/>
    <ds:schemaRef ds:uri="faa1ecaf-a1aa-4fc9-8c75-2805352e1f65"/>
    <ds:schemaRef ds:uri="f9cd3b9a-9a6c-485a-81b7-4082693b5161"/>
  </ds:schemaRefs>
</ds:datastoreItem>
</file>

<file path=docProps/app.xml><?xml version="1.0" encoding="utf-8"?>
<Properties xmlns="http://schemas.openxmlformats.org/officeDocument/2006/extended-properties" xmlns:vt="http://schemas.openxmlformats.org/officeDocument/2006/docPropsVTypes">
  <TotalTime>61750</TotalTime>
  <Words>1251</Words>
  <Application>Microsoft Office PowerPoint</Application>
  <PresentationFormat>On-screen Show (4:3)</PresentationFormat>
  <Paragraphs>117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Office Theme</vt:lpstr>
      <vt:lpstr>P1 Chapter 13: Integration  Areas Under Curves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Frost J</dc:creator>
  <cp:lastModifiedBy>Dieter Beaven</cp:lastModifiedBy>
  <cp:revision>1284</cp:revision>
  <dcterms:created xsi:type="dcterms:W3CDTF">2013-02-28T07:36:55Z</dcterms:created>
  <dcterms:modified xsi:type="dcterms:W3CDTF">2025-09-25T15:25:47Z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0x010100E2145CED0C8C3544A5BCCC2783BB773D</vt:lpwstr>
  </property>
</Properties>
</file>