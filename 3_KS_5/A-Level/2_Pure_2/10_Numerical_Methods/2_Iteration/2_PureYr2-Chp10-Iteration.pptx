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547" r:id="rId5"/>
    <p:sldId id="486" r:id="rId6"/>
    <p:sldId id="487" r:id="rId7"/>
    <p:sldId id="498" r:id="rId8"/>
    <p:sldId id="501" r:id="rId9"/>
    <p:sldId id="499" r:id="rId10"/>
    <p:sldId id="505" r:id="rId11"/>
    <p:sldId id="506" r:id="rId12"/>
    <p:sldId id="507" r:id="rId13"/>
    <p:sldId id="549" r:id="rId14"/>
    <p:sldId id="543" r:id="rId15"/>
    <p:sldId id="550" r:id="rId16"/>
    <p:sldId id="551" r:id="rId17"/>
    <p:sldId id="553" r:id="rId18"/>
    <p:sldId id="545" r:id="rId19"/>
    <p:sldId id="55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9093C-9184-4B2B-BE65-54EE7641CBBC}" v="17" dt="2026-03-27T09:40:46.513"/>
    <p1510:client id="{FC6FB64E-2BB9-4934-B077-FD423746DF4D}" v="3" dt="2026-03-26T10:44:40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2C6039E-D0BB-4E5F-993B-FBBF68266147}"/>
    <pc:docChg chg="modSld">
      <pc:chgData name="Dieter Beaven" userId="9bbdb69f-69d0-4759-aa9b-5c090a2da237" providerId="ADAL" clId="{32C6039E-D0BB-4E5F-993B-FBBF68266147}" dt="2026-03-27T09:40:46.513" v="16" actId="20577"/>
      <pc:docMkLst>
        <pc:docMk/>
      </pc:docMkLst>
      <pc:sldChg chg="modSp">
        <pc:chgData name="Dieter Beaven" userId="9bbdb69f-69d0-4759-aa9b-5c090a2da237" providerId="ADAL" clId="{32C6039E-D0BB-4E5F-993B-FBBF68266147}" dt="2026-03-27T09:40:38.076" v="3" actId="20577"/>
        <pc:sldMkLst>
          <pc:docMk/>
          <pc:sldMk cId="2109936270" sldId="486"/>
        </pc:sldMkLst>
        <pc:spChg chg="mod">
          <ac:chgData name="Dieter Beaven" userId="9bbdb69f-69d0-4759-aa9b-5c090a2da237" providerId="ADAL" clId="{32C6039E-D0BB-4E5F-993B-FBBF68266147}" dt="2026-03-27T09:40:38.076" v="3" actId="20577"/>
          <ac:spMkLst>
            <pc:docMk/>
            <pc:sldMk cId="2109936270" sldId="486"/>
            <ac:spMk id="5" creationId="{805621F0-9F4F-48BD-892F-63122922DBDC}"/>
          </ac:spMkLst>
        </pc:spChg>
      </pc:sldChg>
      <pc:sldChg chg="modSp">
        <pc:chgData name="Dieter Beaven" userId="9bbdb69f-69d0-4759-aa9b-5c090a2da237" providerId="ADAL" clId="{32C6039E-D0BB-4E5F-993B-FBBF68266147}" dt="2026-03-27T09:40:46.513" v="16" actId="20577"/>
        <pc:sldMkLst>
          <pc:docMk/>
          <pc:sldMk cId="4147777024" sldId="487"/>
        </pc:sldMkLst>
        <pc:spChg chg="mod">
          <ac:chgData name="Dieter Beaven" userId="9bbdb69f-69d0-4759-aa9b-5c090a2da237" providerId="ADAL" clId="{32C6039E-D0BB-4E5F-993B-FBBF68266147}" dt="2026-03-27T09:40:46.513" v="16" actId="20577"/>
          <ac:spMkLst>
            <pc:docMk/>
            <pc:sldMk cId="4147777024" sldId="487"/>
            <ac:spMk id="10" creationId="{00000000-0000-0000-0000-000000000000}"/>
          </ac:spMkLst>
        </pc:spChg>
      </pc:sldChg>
    </pc:docChg>
  </pc:docChgLst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3-26T10:46:32.250" v="23" actId="47"/>
      <pc:docMkLst>
        <pc:docMk/>
      </pc:docMkLst>
      <pc:sldChg chg="addSp modSp mod">
        <pc:chgData name="Dieter Beaven" userId="9bbdb69f-69d0-4759-aa9b-5c090a2da237" providerId="ADAL" clId="{B47B330E-67D7-47E6-A6C8-686253D34652}" dt="2026-03-26T10:19:01.062" v="5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3-26T10:19:01.062" v="5" actId="1076"/>
          <ac:picMkLst>
            <pc:docMk/>
            <pc:sldMk cId="3896053727" sldId="543"/>
            <ac:picMk id="6" creationId="{C33356C4-078A-5779-FD0D-81489D938380}"/>
          </ac:picMkLst>
        </pc:picChg>
      </pc:sldChg>
      <pc:sldChg chg="addSp delSp modSp mod">
        <pc:chgData name="Dieter Beaven" userId="9bbdb69f-69d0-4759-aa9b-5c090a2da237" providerId="ADAL" clId="{B47B330E-67D7-47E6-A6C8-686253D34652}" dt="2026-03-26T10:44:39.085" v="17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3-26T10:44:39.085" v="17" actId="1076"/>
          <ac:picMkLst>
            <pc:docMk/>
            <pc:sldMk cId="3458699803" sldId="545"/>
            <ac:picMk id="6" creationId="{BB69E32C-E313-0470-74CE-FFBAD6AF0EC9}"/>
          </ac:picMkLst>
        </pc:picChg>
      </pc:sldChg>
      <pc:sldChg chg="addSp modSp mod">
        <pc:chgData name="Dieter Beaven" userId="9bbdb69f-69d0-4759-aa9b-5c090a2da237" providerId="ADAL" clId="{B47B330E-67D7-47E6-A6C8-686253D34652}" dt="2026-03-26T10:19:51.839" v="8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3-26T10:19:51.839" v="8" actId="1076"/>
          <ac:picMkLst>
            <pc:docMk/>
            <pc:sldMk cId="4091202299" sldId="550"/>
            <ac:picMk id="6" creationId="{22A09782-4A5B-7EF3-2898-371548135881}"/>
          </ac:picMkLst>
        </pc:picChg>
      </pc:sldChg>
      <pc:sldChg chg="addSp modSp mod">
        <pc:chgData name="Dieter Beaven" userId="9bbdb69f-69d0-4759-aa9b-5c090a2da237" providerId="ADAL" clId="{B47B330E-67D7-47E6-A6C8-686253D34652}" dt="2026-03-26T10:21:32.791" v="10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3-26T10:21:32.791" v="10" actId="1076"/>
          <ac:picMkLst>
            <pc:docMk/>
            <pc:sldMk cId="3826585799" sldId="551"/>
            <ac:picMk id="6" creationId="{11647103-91BC-F693-BBB4-4771B339EC5C}"/>
          </ac:picMkLst>
        </pc:picChg>
      </pc:sldChg>
      <pc:sldChg chg="addSp modSp mod">
        <pc:chgData name="Dieter Beaven" userId="9bbdb69f-69d0-4759-aa9b-5c090a2da237" providerId="ADAL" clId="{B47B330E-67D7-47E6-A6C8-686253D34652}" dt="2026-03-26T10:46:28.705" v="21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B47B330E-67D7-47E6-A6C8-686253D34652}" dt="2026-03-26T10:46:28.705" v="21" actId="1076"/>
          <ac:picMkLst>
            <pc:docMk/>
            <pc:sldMk cId="2531956736" sldId="552"/>
            <ac:picMk id="6" creationId="{E0B4416B-CF04-2DCB-A448-017AA2D29BCB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3-26T10:22:12.131" v="15" actId="1076"/>
        <pc:sldMkLst>
          <pc:docMk/>
          <pc:sldMk cId="916198610" sldId="553"/>
        </pc:sldMkLst>
        <pc:picChg chg="del mod">
          <ac:chgData name="Dieter Beaven" userId="9bbdb69f-69d0-4759-aa9b-5c090a2da237" providerId="ADAL" clId="{B47B330E-67D7-47E6-A6C8-686253D34652}" dt="2026-03-26T10:22:00.157" v="13" actId="478"/>
          <ac:picMkLst>
            <pc:docMk/>
            <pc:sldMk cId="916198610" sldId="553"/>
            <ac:picMk id="6" creationId="{D04884DE-6E04-7FD7-C8C1-00DDAEB5986B}"/>
          </ac:picMkLst>
        </pc:picChg>
        <pc:picChg chg="add mod">
          <ac:chgData name="Dieter Beaven" userId="9bbdb69f-69d0-4759-aa9b-5c090a2da237" providerId="ADAL" clId="{B47B330E-67D7-47E6-A6C8-686253D34652}" dt="2026-03-26T10:22:12.131" v="15" actId="1076"/>
          <ac:picMkLst>
            <pc:docMk/>
            <pc:sldMk cId="916198610" sldId="553"/>
            <ac:picMk id="7" creationId="{03F75423-83B6-CEAD-9813-0360177CDFBA}"/>
          </ac:picMkLst>
        </pc:picChg>
      </pc:sldChg>
      <pc:sldChg chg="add del">
        <pc:chgData name="Dieter Beaven" userId="9bbdb69f-69d0-4759-aa9b-5c090a2da237" providerId="ADAL" clId="{B47B330E-67D7-47E6-A6C8-686253D34652}" dt="2026-03-26T10:46:31.625" v="22" actId="47"/>
        <pc:sldMkLst>
          <pc:docMk/>
          <pc:sldMk cId="3830413648" sldId="554"/>
        </pc:sldMkLst>
      </pc:sldChg>
      <pc:sldChg chg="add del">
        <pc:chgData name="Dieter Beaven" userId="9bbdb69f-69d0-4759-aa9b-5c090a2da237" providerId="ADAL" clId="{B47B330E-67D7-47E6-A6C8-686253D34652}" dt="2026-03-26T10:46:32.250" v="23" actId="47"/>
        <pc:sldMkLst>
          <pc:docMk/>
          <pc:sldMk cId="4289927226" sldId="5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96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02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6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.png"/><Relationship Id="rId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8.png"/><Relationship Id="rId3" Type="http://schemas.openxmlformats.org/officeDocument/2006/relationships/image" Target="../media/image7.png"/><Relationship Id="rId7" Type="http://schemas.openxmlformats.org/officeDocument/2006/relationships/image" Target="../media/image47.png"/><Relationship Id="rId12" Type="http://schemas.openxmlformats.org/officeDocument/2006/relationships/image" Target="../media/image44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0.png"/><Relationship Id="rId11" Type="http://schemas.openxmlformats.org/officeDocument/2006/relationships/image" Target="../media/image430.png"/><Relationship Id="rId5" Type="http://schemas.openxmlformats.org/officeDocument/2006/relationships/image" Target="../media/image46.png"/><Relationship Id="rId15" Type="http://schemas.openxmlformats.org/officeDocument/2006/relationships/image" Target="../media/image50.png"/><Relationship Id="rId10" Type="http://schemas.openxmlformats.org/officeDocument/2006/relationships/image" Target="../media/image420.png"/><Relationship Id="rId4" Type="http://schemas.openxmlformats.org/officeDocument/2006/relationships/image" Target="../media/image360.png"/><Relationship Id="rId9" Type="http://schemas.openxmlformats.org/officeDocument/2006/relationships/image" Target="../media/image410.png"/><Relationship Id="rId1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47.png"/><Relationship Id="rId3" Type="http://schemas.openxmlformats.org/officeDocument/2006/relationships/image" Target="../media/image8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4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10: </a:t>
            </a:r>
            <a:r>
              <a:rPr lang="en-GB" dirty="0">
                <a:solidFill>
                  <a:schemeClr val="accent5"/>
                </a:solidFill>
              </a:rPr>
              <a:t>Numerical Methods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Iteration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Using iteration to approximate a root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86871"/>
            <a:ext cx="6149877" cy="3825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395536" y="764704"/>
            <a:ext cx="2304256" cy="4107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Jan 2013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14501" y="1484784"/>
                <a:ext cx="21957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01" y="1484784"/>
                <a:ext cx="2195736" cy="12003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73725" y="1484784"/>
            <a:ext cx="6015210" cy="1080120"/>
          </a:xfrm>
          <a:prstGeom prst="rect">
            <a:avLst/>
          </a:prstGeom>
          <a:solidFill>
            <a:srgbClr val="FFFF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38547" y="5229200"/>
                <a:ext cx="4493693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To 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by an iterative method, rearrange into a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and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47" y="5229200"/>
                <a:ext cx="4493693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810" t="-3226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339752" y="6237312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We’ll see why it works later.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86508" y="1401568"/>
            <a:ext cx="2140459" cy="1283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234" y="1400002"/>
            <a:ext cx="266274" cy="2640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5621F0-9F4F-48BD-892F-63122922DBDC}"/>
                  </a:ext>
                </a:extLst>
              </p:cNvPr>
              <p:cNvSpPr txBox="1"/>
              <p:nvPr/>
            </p:nvSpPr>
            <p:spPr>
              <a:xfrm>
                <a:off x="6787501" y="2920752"/>
                <a:ext cx="2165999" cy="16004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The difficulty is that there’s multiple choices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to isolate on one side of the equation. Therefore use the target equation to give clues for how to rearrange.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5621F0-9F4F-48BD-892F-63122922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501" y="2920752"/>
                <a:ext cx="2165999" cy="1600438"/>
              </a:xfrm>
              <a:prstGeom prst="rect">
                <a:avLst/>
              </a:prstGeom>
              <a:blipFill>
                <a:blip r:embed="rId5"/>
                <a:stretch>
                  <a:fillRect l="-278" b="-2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93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Using iteration to approximate a root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86871"/>
            <a:ext cx="6149877" cy="3825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395536" y="764704"/>
            <a:ext cx="2304256" cy="4107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Jan 2013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7767" y="5229764"/>
                <a:ext cx="424847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6−2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+1=2.386…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=2.2847…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=2.3125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67" y="5229764"/>
                <a:ext cx="4248472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18639" y="2520369"/>
            <a:ext cx="6092329" cy="2062647"/>
          </a:xfrm>
          <a:prstGeom prst="rect">
            <a:avLst/>
          </a:prstGeom>
          <a:solidFill>
            <a:srgbClr val="FFFF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375388" y="5229764"/>
            <a:ext cx="266274" cy="2640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177" y="5231533"/>
            <a:ext cx="4342238" cy="12003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04248" y="1164369"/>
                <a:ext cx="21602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u="sng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u="sng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u="sng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u="sng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u="sng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u="sng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u="sng" dirty="0"/>
                  <a:t> represent successively better approximations of the root</a:t>
                </a:r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the starting value.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1164369"/>
                <a:ext cx="2160240" cy="1477328"/>
              </a:xfrm>
              <a:prstGeom prst="rect">
                <a:avLst/>
              </a:prstGeom>
              <a:blipFill rotWithShape="0">
                <a:blip r:embed="rId4"/>
                <a:stretch>
                  <a:fillRect l="-2254" t="-2066" r="-2535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807200" y="2721984"/>
                <a:ext cx="2206172" cy="25545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Tip: </a:t>
                </a:r>
                <a:r>
                  <a:rPr lang="en-GB" sz="1600" dirty="0"/>
                  <a:t>Initially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/>
                  <a:t>   (i.e. 2) onto your calculator.</a:t>
                </a:r>
              </a:p>
              <a:p>
                <a:r>
                  <a:rPr lang="en-GB" sz="1600" dirty="0"/>
                  <a:t>Now just type:</a:t>
                </a:r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6−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𝐴𝑁𝑆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And then spam your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/>
                  <a:t> key to get successive iterations.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200" y="2721984"/>
                <a:ext cx="2206172" cy="2554545"/>
              </a:xfrm>
              <a:prstGeom prst="rect">
                <a:avLst/>
              </a:prstGeom>
              <a:blipFill>
                <a:blip r:embed="rId5"/>
                <a:stretch>
                  <a:fillRect l="-1093" t="-236" b="-1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F38509-93F3-4BA5-9668-60A64DCD3C5E}"/>
                  </a:ext>
                </a:extLst>
              </p:cNvPr>
              <p:cNvSpPr txBox="1"/>
              <p:nvPr/>
            </p:nvSpPr>
            <p:spPr>
              <a:xfrm>
                <a:off x="5049376" y="5465373"/>
                <a:ext cx="4056524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Exam Tip: </a:t>
                </a:r>
                <a:r>
                  <a:rPr lang="en-GB" sz="1600" dirty="0"/>
                  <a:t>Show the substitution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/>
                  <a:t> to ensure you get the method mark. But then just write the final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and thereafter, as the remaining marks will be ‘accuracy’ ones.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F38509-93F3-4BA5-9668-60A64DCD3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376" y="5465373"/>
                <a:ext cx="4056524" cy="1077218"/>
              </a:xfrm>
              <a:prstGeom prst="rect">
                <a:avLst/>
              </a:prstGeom>
              <a:blipFill>
                <a:blip r:embed="rId6"/>
                <a:stretch>
                  <a:fillRect l="-448" t="-556" r="-1493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77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289278-A1DD-4636-AA20-8FB90A7CDE8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4B3B5B3A-C552-47AD-BB7F-0AAD32395717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/>
                    <a:t>Does the starting value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GB" sz="3200" dirty="0"/>
                    <a:t> matter?</a:t>
                  </a:r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4B3B5B3A-C552-47AD-BB7F-0AAD32395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D8BEC9A-87E1-465D-923E-261FB4B72D1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F35F4CA-F4B2-4E80-A42F-B76ED804E3F6}"/>
              </a:ext>
            </a:extLst>
          </p:cNvPr>
          <p:cNvSpPr txBox="1"/>
          <p:nvPr/>
        </p:nvSpPr>
        <p:spPr>
          <a:xfrm>
            <a:off x="337477" y="749626"/>
            <a:ext cx="8805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Yes</a:t>
            </a:r>
            <a:r>
              <a:rPr lang="en-GB" dirty="0"/>
              <a:t>! We’ll see why in a bit when we look at staircase and cobweb diagrams.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If there are a multiple roots, iteration might converge to (i.e. approach) a different root.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Or we may not converge to a root at all, and </a:t>
            </a:r>
            <a:r>
              <a:rPr lang="en-GB" b="1" dirty="0"/>
              <a:t>diverge</a:t>
            </a:r>
            <a:r>
              <a:rPr lang="en-GB" dirty="0"/>
              <a:t> (i.e. approach infinity).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6B1F82-1AC2-4060-823F-C0810A16C2BA}"/>
                  </a:ext>
                </a:extLst>
              </p:cNvPr>
              <p:cNvSpPr txBox="1"/>
              <p:nvPr/>
            </p:nvSpPr>
            <p:spPr>
              <a:xfrm>
                <a:off x="467544" y="1812415"/>
                <a:ext cx="7848872" cy="17640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Show that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has a root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Both"/>
                </a:pPr>
                <a:r>
                  <a:rPr lang="en-GB" dirty="0"/>
                  <a:t>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lang="en-GB" dirty="0"/>
                  <a:t> to calculate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, giving your answers to 4 decimal places, and taking:</a:t>
                </a:r>
                <a:br>
                  <a:rPr lang="en-GB" dirty="0"/>
                </a:br>
                <a:r>
                  <a:rPr lang="en-GB" dirty="0"/>
                  <a:t>(</a:t>
                </a:r>
                <a:r>
                  <a:rPr lang="en-GB" dirty="0" err="1"/>
                  <a:t>i</a:t>
                </a:r>
                <a:r>
                  <a:rPr lang="en-GB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GB" dirty="0"/>
                  <a:t>      (ii)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6B1F82-1AC2-4060-823F-C0810A16C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812415"/>
                <a:ext cx="7848872" cy="1764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4D66EC-3C8F-4B05-927C-AB505C77B0A9}"/>
                  </a:ext>
                </a:extLst>
              </p:cNvPr>
              <p:cNvSpPr txBox="1"/>
              <p:nvPr/>
            </p:nvSpPr>
            <p:spPr>
              <a:xfrm>
                <a:off x="467544" y="3683496"/>
                <a:ext cx="4176464" cy="314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Both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=−1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br>
                  <a:rPr lang="en-GB" dirty="0"/>
                </a:br>
                <a:r>
                  <a:rPr lang="en-GB" dirty="0"/>
                  <a:t>There is a change in sign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continuous, so there is a root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this interval.</a:t>
                </a:r>
              </a:p>
              <a:p>
                <a:pPr marL="342900" indent="-342900">
                  <a:buAutoNum type="alphaLcParenBoth"/>
                </a:pPr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 err="1"/>
                  <a:t>i</a:t>
                </a:r>
                <a:r>
                  <a:rPr lang="en-GB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</m:d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=1.3385…</m:t>
                    </m:r>
                  </m:oMath>
                </a14:m>
                <a:br>
                  <a:rPr lang="en-GB" b="0" dirty="0"/>
                </a:br>
                <a:r>
                  <a:rPr lang="en-GB" b="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=1.2544…     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=1.2200…</m:t>
                    </m:r>
                  </m:oMath>
                </a14:m>
                <a:br>
                  <a:rPr lang="en-GB" dirty="0"/>
                </a:br>
                <a:r>
                  <a:rPr lang="en-GB" dirty="0"/>
                  <a:t>  This appears to be convergent as the   </a:t>
                </a:r>
                <a:br>
                  <a:rPr lang="en-GB" dirty="0"/>
                </a:br>
                <a:r>
                  <a:rPr lang="en-GB" dirty="0"/>
                  <a:t>  change in the root on each iteration is </a:t>
                </a:r>
                <a:br>
                  <a:rPr lang="en-GB" dirty="0"/>
                </a:br>
                <a:r>
                  <a:rPr lang="en-GB" dirty="0"/>
                  <a:t>  becoming smaller.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4D66EC-3C8F-4B05-927C-AB505C77B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683496"/>
                <a:ext cx="4176464" cy="3149004"/>
              </a:xfrm>
              <a:prstGeom prst="rect">
                <a:avLst/>
              </a:prstGeom>
              <a:blipFill>
                <a:blip r:embed="rId4"/>
                <a:stretch>
                  <a:fillRect l="-1314" t="-967" r="-2044" b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A9D8B5-CE8E-46BB-AEE5-2FD4746B6E55}"/>
                  </a:ext>
                </a:extLst>
              </p:cNvPr>
              <p:cNvSpPr txBox="1"/>
              <p:nvPr/>
            </p:nvSpPr>
            <p:spPr>
              <a:xfrm>
                <a:off x="5145247" y="3699701"/>
                <a:ext cx="374723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dirty="0"/>
                  <a:t>(b) (ii)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=4.5092…</m:t>
                    </m:r>
                  </m:oMath>
                </a14:m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=5.4058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=7.1219…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           The series is </a:t>
                </a:r>
                <a:r>
                  <a:rPr lang="en-GB" b="1" dirty="0"/>
                  <a:t>divergent</a:t>
                </a:r>
                <a:r>
                  <a:rPr lang="en-GB" dirty="0"/>
                  <a:t>, so</a:t>
                </a:r>
                <a:br>
                  <a:rPr lang="en-GB" dirty="0"/>
                </a:br>
                <a:r>
                  <a:rPr lang="en-GB" dirty="0"/>
                  <a:t>           iteration has failed.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A9D8B5-CE8E-46BB-AEE5-2FD4746B6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247" y="3699701"/>
                <a:ext cx="3747233" cy="1754326"/>
              </a:xfrm>
              <a:prstGeom prst="rect">
                <a:avLst/>
              </a:prstGeom>
              <a:blipFill>
                <a:blip r:embed="rId5"/>
                <a:stretch>
                  <a:fillRect l="-1301" t="-2083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F82E099-D0B2-40FE-BA8E-6641E6516603}"/>
              </a:ext>
            </a:extLst>
          </p:cNvPr>
          <p:cNvSpPr/>
          <p:nvPr/>
        </p:nvSpPr>
        <p:spPr>
          <a:xfrm>
            <a:off x="873890" y="3720280"/>
            <a:ext cx="3828739" cy="11274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9C6AD-9FCD-40A7-9B1E-3E1271D493E9}"/>
              </a:ext>
            </a:extLst>
          </p:cNvPr>
          <p:cNvSpPr/>
          <p:nvPr/>
        </p:nvSpPr>
        <p:spPr>
          <a:xfrm>
            <a:off x="1001486" y="5157193"/>
            <a:ext cx="3788229" cy="15774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8164C6-C764-464A-BB76-BE77E48C89D1}"/>
              </a:ext>
            </a:extLst>
          </p:cNvPr>
          <p:cNvSpPr/>
          <p:nvPr/>
        </p:nvSpPr>
        <p:spPr>
          <a:xfrm>
            <a:off x="5791200" y="3715883"/>
            <a:ext cx="2888343" cy="1712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897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D424B93-1237-47B1-9E55-4C7B17461E8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1EA435-CB2A-423B-873E-1F5E23998CE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D285862-94FC-4225-87A5-03A0E5E31E7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0056A91-2F19-4299-B423-7A1256970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69" y="1188368"/>
            <a:ext cx="5588744" cy="37392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B074AC-270F-401F-BB8A-AF327C08A0A6}"/>
              </a:ext>
            </a:extLst>
          </p:cNvPr>
          <p:cNvSpPr/>
          <p:nvPr/>
        </p:nvSpPr>
        <p:spPr>
          <a:xfrm>
            <a:off x="395536" y="764704"/>
            <a:ext cx="2592288" cy="4107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June 2012 Q2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CF68B4-6E7C-4481-9427-945EC6D2B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7621"/>
            <a:ext cx="4932040" cy="1352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EF3B7D-345C-47E9-8A2F-839D7E45E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987" y="5194300"/>
            <a:ext cx="3972214" cy="12665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2592B4-0820-40BF-B7CF-9C886204ED2D}"/>
              </a:ext>
            </a:extLst>
          </p:cNvPr>
          <p:cNvSpPr/>
          <p:nvPr/>
        </p:nvSpPr>
        <p:spPr>
          <a:xfrm>
            <a:off x="226190" y="5028380"/>
            <a:ext cx="4764910" cy="102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D3522-7A85-4D6E-B1C0-0E49FB64B1A6}"/>
              </a:ext>
            </a:extLst>
          </p:cNvPr>
          <p:cNvSpPr/>
          <p:nvPr/>
        </p:nvSpPr>
        <p:spPr>
          <a:xfrm>
            <a:off x="261604" y="6057900"/>
            <a:ext cx="4764910" cy="6985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B82131-764F-40DD-A6BB-E70DF106C406}"/>
              </a:ext>
            </a:extLst>
          </p:cNvPr>
          <p:cNvSpPr/>
          <p:nvPr/>
        </p:nvSpPr>
        <p:spPr>
          <a:xfrm>
            <a:off x="5410696" y="5179851"/>
            <a:ext cx="3682505" cy="1259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8185B-A19F-4C3C-AB96-F59DEABDB669}"/>
              </a:ext>
            </a:extLst>
          </p:cNvPr>
          <p:cNvSpPr txBox="1"/>
          <p:nvPr/>
        </p:nvSpPr>
        <p:spPr>
          <a:xfrm>
            <a:off x="6300192" y="3501008"/>
            <a:ext cx="2664296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Warning</a:t>
            </a:r>
            <a:r>
              <a:rPr lang="en-GB" sz="1400" dirty="0"/>
              <a:t>: Any particular mark scheme gives what is </a:t>
            </a:r>
            <a:r>
              <a:rPr lang="en-GB" sz="1400" u="sng" dirty="0"/>
              <a:t>minimally</a:t>
            </a:r>
            <a:r>
              <a:rPr lang="en-GB" sz="1400" dirty="0"/>
              <a:t> acceptable. So you should use the full wording earlier to avoid the risk of mark loss.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341889-0EAB-4FF2-BF69-CD82FE5EC409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7531100" y="4670559"/>
            <a:ext cx="101240" cy="307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29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Why does this method work?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773295"/>
            <a:ext cx="6768752" cy="41807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 rot="18984554">
                <a:off x="4202830" y="2126678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84554">
                <a:off x="4202830" y="2126678"/>
                <a:ext cx="1512168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1772" y="998234"/>
                <a:ext cx="8696376" cy="657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we put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: in this case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sz="1600" dirty="0"/>
                  <a:t> is one possible rearrangement.</a:t>
                </a:r>
              </a:p>
              <a:p>
                <a:r>
                  <a:rPr lang="en-GB" sz="1600" dirty="0"/>
                  <a:t>We can then use the recurrence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sz="1600" dirty="0"/>
                  <a:t> . Why does this recurrence work?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2" y="998234"/>
                <a:ext cx="8696376" cy="657872"/>
              </a:xfrm>
              <a:prstGeom prst="rect">
                <a:avLst/>
              </a:prstGeom>
              <a:blipFill>
                <a:blip r:embed="rId5"/>
                <a:stretch>
                  <a:fillRect l="-350" b="-9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23456" y="5059623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56" y="5059623"/>
                <a:ext cx="648072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06524" y="554849"/>
                <a:ext cx="5940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b="0" dirty="0"/>
                  <a:t>Solve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524" y="554849"/>
                <a:ext cx="5940660" cy="523220"/>
              </a:xfrm>
              <a:prstGeom prst="rect">
                <a:avLst/>
              </a:prstGeom>
              <a:blipFill>
                <a:blip r:embed="rId7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201308" y="3365451"/>
                <a:ext cx="2646040" cy="180190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Finding the solution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dirty="0"/>
                  <a:t> is the same as sketching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dirty="0"/>
                  <a:t> and seeing the point at which they intersect.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308" y="3365451"/>
                <a:ext cx="2646040" cy="1801904"/>
              </a:xfrm>
              <a:prstGeom prst="rect">
                <a:avLst/>
              </a:prstGeom>
              <a:blipFill rotWithShape="0">
                <a:blip r:embed="rId8"/>
                <a:stretch>
                  <a:fillRect l="-1370" t="-1000" b="-3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436692" y="5390543"/>
                <a:ext cx="2646040" cy="12825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we would find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dirty="0"/>
                  <a:t>. This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dirty="0"/>
                  <a:t> graph.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692" y="5390543"/>
                <a:ext cx="2646040" cy="1282531"/>
              </a:xfrm>
              <a:prstGeom prst="rect">
                <a:avLst/>
              </a:prstGeom>
              <a:blipFill rotWithShape="0">
                <a:blip r:embed="rId9"/>
                <a:stretch>
                  <a:fillRect l="-1598" t="-1395" b="-5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 rot="20885241">
                <a:off x="5359267" y="2375985"/>
                <a:ext cx="151216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rad>
                    </m:oMath>
                  </m:oMathPara>
                </a14:m>
                <a:endParaRPr lang="en-GB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85241">
                <a:off x="5359267" y="2375985"/>
                <a:ext cx="1512168" cy="40197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 flipV="1">
            <a:off x="3447492" y="3501008"/>
            <a:ext cx="0" cy="144016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91469" y="4583335"/>
                <a:ext cx="2646040" cy="20897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This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=1.414…</m:t>
                    </m:r>
                  </m:oMath>
                </a14:m>
                <a:r>
                  <a:rPr lang="en-GB" dirty="0"/>
                  <a:t> This is then fed back into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dirty="0"/>
                  <a:t> for the next iteration, i.e.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becomes the new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value! This is equivalent to moving to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69" y="4583335"/>
                <a:ext cx="2646040" cy="2089739"/>
              </a:xfrm>
              <a:prstGeom prst="rect">
                <a:avLst/>
              </a:prstGeom>
              <a:blipFill rotWithShape="0">
                <a:blip r:embed="rId11"/>
                <a:stretch>
                  <a:fillRect l="-1598" t="-1153" r="-2968" b="-3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 flipH="1">
            <a:off x="3429001" y="3505200"/>
            <a:ext cx="441959" cy="7621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549629" y="483292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29" y="4832927"/>
                <a:ext cx="648072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3888905" y="3512821"/>
            <a:ext cx="0" cy="13797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173579" y="5755358"/>
                <a:ext cx="2970046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We can repeat this process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=1.414…</m:t>
                    </m:r>
                  </m:oMath>
                </a14:m>
                <a:r>
                  <a:rPr lang="en-GB" dirty="0"/>
                  <a:t>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and so on.</a:t>
                </a: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579" y="5755358"/>
                <a:ext cx="2970046" cy="923330"/>
              </a:xfrm>
              <a:prstGeom prst="rect">
                <a:avLst/>
              </a:prstGeom>
              <a:blipFill>
                <a:blip r:embed="rId13"/>
                <a:stretch>
                  <a:fillRect l="-1426" t="-1923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3888581" y="3350419"/>
            <a:ext cx="1" cy="161925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881437" y="3367087"/>
            <a:ext cx="164306" cy="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816181" y="487064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181" y="4870646"/>
                <a:ext cx="64807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4111412" y="3279329"/>
            <a:ext cx="0" cy="16618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223642" y="3707023"/>
                <a:ext cx="18088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This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is the root of the original equation.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642" y="3707023"/>
                <a:ext cx="1808858" cy="830997"/>
              </a:xfrm>
              <a:prstGeom prst="rect">
                <a:avLst/>
              </a:prstGeom>
              <a:blipFill>
                <a:blip r:embed="rId15"/>
                <a:stretch>
                  <a:fillRect l="-2020" t="-2206"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H="1">
            <a:off x="4228182" y="4552542"/>
            <a:ext cx="298595" cy="280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3375D5-7AEB-4E53-9015-5FA045322440}"/>
                  </a:ext>
                </a:extLst>
              </p:cNvPr>
              <p:cNvSpPr/>
              <p:nvPr/>
            </p:nvSpPr>
            <p:spPr>
              <a:xfrm>
                <a:off x="236234" y="2110133"/>
                <a:ext cx="2970046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This is called a </a:t>
                </a:r>
                <a:r>
                  <a:rPr lang="en-GB" sz="1400" b="1" dirty="0"/>
                  <a:t>staircase diagram</a:t>
                </a:r>
                <a:r>
                  <a:rPr lang="en-GB" sz="1400" dirty="0"/>
                  <a:t> due to its shape. We can see that we’re converging towards the root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3375D5-7AEB-4E53-9015-5FA0453224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4" y="2110133"/>
                <a:ext cx="2970046" cy="738664"/>
              </a:xfrm>
              <a:prstGeom prst="rect">
                <a:avLst/>
              </a:prstGeom>
              <a:blipFill>
                <a:blip r:embed="rId16"/>
                <a:stretch>
                  <a:fillRect l="-204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18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2" grpId="0" animBg="1"/>
      <p:bldP spid="16" grpId="0" animBg="1"/>
      <p:bldP spid="20" grpId="0"/>
      <p:bldP spid="23" grpId="0" animBg="1"/>
      <p:bldP spid="35" grpId="0"/>
      <p:bldP spid="38" grpId="0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3A93542-C310-4ACD-B5BA-5FD449BE8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02" y="1988152"/>
            <a:ext cx="7524750" cy="442912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Cobweb Diagrams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 rot="19581784">
                <a:off x="6722838" y="184780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81784">
                <a:off x="6722838" y="1847802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0672" y="1061734"/>
                <a:ext cx="8696376" cy="820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We could also have rearranged </a:t>
                </a:r>
                <a:r>
                  <a:rPr lang="en-GB" sz="1600" dirty="0"/>
                  <a:t>differently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GB" sz="1600" dirty="0"/>
              </a:p>
              <a:p>
                <a:r>
                  <a:rPr lang="en-GB" sz="1600" dirty="0"/>
                  <a:t>Therefore we use the recurrence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GB" sz="1600" dirty="0"/>
                  <a:t> . What happens this time?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72" y="1061734"/>
                <a:ext cx="8696376" cy="820738"/>
              </a:xfrm>
              <a:prstGeom prst="rect">
                <a:avLst/>
              </a:prstGeom>
              <a:blipFill>
                <a:blip r:embed="rId5"/>
                <a:stretch>
                  <a:fillRect l="-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83176" y="248977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76" y="2489778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264552" y="4549141"/>
                <a:ext cx="1512168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552" y="4549141"/>
                <a:ext cx="1512168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>
            <a:cxnSpLocks/>
          </p:cNvCxnSpPr>
          <p:nvPr/>
        </p:nvCxnSpPr>
        <p:spPr>
          <a:xfrm flipV="1">
            <a:off x="1200150" y="2828925"/>
            <a:ext cx="0" cy="34290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702279" y="247072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279" y="2470727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 flipH="1">
            <a:off x="5295900" y="2817496"/>
            <a:ext cx="12230" cy="792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997281" y="247034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281" y="2470346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>
            <a:cxnSpLocks/>
          </p:cNvCxnSpPr>
          <p:nvPr/>
        </p:nvCxnSpPr>
        <p:spPr>
          <a:xfrm flipH="1">
            <a:off x="6010275" y="2822129"/>
            <a:ext cx="6137" cy="340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3375D5-7AEB-4E53-9015-5FA045322440}"/>
                  </a:ext>
                </a:extLst>
              </p:cNvPr>
              <p:cNvSpPr/>
              <p:nvPr/>
            </p:nvSpPr>
            <p:spPr>
              <a:xfrm>
                <a:off x="4289148" y="5872288"/>
                <a:ext cx="3423204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This is unsurprisingly called a </a:t>
                </a:r>
                <a:r>
                  <a:rPr lang="en-GB" sz="1400" b="1" dirty="0"/>
                  <a:t>cobweb diagram</a:t>
                </a:r>
                <a:r>
                  <a:rPr lang="en-GB" sz="1400" dirty="0"/>
                  <a:t>. Again we can see that we’re successfully converging towards the root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3375D5-7AEB-4E53-9015-5FA0453224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148" y="5872288"/>
                <a:ext cx="3423204" cy="738664"/>
              </a:xfrm>
              <a:prstGeom prst="rect">
                <a:avLst/>
              </a:prstGeom>
              <a:blipFill>
                <a:blip r:embed="rId10"/>
                <a:stretch>
                  <a:fillRect l="-177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0D2E84-209D-44C1-968B-55DFE694CBAF}"/>
              </a:ext>
            </a:extLst>
          </p:cNvPr>
          <p:cNvCxnSpPr>
            <a:cxnSpLocks/>
          </p:cNvCxnSpPr>
          <p:nvPr/>
        </p:nvCxnSpPr>
        <p:spPr>
          <a:xfrm flipH="1" flipV="1">
            <a:off x="1200151" y="3162301"/>
            <a:ext cx="4829174" cy="9524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5FBFB1-71BC-43B2-9CA9-67166FD74154}"/>
              </a:ext>
            </a:extLst>
          </p:cNvPr>
          <p:cNvCxnSpPr>
            <a:cxnSpLocks/>
          </p:cNvCxnSpPr>
          <p:nvPr/>
        </p:nvCxnSpPr>
        <p:spPr>
          <a:xfrm flipH="1">
            <a:off x="6000750" y="3171825"/>
            <a:ext cx="9525" cy="638175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B2AB6A6-892A-4D89-BECC-29FAFE925C0C}"/>
              </a:ext>
            </a:extLst>
          </p:cNvPr>
          <p:cNvCxnSpPr>
            <a:cxnSpLocks/>
          </p:cNvCxnSpPr>
          <p:nvPr/>
        </p:nvCxnSpPr>
        <p:spPr>
          <a:xfrm flipV="1">
            <a:off x="4997450" y="3803650"/>
            <a:ext cx="1016000" cy="635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CD0704-2F7C-4773-8EE4-F1C75BBAFD4D}"/>
              </a:ext>
            </a:extLst>
          </p:cNvPr>
          <p:cNvCxnSpPr>
            <a:cxnSpLocks/>
          </p:cNvCxnSpPr>
          <p:nvPr/>
        </p:nvCxnSpPr>
        <p:spPr>
          <a:xfrm flipH="1" flipV="1">
            <a:off x="4997450" y="3543300"/>
            <a:ext cx="204" cy="264582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A31FAF-15EA-49B2-8A7F-19CE40E1D69A}"/>
                  </a:ext>
                </a:extLst>
              </p:cNvPr>
              <p:cNvSpPr txBox="1"/>
              <p:nvPr/>
            </p:nvSpPr>
            <p:spPr>
              <a:xfrm>
                <a:off x="4687095" y="245279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A31FAF-15EA-49B2-8A7F-19CE40E1D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95" y="2452797"/>
                <a:ext cx="64807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ED1DCC-E68A-430C-A453-D95CF66F8C67}"/>
              </a:ext>
            </a:extLst>
          </p:cNvPr>
          <p:cNvCxnSpPr>
            <a:cxnSpLocks/>
          </p:cNvCxnSpPr>
          <p:nvPr/>
        </p:nvCxnSpPr>
        <p:spPr>
          <a:xfrm flipH="1">
            <a:off x="4997451" y="2832100"/>
            <a:ext cx="12699" cy="698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6B7290-AD74-4A0F-9F0C-BFF877F9251E}"/>
              </a:ext>
            </a:extLst>
          </p:cNvPr>
          <p:cNvCxnSpPr>
            <a:cxnSpLocks/>
          </p:cNvCxnSpPr>
          <p:nvPr/>
        </p:nvCxnSpPr>
        <p:spPr>
          <a:xfrm flipV="1">
            <a:off x="4991100" y="3536950"/>
            <a:ext cx="431800" cy="635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87AF34-70C6-4AED-9992-A93F0A63446E}"/>
              </a:ext>
            </a:extLst>
          </p:cNvPr>
          <p:cNvCxnSpPr>
            <a:cxnSpLocks/>
          </p:cNvCxnSpPr>
          <p:nvPr/>
        </p:nvCxnSpPr>
        <p:spPr>
          <a:xfrm flipV="1">
            <a:off x="5410200" y="3533775"/>
            <a:ext cx="0" cy="98425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2B125A1-01E4-4161-B13D-A5EB54B5E15A}"/>
                  </a:ext>
                </a:extLst>
              </p:cNvPr>
              <p:cNvSpPr txBox="1"/>
              <p:nvPr/>
            </p:nvSpPr>
            <p:spPr>
              <a:xfrm>
                <a:off x="5212040" y="2496194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2B125A1-01E4-4161-B13D-A5EB54B5E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40" y="2496194"/>
                <a:ext cx="64807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89C4175-0C4E-4E06-8144-5DF440516276}"/>
              </a:ext>
            </a:extLst>
          </p:cNvPr>
          <p:cNvCxnSpPr>
            <a:cxnSpLocks/>
          </p:cNvCxnSpPr>
          <p:nvPr/>
        </p:nvCxnSpPr>
        <p:spPr>
          <a:xfrm flipH="1">
            <a:off x="5427146" y="2837397"/>
            <a:ext cx="12699" cy="698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FB06496-A866-43E2-8A74-8D05804A7489}"/>
                  </a:ext>
                </a:extLst>
              </p:cNvPr>
              <p:cNvSpPr txBox="1"/>
              <p:nvPr/>
            </p:nvSpPr>
            <p:spPr>
              <a:xfrm>
                <a:off x="1506524" y="554849"/>
                <a:ext cx="5940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b="0" dirty="0"/>
                  <a:t>Solve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FB06496-A866-43E2-8A74-8D05804A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524" y="554849"/>
                <a:ext cx="5940660" cy="523220"/>
              </a:xfrm>
              <a:prstGeom prst="rect">
                <a:avLst/>
              </a:prstGeom>
              <a:blipFill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65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7" grpId="0" animBg="1"/>
      <p:bldP spid="45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D3B5C1E-7FE4-4F8A-8F38-95C0CC08BC3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EE31C19-F609-4CD1-BEDB-BF48EF227B5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And when iteration fails…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F253C0-0730-4E48-A8B3-C8BBFEDD880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97DE4A-BB88-4FF4-BF3F-005F37FD1968}"/>
                  </a:ext>
                </a:extLst>
              </p:cNvPr>
              <p:cNvSpPr txBox="1"/>
              <p:nvPr/>
            </p:nvSpPr>
            <p:spPr>
              <a:xfrm>
                <a:off x="212404" y="1283451"/>
                <a:ext cx="86963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But again, we could have rearranged differently!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Using the recurrence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600" dirty="0"/>
                  <a:t> : what happens this time?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97DE4A-BB88-4FF4-BF3F-005F37FD1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4" y="1283451"/>
                <a:ext cx="8696376" cy="584775"/>
              </a:xfrm>
              <a:prstGeom prst="rect">
                <a:avLst/>
              </a:prstGeom>
              <a:blipFill>
                <a:blip r:embed="rId2"/>
                <a:stretch>
                  <a:fillRect l="-421" t="-3158" b="-136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DCC85D9-BA54-4ACF-B83B-5365735E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04" y="2237953"/>
            <a:ext cx="7200900" cy="414337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E885B0-7EA2-455C-8AFA-B562BF236B83}"/>
              </a:ext>
            </a:extLst>
          </p:cNvPr>
          <p:cNvCxnSpPr>
            <a:cxnSpLocks/>
          </p:cNvCxnSpPr>
          <p:nvPr/>
        </p:nvCxnSpPr>
        <p:spPr>
          <a:xfrm flipH="1">
            <a:off x="4107180" y="5637824"/>
            <a:ext cx="7620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76A9F1-9DA0-4198-804B-9E61694AEA13}"/>
                  </a:ext>
                </a:extLst>
              </p:cNvPr>
              <p:cNvSpPr txBox="1"/>
              <p:nvPr/>
            </p:nvSpPr>
            <p:spPr>
              <a:xfrm>
                <a:off x="3778081" y="592123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76A9F1-9DA0-4198-804B-9E61694AE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081" y="5921230"/>
                <a:ext cx="648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DA574F-52E2-45BA-8523-B10D754DA0FB}"/>
                  </a:ext>
                </a:extLst>
              </p:cNvPr>
              <p:cNvSpPr txBox="1"/>
              <p:nvPr/>
            </p:nvSpPr>
            <p:spPr>
              <a:xfrm>
                <a:off x="4647102" y="595413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DA574F-52E2-45BA-8523-B10D754D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102" y="5954130"/>
                <a:ext cx="648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661425-4C1F-40FD-A1B7-CD08CC775900}"/>
              </a:ext>
            </a:extLst>
          </p:cNvPr>
          <p:cNvCxnSpPr>
            <a:cxnSpLocks/>
          </p:cNvCxnSpPr>
          <p:nvPr/>
        </p:nvCxnSpPr>
        <p:spPr>
          <a:xfrm flipV="1">
            <a:off x="4942810" y="5197459"/>
            <a:ext cx="11962" cy="800765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190DFC-EBE6-48CC-BB16-E7902B6524EF}"/>
                  </a:ext>
                </a:extLst>
              </p:cNvPr>
              <p:cNvSpPr txBox="1"/>
              <p:nvPr/>
            </p:nvSpPr>
            <p:spPr>
              <a:xfrm>
                <a:off x="6733637" y="5913814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190DFC-EBE6-48CC-BB16-E7902B652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637" y="5913814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C0CFC0-839C-44C8-AC91-0CCAC8E53511}"/>
              </a:ext>
            </a:extLst>
          </p:cNvPr>
          <p:cNvCxnSpPr>
            <a:cxnSpLocks/>
          </p:cNvCxnSpPr>
          <p:nvPr/>
        </p:nvCxnSpPr>
        <p:spPr>
          <a:xfrm flipH="1">
            <a:off x="7081284" y="5212592"/>
            <a:ext cx="9017" cy="8035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BD47C3-CC50-412A-8E1A-A2145840C53E}"/>
              </a:ext>
            </a:extLst>
          </p:cNvPr>
          <p:cNvCxnSpPr>
            <a:cxnSpLocks/>
          </p:cNvCxnSpPr>
          <p:nvPr/>
        </p:nvCxnSpPr>
        <p:spPr>
          <a:xfrm flipH="1" flipV="1">
            <a:off x="4932180" y="5191258"/>
            <a:ext cx="2191634" cy="6201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4227BB-8E63-44C9-8768-A92FAE395AEF}"/>
              </a:ext>
            </a:extLst>
          </p:cNvPr>
          <p:cNvCxnSpPr>
            <a:cxnSpLocks/>
          </p:cNvCxnSpPr>
          <p:nvPr/>
        </p:nvCxnSpPr>
        <p:spPr>
          <a:xfrm flipH="1">
            <a:off x="7117169" y="3506882"/>
            <a:ext cx="38543" cy="1683488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B334A6-752C-409D-B0C3-1629B3EBF672}"/>
              </a:ext>
            </a:extLst>
          </p:cNvPr>
          <p:cNvCxnSpPr>
            <a:cxnSpLocks/>
          </p:cNvCxnSpPr>
          <p:nvPr/>
        </p:nvCxnSpPr>
        <p:spPr>
          <a:xfrm>
            <a:off x="7166492" y="3499794"/>
            <a:ext cx="999313" cy="28353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6BAAED4-6962-4ED4-B34A-D083834AC572}"/>
                  </a:ext>
                </a:extLst>
              </p:cNvPr>
              <p:cNvSpPr/>
              <p:nvPr/>
            </p:nvSpPr>
            <p:spPr>
              <a:xfrm>
                <a:off x="3605014" y="2187908"/>
                <a:ext cx="3148211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The root approximations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are getting further away from the true root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400" dirty="0"/>
                  <a:t>, not closer, so our iterative method failed. </a:t>
                </a:r>
                <a:r>
                  <a:rPr lang="en-GB" sz="1400" dirty="0">
                    <a:sym typeface="Wingdings" panose="05000000000000000000" pitchFamily="2" charset="2"/>
                  </a:rPr>
                  <a:t></a:t>
                </a:r>
                <a:r>
                  <a:rPr lang="en-GB" sz="1400" dirty="0"/>
                  <a:t> 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6BAAED4-6962-4ED4-B34A-D083834AC5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014" y="2187908"/>
                <a:ext cx="3148211" cy="738664"/>
              </a:xfrm>
              <a:prstGeom prst="rect">
                <a:avLst/>
              </a:prstGeom>
              <a:blipFill>
                <a:blip r:embed="rId7"/>
                <a:stretch>
                  <a:fillRect l="-192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622919-3CFA-4C0B-9798-C79E452FCF69}"/>
                  </a:ext>
                </a:extLst>
              </p:cNvPr>
              <p:cNvSpPr txBox="1"/>
              <p:nvPr/>
            </p:nvSpPr>
            <p:spPr>
              <a:xfrm>
                <a:off x="1506524" y="692696"/>
                <a:ext cx="5940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b="0" dirty="0"/>
                  <a:t>Solve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622919-3CFA-4C0B-9798-C79E452FC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524" y="692696"/>
                <a:ext cx="5940660" cy="523220"/>
              </a:xfrm>
              <a:prstGeom prst="rect">
                <a:avLst/>
              </a:prstGeom>
              <a:blipFill>
                <a:blip r:embed="rId8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49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D2C2975-DE31-4F52-8AA5-29AAF7882F3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27FD7F8-144C-4B65-B9A8-47B2EB3E468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220A0EA-1FD3-488B-B91E-D0994CD94F5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415A91-FBB3-4C42-BBC4-A1A01000713F}"/>
                  </a:ext>
                </a:extLst>
              </p:cNvPr>
              <p:cNvSpPr txBox="1"/>
              <p:nvPr/>
            </p:nvSpPr>
            <p:spPr>
              <a:xfrm>
                <a:off x="424001" y="792043"/>
                <a:ext cx="8064896" cy="12848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Show that the root of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can be written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rad>
                  </m:oMath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Using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rad>
                  </m:oMath>
                </a14:m>
                <a:r>
                  <a:rPr lang="en-GB" dirty="0"/>
                  <a:t>, and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draw a staircase diagram, indicating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on your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as well as the root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415A91-FBB3-4C42-BBC4-A1A010007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1" y="792043"/>
                <a:ext cx="8064896" cy="1284839"/>
              </a:xfrm>
              <a:prstGeom prst="rect">
                <a:avLst/>
              </a:prstGeom>
              <a:blipFill>
                <a:blip r:embed="rId2"/>
                <a:stretch>
                  <a:fillRect b="-42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5F80940-51D8-41D4-BBE3-B3ADAC08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086" y="2570716"/>
            <a:ext cx="5867971" cy="4095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369CF2-D2AE-443D-9B74-BEA78C69608C}"/>
                  </a:ext>
                </a:extLst>
              </p:cNvPr>
              <p:cNvSpPr txBox="1"/>
              <p:nvPr/>
            </p:nvSpPr>
            <p:spPr>
              <a:xfrm rot="19581784">
                <a:off x="5097238" y="247010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369CF2-D2AE-443D-9B74-BEA78C696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81784">
                <a:off x="5097238" y="2470102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5B91D7-C2B3-4A7C-82A2-E65BFBA3A84E}"/>
                  </a:ext>
                </a:extLst>
              </p:cNvPr>
              <p:cNvSpPr txBox="1"/>
              <p:nvPr/>
            </p:nvSpPr>
            <p:spPr>
              <a:xfrm>
                <a:off x="7124852" y="2504441"/>
                <a:ext cx="151216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</m:oMath>
                  </m:oMathPara>
                </a14:m>
                <a:endParaRPr lang="en-GB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5B91D7-C2B3-4A7C-82A2-E65BFBA3A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852" y="2504441"/>
                <a:ext cx="1512168" cy="401970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1A7F4-AF31-49E6-9B72-1E1DD52858A3}"/>
                  </a:ext>
                </a:extLst>
              </p:cNvPr>
              <p:cNvSpPr txBox="1"/>
              <p:nvPr/>
            </p:nvSpPr>
            <p:spPr>
              <a:xfrm>
                <a:off x="1712516" y="6338764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1A7F4-AF31-49E6-9B72-1E1DD5285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16" y="6338764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BAE9B1-12B4-4134-ADAC-A212D62FE343}"/>
              </a:ext>
            </a:extLst>
          </p:cNvPr>
          <p:cNvCxnSpPr>
            <a:cxnSpLocks/>
          </p:cNvCxnSpPr>
          <p:nvPr/>
        </p:nvCxnSpPr>
        <p:spPr>
          <a:xfrm flipH="1" flipV="1">
            <a:off x="2026920" y="5554980"/>
            <a:ext cx="2569" cy="795982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8FFAF8-D730-4AC9-84A8-5458AF1C607A}"/>
              </a:ext>
            </a:extLst>
          </p:cNvPr>
          <p:cNvCxnSpPr>
            <a:cxnSpLocks/>
          </p:cNvCxnSpPr>
          <p:nvPr/>
        </p:nvCxnSpPr>
        <p:spPr>
          <a:xfrm flipH="1">
            <a:off x="2026920" y="5554980"/>
            <a:ext cx="502920" cy="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E8801B-D818-450F-8001-00D65E900AE7}"/>
              </a:ext>
            </a:extLst>
          </p:cNvPr>
          <p:cNvCxnSpPr>
            <a:cxnSpLocks/>
          </p:cNvCxnSpPr>
          <p:nvPr/>
        </p:nvCxnSpPr>
        <p:spPr>
          <a:xfrm>
            <a:off x="2529840" y="4968240"/>
            <a:ext cx="0" cy="59436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F45B36-8C24-4E2D-A2AC-38A863A7BA1B}"/>
              </a:ext>
            </a:extLst>
          </p:cNvPr>
          <p:cNvCxnSpPr>
            <a:cxnSpLocks/>
          </p:cNvCxnSpPr>
          <p:nvPr/>
        </p:nvCxnSpPr>
        <p:spPr>
          <a:xfrm flipV="1">
            <a:off x="2537460" y="4968240"/>
            <a:ext cx="746760" cy="762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EA9917-153F-4062-8615-0773BEDFA8DE}"/>
              </a:ext>
            </a:extLst>
          </p:cNvPr>
          <p:cNvCxnSpPr>
            <a:cxnSpLocks/>
          </p:cNvCxnSpPr>
          <p:nvPr/>
        </p:nvCxnSpPr>
        <p:spPr>
          <a:xfrm flipV="1">
            <a:off x="3257550" y="4448175"/>
            <a:ext cx="0" cy="53340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C06BA9-015D-4CCB-BF97-22FD2194A652}"/>
                  </a:ext>
                </a:extLst>
              </p:cNvPr>
              <p:cNvSpPr txBox="1"/>
              <p:nvPr/>
            </p:nvSpPr>
            <p:spPr>
              <a:xfrm>
                <a:off x="2213424" y="6338764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C06BA9-015D-4CCB-BF97-22FD2194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424" y="6338764"/>
                <a:ext cx="6480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DF04D1-C95B-4028-B5BB-BCBC5F6462F0}"/>
                  </a:ext>
                </a:extLst>
              </p:cNvPr>
              <p:cNvSpPr txBox="1"/>
              <p:nvPr/>
            </p:nvSpPr>
            <p:spPr>
              <a:xfrm>
                <a:off x="2910840" y="6317622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DF04D1-C95B-4028-B5BB-BCBC5F646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840" y="6317622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930AAC-50FB-4D3B-9B5B-9DE7E587E59D}"/>
                  </a:ext>
                </a:extLst>
              </p:cNvPr>
              <p:cNvSpPr txBox="1"/>
              <p:nvPr/>
            </p:nvSpPr>
            <p:spPr>
              <a:xfrm>
                <a:off x="5048998" y="628578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930AAC-50FB-4D3B-9B5B-9DE7E587E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998" y="6285786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D69EFD-1CDE-4EAF-96F7-1EBBF1C15088}"/>
              </a:ext>
            </a:extLst>
          </p:cNvPr>
          <p:cNvCxnSpPr>
            <a:cxnSpLocks/>
          </p:cNvCxnSpPr>
          <p:nvPr/>
        </p:nvCxnSpPr>
        <p:spPr>
          <a:xfrm>
            <a:off x="5366277" y="3346668"/>
            <a:ext cx="5823" cy="301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80418E-70D6-4D09-AA62-237A104F1B62}"/>
              </a:ext>
            </a:extLst>
          </p:cNvPr>
          <p:cNvCxnSpPr>
            <a:cxnSpLocks/>
          </p:cNvCxnSpPr>
          <p:nvPr/>
        </p:nvCxnSpPr>
        <p:spPr>
          <a:xfrm>
            <a:off x="2533650" y="5581650"/>
            <a:ext cx="9632" cy="750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65736B-3C26-4185-8D95-2CAB9BD54A5A}"/>
              </a:ext>
            </a:extLst>
          </p:cNvPr>
          <p:cNvCxnSpPr>
            <a:cxnSpLocks/>
          </p:cNvCxnSpPr>
          <p:nvPr/>
        </p:nvCxnSpPr>
        <p:spPr>
          <a:xfrm flipH="1">
            <a:off x="3257550" y="4987218"/>
            <a:ext cx="2839" cy="1356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77C1204-DAC8-4458-A658-66DB592DA88F}"/>
              </a:ext>
            </a:extLst>
          </p:cNvPr>
          <p:cNvSpPr/>
          <p:nvPr/>
        </p:nvSpPr>
        <p:spPr>
          <a:xfrm>
            <a:off x="603560" y="2285180"/>
            <a:ext cx="8221125" cy="44349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7845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10.2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82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33356C4-078A-5779-FD0D-81489D93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5" y="908720"/>
            <a:ext cx="67532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2A09782-4A5B-7EF3-2898-371548135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40" y="836712"/>
            <a:ext cx="66579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647103-91BC-F693-BBB4-4771B339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678" y="836712"/>
            <a:ext cx="66675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33D0-1FC2-A5AC-F6C2-CEA16E79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9D939A-CDA3-32B0-A529-D5A38D7ED22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56E80D2-4521-A554-459B-2BE72B0BD66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B8693AF-BA9E-C213-2AB5-DF24E9C794F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F75423-83B6-CEAD-9813-0360177CD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52736"/>
            <a:ext cx="68770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98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B69E32C-E313-0470-74CE-FFBAD6AF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7" y="852192"/>
            <a:ext cx="9144000" cy="541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0B4416B-CF04-2DCB-A448-017AA2D2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81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61756</TotalTime>
  <Words>982</Words>
  <Application>Microsoft Office PowerPoint</Application>
  <PresentationFormat>On-screen Show (4:3)</PresentationFormat>
  <Paragraphs>101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Wingdings</vt:lpstr>
      <vt:lpstr>Office Theme</vt:lpstr>
      <vt:lpstr>P2 Chapter 10: Numerical Methods  Iteration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2026-03-27T09:40:51Z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