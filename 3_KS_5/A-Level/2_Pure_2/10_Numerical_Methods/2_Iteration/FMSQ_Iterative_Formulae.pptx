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71" r:id="rId4"/>
    <p:sldId id="263" r:id="rId5"/>
    <p:sldId id="273" r:id="rId6"/>
    <p:sldId id="274" r:id="rId7"/>
    <p:sldId id="275" r:id="rId8"/>
    <p:sldId id="277" r:id="rId9"/>
    <p:sldId id="276" r:id="rId10"/>
    <p:sldId id="278" r:id="rId11"/>
    <p:sldId id="280" r:id="rId12"/>
    <p:sldId id="279" r:id="rId13"/>
    <p:sldId id="281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6488E-C6A2-4F65-B718-5D0CC962EDA0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87829-4402-4068-BA1C-A44A57B7BF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525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85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464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75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561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27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2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4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323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52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6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61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8F6A6-8115-4F38-AE6B-FC5F79F79D5C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D26CF-926B-45CC-BC87-253DED293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96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0.png"/><Relationship Id="rId4" Type="http://schemas.openxmlformats.org/officeDocument/2006/relationships/image" Target="../media/image42.png"/><Relationship Id="rId9" Type="http://schemas.openxmlformats.org/officeDocument/2006/relationships/image" Target="../media/image4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1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0.png"/><Relationship Id="rId5" Type="http://schemas.openxmlformats.org/officeDocument/2006/relationships/image" Target="../media/image420.png"/><Relationship Id="rId10" Type="http://schemas.openxmlformats.org/officeDocument/2006/relationships/image" Target="../media/image470.png"/><Relationship Id="rId4" Type="http://schemas.openxmlformats.org/officeDocument/2006/relationships/image" Target="../media/image42.png"/><Relationship Id="rId9" Type="http://schemas.openxmlformats.org/officeDocument/2006/relationships/image" Target="../media/image4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0.png"/><Relationship Id="rId7" Type="http://schemas.openxmlformats.org/officeDocument/2006/relationships/image" Target="../media/image44.png"/><Relationship Id="rId1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0.png"/><Relationship Id="rId5" Type="http://schemas.openxmlformats.org/officeDocument/2006/relationships/image" Target="../media/image420.png"/><Relationship Id="rId10" Type="http://schemas.openxmlformats.org/officeDocument/2006/relationships/image" Target="../media/image470.png"/><Relationship Id="rId4" Type="http://schemas.openxmlformats.org/officeDocument/2006/relationships/image" Target="../media/image42.png"/><Relationship Id="rId9" Type="http://schemas.openxmlformats.org/officeDocument/2006/relationships/image" Target="../media/image460.png"/><Relationship Id="rId14" Type="http://schemas.openxmlformats.org/officeDocument/2006/relationships/image" Target="../media/image5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0.png"/><Relationship Id="rId4" Type="http://schemas.openxmlformats.org/officeDocument/2006/relationships/image" Target="../media/image5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Iterative Formulae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856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Formulae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0688"/>
                <a:ext cx="10688515" cy="4486275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spcBef>
                    <a:spcPts val="1200"/>
                  </a:spcBef>
                  <a:spcAft>
                    <a:spcPts val="1200"/>
                  </a:spcAft>
                  <a:buAutoNum type="alphaLcParenR"/>
                </a:pPr>
                <a:r>
                  <a:rPr lang="en-GB" dirty="0" smtClean="0"/>
                  <a:t>For axes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≤10 </m:t>
                    </m:r>
                  </m:oMath>
                </a14:m>
                <a:r>
                  <a:rPr lang="en-GB" dirty="0" smtClean="0"/>
                  <a:t> plot both graphs:</a:t>
                </a:r>
              </a:p>
              <a:p>
                <a:pPr marL="1828800" lvl="3" indent="-457200">
                  <a:buFont typeface="+mj-lt"/>
                  <a:buAutoNum type="romanLcPeriod"/>
                </a:pPr>
                <a:r>
                  <a:rPr lang="en-GB" sz="2800" dirty="0" smtClean="0"/>
                  <a:t> </a:t>
                </a:r>
                <a14:m>
                  <m:oMath xmlns:m="http://schemas.openxmlformats.org/officeDocument/2006/math"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8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GB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GB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p>
                          <m:sSupPr>
                            <m:ctrlPr>
                              <a:rPr lang="en-GB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rad>
                  </m:oMath>
                </a14:m>
                <a:endParaRPr lang="en-GB" sz="2800" dirty="0" smtClean="0"/>
              </a:p>
              <a:p>
                <a:pPr marL="1828800" lvl="3" indent="-457200">
                  <a:buFont typeface="+mj-lt"/>
                  <a:buAutoNum type="romanLcPeriod"/>
                </a:pPr>
                <a:r>
                  <a:rPr lang="en-GB" sz="2800" dirty="0" smtClean="0"/>
                  <a:t> </a:t>
                </a:r>
                <a14:m>
                  <m:oMath xmlns:m="http://schemas.openxmlformats.org/officeDocument/2006/math">
                    <m:r>
                      <a:rPr lang="en-GB" sz="280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80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2800" dirty="0" smtClean="0">
                  <a:solidFill>
                    <a:schemeClr val="accent5"/>
                  </a:solidFill>
                </a:endParaRPr>
              </a:p>
              <a:p>
                <a:pPr marL="1828800" lvl="3" indent="-457200">
                  <a:buFont typeface="+mj-lt"/>
                  <a:buAutoNum type="romanLcPeriod"/>
                </a:pPr>
                <a:endParaRPr lang="en-GB" dirty="0" smtClean="0"/>
              </a:p>
              <a:p>
                <a:pPr marL="514350" indent="-514350">
                  <a:spcBef>
                    <a:spcPts val="0"/>
                  </a:spcBef>
                  <a:spcAft>
                    <a:spcPts val="600"/>
                  </a:spcAft>
                  <a:buAutoNum type="alphaLcParenR" startAt="2"/>
                </a:pPr>
                <a:r>
                  <a:rPr lang="en-GB" dirty="0" smtClean="0"/>
                  <a:t>From your plots estimate the root of the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dirty="0"/>
                  <a:t> </a:t>
                </a:r>
                <a:r>
                  <a:rPr lang="en-GB" dirty="0" smtClean="0"/>
                  <a:t>     function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dirty="0" smtClean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GB" dirty="0"/>
              </a:p>
              <a:p>
                <a:pPr marL="514350" indent="-514350">
                  <a:spcBef>
                    <a:spcPts val="0"/>
                  </a:spcBef>
                  <a:buAutoNum type="alphaLcParenR" startAt="3"/>
                </a:pPr>
                <a:r>
                  <a:rPr lang="en-GB" dirty="0" smtClean="0"/>
                  <a:t>Explain how you found the roots for b)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dirty="0"/>
                  <a:t> </a:t>
                </a:r>
                <a:r>
                  <a:rPr lang="en-GB" dirty="0" smtClean="0"/>
                  <a:t>      from the two plots.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0688"/>
                <a:ext cx="10688515" cy="4486275"/>
              </a:xfrm>
              <a:blipFill>
                <a:blip r:embed="rId2"/>
                <a:stretch>
                  <a:fillRect l="-1140" t="-2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38" y="2177442"/>
            <a:ext cx="4581892" cy="455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9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Formulae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6917576" cy="4486275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spcBef>
                    <a:spcPts val="1200"/>
                  </a:spcBef>
                  <a:spcAft>
                    <a:spcPts val="1200"/>
                  </a:spcAft>
                  <a:buAutoNum type="alphaLcParenR"/>
                </a:pPr>
                <a:r>
                  <a:rPr lang="en-GB" dirty="0" smtClean="0"/>
                  <a:t>For axes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≤10 </m:t>
                    </m:r>
                  </m:oMath>
                </a14:m>
                <a:r>
                  <a:rPr lang="en-GB" dirty="0" smtClean="0"/>
                  <a:t> plot both graphs:</a:t>
                </a:r>
              </a:p>
              <a:p>
                <a:pPr marL="1828800" lvl="3" indent="-457200">
                  <a:buFont typeface="+mj-lt"/>
                  <a:buAutoNum type="romanLcPeriod"/>
                </a:pPr>
                <a:r>
                  <a:rPr lang="en-GB" sz="2800" dirty="0" smtClean="0"/>
                  <a:t> </a:t>
                </a:r>
                <a14:m>
                  <m:oMath xmlns:m="http://schemas.openxmlformats.org/officeDocument/2006/math"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8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GB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GB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p>
                          <m:sSupPr>
                            <m:ctrlPr>
                              <a:rPr lang="en-GB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rad>
                  </m:oMath>
                </a14:m>
                <a:endParaRPr lang="en-GB" sz="2800" dirty="0" smtClean="0"/>
              </a:p>
              <a:p>
                <a:pPr marL="1828800" lvl="3" indent="-457200">
                  <a:buFont typeface="+mj-lt"/>
                  <a:buAutoNum type="romanLcPeriod"/>
                </a:pPr>
                <a:r>
                  <a:rPr lang="en-GB" sz="2800" dirty="0" smtClean="0"/>
                  <a:t> </a:t>
                </a:r>
                <a14:m>
                  <m:oMath xmlns:m="http://schemas.openxmlformats.org/officeDocument/2006/math">
                    <m:r>
                      <a:rPr lang="en-GB" sz="280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80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2800" dirty="0" smtClean="0">
                  <a:solidFill>
                    <a:schemeClr val="accent5"/>
                  </a:solidFill>
                </a:endParaRPr>
              </a:p>
              <a:p>
                <a:pPr marL="1828800" lvl="3" indent="-457200">
                  <a:buFont typeface="+mj-lt"/>
                  <a:buAutoNum type="romanLcPeriod"/>
                </a:pPr>
                <a:endParaRPr lang="en-GB" dirty="0" smtClean="0"/>
              </a:p>
              <a:p>
                <a:pPr marL="514350" indent="-514350">
                  <a:spcBef>
                    <a:spcPts val="0"/>
                  </a:spcBef>
                  <a:spcAft>
                    <a:spcPts val="600"/>
                  </a:spcAft>
                  <a:buAutoNum type="alphaLcParenR" startAt="2"/>
                </a:pPr>
                <a:r>
                  <a:rPr lang="en-GB" dirty="0" smtClean="0"/>
                  <a:t>From your plots estimate the root of the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dirty="0"/>
                  <a:t> </a:t>
                </a:r>
                <a:r>
                  <a:rPr lang="en-GB" dirty="0" smtClean="0"/>
                  <a:t>     function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dirty="0" smtClean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GB" dirty="0"/>
              </a:p>
              <a:p>
                <a:pPr marL="514350" indent="-514350">
                  <a:spcBef>
                    <a:spcPts val="0"/>
                  </a:spcBef>
                  <a:buAutoNum type="alphaLcParenR" startAt="3"/>
                </a:pPr>
                <a:r>
                  <a:rPr lang="en-GB" dirty="0" smtClean="0"/>
                  <a:t>Can you e</a:t>
                </a:r>
                <a:r>
                  <a:rPr lang="en-GB" dirty="0" smtClean="0"/>
                  <a:t>xplain why the intersection of these two plots finds the root?</a:t>
                </a:r>
                <a:endParaRPr lang="en-GB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6917576" cy="4486275"/>
              </a:xfrm>
              <a:blipFill>
                <a:blip r:embed="rId2"/>
                <a:stretch>
                  <a:fillRect l="-1852" t="-2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38" y="2186252"/>
            <a:ext cx="4581892" cy="454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3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Formulae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688515" cy="4486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endParaRPr lang="en-GB" dirty="0" smtClean="0"/>
          </a:p>
          <a:p>
            <a:pPr marL="457200" lvl="1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990600" y="1843088"/>
                <a:ext cx="9109364" cy="44862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GB" dirty="0" smtClean="0"/>
                  <a:t>a) Take the highest power of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 smtClean="0"/>
                  <a:t> and make that the subject for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dirty="0"/>
                  <a:t> </a:t>
                </a:r>
                <a:r>
                  <a:rPr lang="en-GB" dirty="0" smtClean="0"/>
                  <a:t>      			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GB" dirty="0" smtClean="0"/>
                  <a:t>b)  Make the highest power of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smtClean="0"/>
                  <a:t>a single power to give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GB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GB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rad>
                    </m:oMath>
                  </m:oMathPara>
                </a14:m>
                <a:endParaRPr lang="en-GB" dirty="0" smtClean="0">
                  <a:solidFill>
                    <a:schemeClr val="accent5"/>
                  </a:solidFill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GB" dirty="0" smtClean="0"/>
                  <a:t>c) If we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dirty="0" smtClean="0"/>
                  <a:t> to be an initial guess of the root we can</a:t>
                </a:r>
              </a:p>
              <a:p>
                <a:pPr marL="0" indent="0"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en-GB" dirty="0" smtClean="0"/>
                  <a:t>    use this </a:t>
                </a:r>
                <a:r>
                  <a:rPr lang="en-GB" dirty="0" smtClean="0"/>
                  <a:t>formula </a:t>
                </a:r>
                <a:r>
                  <a:rPr lang="en-GB" dirty="0" smtClean="0"/>
                  <a:t>to make an improved guess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 smtClean="0"/>
                  <a:t>.</a:t>
                </a:r>
                <a:endParaRPr lang="en-GB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GB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GB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rad>
                    </m:oMath>
                  </m:oMathPara>
                </a14:m>
                <a:endParaRPr lang="en-GB" dirty="0" smtClean="0"/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843088"/>
                <a:ext cx="9109364" cy="4486275"/>
              </a:xfrm>
              <a:prstGeom prst="rect">
                <a:avLst/>
              </a:prstGeom>
              <a:blipFill>
                <a:blip r:embed="rId2"/>
                <a:stretch>
                  <a:fillRect l="-1406" t="-2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76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Formulae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688515" cy="4486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endParaRPr lang="en-GB" dirty="0" smtClean="0"/>
          </a:p>
          <a:p>
            <a:pPr marL="457200" lvl="1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990600" y="1843088"/>
                <a:ext cx="8219902" cy="44862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spcBef>
                    <a:spcPts val="1200"/>
                  </a:spcBef>
                  <a:spcAft>
                    <a:spcPts val="1200"/>
                  </a:spcAft>
                  <a:buAutoNum type="alphaLcParenR" startAt="4"/>
                </a:pPr>
                <a:r>
                  <a:rPr lang="en-GB" dirty="0" smtClean="0"/>
                  <a:t>Copy and complete the table for improved guesses </a:t>
                </a:r>
                <a:r>
                  <a:rPr lang="en-GB" dirty="0" smtClean="0"/>
                  <a:t>as </a:t>
                </a:r>
                <a:r>
                  <a:rPr lang="en-GB" dirty="0" smtClean="0"/>
                  <a:t>far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dirty="0" smtClean="0"/>
                  <a:t>.</a:t>
                </a:r>
                <a:endParaRPr lang="en-GB" dirty="0"/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GB" dirty="0" smtClean="0"/>
                  <a:t>e) </a:t>
                </a:r>
                <a:r>
                  <a:rPr lang="en-GB" dirty="0" smtClean="0"/>
                  <a:t>  Draw </a:t>
                </a:r>
                <a:r>
                  <a:rPr lang="en-GB" dirty="0" smtClean="0"/>
                  <a:t>this sequence onto your graph.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GB" dirty="0"/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GB" dirty="0" smtClean="0"/>
                  <a:t>f)  </a:t>
                </a:r>
                <a:r>
                  <a:rPr lang="en-GB" dirty="0" smtClean="0"/>
                  <a:t>  Where </a:t>
                </a:r>
                <a:r>
                  <a:rPr lang="en-GB" dirty="0" smtClean="0"/>
                  <a:t>is the value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dirty="0" smtClean="0"/>
                  <a:t>    </a:t>
                </a:r>
                <a:r>
                  <a:rPr lang="en-GB" dirty="0" smtClean="0"/>
                  <a:t>   </a:t>
                </a:r>
                <a:r>
                  <a:rPr lang="en-GB" dirty="0" smtClean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 smtClean="0"/>
                  <a:t> headed?</a:t>
                </a:r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843088"/>
                <a:ext cx="8219902" cy="4486275"/>
              </a:xfrm>
              <a:prstGeom prst="rect">
                <a:avLst/>
              </a:prstGeom>
              <a:blipFill>
                <a:blip r:embed="rId2"/>
                <a:stretch>
                  <a:fillRect l="-1558" t="-2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599" y="3845742"/>
            <a:ext cx="2295092" cy="23804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259" y="2851786"/>
            <a:ext cx="4144455" cy="325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6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688515" cy="4486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endParaRPr lang="en-GB" dirty="0" smtClean="0"/>
          </a:p>
          <a:p>
            <a:pPr marL="457200" lvl="1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990600" y="1843088"/>
                <a:ext cx="9458498" cy="44862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spcBef>
                    <a:spcPts val="1200"/>
                  </a:spcBef>
                  <a:spcAft>
                    <a:spcPts val="1200"/>
                  </a:spcAft>
                  <a:buAutoNum type="alphaLcParenR"/>
                </a:pPr>
                <a:r>
                  <a:rPr lang="en-GB" dirty="0" smtClean="0"/>
                  <a:t>Functions can be rearranged to make iterative root finding formulae.</a:t>
                </a:r>
              </a:p>
              <a:p>
                <a:pPr marL="514350" indent="-514350">
                  <a:spcBef>
                    <a:spcPts val="1200"/>
                  </a:spcBef>
                  <a:spcAft>
                    <a:spcPts val="1200"/>
                  </a:spcAft>
                  <a:buAutoNum type="alphaLcParenR"/>
                </a:pPr>
                <a:r>
                  <a:rPr lang="en-GB" dirty="0" smtClean="0"/>
                  <a:t>The sequence of guesses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 smtClean="0"/>
                  <a:t> may:</a:t>
                </a:r>
              </a:p>
              <a:p>
                <a:pPr marL="971550" lvl="1" indent="-514350">
                  <a:spcBef>
                    <a:spcPts val="1200"/>
                  </a:spcBef>
                  <a:spcAft>
                    <a:spcPts val="1200"/>
                  </a:spcAft>
                  <a:buFont typeface="+mj-lt"/>
                  <a:buAutoNum type="romanLcPeriod"/>
                </a:pPr>
                <a:r>
                  <a:rPr lang="en-GB" dirty="0" smtClean="0"/>
                  <a:t>make a </a:t>
                </a:r>
                <a:r>
                  <a:rPr lang="en-GB" i="1" dirty="0" smtClean="0">
                    <a:solidFill>
                      <a:srgbClr val="0070C0"/>
                    </a:solidFill>
                  </a:rPr>
                  <a:t>staircase</a:t>
                </a:r>
                <a:r>
                  <a:rPr lang="en-GB" dirty="0" smtClean="0"/>
                  <a:t> pattern until a root is found;</a:t>
                </a:r>
              </a:p>
              <a:p>
                <a:pPr marL="971550" lvl="1" indent="-514350">
                  <a:spcBef>
                    <a:spcPts val="1200"/>
                  </a:spcBef>
                  <a:spcAft>
                    <a:spcPts val="1200"/>
                  </a:spcAft>
                  <a:buFont typeface="+mj-lt"/>
                  <a:buAutoNum type="romanLcPeriod"/>
                </a:pPr>
                <a:r>
                  <a:rPr lang="en-GB" dirty="0" smtClean="0"/>
                  <a:t>make a </a:t>
                </a:r>
                <a:r>
                  <a:rPr lang="en-GB" i="1" smtClean="0">
                    <a:solidFill>
                      <a:srgbClr val="0070C0"/>
                    </a:solidFill>
                  </a:rPr>
                  <a:t>cobweb</a:t>
                </a:r>
                <a:r>
                  <a:rPr lang="en-GB" smtClean="0"/>
                  <a:t> </a:t>
                </a:r>
                <a:r>
                  <a:rPr lang="en-GB"/>
                  <a:t>pattern (spiral) until </a:t>
                </a:r>
                <a:r>
                  <a:rPr lang="en-GB" dirty="0" smtClean="0"/>
                  <a:t>a root is found;</a:t>
                </a:r>
              </a:p>
              <a:p>
                <a:pPr marL="971550" lvl="1" indent="-514350">
                  <a:spcBef>
                    <a:spcPts val="1200"/>
                  </a:spcBef>
                  <a:spcAft>
                    <a:spcPts val="1200"/>
                  </a:spcAft>
                  <a:buFont typeface="+mj-lt"/>
                  <a:buAutoNum type="romanLcPeriod"/>
                </a:pPr>
                <a:r>
                  <a:rPr lang="en-GB" dirty="0" smtClean="0"/>
                  <a:t>run away and never find a root.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endParaRPr lang="en-GB" dirty="0" smtClean="0"/>
              </a:p>
              <a:p>
                <a:pPr marL="514350" indent="-514350">
                  <a:spcBef>
                    <a:spcPts val="1200"/>
                  </a:spcBef>
                  <a:spcAft>
                    <a:spcPts val="1200"/>
                  </a:spcAft>
                  <a:buAutoNum type="alphaLcParenR"/>
                </a:pPr>
                <a:endParaRPr lang="en-GB" dirty="0" smtClean="0"/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843088"/>
                <a:ext cx="9458498" cy="4486275"/>
              </a:xfrm>
              <a:prstGeom prst="rect">
                <a:avLst/>
              </a:prstGeom>
              <a:blipFill>
                <a:blip r:embed="rId2"/>
                <a:stretch>
                  <a:fillRect l="-1354" t="-2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29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4D47-C94F-4344-BAD7-D10AB10A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46" y="24278"/>
            <a:ext cx="11040533" cy="640080"/>
          </a:xfrm>
        </p:spPr>
        <p:txBody>
          <a:bodyPr/>
          <a:lstStyle/>
          <a:p>
            <a:r>
              <a:rPr lang="en-US" sz="2800" u="sng" dirty="0">
                <a:solidFill>
                  <a:srgbClr val="002060"/>
                </a:solidFill>
              </a:rPr>
              <a:t>Introducing iteration – Independent Practice (2) </a:t>
            </a:r>
            <a:r>
              <a:rPr lang="en-US" sz="2800" u="sng" dirty="0" smtClean="0">
                <a:solidFill>
                  <a:srgbClr val="FF0000"/>
                </a:solidFill>
              </a:rPr>
              <a:t> 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2C56A-2B70-487B-90FC-239005B37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2250" y="5948586"/>
            <a:ext cx="2844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BA339A-6D3D-44B8-8849-258E989FA705}" type="slidenum">
              <a:rPr kumimoji="0" lang="en-GB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5399" y="686972"/>
          <a:ext cx="11569035" cy="593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6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1099869581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2448924094"/>
                    </a:ext>
                  </a:extLst>
                </a:gridCol>
              </a:tblGrid>
              <a:tr h="2900276"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820"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/>
              <p:nvPr/>
            </p:nvSpPr>
            <p:spPr>
              <a:xfrm>
                <a:off x="191094" y="3576095"/>
                <a:ext cx="3859585" cy="605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−7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−5</m:t>
                        </m:r>
                      </m:e>
                    </m:rad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3576095"/>
                <a:ext cx="3859585" cy="605935"/>
              </a:xfrm>
              <a:prstGeom prst="rect">
                <a:avLst/>
              </a:prstGeom>
              <a:blipFill>
                <a:blip r:embed="rId4"/>
                <a:stretch>
                  <a:fillRect l="-790" t="-3030" b="-141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/>
              <p:nvPr/>
            </p:nvSpPr>
            <p:spPr>
              <a:xfrm>
                <a:off x="7884498" y="3567007"/>
                <a:ext cx="3859585" cy="1113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/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6. </a:t>
                </a:r>
                <a:r>
                  <a:rPr lang="en-GB" sz="1600" dirty="0">
                    <a:solidFill>
                      <a:srgbClr val="002060"/>
                    </a:solidFill>
                  </a:rPr>
                  <a:t>Show that the equation </a:t>
                </a:r>
                <a:endParaRPr lang="en-US" sz="16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 fontAlgn="auto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−9=0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</a:rPr>
                  <a:t> </a:t>
                </a:r>
              </a:p>
              <a:p>
                <a:pPr fontAlgn="auto"/>
                <a:r>
                  <a:rPr lang="en-GB" sz="1600" dirty="0">
                    <a:solidFill>
                      <a:srgbClr val="002060"/>
                    </a:solidFill>
                  </a:rPr>
                  <a:t>can be rearranged to give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GB" sz="16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6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− 9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3567007"/>
                <a:ext cx="3859585" cy="1113831"/>
              </a:xfrm>
              <a:prstGeom prst="rect">
                <a:avLst/>
              </a:prstGeom>
              <a:blipFill>
                <a:blip r:embed="rId5"/>
                <a:stretch>
                  <a:fillRect l="-789" t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/>
              <p:nvPr/>
            </p:nvSpPr>
            <p:spPr>
              <a:xfrm>
                <a:off x="191094" y="701738"/>
                <a:ext cx="3936539" cy="721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 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701738"/>
                <a:ext cx="3936539" cy="721159"/>
              </a:xfrm>
              <a:prstGeom prst="rect">
                <a:avLst/>
              </a:prstGeom>
              <a:blipFill>
                <a:blip r:embed="rId6"/>
                <a:stretch>
                  <a:fillRect l="-774" t="-2542" b="-3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/>
              <p:nvPr/>
            </p:nvSpPr>
            <p:spPr>
              <a:xfrm>
                <a:off x="7884498" y="664358"/>
                <a:ext cx="3909936" cy="607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Show that the equation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+4</m:t>
                        </m:r>
                      </m:e>
                    </m:rad>
                  </m:oMath>
                </a14:m>
                <a:endParaRPr lang="en-GB" sz="1600" dirty="0">
                  <a:solidFill>
                    <a:srgbClr val="00206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664358"/>
                <a:ext cx="3909936" cy="607987"/>
              </a:xfrm>
              <a:prstGeom prst="rect">
                <a:avLst/>
              </a:prstGeom>
              <a:blipFill>
                <a:blip r:embed="rId7"/>
                <a:stretch>
                  <a:fillRect l="-779" t="-3000" b="-1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/>
              <p:nvPr/>
            </p:nvSpPr>
            <p:spPr>
              <a:xfrm>
                <a:off x="4033845" y="3564430"/>
                <a:ext cx="4124310" cy="10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/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5. </a:t>
                </a:r>
                <a:r>
                  <a:rPr lang="en-GB" sz="1600" dirty="0">
                    <a:solidFill>
                      <a:srgbClr val="002060"/>
                    </a:solidFill>
                  </a:rPr>
                  <a:t>Show that the equation </a:t>
                </a:r>
                <a:endParaRPr lang="en-US" sz="16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 fontAlgn="auto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−9=0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</a:rPr>
                  <a:t> </a:t>
                </a:r>
              </a:p>
              <a:p>
                <a:pPr fontAlgn="auto"/>
                <a:r>
                  <a:rPr lang="en-GB" sz="1600" dirty="0">
                    <a:solidFill>
                      <a:srgbClr val="002060"/>
                    </a:solidFill>
                  </a:rPr>
                  <a:t>can be rearranged to give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− 5</m:t>
                            </m:r>
                          </m:den>
                        </m:f>
                      </m:e>
                    </m:rad>
                  </m:oMath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845" y="3564430"/>
                <a:ext cx="4124310" cy="1085875"/>
              </a:xfrm>
              <a:prstGeom prst="rect">
                <a:avLst/>
              </a:prstGeom>
              <a:blipFill>
                <a:blip r:embed="rId8"/>
                <a:stretch>
                  <a:fillRect l="-888" t="-16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/>
              <p:nvPr/>
            </p:nvSpPr>
            <p:spPr>
              <a:xfrm>
                <a:off x="4084984" y="686972"/>
                <a:ext cx="3854724" cy="721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−3=0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GB" sz="1600" i="1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984" y="686972"/>
                <a:ext cx="3854724" cy="721159"/>
              </a:xfrm>
              <a:prstGeom prst="rect">
                <a:avLst/>
              </a:prstGeom>
              <a:blipFill>
                <a:blip r:embed="rId9"/>
                <a:stretch>
                  <a:fillRect l="-791" t="-2542" b="-3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56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4D47-C94F-4344-BAD7-D10AB10A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46" y="24278"/>
            <a:ext cx="11040533" cy="640080"/>
          </a:xfrm>
        </p:spPr>
        <p:txBody>
          <a:bodyPr/>
          <a:lstStyle/>
          <a:p>
            <a:r>
              <a:rPr lang="en-US" sz="2800" u="sng" dirty="0">
                <a:solidFill>
                  <a:srgbClr val="002060"/>
                </a:solidFill>
              </a:rPr>
              <a:t>Introducing iteration – Independent Practice (2) </a:t>
            </a:r>
            <a:r>
              <a:rPr lang="en-US" sz="2800" u="sng" dirty="0" smtClean="0">
                <a:solidFill>
                  <a:srgbClr val="FF0000"/>
                </a:solidFill>
              </a:rPr>
              <a:t> 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2C56A-2B70-487B-90FC-239005B37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2250" y="5948586"/>
            <a:ext cx="2844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BA339A-6D3D-44B8-8849-258E989FA705}" type="slidenum">
              <a:rPr kumimoji="0" lang="en-GB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5399" y="686972"/>
          <a:ext cx="11569035" cy="593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6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1099869581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2448924094"/>
                    </a:ext>
                  </a:extLst>
                </a:gridCol>
              </a:tblGrid>
              <a:tr h="2900276"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820"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/>
              <p:nvPr/>
            </p:nvSpPr>
            <p:spPr>
              <a:xfrm>
                <a:off x="191094" y="3576095"/>
                <a:ext cx="3859585" cy="605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−7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−5</m:t>
                        </m:r>
                      </m:e>
                    </m:rad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3576095"/>
                <a:ext cx="3859585" cy="605935"/>
              </a:xfrm>
              <a:prstGeom prst="rect">
                <a:avLst/>
              </a:prstGeom>
              <a:blipFill>
                <a:blip r:embed="rId4"/>
                <a:stretch>
                  <a:fillRect l="-790" t="-3030" b="-141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/>
              <p:nvPr/>
            </p:nvSpPr>
            <p:spPr>
              <a:xfrm>
                <a:off x="7884498" y="3567007"/>
                <a:ext cx="3859585" cy="1113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/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6. </a:t>
                </a:r>
                <a:r>
                  <a:rPr lang="en-GB" sz="1600" dirty="0">
                    <a:solidFill>
                      <a:srgbClr val="002060"/>
                    </a:solidFill>
                  </a:rPr>
                  <a:t>Show that the equation </a:t>
                </a:r>
                <a:endParaRPr lang="en-US" sz="16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 fontAlgn="auto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−9=0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</a:rPr>
                  <a:t> </a:t>
                </a:r>
              </a:p>
              <a:p>
                <a:pPr fontAlgn="auto"/>
                <a:r>
                  <a:rPr lang="en-GB" sz="1600" dirty="0">
                    <a:solidFill>
                      <a:srgbClr val="002060"/>
                    </a:solidFill>
                  </a:rPr>
                  <a:t>can be rearranged to give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GB" sz="16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6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− 9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3567007"/>
                <a:ext cx="3859585" cy="1113831"/>
              </a:xfrm>
              <a:prstGeom prst="rect">
                <a:avLst/>
              </a:prstGeom>
              <a:blipFill>
                <a:blip r:embed="rId5"/>
                <a:stretch>
                  <a:fillRect l="-789" t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/>
              <p:nvPr/>
            </p:nvSpPr>
            <p:spPr>
              <a:xfrm>
                <a:off x="191094" y="701738"/>
                <a:ext cx="3936539" cy="721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 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701738"/>
                <a:ext cx="3936539" cy="721159"/>
              </a:xfrm>
              <a:prstGeom prst="rect">
                <a:avLst/>
              </a:prstGeom>
              <a:blipFill>
                <a:blip r:embed="rId6"/>
                <a:stretch>
                  <a:fillRect l="-774" t="-2542" b="-3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/>
              <p:nvPr/>
            </p:nvSpPr>
            <p:spPr>
              <a:xfrm>
                <a:off x="7884498" y="664358"/>
                <a:ext cx="3909936" cy="607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Show that the equation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+4</m:t>
                        </m:r>
                      </m:e>
                    </m:rad>
                  </m:oMath>
                </a14:m>
                <a:endParaRPr lang="en-GB" sz="1600" dirty="0">
                  <a:solidFill>
                    <a:srgbClr val="00206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664358"/>
                <a:ext cx="3909936" cy="607987"/>
              </a:xfrm>
              <a:prstGeom prst="rect">
                <a:avLst/>
              </a:prstGeom>
              <a:blipFill>
                <a:blip r:embed="rId7"/>
                <a:stretch>
                  <a:fillRect l="-779" t="-3000" b="-1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/>
              <p:nvPr/>
            </p:nvSpPr>
            <p:spPr>
              <a:xfrm>
                <a:off x="4033845" y="3564430"/>
                <a:ext cx="4124310" cy="10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/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5. </a:t>
                </a:r>
                <a:r>
                  <a:rPr lang="en-GB" sz="1600" dirty="0">
                    <a:solidFill>
                      <a:srgbClr val="002060"/>
                    </a:solidFill>
                  </a:rPr>
                  <a:t>Show that the equation </a:t>
                </a:r>
                <a:endParaRPr lang="en-US" sz="16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 fontAlgn="auto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−9=0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</a:rPr>
                  <a:t> </a:t>
                </a:r>
              </a:p>
              <a:p>
                <a:pPr fontAlgn="auto"/>
                <a:r>
                  <a:rPr lang="en-GB" sz="1600" dirty="0">
                    <a:solidFill>
                      <a:srgbClr val="002060"/>
                    </a:solidFill>
                  </a:rPr>
                  <a:t>can be rearranged to give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− 5</m:t>
                            </m:r>
                          </m:den>
                        </m:f>
                      </m:e>
                    </m:rad>
                  </m:oMath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845" y="3564430"/>
                <a:ext cx="4124310" cy="1085875"/>
              </a:xfrm>
              <a:prstGeom prst="rect">
                <a:avLst/>
              </a:prstGeom>
              <a:blipFill>
                <a:blip r:embed="rId8"/>
                <a:stretch>
                  <a:fillRect l="-888" t="-16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/>
              <p:nvPr/>
            </p:nvSpPr>
            <p:spPr>
              <a:xfrm>
                <a:off x="4084984" y="686972"/>
                <a:ext cx="3854724" cy="721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−3=0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GB" sz="1600" i="1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984" y="686972"/>
                <a:ext cx="3854724" cy="721159"/>
              </a:xfrm>
              <a:prstGeom prst="rect">
                <a:avLst/>
              </a:prstGeom>
              <a:blipFill>
                <a:blip r:embed="rId9"/>
                <a:stretch>
                  <a:fillRect l="-791" t="-2542" b="-3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842CEF-B59D-4329-B6E5-5F7644DF6E80}"/>
                  </a:ext>
                </a:extLst>
              </p:cNvPr>
              <p:cNvSpPr txBox="1"/>
              <p:nvPr/>
            </p:nvSpPr>
            <p:spPr>
              <a:xfrm>
                <a:off x="855676" y="1480783"/>
                <a:ext cx="2583809" cy="208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842CEF-B59D-4329-B6E5-5F7644DF6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76" y="1480783"/>
                <a:ext cx="2583809" cy="20836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71A519-5578-430C-BB1C-6ADADEA8A472}"/>
                  </a:ext>
                </a:extLst>
              </p:cNvPr>
              <p:cNvSpPr txBox="1"/>
              <p:nvPr/>
            </p:nvSpPr>
            <p:spPr>
              <a:xfrm>
                <a:off x="4804095" y="1477448"/>
                <a:ext cx="2583809" cy="208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=3</m:t>
                      </m:r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=3−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71A519-5578-430C-BB1C-6ADADEA8A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095" y="1477448"/>
                <a:ext cx="2583809" cy="208698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37BC7A-6263-4B31-B6C2-78DC3D86129A}"/>
                  </a:ext>
                </a:extLst>
              </p:cNvPr>
              <p:cNvSpPr txBox="1"/>
              <p:nvPr/>
            </p:nvSpPr>
            <p:spPr>
              <a:xfrm>
                <a:off x="8805158" y="1600214"/>
                <a:ext cx="2390862" cy="1618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GB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+4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+4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+4</m:t>
                          </m:r>
                        </m:e>
                      </m:rad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+4</m:t>
                          </m:r>
                        </m:e>
                      </m:rad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37BC7A-6263-4B31-B6C2-78DC3D861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158" y="1600214"/>
                <a:ext cx="2390862" cy="161877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56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4D47-C94F-4344-BAD7-D10AB10A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46" y="24278"/>
            <a:ext cx="11040533" cy="640080"/>
          </a:xfrm>
        </p:spPr>
        <p:txBody>
          <a:bodyPr/>
          <a:lstStyle/>
          <a:p>
            <a:r>
              <a:rPr lang="en-US" sz="2800" u="sng" dirty="0">
                <a:solidFill>
                  <a:srgbClr val="002060"/>
                </a:solidFill>
              </a:rPr>
              <a:t>Introducing iteration – Independent Practice (2) – </a:t>
            </a:r>
            <a:r>
              <a:rPr lang="en-US" sz="2800" u="sng" dirty="0">
                <a:solidFill>
                  <a:srgbClr val="FF0000"/>
                </a:solidFill>
              </a:rPr>
              <a:t>ANSWERS 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2C56A-2B70-487B-90FC-239005B37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2250" y="5948586"/>
            <a:ext cx="2844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BA339A-6D3D-44B8-8849-258E989FA705}" type="slidenum">
              <a:rPr kumimoji="0" lang="en-GB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5399" y="686972"/>
          <a:ext cx="11569035" cy="593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6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1099869581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2448924094"/>
                    </a:ext>
                  </a:extLst>
                </a:gridCol>
              </a:tblGrid>
              <a:tr h="2900276"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820"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/>
              <p:nvPr/>
            </p:nvSpPr>
            <p:spPr>
              <a:xfrm>
                <a:off x="191094" y="3576095"/>
                <a:ext cx="3859585" cy="605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−7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−5</m:t>
                        </m:r>
                      </m:e>
                    </m:rad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3576095"/>
                <a:ext cx="3859585" cy="605935"/>
              </a:xfrm>
              <a:prstGeom prst="rect">
                <a:avLst/>
              </a:prstGeom>
              <a:blipFill>
                <a:blip r:embed="rId4"/>
                <a:stretch>
                  <a:fillRect l="-790" t="-3030" b="-141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/>
              <p:nvPr/>
            </p:nvSpPr>
            <p:spPr>
              <a:xfrm>
                <a:off x="7884498" y="3567007"/>
                <a:ext cx="3859585" cy="1113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/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6. </a:t>
                </a:r>
                <a:r>
                  <a:rPr lang="en-GB" sz="1600" dirty="0">
                    <a:solidFill>
                      <a:srgbClr val="002060"/>
                    </a:solidFill>
                  </a:rPr>
                  <a:t>Show that the equation </a:t>
                </a:r>
                <a:endParaRPr lang="en-US" sz="16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 fontAlgn="auto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−9=0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</a:rPr>
                  <a:t> </a:t>
                </a:r>
              </a:p>
              <a:p>
                <a:pPr fontAlgn="auto"/>
                <a:r>
                  <a:rPr lang="en-GB" sz="1600" dirty="0">
                    <a:solidFill>
                      <a:srgbClr val="002060"/>
                    </a:solidFill>
                  </a:rPr>
                  <a:t>can be rearranged to give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GB" sz="16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6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− 9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3567007"/>
                <a:ext cx="3859585" cy="1113831"/>
              </a:xfrm>
              <a:prstGeom prst="rect">
                <a:avLst/>
              </a:prstGeom>
              <a:blipFill>
                <a:blip r:embed="rId5"/>
                <a:stretch>
                  <a:fillRect l="-789" t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/>
              <p:nvPr/>
            </p:nvSpPr>
            <p:spPr>
              <a:xfrm>
                <a:off x="191094" y="701738"/>
                <a:ext cx="3936539" cy="721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 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701738"/>
                <a:ext cx="3936539" cy="721159"/>
              </a:xfrm>
              <a:prstGeom prst="rect">
                <a:avLst/>
              </a:prstGeom>
              <a:blipFill>
                <a:blip r:embed="rId6"/>
                <a:stretch>
                  <a:fillRect l="-774" t="-2542" b="-3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/>
              <p:nvPr/>
            </p:nvSpPr>
            <p:spPr>
              <a:xfrm>
                <a:off x="7884498" y="664358"/>
                <a:ext cx="3909936" cy="607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Show that the equation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+4</m:t>
                        </m:r>
                      </m:e>
                    </m:rad>
                  </m:oMath>
                </a14:m>
                <a:endParaRPr lang="en-GB" sz="1600" dirty="0">
                  <a:solidFill>
                    <a:srgbClr val="00206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664358"/>
                <a:ext cx="3909936" cy="607987"/>
              </a:xfrm>
              <a:prstGeom prst="rect">
                <a:avLst/>
              </a:prstGeom>
              <a:blipFill>
                <a:blip r:embed="rId7"/>
                <a:stretch>
                  <a:fillRect l="-779" t="-3000" b="-1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/>
              <p:nvPr/>
            </p:nvSpPr>
            <p:spPr>
              <a:xfrm>
                <a:off x="4033845" y="3564430"/>
                <a:ext cx="4124310" cy="10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/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5. </a:t>
                </a:r>
                <a:r>
                  <a:rPr lang="en-GB" sz="1600" dirty="0">
                    <a:solidFill>
                      <a:srgbClr val="002060"/>
                    </a:solidFill>
                  </a:rPr>
                  <a:t>Show that the equation </a:t>
                </a:r>
                <a:endParaRPr lang="en-US" sz="16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 fontAlgn="auto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−9=0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</a:rPr>
                  <a:t> </a:t>
                </a:r>
              </a:p>
              <a:p>
                <a:pPr fontAlgn="auto"/>
                <a:r>
                  <a:rPr lang="en-GB" sz="1600" dirty="0">
                    <a:solidFill>
                      <a:srgbClr val="002060"/>
                    </a:solidFill>
                  </a:rPr>
                  <a:t>can be rearranged to give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− 5</m:t>
                            </m:r>
                          </m:den>
                        </m:f>
                      </m:e>
                    </m:rad>
                  </m:oMath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845" y="3564430"/>
                <a:ext cx="4124310" cy="1085875"/>
              </a:xfrm>
              <a:prstGeom prst="rect">
                <a:avLst/>
              </a:prstGeom>
              <a:blipFill>
                <a:blip r:embed="rId8"/>
                <a:stretch>
                  <a:fillRect l="-888" t="-16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/>
              <p:nvPr/>
            </p:nvSpPr>
            <p:spPr>
              <a:xfrm>
                <a:off x="4084984" y="686972"/>
                <a:ext cx="3854724" cy="721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−3=0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can be rearranged to give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GB" sz="16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GB" sz="16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6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GB" sz="1600" i="1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984" y="686972"/>
                <a:ext cx="3854724" cy="721159"/>
              </a:xfrm>
              <a:prstGeom prst="rect">
                <a:avLst/>
              </a:prstGeom>
              <a:blipFill>
                <a:blip r:embed="rId9"/>
                <a:stretch>
                  <a:fillRect l="-791" t="-2542" b="-3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842CEF-B59D-4329-B6E5-5F7644DF6E80}"/>
                  </a:ext>
                </a:extLst>
              </p:cNvPr>
              <p:cNvSpPr txBox="1"/>
              <p:nvPr/>
            </p:nvSpPr>
            <p:spPr>
              <a:xfrm>
                <a:off x="855676" y="1480783"/>
                <a:ext cx="2583809" cy="208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842CEF-B59D-4329-B6E5-5F7644DF6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76" y="1480783"/>
                <a:ext cx="2583809" cy="20836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71A519-5578-430C-BB1C-6ADADEA8A472}"/>
                  </a:ext>
                </a:extLst>
              </p:cNvPr>
              <p:cNvSpPr txBox="1"/>
              <p:nvPr/>
            </p:nvSpPr>
            <p:spPr>
              <a:xfrm>
                <a:off x="4804095" y="1477448"/>
                <a:ext cx="2583809" cy="208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=3</m:t>
                      </m:r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=3−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71A519-5578-430C-BB1C-6ADADEA8A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095" y="1477448"/>
                <a:ext cx="2583809" cy="208698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37BC7A-6263-4B31-B6C2-78DC3D86129A}"/>
                  </a:ext>
                </a:extLst>
              </p:cNvPr>
              <p:cNvSpPr txBox="1"/>
              <p:nvPr/>
            </p:nvSpPr>
            <p:spPr>
              <a:xfrm>
                <a:off x="8805158" y="1600214"/>
                <a:ext cx="2390862" cy="1618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GB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+4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+4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+4</m:t>
                          </m:r>
                        </m:e>
                      </m:rad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1600" b="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+4</m:t>
                          </m:r>
                        </m:e>
                      </m:rad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37BC7A-6263-4B31-B6C2-78DC3D861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158" y="1600214"/>
                <a:ext cx="2390862" cy="161877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11B496-8F31-4F05-832B-9C988A2C1814}"/>
                  </a:ext>
                </a:extLst>
              </p:cNvPr>
              <p:cNvSpPr txBox="1"/>
              <p:nvPr/>
            </p:nvSpPr>
            <p:spPr>
              <a:xfrm>
                <a:off x="925455" y="4652007"/>
                <a:ext cx="2390862" cy="12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−7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+5=</m:t>
                      </m:r>
                      <m:r>
                        <a:rPr lang="en-US" sz="1600" b="0" i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=7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−5</m:t>
                      </m:r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7</m:t>
                          </m:r>
                          <m:r>
                            <a:rPr lang="en-GB" sz="16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−5</m:t>
                          </m:r>
                        </m:e>
                      </m:rad>
                    </m:oMath>
                  </m:oMathPara>
                </a14:m>
                <a:endParaRPr lang="en-GB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11B496-8F31-4F05-832B-9C988A2C1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55" y="4652007"/>
                <a:ext cx="2390862" cy="122693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C6E1E4-D3D1-4DFF-ABDE-B5009E4745E0}"/>
                  </a:ext>
                </a:extLst>
              </p:cNvPr>
              <p:cNvSpPr txBox="1"/>
              <p:nvPr/>
            </p:nvSpPr>
            <p:spPr>
              <a:xfrm>
                <a:off x="4853609" y="4580600"/>
                <a:ext cx="2313361" cy="2042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−9=0</m:t>
                      </m:r>
                    </m:oMath>
                  </m:oMathPara>
                </a14:m>
                <a:endParaRPr lang="en-GB" sz="16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−9=0</m:t>
                      </m:r>
                    </m:oMath>
                  </m:oMathPara>
                </a14:m>
                <a:endParaRPr lang="en-US" sz="1600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16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den>
                      </m:f>
                    </m:oMath>
                  </m:oMathPara>
                </a14:m>
                <a:endParaRPr lang="en-GB" sz="16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C6E1E4-D3D1-4DFF-ABDE-B5009E474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609" y="4580600"/>
                <a:ext cx="2313361" cy="20423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42F8DC-628B-41FC-A5D6-7253D3ADC33A}"/>
                  </a:ext>
                </a:extLst>
              </p:cNvPr>
              <p:cNvSpPr txBox="1"/>
              <p:nvPr/>
            </p:nvSpPr>
            <p:spPr>
              <a:xfrm>
                <a:off x="8683157" y="4580600"/>
                <a:ext cx="2313361" cy="1806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−9=0</m:t>
                      </m:r>
                    </m:oMath>
                  </m:oMathPara>
                </a14:m>
                <a:endParaRPr lang="en-GB" sz="16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−9=5</m:t>
                      </m:r>
                      <m:sSup>
                        <m:sSup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−9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sSup>
                                <m:sSupPr>
                                  <m:ctrlPr>
                                    <a:rPr lang="en-GB" sz="1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  <m:r>
                                <a:rPr lang="en-US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42F8DC-628B-41FC-A5D6-7253D3ADC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157" y="4580600"/>
                <a:ext cx="2313361" cy="180639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4D47-C94F-4344-BAD7-D10AB10A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46" y="24278"/>
            <a:ext cx="11040533" cy="640080"/>
          </a:xfrm>
        </p:spPr>
        <p:txBody>
          <a:bodyPr/>
          <a:lstStyle/>
          <a:p>
            <a:r>
              <a:rPr lang="en-US" sz="2800" u="sng" dirty="0">
                <a:solidFill>
                  <a:srgbClr val="002060"/>
                </a:solidFill>
              </a:rPr>
              <a:t>Using iteration to find a solution – Independent </a:t>
            </a:r>
            <a:r>
              <a:rPr lang="en-US" sz="2800" u="sng" dirty="0" smtClean="0">
                <a:solidFill>
                  <a:srgbClr val="002060"/>
                </a:solidFill>
              </a:rPr>
              <a:t>Practice </a:t>
            </a:r>
            <a:endParaRPr lang="en-GB" sz="2800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2C56A-2B70-487B-90FC-239005B37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2250" y="5948586"/>
            <a:ext cx="2844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BA339A-6D3D-44B8-8849-258E989FA705}" type="slidenum">
              <a:rPr kumimoji="0" lang="en-GB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5399" y="686972"/>
          <a:ext cx="11569035" cy="593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6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1099869581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2448924094"/>
                    </a:ext>
                  </a:extLst>
                </a:gridCol>
              </a:tblGrid>
              <a:tr h="2900276"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820"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/>
              <p:nvPr/>
            </p:nvSpPr>
            <p:spPr>
              <a:xfrm>
                <a:off x="191094" y="3576095"/>
                <a:ext cx="3859585" cy="182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=−1,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use the iteration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three </a:t>
                </a:r>
                <a:r>
                  <a:rPr lang="en-US" sz="1600" dirty="0">
                    <a:solidFill>
                      <a:srgbClr val="002060"/>
                    </a:solidFill>
                    <a:effectLst/>
                    <a:cs typeface="Times New Roman" panose="02020603050405020304" pitchFamily="18" charset="0"/>
                  </a:rPr>
                  <a:t>times 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=7.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3576095"/>
                <a:ext cx="3859585" cy="1826013"/>
              </a:xfrm>
              <a:prstGeom prst="rect">
                <a:avLst/>
              </a:prstGeom>
              <a:blipFill>
                <a:blip r:embed="rId4"/>
                <a:stretch>
                  <a:fillRect l="-790" t="-1003" b="-36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/>
              <p:nvPr/>
            </p:nvSpPr>
            <p:spPr>
              <a:xfrm>
                <a:off x="7884498" y="3567007"/>
                <a:ext cx="3859585" cy="2122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fontAlgn="auto"/>
                <a:r>
                  <a:rPr lang="en-GB" sz="1400" dirty="0">
                    <a:solidFill>
                      <a:srgbClr val="002060"/>
                    </a:solidFill>
                  </a:rPr>
                  <a:t>6.</a:t>
                </a: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sz="1400" dirty="0">
                    <a:solidFill>
                      <a:srgbClr val="002060"/>
                    </a:solidFill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has a solution between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=3.</m:t>
                    </m:r>
                  </m:oMath>
                </a14:m>
                <a:endParaRPr lang="en-GB" sz="1400" dirty="0">
                  <a:solidFill>
                    <a:srgbClr val="002060"/>
                  </a:solidFill>
                </a:endParaRP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sz="1400" dirty="0">
                    <a:solidFill>
                      <a:srgbClr val="002060"/>
                    </a:solidFill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can be rearranged to give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g>
                      <m:e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lang="en-GB" sz="1400" dirty="0">
                  <a:solidFill>
                    <a:srgbClr val="002060"/>
                  </a:solidFill>
                </a:endParaRP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sz="1400" dirty="0">
                    <a:solidFill>
                      <a:srgbClr val="002060"/>
                    </a:solidFill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, use the iteration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g>
                      <m:e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r>
                              <a:rPr lang="en-US" sz="1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e>
                    </m:rad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three times to find an estimate for the solution of </a:t>
                </a:r>
                <a:endParaRPr lang="en-US" sz="14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0" fontAlgn="auto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sSup>
                        <m:sSupPr>
                          <m:ctrlP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GB" sz="14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3567007"/>
                <a:ext cx="3859585" cy="2122248"/>
              </a:xfrm>
              <a:prstGeom prst="rect">
                <a:avLst/>
              </a:prstGeom>
              <a:blipFill>
                <a:blip r:embed="rId5"/>
                <a:stretch>
                  <a:fillRect l="-473" t="-5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/>
              <p:nvPr/>
            </p:nvSpPr>
            <p:spPr>
              <a:xfrm>
                <a:off x="191094" y="701738"/>
                <a:ext cx="3936539" cy="1848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 Using,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=5+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=4.</m:t>
                    </m:r>
                  </m:oMath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Find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solidFill>
                      <a:srgbClr val="002060"/>
                    </a:solidFill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701738"/>
                <a:ext cx="3936539" cy="1848839"/>
              </a:xfrm>
              <a:prstGeom prst="rect">
                <a:avLst/>
              </a:prstGeom>
              <a:blipFill>
                <a:blip r:embed="rId6"/>
                <a:stretch>
                  <a:fillRect l="-774" t="-990" b="-2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/>
              <p:nvPr/>
            </p:nvSpPr>
            <p:spPr>
              <a:xfrm>
                <a:off x="7884498" y="664358"/>
                <a:ext cx="3909936" cy="164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=6,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use the iteration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e>
                      </m:rad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three</a:t>
                </a:r>
                <a:r>
                  <a:rPr lang="en-US" sz="1600" dirty="0">
                    <a:solidFill>
                      <a:srgbClr val="002060"/>
                    </a:solidFill>
                    <a:effectLst/>
                    <a:cs typeface="Times New Roman" panose="02020603050405020304" pitchFamily="18" charset="0"/>
                  </a:rPr>
                  <a:t> times 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+3=0.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664358"/>
                <a:ext cx="3909936" cy="1642694"/>
              </a:xfrm>
              <a:prstGeom prst="rect">
                <a:avLst/>
              </a:prstGeom>
              <a:blipFill>
                <a:blip r:embed="rId7"/>
                <a:stretch>
                  <a:fillRect l="-779" t="-1115" b="-29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/>
              <p:nvPr/>
            </p:nvSpPr>
            <p:spPr>
              <a:xfrm>
                <a:off x="4033845" y="3564430"/>
                <a:ext cx="3936539" cy="164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=2,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use the iteration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deg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e>
                      </m:rad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three</a:t>
                </a:r>
                <a:r>
                  <a:rPr lang="en-US" sz="1600" dirty="0">
                    <a:solidFill>
                      <a:srgbClr val="002060"/>
                    </a:solidFill>
                    <a:effectLst/>
                    <a:cs typeface="Times New Roman" panose="02020603050405020304" pitchFamily="18" charset="0"/>
                  </a:rPr>
                  <a:t> times 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+3=0.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845" y="3564430"/>
                <a:ext cx="3936539" cy="1642694"/>
              </a:xfrm>
              <a:prstGeom prst="rect">
                <a:avLst/>
              </a:prstGeom>
              <a:blipFill>
                <a:blip r:embed="rId8"/>
                <a:stretch>
                  <a:fillRect l="-930" t="-1115" b="-29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/>
              <p:nvPr/>
            </p:nvSpPr>
            <p:spPr>
              <a:xfrm>
                <a:off x="4084984" y="686972"/>
                <a:ext cx="3854724" cy="2073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Using,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=8+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=7.</m:t>
                    </m:r>
                  </m:oMath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Find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solidFill>
                      <a:srgbClr val="002060"/>
                    </a:solidFill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984" y="686972"/>
                <a:ext cx="3854724" cy="2073837"/>
              </a:xfrm>
              <a:prstGeom prst="rect">
                <a:avLst/>
              </a:prstGeom>
              <a:blipFill>
                <a:blip r:embed="rId9"/>
                <a:stretch>
                  <a:fillRect l="-791" t="-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44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4D47-C94F-4344-BAD7-D10AB10A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46" y="24278"/>
            <a:ext cx="11040533" cy="640080"/>
          </a:xfrm>
        </p:spPr>
        <p:txBody>
          <a:bodyPr/>
          <a:lstStyle/>
          <a:p>
            <a:r>
              <a:rPr lang="en-US" sz="2800" u="sng" dirty="0">
                <a:solidFill>
                  <a:srgbClr val="002060"/>
                </a:solidFill>
              </a:rPr>
              <a:t>Using iteration to find a solution – Independent </a:t>
            </a:r>
            <a:r>
              <a:rPr lang="en-US" sz="2800" u="sng" dirty="0" smtClean="0">
                <a:solidFill>
                  <a:srgbClr val="002060"/>
                </a:solidFill>
              </a:rPr>
              <a:t>Practice </a:t>
            </a:r>
            <a:endParaRPr lang="en-GB" sz="2800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2C56A-2B70-487B-90FC-239005B37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2250" y="5948586"/>
            <a:ext cx="2844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BA339A-6D3D-44B8-8849-258E989FA705}" type="slidenum">
              <a:rPr kumimoji="0" lang="en-GB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5399" y="686972"/>
          <a:ext cx="11569035" cy="593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6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1099869581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2448924094"/>
                    </a:ext>
                  </a:extLst>
                </a:gridCol>
              </a:tblGrid>
              <a:tr h="2900276"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820"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/>
              <p:nvPr/>
            </p:nvSpPr>
            <p:spPr>
              <a:xfrm>
                <a:off x="191094" y="3576095"/>
                <a:ext cx="3859585" cy="182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=−1,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use the iteration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three </a:t>
                </a:r>
                <a:r>
                  <a:rPr lang="en-US" sz="1600" dirty="0">
                    <a:solidFill>
                      <a:srgbClr val="002060"/>
                    </a:solidFill>
                    <a:effectLst/>
                    <a:cs typeface="Times New Roman" panose="02020603050405020304" pitchFamily="18" charset="0"/>
                  </a:rPr>
                  <a:t>times 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=7.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3576095"/>
                <a:ext cx="3859585" cy="1826013"/>
              </a:xfrm>
              <a:prstGeom prst="rect">
                <a:avLst/>
              </a:prstGeom>
              <a:blipFill>
                <a:blip r:embed="rId4"/>
                <a:stretch>
                  <a:fillRect l="-790" t="-1003" b="-36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/>
              <p:nvPr/>
            </p:nvSpPr>
            <p:spPr>
              <a:xfrm>
                <a:off x="7884498" y="3567007"/>
                <a:ext cx="3859585" cy="2122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fontAlgn="auto"/>
                <a:r>
                  <a:rPr lang="en-GB" sz="1400" dirty="0">
                    <a:solidFill>
                      <a:srgbClr val="002060"/>
                    </a:solidFill>
                  </a:rPr>
                  <a:t>6.</a:t>
                </a: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sz="1400" dirty="0">
                    <a:solidFill>
                      <a:srgbClr val="002060"/>
                    </a:solidFill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has a solution between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=3.</m:t>
                    </m:r>
                  </m:oMath>
                </a14:m>
                <a:endParaRPr lang="en-GB" sz="1400" dirty="0">
                  <a:solidFill>
                    <a:srgbClr val="002060"/>
                  </a:solidFill>
                </a:endParaRP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sz="1400" dirty="0">
                    <a:solidFill>
                      <a:srgbClr val="002060"/>
                    </a:solidFill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can be rearranged to give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g>
                      <m:e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lang="en-GB" sz="1400" dirty="0">
                  <a:solidFill>
                    <a:srgbClr val="002060"/>
                  </a:solidFill>
                </a:endParaRP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sz="1400" dirty="0">
                    <a:solidFill>
                      <a:srgbClr val="002060"/>
                    </a:solidFill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, use the iteration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g>
                      <m:e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r>
                              <a:rPr lang="en-US" sz="1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e>
                    </m:rad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three times to find an estimate for the solution of </a:t>
                </a:r>
                <a:endParaRPr lang="en-US" sz="14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0" fontAlgn="auto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sSup>
                        <m:sSupPr>
                          <m:ctrlP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GB" sz="14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3567007"/>
                <a:ext cx="3859585" cy="2122248"/>
              </a:xfrm>
              <a:prstGeom prst="rect">
                <a:avLst/>
              </a:prstGeom>
              <a:blipFill>
                <a:blip r:embed="rId5"/>
                <a:stretch>
                  <a:fillRect l="-473" t="-5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/>
              <p:nvPr/>
            </p:nvSpPr>
            <p:spPr>
              <a:xfrm>
                <a:off x="191094" y="701738"/>
                <a:ext cx="3936539" cy="1848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 Using,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=5+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=4.</m:t>
                    </m:r>
                  </m:oMath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Find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solidFill>
                      <a:srgbClr val="002060"/>
                    </a:solidFill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701738"/>
                <a:ext cx="3936539" cy="1848839"/>
              </a:xfrm>
              <a:prstGeom prst="rect">
                <a:avLst/>
              </a:prstGeom>
              <a:blipFill>
                <a:blip r:embed="rId6"/>
                <a:stretch>
                  <a:fillRect l="-774" t="-990" b="-2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/>
              <p:nvPr/>
            </p:nvSpPr>
            <p:spPr>
              <a:xfrm>
                <a:off x="7884498" y="664358"/>
                <a:ext cx="3909936" cy="164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=6,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use the iteration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e>
                      </m:rad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three</a:t>
                </a:r>
                <a:r>
                  <a:rPr lang="en-US" sz="1600" dirty="0">
                    <a:solidFill>
                      <a:srgbClr val="002060"/>
                    </a:solidFill>
                    <a:effectLst/>
                    <a:cs typeface="Times New Roman" panose="02020603050405020304" pitchFamily="18" charset="0"/>
                  </a:rPr>
                  <a:t> times 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+3=0.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664358"/>
                <a:ext cx="3909936" cy="1642694"/>
              </a:xfrm>
              <a:prstGeom prst="rect">
                <a:avLst/>
              </a:prstGeom>
              <a:blipFill>
                <a:blip r:embed="rId7"/>
                <a:stretch>
                  <a:fillRect l="-779" t="-1115" b="-29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/>
              <p:nvPr/>
            </p:nvSpPr>
            <p:spPr>
              <a:xfrm>
                <a:off x="4033845" y="3564430"/>
                <a:ext cx="3936539" cy="164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=2,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use the iteration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deg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e>
                      </m:rad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three</a:t>
                </a:r>
                <a:r>
                  <a:rPr lang="en-US" sz="1600" dirty="0">
                    <a:solidFill>
                      <a:srgbClr val="002060"/>
                    </a:solidFill>
                    <a:effectLst/>
                    <a:cs typeface="Times New Roman" panose="02020603050405020304" pitchFamily="18" charset="0"/>
                  </a:rPr>
                  <a:t> times 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+3=0.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845" y="3564430"/>
                <a:ext cx="3936539" cy="1642694"/>
              </a:xfrm>
              <a:prstGeom prst="rect">
                <a:avLst/>
              </a:prstGeom>
              <a:blipFill>
                <a:blip r:embed="rId8"/>
                <a:stretch>
                  <a:fillRect l="-930" t="-1115" b="-29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/>
              <p:nvPr/>
            </p:nvSpPr>
            <p:spPr>
              <a:xfrm>
                <a:off x="4084984" y="686972"/>
                <a:ext cx="3854724" cy="2073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Using,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=8+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=7.</m:t>
                    </m:r>
                  </m:oMath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Find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solidFill>
                      <a:srgbClr val="002060"/>
                    </a:solidFill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984" y="686972"/>
                <a:ext cx="3854724" cy="2073837"/>
              </a:xfrm>
              <a:prstGeom prst="rect">
                <a:avLst/>
              </a:prstGeom>
              <a:blipFill>
                <a:blip r:embed="rId9"/>
                <a:stretch>
                  <a:fillRect l="-791" t="-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2A4691-82EE-482B-81F9-529C881CFE62}"/>
                  </a:ext>
                </a:extLst>
              </p:cNvPr>
              <p:cNvSpPr txBox="1"/>
              <p:nvPr/>
            </p:nvSpPr>
            <p:spPr>
              <a:xfrm>
                <a:off x="1149166" y="2562242"/>
                <a:ext cx="2020394" cy="8309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=5.5625</m:t>
                      </m:r>
                    </m:oMath>
                  </m:oMathPara>
                </a14:m>
                <a:endParaRPr lang="en-US" sz="1600" b="0" i="1" dirty="0">
                  <a:solidFill>
                    <a:srgbClr val="FF000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600" i="1" dirty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=5.290872365</m:t>
                    </m:r>
                  </m:oMath>
                </a14:m>
                <a:endParaRPr lang="en-US" sz="16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600" i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=5.321505154</m:t>
                    </m:r>
                  </m:oMath>
                </a14:m>
                <a:endParaRPr lang="en-GB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2A4691-82EE-482B-81F9-529C881CF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166" y="2562242"/>
                <a:ext cx="2020394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D1F0D9-154C-463E-9DD0-D9B5C2E192F0}"/>
                  </a:ext>
                </a:extLst>
              </p:cNvPr>
              <p:cNvSpPr txBox="1"/>
              <p:nvPr/>
            </p:nvSpPr>
            <p:spPr>
              <a:xfrm>
                <a:off x="5011245" y="2569253"/>
                <a:ext cx="2020394" cy="8309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=8.032069971</m:t>
                    </m:r>
                  </m:oMath>
                </a14:m>
                <a:r>
                  <a:rPr lang="en-US" sz="1600" i="1" dirty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=8.021228057</m:t>
                    </m:r>
                  </m:oMath>
                </a14:m>
                <a:r>
                  <a:rPr lang="en-US" sz="1600" i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=8.021314252</m:t>
                    </m:r>
                  </m:oMath>
                </a14:m>
                <a:endParaRPr lang="en-GB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D1F0D9-154C-463E-9DD0-D9B5C2E19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245" y="2569253"/>
                <a:ext cx="2020394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C5BE6C-602A-4685-9C95-D55AC5DAD401}"/>
                  </a:ext>
                </a:extLst>
              </p:cNvPr>
              <p:cNvSpPr txBox="1"/>
              <p:nvPr/>
            </p:nvSpPr>
            <p:spPr>
              <a:xfrm>
                <a:off x="8913479" y="2543633"/>
                <a:ext cx="2020394" cy="8309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=6.291194552</m:t>
                    </m:r>
                  </m:oMath>
                </a14:m>
                <a:r>
                  <a:rPr lang="en-US" sz="1600" i="1" dirty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=6.495491171</m:t>
                    </m:r>
                  </m:oMath>
                </a14:m>
                <a:r>
                  <a:rPr lang="en-US" sz="1600" i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=6.63686017</m:t>
                    </m:r>
                  </m:oMath>
                </a14:m>
                <a:endParaRPr lang="en-GB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C5BE6C-602A-4685-9C95-D55AC5DAD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479" y="2543633"/>
                <a:ext cx="2020394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598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4D47-C94F-4344-BAD7-D10AB10A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46" y="24278"/>
            <a:ext cx="11040533" cy="640080"/>
          </a:xfrm>
        </p:spPr>
        <p:txBody>
          <a:bodyPr/>
          <a:lstStyle/>
          <a:p>
            <a:r>
              <a:rPr lang="en-US" sz="2800" u="sng" dirty="0">
                <a:solidFill>
                  <a:srgbClr val="002060"/>
                </a:solidFill>
              </a:rPr>
              <a:t>Using iteration to find a solution – Independent Practice – </a:t>
            </a:r>
            <a:r>
              <a:rPr lang="en-US" sz="2800" u="sng" dirty="0">
                <a:solidFill>
                  <a:srgbClr val="FF0000"/>
                </a:solidFill>
              </a:rPr>
              <a:t>ANSWERS</a:t>
            </a:r>
            <a:r>
              <a:rPr lang="en-US" sz="2800" u="sng" dirty="0">
                <a:solidFill>
                  <a:srgbClr val="002060"/>
                </a:solidFill>
              </a:rPr>
              <a:t> </a:t>
            </a:r>
            <a:endParaRPr lang="en-GB" sz="2800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2C56A-2B70-487B-90FC-239005B37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2250" y="5948586"/>
            <a:ext cx="2844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BA339A-6D3D-44B8-8849-258E989FA705}" type="slidenum">
              <a:rPr kumimoji="0" lang="en-GB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5399" y="686972"/>
          <a:ext cx="11569035" cy="593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6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1099869581"/>
                    </a:ext>
                  </a:extLst>
                </a:gridCol>
                <a:gridCol w="3856345">
                  <a:extLst>
                    <a:ext uri="{9D8B030D-6E8A-4147-A177-3AD203B41FA5}">
                      <a16:colId xmlns:a16="http://schemas.microsoft.com/office/drawing/2014/main" val="2448924094"/>
                    </a:ext>
                  </a:extLst>
                </a:gridCol>
              </a:tblGrid>
              <a:tr h="2900276"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820"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/>
              <p:nvPr/>
            </p:nvSpPr>
            <p:spPr>
              <a:xfrm>
                <a:off x="191094" y="3576095"/>
                <a:ext cx="3859585" cy="182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=−1,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use the iteration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three </a:t>
                </a:r>
                <a:r>
                  <a:rPr lang="en-US" sz="1600" dirty="0">
                    <a:solidFill>
                      <a:srgbClr val="002060"/>
                    </a:solidFill>
                    <a:effectLst/>
                    <a:cs typeface="Times New Roman" panose="02020603050405020304" pitchFamily="18" charset="0"/>
                  </a:rPr>
                  <a:t>times 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=7.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E8DA0B-AE27-4161-802B-0A77C5A07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3576095"/>
                <a:ext cx="3859585" cy="1826013"/>
              </a:xfrm>
              <a:prstGeom prst="rect">
                <a:avLst/>
              </a:prstGeom>
              <a:blipFill>
                <a:blip r:embed="rId4"/>
                <a:stretch>
                  <a:fillRect l="-790" t="-1003" b="-36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/>
              <p:nvPr/>
            </p:nvSpPr>
            <p:spPr>
              <a:xfrm>
                <a:off x="7884498" y="3567007"/>
                <a:ext cx="3859585" cy="2122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fontAlgn="auto"/>
                <a:r>
                  <a:rPr lang="en-GB" sz="1400" dirty="0">
                    <a:solidFill>
                      <a:srgbClr val="002060"/>
                    </a:solidFill>
                  </a:rPr>
                  <a:t>6.</a:t>
                </a: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sz="1400" dirty="0">
                    <a:solidFill>
                      <a:srgbClr val="002060"/>
                    </a:solidFill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has a solution between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=3.</m:t>
                    </m:r>
                  </m:oMath>
                </a14:m>
                <a:endParaRPr lang="en-GB" sz="1400" dirty="0">
                  <a:solidFill>
                    <a:srgbClr val="002060"/>
                  </a:solidFill>
                </a:endParaRP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sz="1400" dirty="0">
                    <a:solidFill>
                      <a:srgbClr val="002060"/>
                    </a:solidFill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can be rearranged to give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g>
                      <m:e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lang="en-GB" sz="1400" dirty="0">
                  <a:solidFill>
                    <a:srgbClr val="002060"/>
                  </a:solidFill>
                </a:endParaRP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sz="1400" dirty="0">
                    <a:solidFill>
                      <a:srgbClr val="002060"/>
                    </a:solidFill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, use the iteration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g>
                      <m:e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r>
                              <a:rPr lang="en-US" sz="1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e>
                    </m:rad>
                  </m:oMath>
                </a14:m>
                <a:r>
                  <a:rPr lang="en-GB" sz="1400" dirty="0">
                    <a:solidFill>
                      <a:srgbClr val="002060"/>
                    </a:solidFill>
                  </a:rPr>
                  <a:t> three times to find an estimate for the solution of </a:t>
                </a:r>
                <a:endParaRPr lang="en-US" sz="14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0" fontAlgn="auto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sSup>
                        <m:sSupPr>
                          <m:ctrlP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GB" sz="14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3567007"/>
                <a:ext cx="3859585" cy="2122248"/>
              </a:xfrm>
              <a:prstGeom prst="rect">
                <a:avLst/>
              </a:prstGeom>
              <a:blipFill>
                <a:blip r:embed="rId5"/>
                <a:stretch>
                  <a:fillRect l="-473" t="-5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/>
              <p:nvPr/>
            </p:nvSpPr>
            <p:spPr>
              <a:xfrm>
                <a:off x="191094" y="701738"/>
                <a:ext cx="3936539" cy="1848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 Using,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=5+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=4.</m:t>
                    </m:r>
                  </m:oMath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Find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solidFill>
                      <a:srgbClr val="002060"/>
                    </a:solidFill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88CAB2-B40B-4850-B7C3-E261C7BA7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4" y="701738"/>
                <a:ext cx="3936539" cy="1848839"/>
              </a:xfrm>
              <a:prstGeom prst="rect">
                <a:avLst/>
              </a:prstGeom>
              <a:blipFill>
                <a:blip r:embed="rId6"/>
                <a:stretch>
                  <a:fillRect l="-774" t="-990" b="-2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/>
              <p:nvPr/>
            </p:nvSpPr>
            <p:spPr>
              <a:xfrm>
                <a:off x="7884498" y="664358"/>
                <a:ext cx="3909936" cy="164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=6,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use the iteration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e>
                      </m:rad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three</a:t>
                </a:r>
                <a:r>
                  <a:rPr lang="en-US" sz="1600" dirty="0">
                    <a:solidFill>
                      <a:srgbClr val="002060"/>
                    </a:solidFill>
                    <a:effectLst/>
                    <a:cs typeface="Times New Roman" panose="02020603050405020304" pitchFamily="18" charset="0"/>
                  </a:rPr>
                  <a:t> times 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+3=0.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C93448-5D54-4302-B8EF-87886B30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98" y="664358"/>
                <a:ext cx="3909936" cy="1642694"/>
              </a:xfrm>
              <a:prstGeom prst="rect">
                <a:avLst/>
              </a:prstGeom>
              <a:blipFill>
                <a:blip r:embed="rId7"/>
                <a:stretch>
                  <a:fillRect l="-779" t="-1115" b="-29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/>
              <p:nvPr/>
            </p:nvSpPr>
            <p:spPr>
              <a:xfrm>
                <a:off x="4033845" y="3564430"/>
                <a:ext cx="3936539" cy="164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=2,</m:t>
                    </m:r>
                  </m:oMath>
                </a14:m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use the iteration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deg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e>
                      </m:rad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three</a:t>
                </a:r>
                <a:r>
                  <a:rPr lang="en-US" sz="1600" dirty="0">
                    <a:solidFill>
                      <a:srgbClr val="002060"/>
                    </a:solidFill>
                    <a:effectLst/>
                    <a:cs typeface="Times New Roman" panose="02020603050405020304" pitchFamily="18" charset="0"/>
                  </a:rPr>
                  <a:t> times 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+3=0.</m:t>
                    </m:r>
                  </m:oMath>
                </a14:m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214D34-8CD2-4DF4-9500-E95FFC1DF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845" y="3564430"/>
                <a:ext cx="3936539" cy="1642694"/>
              </a:xfrm>
              <a:prstGeom prst="rect">
                <a:avLst/>
              </a:prstGeom>
              <a:blipFill>
                <a:blip r:embed="rId8"/>
                <a:stretch>
                  <a:fillRect l="-930" t="-1115" b="-29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/>
              <p:nvPr/>
            </p:nvSpPr>
            <p:spPr>
              <a:xfrm>
                <a:off x="4084984" y="686972"/>
                <a:ext cx="3854724" cy="2073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Using,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=8+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160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=7.</m:t>
                    </m:r>
                  </m:oMath>
                </a14:m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16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Find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solidFill>
                      <a:srgbClr val="002060"/>
                    </a:solidFill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GB" sz="160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9EBE1-3B7D-4399-B5A8-45E91932D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984" y="686972"/>
                <a:ext cx="3854724" cy="2073837"/>
              </a:xfrm>
              <a:prstGeom prst="rect">
                <a:avLst/>
              </a:prstGeom>
              <a:blipFill>
                <a:blip r:embed="rId9"/>
                <a:stretch>
                  <a:fillRect l="-791" t="-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2A4691-82EE-482B-81F9-529C881CFE62}"/>
                  </a:ext>
                </a:extLst>
              </p:cNvPr>
              <p:cNvSpPr txBox="1"/>
              <p:nvPr/>
            </p:nvSpPr>
            <p:spPr>
              <a:xfrm>
                <a:off x="1149166" y="2562242"/>
                <a:ext cx="2020394" cy="8309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=5.5625</m:t>
                      </m:r>
                    </m:oMath>
                  </m:oMathPara>
                </a14:m>
                <a:endParaRPr lang="en-US" sz="1600" b="0" i="1" dirty="0">
                  <a:solidFill>
                    <a:srgbClr val="FF000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600" i="1" dirty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=5.290872365</m:t>
                    </m:r>
                  </m:oMath>
                </a14:m>
                <a:endParaRPr lang="en-US" sz="16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600" i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=5.321505154</m:t>
                    </m:r>
                  </m:oMath>
                </a14:m>
                <a:endParaRPr lang="en-GB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2A4691-82EE-482B-81F9-529C881CF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166" y="2562242"/>
                <a:ext cx="2020394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D1F0D9-154C-463E-9DD0-D9B5C2E192F0}"/>
                  </a:ext>
                </a:extLst>
              </p:cNvPr>
              <p:cNvSpPr txBox="1"/>
              <p:nvPr/>
            </p:nvSpPr>
            <p:spPr>
              <a:xfrm>
                <a:off x="5011245" y="2569253"/>
                <a:ext cx="2020394" cy="8309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=8.032069971</m:t>
                    </m:r>
                  </m:oMath>
                </a14:m>
                <a:r>
                  <a:rPr lang="en-US" sz="1600" i="1" dirty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=8.021228057</m:t>
                    </m:r>
                  </m:oMath>
                </a14:m>
                <a:r>
                  <a:rPr lang="en-US" sz="1600" i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=8.021314252</m:t>
                    </m:r>
                  </m:oMath>
                </a14:m>
                <a:endParaRPr lang="en-GB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D1F0D9-154C-463E-9DD0-D9B5C2E19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245" y="2569253"/>
                <a:ext cx="2020394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C5BE6C-602A-4685-9C95-D55AC5DAD401}"/>
                  </a:ext>
                </a:extLst>
              </p:cNvPr>
              <p:cNvSpPr txBox="1"/>
              <p:nvPr/>
            </p:nvSpPr>
            <p:spPr>
              <a:xfrm>
                <a:off x="8913479" y="2543633"/>
                <a:ext cx="2020394" cy="8309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=6.291194552</m:t>
                    </m:r>
                  </m:oMath>
                </a14:m>
                <a:r>
                  <a:rPr lang="en-US" sz="1600" i="1" dirty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=6.495491171</m:t>
                    </m:r>
                  </m:oMath>
                </a14:m>
                <a:r>
                  <a:rPr lang="en-US" sz="1600" i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=6.63686017</m:t>
                    </m:r>
                  </m:oMath>
                </a14:m>
                <a:endParaRPr lang="en-GB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C5BE6C-602A-4685-9C95-D55AC5DAD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479" y="2543633"/>
                <a:ext cx="2020394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C6E136-2D21-4746-A0B5-03820A2BB9FC}"/>
                  </a:ext>
                </a:extLst>
              </p:cNvPr>
              <p:cNvSpPr txBox="1"/>
              <p:nvPr/>
            </p:nvSpPr>
            <p:spPr>
              <a:xfrm>
                <a:off x="1110689" y="5469001"/>
                <a:ext cx="2020394" cy="8309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=−1.75</m:t>
                      </m:r>
                    </m:oMath>
                  </m:oMathPara>
                </a14:m>
                <a:endParaRPr lang="en-US" sz="1600" b="0" i="1" dirty="0">
                  <a:solidFill>
                    <a:srgbClr val="FF000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600" i="1" dirty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=−1.230769231</m:t>
                    </m:r>
                  </m:oMath>
                </a14:m>
                <a:r>
                  <a:rPr lang="en-US" sz="1600" i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=−1.508928571</m:t>
                    </m:r>
                  </m:oMath>
                </a14:m>
                <a:endParaRPr lang="en-GB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C6E136-2D21-4746-A0B5-03820A2BB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689" y="5469001"/>
                <a:ext cx="2020394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176ADF-129C-4C67-BBAF-452ABF86982D}"/>
                  </a:ext>
                </a:extLst>
              </p:cNvPr>
              <p:cNvSpPr txBox="1"/>
              <p:nvPr/>
            </p:nvSpPr>
            <p:spPr>
              <a:xfrm>
                <a:off x="5011245" y="5330713"/>
                <a:ext cx="2020394" cy="8309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=2.332221626</m:t>
                      </m:r>
                    </m:oMath>
                  </m:oMathPara>
                </a14:m>
                <a:endParaRPr lang="en-US" sz="1600" b="0" i="1" dirty="0">
                  <a:solidFill>
                    <a:srgbClr val="FF000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=2.565650608</m:t>
                      </m:r>
                    </m:oMath>
                  </m:oMathPara>
                </a14:m>
                <a:endParaRPr lang="en-US" sz="16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=2.720417198</m:t>
                      </m:r>
                    </m:oMath>
                  </m:oMathPara>
                </a14:m>
                <a:endParaRPr lang="en-GB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176ADF-129C-4C67-BBAF-452ABF869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245" y="5330713"/>
                <a:ext cx="2020394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53CA3FF-BDD7-41DD-A53F-8AAD5D82082E}"/>
              </a:ext>
            </a:extLst>
          </p:cNvPr>
          <p:cNvSpPr txBox="1"/>
          <p:nvPr/>
        </p:nvSpPr>
        <p:spPr>
          <a:xfrm>
            <a:off x="9196641" y="5711869"/>
            <a:ext cx="1641223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See solution on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2927695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4D47-C94F-4344-BAD7-D10AB10A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46" y="24278"/>
            <a:ext cx="11040533" cy="640080"/>
          </a:xfrm>
        </p:spPr>
        <p:txBody>
          <a:bodyPr/>
          <a:lstStyle/>
          <a:p>
            <a:r>
              <a:rPr lang="en-US" sz="2800" u="sng" dirty="0">
                <a:solidFill>
                  <a:srgbClr val="002060"/>
                </a:solidFill>
              </a:rPr>
              <a:t>Using iteration to find a solution – Independent Practice – </a:t>
            </a:r>
            <a:r>
              <a:rPr lang="en-US" sz="2800" u="sng" dirty="0">
                <a:solidFill>
                  <a:srgbClr val="FF0000"/>
                </a:solidFill>
              </a:rPr>
              <a:t>ANSWERS</a:t>
            </a:r>
            <a:r>
              <a:rPr lang="en-US" sz="2800" u="sng" dirty="0">
                <a:solidFill>
                  <a:srgbClr val="002060"/>
                </a:solidFill>
              </a:rPr>
              <a:t> </a:t>
            </a:r>
            <a:endParaRPr lang="en-GB" sz="2800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2C56A-2B70-487B-90FC-239005B37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2250" y="5948586"/>
            <a:ext cx="2844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BA339A-6D3D-44B8-8849-258E989FA705}" type="slidenum">
              <a:rPr kumimoji="0" lang="en-GB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225399" y="686972"/>
          <a:ext cx="11569035" cy="593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9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37096">
                <a:tc>
                  <a:txBody>
                    <a:bodyPr/>
                    <a:lstStyle/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  <a:p>
                      <a:endParaRPr lang="en-GB" sz="1600" b="0" dirty="0">
                        <a:ln w="25400">
                          <a:solidFill>
                            <a:schemeClr val="tx1"/>
                          </a:solidFill>
                        </a:ln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/>
              <p:nvPr/>
            </p:nvSpPr>
            <p:spPr>
              <a:xfrm>
                <a:off x="300850" y="790251"/>
                <a:ext cx="4816434" cy="325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fontAlgn="auto"/>
                <a:r>
                  <a:rPr lang="en-GB" dirty="0">
                    <a:solidFill>
                      <a:srgbClr val="002060"/>
                    </a:solidFill>
                  </a:rPr>
                  <a:t>6.</a:t>
                </a: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dirty="0">
                    <a:solidFill>
                      <a:srgbClr val="002060"/>
                    </a:solidFill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r>
                  <a:rPr lang="en-GB" dirty="0">
                    <a:solidFill>
                      <a:srgbClr val="002060"/>
                    </a:solidFill>
                  </a:rPr>
                  <a:t> has a solution between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=3.</m:t>
                    </m:r>
                  </m:oMath>
                </a14:m>
                <a:endParaRPr lang="en-GB" dirty="0">
                  <a:solidFill>
                    <a:srgbClr val="002060"/>
                  </a:solidFill>
                </a:endParaRPr>
              </a:p>
              <a:p>
                <a:pPr marL="342900" lvl="0" indent="-342900" fontAlgn="auto">
                  <a:buFont typeface="+mj-lt"/>
                  <a:buAutoNum type="alphaLcParenR"/>
                </a:pPr>
                <a:endParaRPr lang="en-GB" dirty="0">
                  <a:solidFill>
                    <a:srgbClr val="002060"/>
                  </a:solidFill>
                </a:endParaRP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dirty="0">
                    <a:solidFill>
                      <a:srgbClr val="002060"/>
                    </a:solidFill>
                  </a:rPr>
                  <a:t>Show that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r>
                  <a:rPr lang="en-GB" dirty="0">
                    <a:solidFill>
                      <a:srgbClr val="002060"/>
                    </a:solidFill>
                  </a:rPr>
                  <a:t> can be rearranged to give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g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lang="en-US" b="0" dirty="0">
                  <a:solidFill>
                    <a:srgbClr val="002060"/>
                  </a:solidFill>
                  <a:cs typeface="Times New Roman" panose="02020603050405020304" pitchFamily="18" charset="0"/>
                </a:endParaRPr>
              </a:p>
              <a:p>
                <a:pPr marL="342900" lvl="0" indent="-342900" fontAlgn="auto">
                  <a:buFont typeface="+mj-lt"/>
                  <a:buAutoNum type="alphaLcParenR"/>
                </a:pPr>
                <a:endParaRPr lang="en-GB" dirty="0">
                  <a:solidFill>
                    <a:srgbClr val="002060"/>
                  </a:solidFill>
                </a:endParaRPr>
              </a:p>
              <a:p>
                <a:pPr marL="342900" lvl="0" indent="-342900" fontAlgn="auto">
                  <a:buFont typeface="+mj-lt"/>
                  <a:buAutoNum type="alphaLcParenR"/>
                </a:pPr>
                <a:r>
                  <a:rPr lang="en-GB" dirty="0">
                    <a:solidFill>
                      <a:srgbClr val="002060"/>
                    </a:solidFill>
                  </a:rPr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>
                    <a:solidFill>
                      <a:srgbClr val="002060"/>
                    </a:solidFill>
                  </a:rPr>
                  <a:t>, use the iteration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g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e>
                    </m:rad>
                  </m:oMath>
                </a14:m>
                <a:r>
                  <a:rPr lang="en-GB" dirty="0">
                    <a:solidFill>
                      <a:srgbClr val="002060"/>
                    </a:solidFill>
                  </a:rPr>
                  <a:t> three times to find an estimate for the solution of </a:t>
                </a:r>
              </a:p>
              <a:p>
                <a:pPr lvl="0" fontAlgn="auto"/>
                <a:r>
                  <a:rPr lang="en-GB" dirty="0">
                    <a:solidFill>
                      <a:srgbClr val="002060"/>
                    </a:solidFill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endParaRPr lang="en-GB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DDB2DE-4816-4AEF-9087-301720D84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50" y="790251"/>
                <a:ext cx="4816434" cy="3256148"/>
              </a:xfrm>
              <a:prstGeom prst="rect">
                <a:avLst/>
              </a:prstGeom>
              <a:blipFill>
                <a:blip r:embed="rId4"/>
                <a:stretch>
                  <a:fillRect l="-1013" t="-11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3CA3FF-BDD7-41DD-A53F-8AAD5D82082E}"/>
                  </a:ext>
                </a:extLst>
              </p:cNvPr>
              <p:cNvSpPr txBox="1"/>
              <p:nvPr/>
            </p:nvSpPr>
            <p:spPr>
              <a:xfrm>
                <a:off x="5433496" y="963700"/>
                <a:ext cx="4071232" cy="520514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800" dirty="0">
                    <a:solidFill>
                      <a:srgbClr val="FF0000"/>
                    </a:solidFill>
                  </a:rPr>
                  <a:t>a)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−9(</m:t>
                    </m:r>
                    <m:sSup>
                      <m:sSup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=−15</m:t>
                    </m:r>
                  </m:oMath>
                </a14:m>
                <a:endParaRPr lang="en-GB" sz="18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    3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9(</m:t>
                      </m:r>
                      <m:sSup>
                        <m:sSup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+5=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sz="1800" dirty="0">
                  <a:solidFill>
                    <a:srgbClr val="FF0000"/>
                  </a:solidFill>
                </a:endParaRPr>
              </a:p>
              <a:p>
                <a:r>
                  <a:rPr lang="en-GB" sz="1800" dirty="0">
                    <a:solidFill>
                      <a:srgbClr val="FF0000"/>
                    </a:solidFill>
                  </a:rPr>
                  <a:t>A change of sign has occurred so there is a solution between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800" i="0" dirty="0">
                    <a:solidFill>
                      <a:srgbClr val="FF0000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GB" sz="1800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sz="1800" dirty="0">
                    <a:solidFill>
                      <a:srgbClr val="FF0000"/>
                    </a:solidFill>
                  </a:rPr>
                  <a:t>b) </a:t>
                </a:r>
                <a:endParaRPr lang="en-US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g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endParaRPr lang="en-GB" sz="18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g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GB" sz="1800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sz="1800" dirty="0">
                    <a:solidFill>
                      <a:srgbClr val="FF0000"/>
                    </a:solidFill>
                  </a:rPr>
                  <a:t>c)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=2.359611062</m:t>
                      </m:r>
                    </m:oMath>
                  </m:oMathPara>
                </a14:m>
                <a:endParaRPr lang="en-US" sz="1800" b="0" i="1" dirty="0">
                  <a:solidFill>
                    <a:srgbClr val="FF000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=2.591599671</m:t>
                      </m:r>
                    </m:oMath>
                  </m:oMathPara>
                </a14:m>
                <a:endParaRPr lang="en-US" sz="18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=2.728792368</m:t>
                      </m:r>
                    </m:oMath>
                  </m:oMathPara>
                </a14:m>
                <a:endParaRPr lang="en-GB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3CA3FF-BDD7-41DD-A53F-8AAD5D82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496" y="963700"/>
                <a:ext cx="4071232" cy="5205143"/>
              </a:xfrm>
              <a:prstGeom prst="rect">
                <a:avLst/>
              </a:prstGeom>
              <a:blipFill>
                <a:blip r:embed="rId5"/>
                <a:stretch>
                  <a:fillRect l="-1045" t="-46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051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Exercise 13.3 page 183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688515" cy="4486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endParaRPr lang="en-GB" dirty="0" smtClean="0"/>
          </a:p>
          <a:p>
            <a:pPr marL="457200" lvl="1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38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3473</Words>
  <Application>Microsoft Office PowerPoint</Application>
  <PresentationFormat>Widescreen</PresentationFormat>
  <Paragraphs>322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Office Theme</vt:lpstr>
      <vt:lpstr>Iterative Formulae </vt:lpstr>
      <vt:lpstr>Iterative Formulae </vt:lpstr>
      <vt:lpstr>Iterative Formulae </vt:lpstr>
      <vt:lpstr>Iterative Formulae </vt:lpstr>
      <vt:lpstr>Iterative Formulae </vt:lpstr>
      <vt:lpstr>Summary </vt:lpstr>
      <vt:lpstr>Introducing iteration – Independent Practice (2)  </vt:lpstr>
      <vt:lpstr>Introducing iteration – Independent Practice (2)  </vt:lpstr>
      <vt:lpstr>Introducing iteration – Independent Practice (2) – ANSWERS </vt:lpstr>
      <vt:lpstr>Using iteration to find a solution – Independent Practice </vt:lpstr>
      <vt:lpstr>Using iteration to find a solution – Independent Practice </vt:lpstr>
      <vt:lpstr>Using iteration to find a solution – Independent Practice – ANSWERS </vt:lpstr>
      <vt:lpstr>Using iteration to find a solution – Independent Practice – ANSWERS </vt:lpstr>
      <vt:lpstr>Exercise 13.3 page 183</vt:lpstr>
    </vt:vector>
  </TitlesOfParts>
  <Company>Newstead Wood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Dieter Beaven</dc:creator>
  <cp:lastModifiedBy>Dieter Beaven</cp:lastModifiedBy>
  <cp:revision>44</cp:revision>
  <dcterms:created xsi:type="dcterms:W3CDTF">2024-01-08T16:33:25Z</dcterms:created>
  <dcterms:modified xsi:type="dcterms:W3CDTF">2024-01-29T17:13:01Z</dcterms:modified>
</cp:coreProperties>
</file>