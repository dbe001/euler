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547" r:id="rId5"/>
    <p:sldId id="490" r:id="rId6"/>
    <p:sldId id="491" r:id="rId7"/>
    <p:sldId id="492" r:id="rId8"/>
    <p:sldId id="552" r:id="rId9"/>
    <p:sldId id="494" r:id="rId10"/>
    <p:sldId id="495" r:id="rId11"/>
    <p:sldId id="508" r:id="rId12"/>
    <p:sldId id="510" r:id="rId13"/>
    <p:sldId id="549" r:id="rId14"/>
    <p:sldId id="543" r:id="rId15"/>
    <p:sldId id="550" r:id="rId16"/>
    <p:sldId id="551" r:id="rId17"/>
    <p:sldId id="545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94DE43-8532-47A3-AEA4-536C7FACF463}" v="1" dt="2026-03-26T10:22:43.803"/>
    <p1510:client id="{9D11A792-5230-4AA5-8F0E-4D100E3A14AA}" v="6" dt="2026-03-27T09:43:20.8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70" d="100"/>
          <a:sy n="70" d="100"/>
        </p:scale>
        <p:origin x="1332" y="60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32C6039E-D0BB-4E5F-993B-FBBF68266147}"/>
    <pc:docChg chg="undo custSel addSld delSld modSld">
      <pc:chgData name="Dieter Beaven" userId="9bbdb69f-69d0-4759-aa9b-5c090a2da237" providerId="ADAL" clId="{32C6039E-D0BB-4E5F-993B-FBBF68266147}" dt="2026-03-27T09:43:26.431" v="12" actId="47"/>
      <pc:docMkLst>
        <pc:docMk/>
      </pc:docMkLst>
      <pc:sldChg chg="addSp delSp mod addAnim delAnim">
        <pc:chgData name="Dieter Beaven" userId="9bbdb69f-69d0-4759-aa9b-5c090a2da237" providerId="ADAL" clId="{32C6039E-D0BB-4E5F-993B-FBBF68266147}" dt="2026-03-27T09:43:03.775" v="1" actId="478"/>
        <pc:sldMkLst>
          <pc:docMk/>
          <pc:sldMk cId="3926451162" sldId="491"/>
        </pc:sldMkLst>
        <pc:spChg chg="add del">
          <ac:chgData name="Dieter Beaven" userId="9bbdb69f-69d0-4759-aa9b-5c090a2da237" providerId="ADAL" clId="{32C6039E-D0BB-4E5F-993B-FBBF68266147}" dt="2026-03-27T09:43:03.775" v="1" actId="478"/>
          <ac:spMkLst>
            <pc:docMk/>
            <pc:sldMk cId="3926451162" sldId="491"/>
            <ac:spMk id="22" creationId="{00000000-0000-0000-0000-000000000000}"/>
          </ac:spMkLst>
        </pc:spChg>
      </pc:sldChg>
      <pc:sldChg chg="addSp delSp del mod addAnim delAnim">
        <pc:chgData name="Dieter Beaven" userId="9bbdb69f-69d0-4759-aa9b-5c090a2da237" providerId="ADAL" clId="{32C6039E-D0BB-4E5F-993B-FBBF68266147}" dt="2026-03-27T09:43:26.431" v="12" actId="47"/>
        <pc:sldMkLst>
          <pc:docMk/>
          <pc:sldMk cId="2383758769" sldId="493"/>
        </pc:sldMkLst>
        <pc:spChg chg="add del">
          <ac:chgData name="Dieter Beaven" userId="9bbdb69f-69d0-4759-aa9b-5c090a2da237" providerId="ADAL" clId="{32C6039E-D0BB-4E5F-993B-FBBF68266147}" dt="2026-03-27T09:43:10.555" v="3" actId="478"/>
          <ac:spMkLst>
            <pc:docMk/>
            <pc:sldMk cId="2383758769" sldId="493"/>
            <ac:spMk id="8" creationId="{00000000-0000-0000-0000-000000000000}"/>
          </ac:spMkLst>
        </pc:spChg>
      </pc:sldChg>
      <pc:sldChg chg="addSp delSp modSp add mod delAnim modAnim">
        <pc:chgData name="Dieter Beaven" userId="9bbdb69f-69d0-4759-aa9b-5c090a2da237" providerId="ADAL" clId="{32C6039E-D0BB-4E5F-993B-FBBF68266147}" dt="2026-03-27T09:43:24.228" v="11" actId="14100"/>
        <pc:sldMkLst>
          <pc:docMk/>
          <pc:sldMk cId="3411213624" sldId="552"/>
        </pc:sldMkLst>
        <pc:spChg chg="mod">
          <ac:chgData name="Dieter Beaven" userId="9bbdb69f-69d0-4759-aa9b-5c090a2da237" providerId="ADAL" clId="{32C6039E-D0BB-4E5F-993B-FBBF68266147}" dt="2026-03-27T09:43:17.165" v="9" actId="20577"/>
          <ac:spMkLst>
            <pc:docMk/>
            <pc:sldMk cId="3411213624" sldId="552"/>
            <ac:spMk id="7" creationId="{DC4D2DCF-73DB-2A13-B8DC-377EC8B0BEFE}"/>
          </ac:spMkLst>
        </pc:spChg>
        <pc:spChg chg="del">
          <ac:chgData name="Dieter Beaven" userId="9bbdb69f-69d0-4759-aa9b-5c090a2da237" providerId="ADAL" clId="{32C6039E-D0BB-4E5F-993B-FBBF68266147}" dt="2026-03-27T09:43:14.399" v="5" actId="478"/>
          <ac:spMkLst>
            <pc:docMk/>
            <pc:sldMk cId="3411213624" sldId="552"/>
            <ac:spMk id="8" creationId="{F2E549F4-A3F7-74F3-6002-4600667C75A1}"/>
          </ac:spMkLst>
        </pc:spChg>
        <pc:spChg chg="add mod">
          <ac:chgData name="Dieter Beaven" userId="9bbdb69f-69d0-4759-aa9b-5c090a2da237" providerId="ADAL" clId="{32C6039E-D0BB-4E5F-993B-FBBF68266147}" dt="2026-03-27T09:43:24.228" v="11" actId="14100"/>
          <ac:spMkLst>
            <pc:docMk/>
            <pc:sldMk cId="3411213624" sldId="552"/>
            <ac:spMk id="10" creationId="{3D12FF52-E88F-2B07-31BC-665F2A36F805}"/>
          </ac:spMkLst>
        </pc:spChg>
      </pc:sldChg>
    </pc:docChg>
  </pc:docChgLst>
  <pc:docChgLst>
    <pc:chgData name="Dieter Beaven" userId="9bbdb69f-69d0-4759-aa9b-5c090a2da237" providerId="ADAL" clId="{B47B330E-67D7-47E6-A6C8-686253D34652}"/>
    <pc:docChg chg="addSld delSld modSld">
      <pc:chgData name="Dieter Beaven" userId="9bbdb69f-69d0-4759-aa9b-5c090a2da237" providerId="ADAL" clId="{B47B330E-67D7-47E6-A6C8-686253D34652}" dt="2026-03-26T10:47:54.580" v="11" actId="47"/>
      <pc:docMkLst>
        <pc:docMk/>
      </pc:docMkLst>
      <pc:sldChg chg="addSp modSp mod">
        <pc:chgData name="Dieter Beaven" userId="9bbdb69f-69d0-4759-aa9b-5c090a2da237" providerId="ADAL" clId="{B47B330E-67D7-47E6-A6C8-686253D34652}" dt="2026-03-26T10:24:21.797" v="5" actId="1036"/>
        <pc:sldMkLst>
          <pc:docMk/>
          <pc:sldMk cId="3896053727" sldId="543"/>
        </pc:sldMkLst>
        <pc:picChg chg="add mod">
          <ac:chgData name="Dieter Beaven" userId="9bbdb69f-69d0-4759-aa9b-5c090a2da237" providerId="ADAL" clId="{B47B330E-67D7-47E6-A6C8-686253D34652}" dt="2026-03-26T10:24:21.797" v="5" actId="1036"/>
          <ac:picMkLst>
            <pc:docMk/>
            <pc:sldMk cId="3896053727" sldId="543"/>
            <ac:picMk id="6" creationId="{49EC4248-347C-EAE6-2DCB-BB0FEB5A4A2C}"/>
          </ac:picMkLst>
        </pc:picChg>
      </pc:sldChg>
      <pc:sldChg chg="addSp modSp mod">
        <pc:chgData name="Dieter Beaven" userId="9bbdb69f-69d0-4759-aa9b-5c090a2da237" providerId="ADAL" clId="{B47B330E-67D7-47E6-A6C8-686253D34652}" dt="2026-03-26T10:47:53.393" v="10" actId="1076"/>
        <pc:sldMkLst>
          <pc:docMk/>
          <pc:sldMk cId="3458699803" sldId="545"/>
        </pc:sldMkLst>
        <pc:picChg chg="add mod">
          <ac:chgData name="Dieter Beaven" userId="9bbdb69f-69d0-4759-aa9b-5c090a2da237" providerId="ADAL" clId="{B47B330E-67D7-47E6-A6C8-686253D34652}" dt="2026-03-26T10:47:53.393" v="10" actId="1076"/>
          <ac:picMkLst>
            <pc:docMk/>
            <pc:sldMk cId="3458699803" sldId="545"/>
            <ac:picMk id="6" creationId="{C416BED2-995B-C573-85DE-C53583D3D784}"/>
          </ac:picMkLst>
        </pc:picChg>
      </pc:sldChg>
      <pc:sldChg chg="addSp mod">
        <pc:chgData name="Dieter Beaven" userId="9bbdb69f-69d0-4759-aa9b-5c090a2da237" providerId="ADAL" clId="{B47B330E-67D7-47E6-A6C8-686253D34652}" dt="2026-03-26T10:24:14.948" v="4" actId="22"/>
        <pc:sldMkLst>
          <pc:docMk/>
          <pc:sldMk cId="4091202299" sldId="550"/>
        </pc:sldMkLst>
        <pc:picChg chg="add">
          <ac:chgData name="Dieter Beaven" userId="9bbdb69f-69d0-4759-aa9b-5c090a2da237" providerId="ADAL" clId="{B47B330E-67D7-47E6-A6C8-686253D34652}" dt="2026-03-26T10:24:14.948" v="4" actId="22"/>
          <ac:picMkLst>
            <pc:docMk/>
            <pc:sldMk cId="4091202299" sldId="550"/>
            <ac:picMk id="6" creationId="{CC31101E-1274-2174-4923-8697DB121580}"/>
          </ac:picMkLst>
        </pc:picChg>
      </pc:sldChg>
      <pc:sldChg chg="addSp modSp mod">
        <pc:chgData name="Dieter Beaven" userId="9bbdb69f-69d0-4759-aa9b-5c090a2da237" providerId="ADAL" clId="{B47B330E-67D7-47E6-A6C8-686253D34652}" dt="2026-03-26T10:24:41.277" v="7" actId="1076"/>
        <pc:sldMkLst>
          <pc:docMk/>
          <pc:sldMk cId="3826585799" sldId="551"/>
        </pc:sldMkLst>
        <pc:picChg chg="add mod">
          <ac:chgData name="Dieter Beaven" userId="9bbdb69f-69d0-4759-aa9b-5c090a2da237" providerId="ADAL" clId="{B47B330E-67D7-47E6-A6C8-686253D34652}" dt="2026-03-26T10:24:41.277" v="7" actId="1076"/>
          <ac:picMkLst>
            <pc:docMk/>
            <pc:sldMk cId="3826585799" sldId="551"/>
            <ac:picMk id="6" creationId="{EFB07105-341F-C824-B593-8799F3C90D9D}"/>
          </ac:picMkLst>
        </pc:picChg>
      </pc:sldChg>
      <pc:sldChg chg="del">
        <pc:chgData name="Dieter Beaven" userId="9bbdb69f-69d0-4759-aa9b-5c090a2da237" providerId="ADAL" clId="{B47B330E-67D7-47E6-A6C8-686253D34652}" dt="2026-03-26T10:47:54.580" v="11" actId="47"/>
        <pc:sldMkLst>
          <pc:docMk/>
          <pc:sldMk cId="2531956736" sldId="552"/>
        </pc:sldMkLst>
      </pc:sldChg>
      <pc:sldChg chg="add del">
        <pc:chgData name="Dieter Beaven" userId="9bbdb69f-69d0-4759-aa9b-5c090a2da237" providerId="ADAL" clId="{B47B330E-67D7-47E6-A6C8-686253D34652}" dt="2026-03-26T10:24:42.764" v="8" actId="47"/>
        <pc:sldMkLst>
          <pc:docMk/>
          <pc:sldMk cId="358797741" sldId="55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27/03/2026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27/03/2026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27/03/2026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27/03/2026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27/03/2026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27/03/2026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27/03/2026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6.png"/><Relationship Id="rId3" Type="http://schemas.openxmlformats.org/officeDocument/2006/relationships/image" Target="../media/image107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8.png"/><Relationship Id="rId10" Type="http://schemas.openxmlformats.org/officeDocument/2006/relationships/image" Target="../media/image113.png"/><Relationship Id="rId4" Type="http://schemas.openxmlformats.org/officeDocument/2006/relationships/image" Target="../media/image2.png"/><Relationship Id="rId9" Type="http://schemas.openxmlformats.org/officeDocument/2006/relationships/image" Target="../media/image1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10: </a:t>
            </a:r>
            <a:r>
              <a:rPr lang="en-GB" dirty="0">
                <a:solidFill>
                  <a:schemeClr val="accent5"/>
                </a:solidFill>
              </a:rPr>
              <a:t>Numerical Methods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Newton-Raphson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The Newton-Raphson Process 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6" name="Straight Arrow Connector 5"/>
          <p:cNvCxnSpPr/>
          <p:nvPr/>
        </p:nvCxnSpPr>
        <p:spPr>
          <a:xfrm flipV="1">
            <a:off x="2051720" y="1628800"/>
            <a:ext cx="0" cy="48965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2051720" y="5517232"/>
            <a:ext cx="475252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732240" y="5301208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240" y="5301208"/>
                <a:ext cx="36004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869604" y="1293143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604" y="1293143"/>
                <a:ext cx="360040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 11"/>
          <p:cNvSpPr/>
          <p:nvPr/>
        </p:nvSpPr>
        <p:spPr>
          <a:xfrm>
            <a:off x="2051437" y="1502797"/>
            <a:ext cx="3323645" cy="4826441"/>
          </a:xfrm>
          <a:custGeom>
            <a:avLst/>
            <a:gdLst>
              <a:gd name="connsiteX0" fmla="*/ 0 w 3323645"/>
              <a:gd name="connsiteY0" fmla="*/ 4826441 h 4826441"/>
              <a:gd name="connsiteX1" fmla="*/ 723568 w 3323645"/>
              <a:gd name="connsiteY1" fmla="*/ 4572000 h 4826441"/>
              <a:gd name="connsiteX2" fmla="*/ 1335819 w 3323645"/>
              <a:gd name="connsiteY2" fmla="*/ 4253947 h 4826441"/>
              <a:gd name="connsiteX3" fmla="*/ 1844702 w 3323645"/>
              <a:gd name="connsiteY3" fmla="*/ 3768918 h 4826441"/>
              <a:gd name="connsiteX4" fmla="*/ 2528514 w 3323645"/>
              <a:gd name="connsiteY4" fmla="*/ 2639833 h 4826441"/>
              <a:gd name="connsiteX5" fmla="*/ 3029446 w 3323645"/>
              <a:gd name="connsiteY5" fmla="*/ 1319916 h 4826441"/>
              <a:gd name="connsiteX6" fmla="*/ 3323645 w 3323645"/>
              <a:gd name="connsiteY6" fmla="*/ 0 h 4826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23645" h="4826441">
                <a:moveTo>
                  <a:pt x="0" y="4826441"/>
                </a:moveTo>
                <a:cubicBezTo>
                  <a:pt x="250466" y="4746928"/>
                  <a:pt x="500932" y="4667416"/>
                  <a:pt x="723568" y="4572000"/>
                </a:cubicBezTo>
                <a:cubicBezTo>
                  <a:pt x="946204" y="4476584"/>
                  <a:pt x="1148963" y="4387794"/>
                  <a:pt x="1335819" y="4253947"/>
                </a:cubicBezTo>
                <a:cubicBezTo>
                  <a:pt x="1522675" y="4120100"/>
                  <a:pt x="1645920" y="4037937"/>
                  <a:pt x="1844702" y="3768918"/>
                </a:cubicBezTo>
                <a:cubicBezTo>
                  <a:pt x="2043485" y="3499899"/>
                  <a:pt x="2331057" y="3048000"/>
                  <a:pt x="2528514" y="2639833"/>
                </a:cubicBezTo>
                <a:cubicBezTo>
                  <a:pt x="2725971" y="2231666"/>
                  <a:pt x="2896924" y="1759888"/>
                  <a:pt x="3029446" y="1319916"/>
                </a:cubicBezTo>
                <a:cubicBezTo>
                  <a:pt x="3161968" y="879944"/>
                  <a:pt x="3242806" y="439972"/>
                  <a:pt x="3323645" y="0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 rot="17051113">
                <a:off x="4291366" y="2241080"/>
                <a:ext cx="13611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GB" b="1" i="1" dirty="0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dirty="0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GB" b="1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051113">
                <a:off x="4291366" y="2241080"/>
                <a:ext cx="136114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076056" y="5517232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baseline="-25000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baseline="-25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56" y="5517232"/>
                <a:ext cx="36004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/>
          <p:cNvCxnSpPr/>
          <p:nvPr/>
        </p:nvCxnSpPr>
        <p:spPr>
          <a:xfrm flipV="1">
            <a:off x="5220072" y="2186609"/>
            <a:ext cx="43691" cy="333062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724128" y="908720"/>
                <a:ext cx="3154058" cy="107721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We wish to find the root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r>
                  <a:rPr lang="en-GB" sz="1600" dirty="0"/>
                  <a:t>Suppose we start with the indicated approximation of the root,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1600" dirty="0"/>
                  <a:t>. Clearly this is well off the mark!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128" y="908720"/>
                <a:ext cx="3154058" cy="1077218"/>
              </a:xfrm>
              <a:prstGeom prst="rect">
                <a:avLst/>
              </a:prstGeom>
              <a:blipFill>
                <a:blip r:embed="rId6"/>
                <a:stretch>
                  <a:fillRect l="-768" t="-552" r="-1727" b="-49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23528" y="2204864"/>
                <a:ext cx="3312368" cy="120032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A seemingly sensible thing to do is to follow the direction of the line, i.e. use the gradient of the tangent.</a:t>
                </a:r>
              </a:p>
              <a:p>
                <a:r>
                  <a:rPr lang="en-GB" sz="1200" dirty="0"/>
                  <a:t>If the line was reasonably straight, the point the tangent hits the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dirty="0"/>
                  <a:t>-axis would be close to the root.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2204864"/>
                <a:ext cx="3312368" cy="1200329"/>
              </a:xfrm>
              <a:prstGeom prst="rect">
                <a:avLst/>
              </a:prstGeom>
              <a:blipFill>
                <a:blip r:embed="rId7"/>
                <a:stretch>
                  <a:fillRect l="-548" t="-498" b="-19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/>
          <p:cNvCxnSpPr/>
          <p:nvPr/>
        </p:nvCxnSpPr>
        <p:spPr>
          <a:xfrm flipV="1">
            <a:off x="4436828" y="818985"/>
            <a:ext cx="1160890" cy="470717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4283968" y="5517232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baseline="-250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5517232"/>
                <a:ext cx="36004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/>
          <p:cNvCxnSpPr/>
          <p:nvPr/>
        </p:nvCxnSpPr>
        <p:spPr>
          <a:xfrm flipV="1">
            <a:off x="4427984" y="4444779"/>
            <a:ext cx="24746" cy="109071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3800723" y="2242268"/>
            <a:ext cx="1916265" cy="326003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3635896" y="5517232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baseline="-250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5517232"/>
                <a:ext cx="36004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6012160" y="2996952"/>
                <a:ext cx="2880320" cy="181588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We can keep repeating this process to (hopefully) get increasingly accurate approximations.</a:t>
                </a:r>
              </a:p>
              <a:p>
                <a:endParaRPr lang="en-GB" sz="1600" dirty="0"/>
              </a:p>
              <a:p>
                <a:r>
                  <a:rPr lang="en-GB" sz="1600" dirty="0"/>
                  <a:t>Can you come up with a formula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GB" sz="1600" dirty="0"/>
                  <a:t> in terms of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 baseline="-25000" dirty="0" err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600" dirty="0"/>
                  <a:t>?</a:t>
                </a: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160" y="2996952"/>
                <a:ext cx="2880320" cy="1815882"/>
              </a:xfrm>
              <a:prstGeom prst="rect">
                <a:avLst/>
              </a:prstGeom>
              <a:blipFill>
                <a:blip r:embed="rId10"/>
                <a:stretch>
                  <a:fillRect l="-629" t="-331" r="-1468" b="-26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467544" y="620688"/>
            <a:ext cx="3528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(also known as </a:t>
            </a:r>
            <a:r>
              <a:rPr lang="en-GB" b="1" dirty="0"/>
              <a:t>Newton’s method</a:t>
            </a:r>
            <a:r>
              <a:rPr lang="en-GB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B0D2BB1-FA02-4A83-A7CB-5004D90F356D}"/>
                  </a:ext>
                </a:extLst>
              </p:cNvPr>
              <p:cNvSpPr txBox="1"/>
              <p:nvPr/>
            </p:nvSpPr>
            <p:spPr>
              <a:xfrm>
                <a:off x="3467918" y="5221249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B0D2BB1-FA02-4A83-A7CB-5004D90F3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918" y="5221249"/>
                <a:ext cx="36004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5678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8" grpId="0"/>
      <p:bldP spid="34" grpId="0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The Newton-Raphson Process 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5" name="Straight Arrow Connector 4"/>
          <p:cNvCxnSpPr/>
          <p:nvPr/>
        </p:nvCxnSpPr>
        <p:spPr>
          <a:xfrm flipV="1">
            <a:off x="827584" y="1196752"/>
            <a:ext cx="0" cy="5328592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cxnSpLocks/>
          </p:cNvCxnSpPr>
          <p:nvPr/>
        </p:nvCxnSpPr>
        <p:spPr>
          <a:xfrm flipV="1">
            <a:off x="827584" y="5511800"/>
            <a:ext cx="4036516" cy="5432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771504" y="5288508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1504" y="5288508"/>
                <a:ext cx="36004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83568" y="83671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</a:t>
            </a:r>
          </a:p>
        </p:txBody>
      </p:sp>
      <p:sp>
        <p:nvSpPr>
          <p:cNvPr id="9" name="Freeform 8"/>
          <p:cNvSpPr/>
          <p:nvPr/>
        </p:nvSpPr>
        <p:spPr>
          <a:xfrm>
            <a:off x="827301" y="764704"/>
            <a:ext cx="3456667" cy="5564534"/>
          </a:xfrm>
          <a:custGeom>
            <a:avLst/>
            <a:gdLst>
              <a:gd name="connsiteX0" fmla="*/ 0 w 3323645"/>
              <a:gd name="connsiteY0" fmla="*/ 4826441 h 4826441"/>
              <a:gd name="connsiteX1" fmla="*/ 723568 w 3323645"/>
              <a:gd name="connsiteY1" fmla="*/ 4572000 h 4826441"/>
              <a:gd name="connsiteX2" fmla="*/ 1335819 w 3323645"/>
              <a:gd name="connsiteY2" fmla="*/ 4253947 h 4826441"/>
              <a:gd name="connsiteX3" fmla="*/ 1844702 w 3323645"/>
              <a:gd name="connsiteY3" fmla="*/ 3768918 h 4826441"/>
              <a:gd name="connsiteX4" fmla="*/ 2528514 w 3323645"/>
              <a:gd name="connsiteY4" fmla="*/ 2639833 h 4826441"/>
              <a:gd name="connsiteX5" fmla="*/ 3029446 w 3323645"/>
              <a:gd name="connsiteY5" fmla="*/ 1319916 h 4826441"/>
              <a:gd name="connsiteX6" fmla="*/ 3323645 w 3323645"/>
              <a:gd name="connsiteY6" fmla="*/ 0 h 4826441"/>
              <a:gd name="connsiteX0" fmla="*/ 0 w 3456667"/>
              <a:gd name="connsiteY0" fmla="*/ 5564534 h 5564534"/>
              <a:gd name="connsiteX1" fmla="*/ 723568 w 3456667"/>
              <a:gd name="connsiteY1" fmla="*/ 5310093 h 5564534"/>
              <a:gd name="connsiteX2" fmla="*/ 1335819 w 3456667"/>
              <a:gd name="connsiteY2" fmla="*/ 4992040 h 5564534"/>
              <a:gd name="connsiteX3" fmla="*/ 1844702 w 3456667"/>
              <a:gd name="connsiteY3" fmla="*/ 4507011 h 5564534"/>
              <a:gd name="connsiteX4" fmla="*/ 2528514 w 3456667"/>
              <a:gd name="connsiteY4" fmla="*/ 3377926 h 5564534"/>
              <a:gd name="connsiteX5" fmla="*/ 3029446 w 3456667"/>
              <a:gd name="connsiteY5" fmla="*/ 2058009 h 5564534"/>
              <a:gd name="connsiteX6" fmla="*/ 3456667 w 3456667"/>
              <a:gd name="connsiteY6" fmla="*/ 0 h 556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56667" h="5564534">
                <a:moveTo>
                  <a:pt x="0" y="5564534"/>
                </a:moveTo>
                <a:cubicBezTo>
                  <a:pt x="250466" y="5485021"/>
                  <a:pt x="500932" y="5405509"/>
                  <a:pt x="723568" y="5310093"/>
                </a:cubicBezTo>
                <a:cubicBezTo>
                  <a:pt x="946204" y="5214677"/>
                  <a:pt x="1148963" y="5125887"/>
                  <a:pt x="1335819" y="4992040"/>
                </a:cubicBezTo>
                <a:cubicBezTo>
                  <a:pt x="1522675" y="4858193"/>
                  <a:pt x="1645920" y="4776030"/>
                  <a:pt x="1844702" y="4507011"/>
                </a:cubicBezTo>
                <a:cubicBezTo>
                  <a:pt x="2043485" y="4237992"/>
                  <a:pt x="2331057" y="3786093"/>
                  <a:pt x="2528514" y="3377926"/>
                </a:cubicBezTo>
                <a:cubicBezTo>
                  <a:pt x="2725971" y="2969759"/>
                  <a:pt x="2874754" y="2620997"/>
                  <a:pt x="3029446" y="2058009"/>
                </a:cubicBezTo>
                <a:cubicBezTo>
                  <a:pt x="3184138" y="1495021"/>
                  <a:pt x="3375828" y="439972"/>
                  <a:pt x="3456667" y="0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 rot="17311517">
                <a:off x="3224266" y="1815623"/>
                <a:ext cx="12673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GB" b="1" i="1" dirty="0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dirty="0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GB" b="1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311517">
                <a:off x="3224266" y="1815623"/>
                <a:ext cx="126736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851920" y="5517232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baseline="-25000" dirty="0" err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GB" baseline="-25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920" y="5517232"/>
                <a:ext cx="4320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/>
          <p:cNvCxnSpPr/>
          <p:nvPr/>
        </p:nvCxnSpPr>
        <p:spPr>
          <a:xfrm flipV="1">
            <a:off x="3995936" y="2186609"/>
            <a:ext cx="43691" cy="333062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212692" y="818985"/>
            <a:ext cx="1160890" cy="470717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059832" y="5517232"/>
                <a:ext cx="576064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GB" baseline="-25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5517232"/>
                <a:ext cx="576064" cy="362984"/>
              </a:xfrm>
              <a:prstGeom prst="rect">
                <a:avLst/>
              </a:prstGeom>
              <a:blipFill>
                <a:blip r:embed="rId5"/>
                <a:stretch>
                  <a:fillRect r="-4255" b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5220072" y="980728"/>
            <a:ext cx="3714378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Formula: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292080" y="1628800"/>
                <a:ext cx="3456384" cy="27469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Using Year 1 coordinate geometry:</a:t>
                </a:r>
              </a:p>
              <a:p>
                <a:endParaRPr lang="en-GB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b="1" dirty="0"/>
              </a:p>
              <a:p>
                <a:endParaRPr lang="en-GB" dirty="0"/>
              </a:p>
              <a:p>
                <a:r>
                  <a:rPr lang="en-GB" dirty="0"/>
                  <a:t>But we’re interested when 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b="1" dirty="0"/>
              </a:p>
              <a:p>
                <a:endParaRPr lang="en-GB" sz="1000" dirty="0"/>
              </a:p>
              <a:p>
                <a:r>
                  <a:rPr lang="en-GB" dirty="0"/>
                  <a:t>which rearranges to give: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080" y="1628800"/>
                <a:ext cx="3456384" cy="2746906"/>
              </a:xfrm>
              <a:prstGeom prst="rect">
                <a:avLst/>
              </a:prstGeom>
              <a:blipFill>
                <a:blip r:embed="rId6"/>
                <a:stretch>
                  <a:fillRect l="-1411" t="-1109" b="-2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887194" y="4400153"/>
                <a:ext cx="3047256" cy="95545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latin typeface="Wingdings" panose="05000000000000000000" pitchFamily="2" charset="2"/>
                  </a:rPr>
                  <a:t>!</a:t>
                </a:r>
                <a:r>
                  <a:rPr lang="en-GB" b="1" dirty="0"/>
                  <a:t> Newton-Raphson Process: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7194" y="4400153"/>
                <a:ext cx="3047256" cy="955454"/>
              </a:xfrm>
              <a:prstGeom prst="rect">
                <a:avLst/>
              </a:prstGeom>
              <a:blipFill>
                <a:blip r:embed="rId7"/>
                <a:stretch>
                  <a:fillRect l="-1389" t="-31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838FA9B-BC25-45B8-8282-834E51549E98}"/>
              </a:ext>
            </a:extLst>
          </p:cNvPr>
          <p:cNvSpPr txBox="1"/>
          <p:nvPr/>
        </p:nvSpPr>
        <p:spPr>
          <a:xfrm>
            <a:off x="6082317" y="5497129"/>
            <a:ext cx="256819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Exam Note</a:t>
            </a:r>
            <a:r>
              <a:rPr lang="en-GB" sz="1400" dirty="0"/>
              <a:t>: Pearson didn’t include the above proof in their own textbook, so I can only presume you won’t be tested on the proof.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20072" y="1350060"/>
            <a:ext cx="3714378" cy="532122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26451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File:NewtonIteration Ani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1052736"/>
            <a:ext cx="6410325" cy="4572000"/>
          </a:xfrm>
          <a:prstGeom prst="rect">
            <a:avLst/>
          </a:prstGeom>
          <a:noFill/>
        </p:spPr>
      </p:pic>
      <p:grpSp>
        <p:nvGrpSpPr>
          <p:cNvPr id="3" name="Group 2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4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A nice animation…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5940152" y="836712"/>
            <a:ext cx="2376264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Demo </a:t>
            </a:r>
            <a:r>
              <a:rPr lang="en-GB" sz="1200" dirty="0"/>
              <a:t>(Courtesy of Wikipedia)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00D600-60CA-4F26-B50A-76940BBB0B63}"/>
              </a:ext>
            </a:extLst>
          </p:cNvPr>
          <p:cNvSpPr txBox="1"/>
          <p:nvPr/>
        </p:nvSpPr>
        <p:spPr>
          <a:xfrm>
            <a:off x="4067944" y="6199104"/>
            <a:ext cx="4592311" cy="33855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dirty="0"/>
              <a:t>This is German, but I’ll presume you’re not an idiot.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AB39EE5-2A36-4A38-8CE5-EA3AD25F2654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6364100" y="5765800"/>
            <a:ext cx="328800" cy="433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88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2921F-0B92-E879-BCD3-ADCF7D6DB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D293A46-8E84-DA66-BF02-89639387FC27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404AB90-FB3E-6DA6-770A-BF4C88685184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Example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B8EC7BD-8049-D89A-3F09-F84B2972E2F8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4AEFA5-CAE5-B117-0FCE-42D3C34E0655}"/>
                  </a:ext>
                </a:extLst>
              </p:cNvPr>
              <p:cNvSpPr txBox="1"/>
              <p:nvPr/>
            </p:nvSpPr>
            <p:spPr>
              <a:xfrm>
                <a:off x="395536" y="764704"/>
                <a:ext cx="72008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Returning to our original example: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𝐜𝐨𝐬</m:t>
                        </m:r>
                      </m:fName>
                      <m:e>
                        <m:d>
                          <m:d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func>
                  </m:oMath>
                </a14:m>
                <a:r>
                  <a:rPr lang="en-GB" dirty="0"/>
                  <a:t>,</a:t>
                </a:r>
                <a:r>
                  <a:rPr lang="en-GB" b="1" dirty="0"/>
                  <a:t> </a:t>
                </a:r>
                <a:r>
                  <a:rPr lang="en-GB" dirty="0"/>
                  <a:t>say letting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GB" dirty="0"/>
              </a:p>
              <a:p>
                <a:r>
                  <a:rPr lang="en-GB" sz="1400" i="1" dirty="0"/>
                  <a:t>(Note: Recall that differentiation assumes radians)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764704"/>
                <a:ext cx="7200800" cy="584775"/>
              </a:xfrm>
              <a:prstGeom prst="rect">
                <a:avLst/>
              </a:prstGeom>
              <a:blipFill>
                <a:blip r:embed="rId2"/>
                <a:stretch>
                  <a:fillRect l="-762" t="-5208" b="-10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9490AF-0D0E-E319-D088-8C16652B79E4}"/>
                  </a:ext>
                </a:extLst>
              </p:cNvPr>
              <p:cNvSpPr txBox="1"/>
              <p:nvPr/>
            </p:nvSpPr>
            <p:spPr>
              <a:xfrm>
                <a:off x="467544" y="1484784"/>
                <a:ext cx="5256584" cy="3407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Let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𝒄𝒐𝒔</m:t>
                    </m:r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GB" b="1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𝒔𝒊𝒏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b="1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𝒄𝒐𝒔</m:t>
                          </m:r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GB" b="1" dirty="0"/>
              </a:p>
              <a:p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𝒄𝒐𝒔</m:t>
                          </m:r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d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d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𝟕𝟓𝟓𝟐𝟐𝟐𝟒𝟏𝟕𝟏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𝟕𝟑𝟗𝟏𝟒𝟏𝟐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𝟕𝟑𝟗𝟎𝟖𝟓𝟏</m:t>
                      </m:r>
                    </m:oMath>
                  </m:oMathPara>
                </a14:m>
                <a:endParaRPr lang="en-GB" b="1" dirty="0"/>
              </a:p>
              <a:p>
                <a:endParaRPr lang="en-GB" dirty="0"/>
              </a:p>
              <a:p>
                <a:r>
                  <a:rPr lang="en-GB" sz="1600" dirty="0"/>
                  <a:t>After merely three iterations, our approximation is accurate to 7 decimal places. Holy smokes Batman!</a:t>
                </a:r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484784"/>
                <a:ext cx="5256584" cy="3407728"/>
              </a:xfrm>
              <a:prstGeom prst="rect">
                <a:avLst/>
              </a:prstGeom>
              <a:blipFill>
                <a:blip r:embed="rId3"/>
                <a:stretch>
                  <a:fillRect l="-1044" t="-1073" b="-14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C4D2DCF-73DB-2A13-B8DC-377EC8B0BEFE}"/>
              </a:ext>
            </a:extLst>
          </p:cNvPr>
          <p:cNvSpPr txBox="1"/>
          <p:nvPr/>
        </p:nvSpPr>
        <p:spPr>
          <a:xfrm>
            <a:off x="6171648" y="3359487"/>
            <a:ext cx="2808312" cy="160043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b="1" dirty="0"/>
              <a:t>Tip</a:t>
            </a:r>
            <a:r>
              <a:rPr lang="en-GB" sz="1400" dirty="0"/>
              <a:t>: To perform iterations quickly, do the following on your calculator:</a:t>
            </a:r>
          </a:p>
          <a:p>
            <a:endParaRPr lang="en-GB" sz="1400" dirty="0"/>
          </a:p>
          <a:p>
            <a:r>
              <a:rPr lang="en-GB" sz="1400" dirty="0"/>
              <a:t>[0.5] [=]</a:t>
            </a:r>
          </a:p>
          <a:p>
            <a:r>
              <a:rPr lang="en-GB" sz="1400" dirty="0"/>
              <a:t>[ANS] – (ANS – </a:t>
            </a:r>
            <a:r>
              <a:rPr lang="en-GB" sz="1400" dirty="0" err="1"/>
              <a:t>cos</a:t>
            </a:r>
            <a:r>
              <a:rPr lang="en-GB" sz="1400" dirty="0"/>
              <a:t>(ANS))/(1 + sin(ANS))</a:t>
            </a:r>
          </a:p>
          <a:p>
            <a:r>
              <a:rPr lang="en-GB" sz="1400" dirty="0"/>
              <a:t>Then spam [=].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491A90E-C921-C008-AA17-CB1FB4774E3C}"/>
                  </a:ext>
                </a:extLst>
              </p:cNvPr>
              <p:cNvSpPr txBox="1"/>
              <p:nvPr/>
            </p:nvSpPr>
            <p:spPr>
              <a:xfrm>
                <a:off x="4058682" y="1512004"/>
                <a:ext cx="435597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This ensures we have an equation of the form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2EC4F6-AA06-48B5-B862-F9CFB7C5D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682" y="1512004"/>
                <a:ext cx="4355976" cy="307777"/>
              </a:xfrm>
              <a:prstGeom prst="rect">
                <a:avLst/>
              </a:prstGeom>
              <a:blipFill>
                <a:blip r:embed="rId4"/>
                <a:stretch>
                  <a:fillRect l="-420" t="-3922" b="-196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07A0EEF-BE83-E08E-CA9B-334927C645B3}"/>
              </a:ext>
            </a:extLst>
          </p:cNvPr>
          <p:cNvCxnSpPr>
            <a:stCxn id="9" idx="1"/>
          </p:cNvCxnSpPr>
          <p:nvPr/>
        </p:nvCxnSpPr>
        <p:spPr>
          <a:xfrm flipH="1">
            <a:off x="3037114" y="1665893"/>
            <a:ext cx="1021568" cy="32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D12FF52-E88F-2B07-31BC-665F2A36F805}"/>
              </a:ext>
            </a:extLst>
          </p:cNvPr>
          <p:cNvSpPr/>
          <p:nvPr/>
        </p:nvSpPr>
        <p:spPr>
          <a:xfrm>
            <a:off x="337727" y="1462625"/>
            <a:ext cx="8642233" cy="438300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11213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Quickfire Questions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85725" y="803945"/>
            <a:ext cx="8980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Using the Newton-Raphson process, state the recurrence relation for the following functions: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7886" y="2085231"/>
                <a:ext cx="21000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886" y="2085231"/>
                <a:ext cx="2100014" cy="461665"/>
              </a:xfrm>
              <a:prstGeom prst="rect">
                <a:avLst/>
              </a:prstGeom>
              <a:blipFill>
                <a:blip r:embed="rId2"/>
                <a:stretch>
                  <a:fillRect l="-580" b="-171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629422" y="1856631"/>
                <a:ext cx="4885928" cy="9050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GB" sz="2400" b="1" i="1" smtClean="0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sSup>
                            <m:sSup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GB" sz="2400" b="1" i="1" smtClean="0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2400" b="1" baseline="30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9422" y="1856631"/>
                <a:ext cx="4885928" cy="9050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/>
          <p:cNvCxnSpPr/>
          <p:nvPr/>
        </p:nvCxnSpPr>
        <p:spPr>
          <a:xfrm>
            <a:off x="395536" y="1484784"/>
            <a:ext cx="820891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ight Arrow 13"/>
          <p:cNvSpPr/>
          <p:nvPr/>
        </p:nvSpPr>
        <p:spPr>
          <a:xfrm>
            <a:off x="2855615" y="2214339"/>
            <a:ext cx="576064" cy="216024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ight Arrow 14"/>
          <p:cNvSpPr/>
          <p:nvPr/>
        </p:nvSpPr>
        <p:spPr>
          <a:xfrm>
            <a:off x="2865909" y="3053392"/>
            <a:ext cx="576064" cy="216024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ight Arrow 15"/>
          <p:cNvSpPr/>
          <p:nvPr/>
        </p:nvSpPr>
        <p:spPr>
          <a:xfrm>
            <a:off x="2865909" y="3970015"/>
            <a:ext cx="576064" cy="216024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/>
          <p:cNvSpPr/>
          <p:nvPr/>
        </p:nvSpPr>
        <p:spPr>
          <a:xfrm>
            <a:off x="3645793" y="1859488"/>
            <a:ext cx="5345806" cy="88939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4424F8A-2CD6-49E8-BC1C-F59612EEABEA}"/>
                  </a:ext>
                </a:extLst>
              </p:cNvPr>
              <p:cNvSpPr txBox="1"/>
              <p:nvPr/>
            </p:nvSpPr>
            <p:spPr>
              <a:xfrm>
                <a:off x="41264" y="2900560"/>
                <a:ext cx="21000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4424F8A-2CD6-49E8-BC1C-F59612EEA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4" y="2900560"/>
                <a:ext cx="2100014" cy="461665"/>
              </a:xfrm>
              <a:prstGeom prst="rect">
                <a:avLst/>
              </a:prstGeom>
              <a:blipFill>
                <a:blip r:embed="rId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DBC68DB-C144-4838-B520-FC02E23B2248}"/>
                  </a:ext>
                </a:extLst>
              </p:cNvPr>
              <p:cNvSpPr txBox="1"/>
              <p:nvPr/>
            </p:nvSpPr>
            <p:spPr>
              <a:xfrm>
                <a:off x="3600846" y="2730682"/>
                <a:ext cx="5486003" cy="8483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sz="2400" b="1" i="0" smtClean="0">
                                  <a:latin typeface="Cambria Math" panose="02040503050406030204" pitchFamily="18" charset="0"/>
                                </a:rPr>
                                <m:t>𝐭𝐚𝐧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GB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2400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b="1" i="0" smtClean="0">
                                      <a:latin typeface="Cambria Math" panose="02040503050406030204" pitchFamily="18" charset="0"/>
                                    </a:rPr>
                                    <m:t>𝐬𝐞𝐜</m:t>
                                  </m:r>
                                </m:e>
                                <m:sup>
                                  <m:r>
                                    <a:rPr lang="en-GB" sz="2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sSub>
                                <m:sSubPr>
                                  <m:ctrlPr>
                                    <a:rPr lang="en-GB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2400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func>
                        <m:func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2400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sSub>
                                <m:sSubPr>
                                  <m:ctrlPr>
                                    <a:rPr lang="en-GB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2400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GB" sz="2400" b="1" baseline="30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DBC68DB-C144-4838-B520-FC02E23B2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846" y="2730682"/>
                <a:ext cx="5486003" cy="8483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6EA564F-8EDB-4DFE-B79A-FF7962B7EEC5}"/>
                  </a:ext>
                </a:extLst>
              </p:cNvPr>
              <p:cNvSpPr txBox="1"/>
              <p:nvPr/>
            </p:nvSpPr>
            <p:spPr>
              <a:xfrm>
                <a:off x="22213" y="3833529"/>
                <a:ext cx="274956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6EA564F-8EDB-4DFE-B79A-FF7962B7E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13" y="3833529"/>
                <a:ext cx="2749561" cy="461665"/>
              </a:xfrm>
              <a:prstGeom prst="rect">
                <a:avLst/>
              </a:prstGeom>
              <a:blipFill>
                <a:blip r:embed="rId6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A9F8BD4-A645-41E4-BB0E-814DE553C2F8}"/>
                  </a:ext>
                </a:extLst>
              </p:cNvPr>
              <p:cNvSpPr txBox="1"/>
              <p:nvPr/>
            </p:nvSpPr>
            <p:spPr>
              <a:xfrm>
                <a:off x="3594720" y="3573371"/>
                <a:ext cx="5400278" cy="9050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GB" sz="2400" b="1" i="1" smtClean="0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sSub>
                            <m:sSub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en-GB" sz="2400" b="1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A9F8BD4-A645-41E4-BB0E-814DE553C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720" y="3573371"/>
                <a:ext cx="5400278" cy="90505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3648075" y="2748879"/>
            <a:ext cx="5343524" cy="80967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ABFE482-BF8D-4938-99ED-F5DEFAA6A413}"/>
              </a:ext>
            </a:extLst>
          </p:cNvPr>
          <p:cNvSpPr/>
          <p:nvPr/>
        </p:nvSpPr>
        <p:spPr>
          <a:xfrm>
            <a:off x="3645792" y="3558553"/>
            <a:ext cx="5345807" cy="91987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60473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Example Exam Question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367010" y="775336"/>
            <a:ext cx="3196877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FP1 June 2013(R) Q3c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87875" y="3360365"/>
                <a:ext cx="5320380" cy="21217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sSup>
                            <m:sSupPr>
                              <m:ctrlP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GB" sz="2000" b="1" i="1" smtClean="0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p>
                          </m:sSup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GB" sz="2000" b="1" i="1" smtClean="0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sSup>
                            <m:sSupPr>
                              <m:ctrlP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GB" sz="2000" b="1" i="1" smtClean="0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sSup>
                            <m:sSupPr>
                              <m:ctrlP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GB" sz="2000" b="1" i="1" smtClean="0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en-GB" sz="2000" b="1" dirty="0"/>
              </a:p>
              <a:p>
                <a:endParaRPr lang="en-GB" sz="2000" b="1" dirty="0"/>
              </a:p>
              <a:p>
                <a:endParaRPr lang="en-GB" sz="20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𝟒𝟎𝟔𝟐𝟓</m:t>
                          </m:r>
                        </m:num>
                        <m:den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𝟑𝟖𝟕𝟓</m:t>
                      </m:r>
                    </m:oMath>
                  </m:oMathPara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75" y="3360365"/>
                <a:ext cx="5320380" cy="21217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16216" y="3356992"/>
            <a:ext cx="1638300" cy="5238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Rectangle 8"/>
          <p:cNvSpPr/>
          <p:nvPr/>
        </p:nvSpPr>
        <p:spPr>
          <a:xfrm>
            <a:off x="795386" y="3304268"/>
            <a:ext cx="4784726" cy="21778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895281-804A-4FE4-8A2B-4F97BF55ED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011" y="1147516"/>
            <a:ext cx="6848475" cy="193357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4506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367CF54-51EE-4C25-94F2-745B5655CF55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04EA9FFC-ECA0-4780-A0CD-C183A69B0E57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87BA3C9-1E72-4AE6-BB24-4E804A175D63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C381CA6-509E-4923-B312-DA7639400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90" y="1184050"/>
            <a:ext cx="8296275" cy="1524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8569D2-DE3F-48B8-B514-E22F5A066093}"/>
              </a:ext>
            </a:extLst>
          </p:cNvPr>
          <p:cNvSpPr txBox="1"/>
          <p:nvPr/>
        </p:nvSpPr>
        <p:spPr>
          <a:xfrm>
            <a:off x="367011" y="775336"/>
            <a:ext cx="2620814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FP1 Jan 2010 Q2c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681EF6-CCB5-43C8-A44D-8031454CE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3068960"/>
            <a:ext cx="5438748" cy="105163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B73D671-766B-4200-A816-5F8313ED4B66}"/>
              </a:ext>
            </a:extLst>
          </p:cNvPr>
          <p:cNvSpPr/>
          <p:nvPr/>
        </p:nvSpPr>
        <p:spPr>
          <a:xfrm>
            <a:off x="1178158" y="2910863"/>
            <a:ext cx="6202154" cy="15262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26175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A4CB055-A386-4748-9E22-EB219266B446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7911969C-C58D-4C26-B4BB-9F7CAEF1266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When does Newton-Raphson fail?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F03B24B-540C-4269-856E-EEE2630157B0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B2F4B41-48D7-4014-AD1D-90543A7871B4}"/>
              </a:ext>
            </a:extLst>
          </p:cNvPr>
          <p:cNvCxnSpPr>
            <a:cxnSpLocks/>
          </p:cNvCxnSpPr>
          <p:nvPr/>
        </p:nvCxnSpPr>
        <p:spPr>
          <a:xfrm flipV="1">
            <a:off x="1466850" y="1134541"/>
            <a:ext cx="15986" cy="2361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5A81106-D78A-4029-9BF3-271225160B9B}"/>
              </a:ext>
            </a:extLst>
          </p:cNvPr>
          <p:cNvCxnSpPr>
            <a:cxnSpLocks/>
          </p:cNvCxnSpPr>
          <p:nvPr/>
        </p:nvCxnSpPr>
        <p:spPr>
          <a:xfrm>
            <a:off x="895350" y="3143250"/>
            <a:ext cx="2595059" cy="2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C424A4-DF63-47BB-A1ED-3C593A61DB1F}"/>
                  </a:ext>
                </a:extLst>
              </p:cNvPr>
              <p:cNvSpPr txBox="1"/>
              <p:nvPr/>
            </p:nvSpPr>
            <p:spPr>
              <a:xfrm>
                <a:off x="3447879" y="2953586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C424A4-DF63-47BB-A1ED-3C593A61D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879" y="2953586"/>
                <a:ext cx="43204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975244B-B209-414F-A946-A988A179FFFE}"/>
                  </a:ext>
                </a:extLst>
              </p:cNvPr>
              <p:cNvSpPr txBox="1"/>
              <p:nvPr/>
            </p:nvSpPr>
            <p:spPr>
              <a:xfrm>
                <a:off x="1266812" y="765209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975244B-B209-414F-A946-A988A179F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6812" y="765209"/>
                <a:ext cx="432048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8226E1B-0C71-4DC5-8BEA-192D57687D35}"/>
              </a:ext>
            </a:extLst>
          </p:cNvPr>
          <p:cNvSpPr/>
          <p:nvPr/>
        </p:nvSpPr>
        <p:spPr>
          <a:xfrm>
            <a:off x="956488" y="1346126"/>
            <a:ext cx="2222204" cy="1414160"/>
          </a:xfrm>
          <a:custGeom>
            <a:avLst/>
            <a:gdLst>
              <a:gd name="connsiteX0" fmla="*/ 0 w 2222204"/>
              <a:gd name="connsiteY0" fmla="*/ 0 h 1414160"/>
              <a:gd name="connsiteX1" fmla="*/ 1275907 w 2222204"/>
              <a:gd name="connsiteY1" fmla="*/ 1414130 h 1414160"/>
              <a:gd name="connsiteX2" fmla="*/ 2222204 w 2222204"/>
              <a:gd name="connsiteY2" fmla="*/ 31898 h 1414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22204" h="1414160">
                <a:moveTo>
                  <a:pt x="0" y="0"/>
                </a:moveTo>
                <a:cubicBezTo>
                  <a:pt x="452770" y="704407"/>
                  <a:pt x="905540" y="1408814"/>
                  <a:pt x="1275907" y="1414130"/>
                </a:cubicBezTo>
                <a:cubicBezTo>
                  <a:pt x="1646274" y="1419446"/>
                  <a:pt x="1934239" y="725672"/>
                  <a:pt x="2222204" y="31898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3">
            <a:extLst>
              <a:ext uri="{FF2B5EF4-FFF2-40B4-BE49-F238E27FC236}">
                <a16:creationId xmlns:a16="http://schemas.microsoft.com/office/drawing/2014/main" id="{5C45B5FA-A31B-42C9-B3BA-8B1D460EE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54241" y="1061467"/>
            <a:ext cx="1638300" cy="5238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066B825-01D8-4D5D-8458-A8AB9036B85F}"/>
                  </a:ext>
                </a:extLst>
              </p:cNvPr>
              <p:cNvSpPr txBox="1"/>
              <p:nvPr/>
            </p:nvSpPr>
            <p:spPr>
              <a:xfrm>
                <a:off x="2007265" y="3068918"/>
                <a:ext cx="4359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066B825-01D8-4D5D-8458-A8AB9036B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265" y="3068918"/>
                <a:ext cx="43597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D05288E-00EC-473C-ABC7-435A17A61FF0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2232025" y="2760256"/>
            <a:ext cx="370" cy="386169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372DF3F-E01A-44B6-8142-94792ED4063F}"/>
              </a:ext>
            </a:extLst>
          </p:cNvPr>
          <p:cNvCxnSpPr/>
          <p:nvPr/>
        </p:nvCxnSpPr>
        <p:spPr>
          <a:xfrm flipV="1">
            <a:off x="1266812" y="2759075"/>
            <a:ext cx="1971688" cy="11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99E46CA-0242-45FB-B654-3B500023B9DA}"/>
              </a:ext>
            </a:extLst>
          </p:cNvPr>
          <p:cNvSpPr txBox="1"/>
          <p:nvPr/>
        </p:nvSpPr>
        <p:spPr>
          <a:xfrm>
            <a:off x="2545978" y="2538611"/>
            <a:ext cx="7433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tangent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F95BED9-A36B-4992-B3E0-135C6B138D08}"/>
                  </a:ext>
                </a:extLst>
              </p:cNvPr>
              <p:cNvSpPr txBox="1"/>
              <p:nvPr/>
            </p:nvSpPr>
            <p:spPr>
              <a:xfrm>
                <a:off x="4397548" y="1668348"/>
                <a:ext cx="4374312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If the starting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GB" b="1" dirty="0"/>
                  <a:t> was the stationary point</a:t>
                </a:r>
                <a:r>
                  <a:rPr lang="en-GB" dirty="0"/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, resulting in a division by 0 in the above formula.</a:t>
                </a:r>
              </a:p>
              <a:p>
                <a:endParaRPr lang="en-GB" dirty="0"/>
              </a:p>
              <a:p>
                <a:r>
                  <a:rPr lang="en-GB" dirty="0"/>
                  <a:t>Graphically, it is because the tangent will never reach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-axis.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F95BED9-A36B-4992-B3E0-135C6B138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7548" y="1668348"/>
                <a:ext cx="4374312" cy="1754326"/>
              </a:xfrm>
              <a:prstGeom prst="rect">
                <a:avLst/>
              </a:prstGeom>
              <a:blipFill>
                <a:blip r:embed="rId6"/>
                <a:stretch>
                  <a:fillRect l="-1114" t="-2091" b="-48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FF9E57F-5193-4E4D-809D-7434692D6157}"/>
              </a:ext>
            </a:extLst>
          </p:cNvPr>
          <p:cNvCxnSpPr>
            <a:cxnSpLocks/>
          </p:cNvCxnSpPr>
          <p:nvPr/>
        </p:nvCxnSpPr>
        <p:spPr>
          <a:xfrm>
            <a:off x="870496" y="4871286"/>
            <a:ext cx="2749004" cy="5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C94C173-460F-4598-85ED-8CE5BD2E2416}"/>
                  </a:ext>
                </a:extLst>
              </p:cNvPr>
              <p:cNvSpPr txBox="1"/>
              <p:nvPr/>
            </p:nvSpPr>
            <p:spPr>
              <a:xfrm>
                <a:off x="3722086" y="4695510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C94C173-460F-4598-85ED-8CE5BD2E2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2086" y="4695510"/>
                <a:ext cx="43204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4464F9A-F2CC-4D8C-95E7-8464F04C2F4B}"/>
              </a:ext>
            </a:extLst>
          </p:cNvPr>
          <p:cNvCxnSpPr>
            <a:cxnSpLocks/>
          </p:cNvCxnSpPr>
          <p:nvPr/>
        </p:nvCxnSpPr>
        <p:spPr>
          <a:xfrm flipV="1">
            <a:off x="2179320" y="4351119"/>
            <a:ext cx="14305" cy="1197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CBC2433-FCD4-4A99-943F-84B573DDF96F}"/>
                  </a:ext>
                </a:extLst>
              </p:cNvPr>
              <p:cNvSpPr txBox="1"/>
              <p:nvPr/>
            </p:nvSpPr>
            <p:spPr>
              <a:xfrm>
                <a:off x="1992025" y="3981787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CBC2433-FCD4-4A99-943F-84B573DDF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025" y="3981787"/>
                <a:ext cx="432048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BDD36CBC-E804-4272-A924-EA67C4032E33}"/>
              </a:ext>
            </a:extLst>
          </p:cNvPr>
          <p:cNvSpPr/>
          <p:nvPr/>
        </p:nvSpPr>
        <p:spPr>
          <a:xfrm>
            <a:off x="835502" y="4161933"/>
            <a:ext cx="2525945" cy="1272373"/>
          </a:xfrm>
          <a:custGeom>
            <a:avLst/>
            <a:gdLst>
              <a:gd name="connsiteX0" fmla="*/ 0 w 2148840"/>
              <a:gd name="connsiteY0" fmla="*/ 2057400 h 2057400"/>
              <a:gd name="connsiteX1" fmla="*/ 1112520 w 2148840"/>
              <a:gd name="connsiteY1" fmla="*/ 1028700 h 2057400"/>
              <a:gd name="connsiteX2" fmla="*/ 2148840 w 2148840"/>
              <a:gd name="connsiteY2" fmla="*/ 0 h 2057400"/>
              <a:gd name="connsiteX0" fmla="*/ 0 w 2148840"/>
              <a:gd name="connsiteY0" fmla="*/ 2058342 h 2058342"/>
              <a:gd name="connsiteX1" fmla="*/ 1112520 w 2148840"/>
              <a:gd name="connsiteY1" fmla="*/ 1029642 h 2058342"/>
              <a:gd name="connsiteX2" fmla="*/ 2148840 w 2148840"/>
              <a:gd name="connsiteY2" fmla="*/ 942 h 2058342"/>
              <a:gd name="connsiteX0" fmla="*/ 0 w 2148840"/>
              <a:gd name="connsiteY0" fmla="*/ 2058342 h 2058342"/>
              <a:gd name="connsiteX1" fmla="*/ 1112520 w 2148840"/>
              <a:gd name="connsiteY1" fmla="*/ 1029642 h 2058342"/>
              <a:gd name="connsiteX2" fmla="*/ 2148840 w 2148840"/>
              <a:gd name="connsiteY2" fmla="*/ 942 h 2058342"/>
              <a:gd name="connsiteX0" fmla="*/ 0 w 2148840"/>
              <a:gd name="connsiteY0" fmla="*/ 2058415 h 2058415"/>
              <a:gd name="connsiteX1" fmla="*/ 1112520 w 2148840"/>
              <a:gd name="connsiteY1" fmla="*/ 1029715 h 2058415"/>
              <a:gd name="connsiteX2" fmla="*/ 2148840 w 2148840"/>
              <a:gd name="connsiteY2" fmla="*/ 1015 h 2058415"/>
              <a:gd name="connsiteX0" fmla="*/ 0 w 2148840"/>
              <a:gd name="connsiteY0" fmla="*/ 2058446 h 2058446"/>
              <a:gd name="connsiteX1" fmla="*/ 1112520 w 2148840"/>
              <a:gd name="connsiteY1" fmla="*/ 1029746 h 2058446"/>
              <a:gd name="connsiteX2" fmla="*/ 2148840 w 2148840"/>
              <a:gd name="connsiteY2" fmla="*/ 1046 h 2058446"/>
              <a:gd name="connsiteX0" fmla="*/ 0 w 2148840"/>
              <a:gd name="connsiteY0" fmla="*/ 2058386 h 2058386"/>
              <a:gd name="connsiteX1" fmla="*/ 1112520 w 2148840"/>
              <a:gd name="connsiteY1" fmla="*/ 1029686 h 2058386"/>
              <a:gd name="connsiteX2" fmla="*/ 2148840 w 2148840"/>
              <a:gd name="connsiteY2" fmla="*/ 986 h 2058386"/>
              <a:gd name="connsiteX0" fmla="*/ 0 w 2148840"/>
              <a:gd name="connsiteY0" fmla="*/ 2057400 h 2057400"/>
              <a:gd name="connsiteX1" fmla="*/ 1112520 w 2148840"/>
              <a:gd name="connsiteY1" fmla="*/ 1028700 h 2057400"/>
              <a:gd name="connsiteX2" fmla="*/ 2148840 w 2148840"/>
              <a:gd name="connsiteY2" fmla="*/ 0 h 2057400"/>
              <a:gd name="connsiteX0" fmla="*/ 0 w 2148840"/>
              <a:gd name="connsiteY0" fmla="*/ 2057499 h 2057499"/>
              <a:gd name="connsiteX1" fmla="*/ 1112520 w 2148840"/>
              <a:gd name="connsiteY1" fmla="*/ 1028799 h 2057499"/>
              <a:gd name="connsiteX2" fmla="*/ 2148840 w 2148840"/>
              <a:gd name="connsiteY2" fmla="*/ 99 h 2057499"/>
              <a:gd name="connsiteX0" fmla="*/ 0 w 2336958"/>
              <a:gd name="connsiteY0" fmla="*/ 2092960 h 2092961"/>
              <a:gd name="connsiteX1" fmla="*/ 1300638 w 2336958"/>
              <a:gd name="connsiteY1" fmla="*/ 1028797 h 2092961"/>
              <a:gd name="connsiteX2" fmla="*/ 2336958 w 2336958"/>
              <a:gd name="connsiteY2" fmla="*/ 97 h 2092961"/>
              <a:gd name="connsiteX0" fmla="*/ 0 w 2336958"/>
              <a:gd name="connsiteY0" fmla="*/ 2092960 h 2092959"/>
              <a:gd name="connsiteX1" fmla="*/ 1300638 w 2336958"/>
              <a:gd name="connsiteY1" fmla="*/ 1028797 h 2092959"/>
              <a:gd name="connsiteX2" fmla="*/ 2336958 w 2336958"/>
              <a:gd name="connsiteY2" fmla="*/ 97 h 2092959"/>
              <a:gd name="connsiteX0" fmla="*/ 0 w 2336958"/>
              <a:gd name="connsiteY0" fmla="*/ 2092972 h 2092972"/>
              <a:gd name="connsiteX1" fmla="*/ 1300638 w 2336958"/>
              <a:gd name="connsiteY1" fmla="*/ 1028809 h 2092972"/>
              <a:gd name="connsiteX2" fmla="*/ 2336958 w 2336958"/>
              <a:gd name="connsiteY2" fmla="*/ 109 h 2092972"/>
              <a:gd name="connsiteX0" fmla="*/ 0 w 3172046"/>
              <a:gd name="connsiteY0" fmla="*/ 2092972 h 2092972"/>
              <a:gd name="connsiteX1" fmla="*/ 2135726 w 3172046"/>
              <a:gd name="connsiteY1" fmla="*/ 1028809 h 2092972"/>
              <a:gd name="connsiteX2" fmla="*/ 3172046 w 3172046"/>
              <a:gd name="connsiteY2" fmla="*/ 109 h 2092972"/>
              <a:gd name="connsiteX0" fmla="*/ 0 w 3172046"/>
              <a:gd name="connsiteY0" fmla="*/ 2092972 h 2092972"/>
              <a:gd name="connsiteX1" fmla="*/ 2135726 w 3172046"/>
              <a:gd name="connsiteY1" fmla="*/ 1028809 h 2092972"/>
              <a:gd name="connsiteX2" fmla="*/ 3172046 w 3172046"/>
              <a:gd name="connsiteY2" fmla="*/ 109 h 2092972"/>
              <a:gd name="connsiteX0" fmla="*/ 0 w 3844756"/>
              <a:gd name="connsiteY0" fmla="*/ 2105578 h 2105578"/>
              <a:gd name="connsiteX1" fmla="*/ 2135726 w 3844756"/>
              <a:gd name="connsiteY1" fmla="*/ 1041415 h 2105578"/>
              <a:gd name="connsiteX2" fmla="*/ 3844756 w 3844756"/>
              <a:gd name="connsiteY2" fmla="*/ 106 h 2105578"/>
              <a:gd name="connsiteX0" fmla="*/ 0 w 3844756"/>
              <a:gd name="connsiteY0" fmla="*/ 2105472 h 2105472"/>
              <a:gd name="connsiteX1" fmla="*/ 2135726 w 3844756"/>
              <a:gd name="connsiteY1" fmla="*/ 1041309 h 2105472"/>
              <a:gd name="connsiteX2" fmla="*/ 3844756 w 3844756"/>
              <a:gd name="connsiteY2" fmla="*/ 0 h 2105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44756" h="2105472">
                <a:moveTo>
                  <a:pt x="0" y="2105472"/>
                </a:moveTo>
                <a:cubicBezTo>
                  <a:pt x="1678446" y="2004053"/>
                  <a:pt x="1836721" y="1480750"/>
                  <a:pt x="2135726" y="1041309"/>
                </a:cubicBezTo>
                <a:cubicBezTo>
                  <a:pt x="2453781" y="613691"/>
                  <a:pt x="2323712" y="217502"/>
                  <a:pt x="3844756" y="0"/>
                </a:cubicBezTo>
              </a:path>
            </a:pathLst>
          </a:cu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1C57422-04CE-4840-BA55-5B1B7DB54130}"/>
                  </a:ext>
                </a:extLst>
              </p:cNvPr>
              <p:cNvSpPr txBox="1"/>
              <p:nvPr/>
            </p:nvSpPr>
            <p:spPr>
              <a:xfrm>
                <a:off x="3132972" y="3776047"/>
                <a:ext cx="1368632" cy="443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1C57422-04CE-4840-BA55-5B1B7DB54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2972" y="3776047"/>
                <a:ext cx="1368632" cy="44313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C176142-1B48-4B94-B0E0-58F4DD6763F6}"/>
              </a:ext>
            </a:extLst>
          </p:cNvPr>
          <p:cNvCxnSpPr>
            <a:cxnSpLocks/>
          </p:cNvCxnSpPr>
          <p:nvPr/>
        </p:nvCxnSpPr>
        <p:spPr>
          <a:xfrm flipV="1">
            <a:off x="1365250" y="4146550"/>
            <a:ext cx="1720850" cy="7175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8702CF2-3194-4F79-89FD-97DB66D0EC65}"/>
              </a:ext>
            </a:extLst>
          </p:cNvPr>
          <p:cNvCxnSpPr>
            <a:cxnSpLocks/>
          </p:cNvCxnSpPr>
          <p:nvPr/>
        </p:nvCxnSpPr>
        <p:spPr>
          <a:xfrm flipV="1">
            <a:off x="977900" y="4883150"/>
            <a:ext cx="2438400" cy="584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BEED8DA-7D42-4AFA-B919-C366AB5E06A9}"/>
              </a:ext>
            </a:extLst>
          </p:cNvPr>
          <p:cNvCxnSpPr>
            <a:cxnSpLocks/>
          </p:cNvCxnSpPr>
          <p:nvPr/>
        </p:nvCxnSpPr>
        <p:spPr>
          <a:xfrm flipV="1">
            <a:off x="727075" y="5457825"/>
            <a:ext cx="542925" cy="730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B5168F3-0E83-4E63-A6E7-2DF67CF4DD24}"/>
                  </a:ext>
                </a:extLst>
              </p:cNvPr>
              <p:cNvSpPr txBox="1"/>
              <p:nvPr/>
            </p:nvSpPr>
            <p:spPr>
              <a:xfrm>
                <a:off x="2562647" y="4790031"/>
                <a:ext cx="24722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05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B5168F3-0E83-4E63-A6E7-2DF67CF4D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2647" y="4790031"/>
                <a:ext cx="247228" cy="261610"/>
              </a:xfrm>
              <a:prstGeom prst="rect">
                <a:avLst/>
              </a:prstGeom>
              <a:blipFill>
                <a:blip r:embed="rId10"/>
                <a:stretch>
                  <a:fillRect r="-2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CDFFD7C-07F4-4763-BEFA-A4CDFA3144C9}"/>
                  </a:ext>
                </a:extLst>
              </p:cNvPr>
              <p:cNvSpPr txBox="1"/>
              <p:nvPr/>
            </p:nvSpPr>
            <p:spPr>
              <a:xfrm>
                <a:off x="1154590" y="4783596"/>
                <a:ext cx="24722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05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CDFFD7C-07F4-4763-BEFA-A4CDFA314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590" y="4783596"/>
                <a:ext cx="247228" cy="2616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C6348F4-3105-418D-9C85-E23C8DE78FEF}"/>
              </a:ext>
            </a:extLst>
          </p:cNvPr>
          <p:cNvCxnSpPr>
            <a:cxnSpLocks/>
          </p:cNvCxnSpPr>
          <p:nvPr/>
        </p:nvCxnSpPr>
        <p:spPr>
          <a:xfrm flipH="1">
            <a:off x="2714625" y="4314825"/>
            <a:ext cx="9525" cy="555625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35B709E-A8A1-454E-8F1C-C1F763ACECD3}"/>
              </a:ext>
            </a:extLst>
          </p:cNvPr>
          <p:cNvCxnSpPr>
            <a:cxnSpLocks/>
          </p:cNvCxnSpPr>
          <p:nvPr/>
        </p:nvCxnSpPr>
        <p:spPr>
          <a:xfrm flipH="1">
            <a:off x="1362075" y="4864101"/>
            <a:ext cx="4947" cy="501649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2836B1E-C40C-4ECD-A6D5-284FEC02BF58}"/>
                  </a:ext>
                </a:extLst>
              </p:cNvPr>
              <p:cNvSpPr txBox="1"/>
              <p:nvPr/>
            </p:nvSpPr>
            <p:spPr>
              <a:xfrm>
                <a:off x="3257709" y="4871286"/>
                <a:ext cx="24722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05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2836B1E-C40C-4ECD-A6D5-284FEC02B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7709" y="4871286"/>
                <a:ext cx="247228" cy="261610"/>
              </a:xfrm>
              <a:prstGeom prst="rect">
                <a:avLst/>
              </a:prstGeom>
              <a:blipFill>
                <a:blip r:embed="rId12"/>
                <a:stretch>
                  <a:fillRect r="-2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91B7B28-A1FE-4F56-BAD9-E95B44470785}"/>
                  </a:ext>
                </a:extLst>
              </p:cNvPr>
              <p:cNvSpPr txBox="1"/>
              <p:nvPr/>
            </p:nvSpPr>
            <p:spPr>
              <a:xfrm>
                <a:off x="4665590" y="3934444"/>
                <a:ext cx="4066954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Newton-Raphson also suffers from the same drawbacks as solving by iteration, in that it’s possible for the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to </a:t>
                </a:r>
                <a:r>
                  <a:rPr lang="en-GB" b="1" dirty="0"/>
                  <a:t>diverge</a:t>
                </a:r>
                <a:r>
                  <a:rPr lang="en-GB" dirty="0"/>
                  <a:t>.</a:t>
                </a:r>
              </a:p>
              <a:p>
                <a:r>
                  <a:rPr lang="en-GB" dirty="0"/>
                  <a:t>In this example,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oscillate either side of 0, but gradually getting further away from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91B7B28-A1FE-4F56-BAD9-E95B44470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5590" y="3934444"/>
                <a:ext cx="4066954" cy="2031325"/>
              </a:xfrm>
              <a:prstGeom prst="rect">
                <a:avLst/>
              </a:prstGeom>
              <a:blipFill>
                <a:blip r:embed="rId13"/>
                <a:stretch>
                  <a:fillRect l="-1198" t="-1497" r="-299" b="-35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C217DA8-FB1A-4094-AEF6-3F637139FC37}"/>
              </a:ext>
            </a:extLst>
          </p:cNvPr>
          <p:cNvCxnSpPr/>
          <p:nvPr/>
        </p:nvCxnSpPr>
        <p:spPr>
          <a:xfrm>
            <a:off x="0" y="3645024"/>
            <a:ext cx="91428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05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  <p:bldP spid="30" grpId="0" animBg="1"/>
      <p:bldP spid="32" grpId="0"/>
      <p:bldP spid="52" grpId="0"/>
      <p:bldP spid="66" grpId="0"/>
      <p:bldP spid="74" grpId="0"/>
      <p:bldP spid="7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10.3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/>
              <a:t>Page 84</a:t>
            </a:r>
            <a:endParaRPr lang="en-GB" sz="24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9EC4248-347C-EAE6-2DCB-BB0FEB5A4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965" y="840060"/>
            <a:ext cx="6638925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C31101E-1274-2174-4923-8697DB121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909637"/>
            <a:ext cx="6591300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FB07105-341F-C824-B593-8799F3C90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186871"/>
            <a:ext cx="6829425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416BED2-995B-C573-85DE-C53583D3D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4" y="980728"/>
            <a:ext cx="9144000" cy="5208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2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61752</TotalTime>
  <Words>608</Words>
  <Application>Microsoft Office PowerPoint</Application>
  <PresentationFormat>On-screen Show (4:3)</PresentationFormat>
  <Paragraphs>102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 Math</vt:lpstr>
      <vt:lpstr>Wingdings</vt:lpstr>
      <vt:lpstr>Office Theme</vt:lpstr>
      <vt:lpstr>P2 Chapter 10: Numerical Methods  Newton-Raphson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2026-03-27T09:43:29Z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