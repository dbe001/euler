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8"/>
  </p:notesMasterIdLst>
  <p:sldIdLst>
    <p:sldId id="547" r:id="rId5"/>
    <p:sldId id="484" r:id="rId6"/>
    <p:sldId id="553" r:id="rId7"/>
    <p:sldId id="496" r:id="rId8"/>
    <p:sldId id="497" r:id="rId9"/>
    <p:sldId id="502" r:id="rId10"/>
    <p:sldId id="504" r:id="rId11"/>
    <p:sldId id="549" r:id="rId12"/>
    <p:sldId id="543" r:id="rId13"/>
    <p:sldId id="550" r:id="rId14"/>
    <p:sldId id="551" r:id="rId15"/>
    <p:sldId id="545" r:id="rId16"/>
    <p:sldId id="552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CE1161-A864-4686-B5E1-A107BC26934F}" v="4" dt="2026-03-26T10:18:06.18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12" d="100"/>
          <a:sy n="112" d="100"/>
        </p:scale>
        <p:origin x="1518" y="108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B47B330E-67D7-47E6-A6C8-686253D34652}"/>
    <pc:docChg chg="custSel addSld delSld modSld">
      <pc:chgData name="Dieter Beaven" userId="9bbdb69f-69d0-4759-aa9b-5c090a2da237" providerId="ADAL" clId="{B47B330E-67D7-47E6-A6C8-686253D34652}" dt="2026-03-26T10:18:10.126" v="23" actId="47"/>
      <pc:docMkLst>
        <pc:docMk/>
      </pc:docMkLst>
      <pc:sldChg chg="del">
        <pc:chgData name="Dieter Beaven" userId="9bbdb69f-69d0-4759-aa9b-5c090a2da237" providerId="ADAL" clId="{B47B330E-67D7-47E6-A6C8-686253D34652}" dt="2026-03-26T10:18:10.126" v="23" actId="47"/>
        <pc:sldMkLst>
          <pc:docMk/>
          <pc:sldMk cId="1713493378" sldId="485"/>
        </pc:sldMkLst>
      </pc:sldChg>
      <pc:sldChg chg="addSp mod">
        <pc:chgData name="Dieter Beaven" userId="9bbdb69f-69d0-4759-aa9b-5c090a2da237" providerId="ADAL" clId="{B47B330E-67D7-47E6-A6C8-686253D34652}" dt="2026-03-26T10:14:46.423" v="14" actId="22"/>
        <pc:sldMkLst>
          <pc:docMk/>
          <pc:sldMk cId="3896053727" sldId="543"/>
        </pc:sldMkLst>
        <pc:picChg chg="add">
          <ac:chgData name="Dieter Beaven" userId="9bbdb69f-69d0-4759-aa9b-5c090a2da237" providerId="ADAL" clId="{B47B330E-67D7-47E6-A6C8-686253D34652}" dt="2026-03-26T10:14:46.423" v="14" actId="22"/>
          <ac:picMkLst>
            <pc:docMk/>
            <pc:sldMk cId="3896053727" sldId="543"/>
            <ac:picMk id="6" creationId="{024F37F9-8322-1DCC-FA85-40BE9D3BD654}"/>
          </ac:picMkLst>
        </pc:picChg>
      </pc:sldChg>
      <pc:sldChg chg="addSp delSp modSp mod">
        <pc:chgData name="Dieter Beaven" userId="9bbdb69f-69d0-4759-aa9b-5c090a2da237" providerId="ADAL" clId="{B47B330E-67D7-47E6-A6C8-686253D34652}" dt="2026-03-12T14:05:19.164" v="12" actId="1076"/>
        <pc:sldMkLst>
          <pc:docMk/>
          <pc:sldMk cId="3458699803" sldId="545"/>
        </pc:sldMkLst>
        <pc:picChg chg="add mod">
          <ac:chgData name="Dieter Beaven" userId="9bbdb69f-69d0-4759-aa9b-5c090a2da237" providerId="ADAL" clId="{B47B330E-67D7-47E6-A6C8-686253D34652}" dt="2026-03-12T14:05:19.164" v="12" actId="1076"/>
          <ac:picMkLst>
            <pc:docMk/>
            <pc:sldMk cId="3458699803" sldId="545"/>
            <ac:picMk id="8" creationId="{B2837A05-8AE7-EF70-C568-8C3A33CCCE4B}"/>
          </ac:picMkLst>
        </pc:picChg>
      </pc:sldChg>
      <pc:sldChg chg="addSp mod">
        <pc:chgData name="Dieter Beaven" userId="9bbdb69f-69d0-4759-aa9b-5c090a2da237" providerId="ADAL" clId="{B47B330E-67D7-47E6-A6C8-686253D34652}" dt="2026-03-26T10:15:15.757" v="15" actId="22"/>
        <pc:sldMkLst>
          <pc:docMk/>
          <pc:sldMk cId="4091202299" sldId="550"/>
        </pc:sldMkLst>
        <pc:picChg chg="add">
          <ac:chgData name="Dieter Beaven" userId="9bbdb69f-69d0-4759-aa9b-5c090a2da237" providerId="ADAL" clId="{B47B330E-67D7-47E6-A6C8-686253D34652}" dt="2026-03-26T10:15:15.757" v="15" actId="22"/>
          <ac:picMkLst>
            <pc:docMk/>
            <pc:sldMk cId="4091202299" sldId="550"/>
            <ac:picMk id="6" creationId="{6D20592B-E55E-583D-8649-28D607A02106}"/>
          </ac:picMkLst>
        </pc:picChg>
      </pc:sldChg>
      <pc:sldChg chg="addSp modSp mod">
        <pc:chgData name="Dieter Beaven" userId="9bbdb69f-69d0-4759-aa9b-5c090a2da237" providerId="ADAL" clId="{B47B330E-67D7-47E6-A6C8-686253D34652}" dt="2026-03-26T10:15:44.525" v="19" actId="1076"/>
        <pc:sldMkLst>
          <pc:docMk/>
          <pc:sldMk cId="3826585799" sldId="551"/>
        </pc:sldMkLst>
        <pc:picChg chg="add mod">
          <ac:chgData name="Dieter Beaven" userId="9bbdb69f-69d0-4759-aa9b-5c090a2da237" providerId="ADAL" clId="{B47B330E-67D7-47E6-A6C8-686253D34652}" dt="2026-03-26T10:15:44.525" v="19" actId="1076"/>
          <ac:picMkLst>
            <pc:docMk/>
            <pc:sldMk cId="3826585799" sldId="551"/>
            <ac:picMk id="6" creationId="{A61FE0C5-0DCD-F384-1887-A021D3E034E1}"/>
          </ac:picMkLst>
        </pc:picChg>
      </pc:sldChg>
      <pc:sldChg chg="addSp modSp mod">
        <pc:chgData name="Dieter Beaven" userId="9bbdb69f-69d0-4759-aa9b-5c090a2da237" providerId="ADAL" clId="{B47B330E-67D7-47E6-A6C8-686253D34652}" dt="2026-03-12T14:05:15.659" v="11" actId="1076"/>
        <pc:sldMkLst>
          <pc:docMk/>
          <pc:sldMk cId="2531956736" sldId="552"/>
        </pc:sldMkLst>
        <pc:picChg chg="add mod">
          <ac:chgData name="Dieter Beaven" userId="9bbdb69f-69d0-4759-aa9b-5c090a2da237" providerId="ADAL" clId="{B47B330E-67D7-47E6-A6C8-686253D34652}" dt="2026-03-12T14:05:15.659" v="11" actId="1076"/>
          <ac:picMkLst>
            <pc:docMk/>
            <pc:sldMk cId="2531956736" sldId="552"/>
            <ac:picMk id="6" creationId="{BDD47F02-DD86-1A70-9CAA-D6B1E402A44C}"/>
          </ac:picMkLst>
        </pc:picChg>
      </pc:sldChg>
      <pc:sldChg chg="add">
        <pc:chgData name="Dieter Beaven" userId="9bbdb69f-69d0-4759-aa9b-5c090a2da237" providerId="ADAL" clId="{B47B330E-67D7-47E6-A6C8-686253D34652}" dt="2026-03-26T10:18:06.185" v="22"/>
        <pc:sldMkLst>
          <pc:docMk/>
          <pc:sldMk cId="399298090" sldId="553"/>
        </pc:sldMkLst>
      </pc:sldChg>
      <pc:sldChg chg="add del">
        <pc:chgData name="Dieter Beaven" userId="9bbdb69f-69d0-4759-aa9b-5c090a2da237" providerId="ADAL" clId="{B47B330E-67D7-47E6-A6C8-686253D34652}" dt="2026-03-26T10:15:46.681" v="20" actId="47"/>
        <pc:sldMkLst>
          <pc:docMk/>
          <pc:sldMk cId="554311253" sldId="553"/>
        </pc:sldMkLst>
      </pc:sldChg>
      <pc:sldChg chg="add del">
        <pc:chgData name="Dieter Beaven" userId="9bbdb69f-69d0-4759-aa9b-5c090a2da237" providerId="ADAL" clId="{B47B330E-67D7-47E6-A6C8-686253D34652}" dt="2026-03-26T10:15:47.243" v="21" actId="47"/>
        <pc:sldMkLst>
          <pc:docMk/>
          <pc:sldMk cId="3186482206" sldId="55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26/03/2026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10.png"/><Relationship Id="rId3" Type="http://schemas.openxmlformats.org/officeDocument/2006/relationships/image" Target="../media/image910.png"/><Relationship Id="rId7" Type="http://schemas.openxmlformats.org/officeDocument/2006/relationships/image" Target="../media/image710.png"/><Relationship Id="rId2" Type="http://schemas.openxmlformats.org/officeDocument/2006/relationships/image" Target="../media/image8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510.png"/><Relationship Id="rId10" Type="http://schemas.openxmlformats.org/officeDocument/2006/relationships/image" Target="../media/image13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0.png"/><Relationship Id="rId5" Type="http://schemas.openxmlformats.org/officeDocument/2006/relationships/image" Target="../media/image119.png"/><Relationship Id="rId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P2 Chapter 10: </a:t>
            </a:r>
            <a:r>
              <a:rPr lang="en-GB" dirty="0">
                <a:solidFill>
                  <a:schemeClr val="accent5"/>
                </a:solidFill>
              </a:rPr>
              <a:t>Numerical Methods</a:t>
            </a:r>
            <a:br>
              <a:rPr lang="en-GB" dirty="0"/>
            </a:br>
            <a:br>
              <a:rPr lang="en-GB"/>
            </a:br>
            <a:r>
              <a:rPr lang="en-GB"/>
              <a:t>Locating Roots </a:t>
            </a:r>
            <a:endParaRPr lang="en-GB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Why do we need numerical methods?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79512" y="764704"/>
                <a:ext cx="8712968" cy="14157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Finding the root of a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is to:</a:t>
                </a:r>
              </a:p>
              <a:p>
                <a:r>
                  <a:rPr lang="en-GB" b="1" dirty="0"/>
                  <a:t>solve the equation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GB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  <m:r>
                      <a:rPr lang="en-GB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𝟎</m:t>
                    </m:r>
                  </m:oMath>
                </a14:m>
                <a:endParaRPr lang="en-GB" b="1" dirty="0"/>
              </a:p>
              <a:p>
                <a:r>
                  <a:rPr lang="en-GB" sz="1200" b="1" dirty="0"/>
                  <a:t>(i.e. the inputs such that the output of the function is 0)</a:t>
                </a:r>
              </a:p>
              <a:p>
                <a:endParaRPr lang="en-GB" dirty="0"/>
              </a:p>
              <a:p>
                <a:r>
                  <a:rPr lang="en-GB" dirty="0"/>
                  <a:t>However, for some functions, the ‘exact’ root is either complicated and difficult to calculate: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512" y="764704"/>
                <a:ext cx="8712968" cy="1415772"/>
              </a:xfrm>
              <a:prstGeom prst="rect">
                <a:avLst/>
              </a:prstGeom>
              <a:blipFill>
                <a:blip r:embed="rId2"/>
                <a:stretch>
                  <a:fillRect l="-559" t="-2146" r="-559" b="-34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64857" y="2252173"/>
                <a:ext cx="3168352" cy="3755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sSup>
                        <m:sSup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57" y="2252173"/>
                <a:ext cx="3168352" cy="37555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ight Arrow 7"/>
          <p:cNvSpPr/>
          <p:nvPr/>
        </p:nvSpPr>
        <p:spPr>
          <a:xfrm>
            <a:off x="3761201" y="2252173"/>
            <a:ext cx="576064" cy="3693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/>
          <p:cNvSpPr txBox="1"/>
          <p:nvPr/>
        </p:nvSpPr>
        <p:spPr>
          <a:xfrm>
            <a:off x="323528" y="2820662"/>
            <a:ext cx="8568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or there’s no ‘algebraic’ expression at all! (involving roots, logs, sin, cos, etc.)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34253" y="3675536"/>
                <a:ext cx="316835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b="1" i="0" smtClean="0"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253" y="3675536"/>
                <a:ext cx="3168352" cy="369332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ight Arrow 10"/>
          <p:cNvSpPr/>
          <p:nvPr/>
        </p:nvSpPr>
        <p:spPr>
          <a:xfrm>
            <a:off x="3779912" y="3675536"/>
            <a:ext cx="576064" cy="369332"/>
          </a:xfrm>
          <a:prstGeom prst="right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/>
          <p:cNvSpPr txBox="1"/>
          <p:nvPr/>
        </p:nvSpPr>
        <p:spPr>
          <a:xfrm>
            <a:off x="4674476" y="3675536"/>
            <a:ext cx="34203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Exact solution not expressible </a:t>
            </a:r>
            <a:r>
              <a:rPr lang="en-GB" b="1" dirty="0">
                <a:sym typeface="Wingdings" panose="05000000000000000000" pitchFamily="2" charset="2"/>
              </a:rPr>
              <a:t></a:t>
            </a:r>
            <a:endParaRPr lang="en-GB" b="1" dirty="0"/>
          </a:p>
        </p:txBody>
      </p:sp>
      <p:sp>
        <p:nvSpPr>
          <p:cNvPr id="14" name="Rectangle 13"/>
          <p:cNvSpPr/>
          <p:nvPr/>
        </p:nvSpPr>
        <p:spPr>
          <a:xfrm>
            <a:off x="4607578" y="3400188"/>
            <a:ext cx="4131145" cy="817344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8456" y="1111778"/>
            <a:ext cx="3762043" cy="463022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pic>
        <p:nvPicPr>
          <p:cNvPr id="1026" name="Picture 2" descr="Graph Plo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253" y="4365104"/>
            <a:ext cx="3637912" cy="22469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 rot="19990968">
                <a:off x="2272436" y="4803359"/>
                <a:ext cx="2016224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400" b="1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GB" sz="1400" b="1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400" b="1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en-GB" sz="1400" b="1" i="1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unc>
                        <m:funcPr>
                          <m:ctrlPr>
                            <a:rPr lang="en-GB" sz="1400" b="1" i="1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GB" sz="1400" b="1" i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𝐜𝐨𝐬</m:t>
                          </m:r>
                        </m:fName>
                        <m:e>
                          <m:d>
                            <m:dPr>
                              <m:ctrlPr>
                                <a:rPr lang="en-GB" sz="1400" b="1" i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400" b="1" i="1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GB" sz="14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990968">
                <a:off x="2272436" y="4803359"/>
                <a:ext cx="2016224" cy="307777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/>
          <p:cNvSpPr txBox="1"/>
          <p:nvPr/>
        </p:nvSpPr>
        <p:spPr>
          <a:xfrm>
            <a:off x="2699792" y="6132253"/>
            <a:ext cx="8420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Root</a:t>
            </a:r>
          </a:p>
        </p:txBody>
      </p:sp>
      <p:cxnSp>
        <p:nvCxnSpPr>
          <p:cNvPr id="19" name="Straight Arrow Connector 18"/>
          <p:cNvCxnSpPr>
            <a:stCxn id="17" idx="0"/>
          </p:cNvCxnSpPr>
          <p:nvPr/>
        </p:nvCxnSpPr>
        <p:spPr>
          <a:xfrm flipH="1" flipV="1">
            <a:off x="2732185" y="5530467"/>
            <a:ext cx="388638" cy="601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4820282" y="4643034"/>
                <a:ext cx="3641940" cy="1754326"/>
              </a:xfrm>
              <a:prstGeom prst="rect">
                <a:avLst/>
              </a:prstGeom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dirty="0"/>
                  <a:t>But there are a variety of ‘numerical methods’ which get progressively better solutions to an equation in the form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You have already seen ‘iteration’ at GCSE as one such method.</a:t>
                </a:r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0282" y="4643034"/>
                <a:ext cx="3641940" cy="175432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D27665-CF3A-45F7-91C6-82FC546026C5}"/>
                  </a:ext>
                </a:extLst>
              </p:cNvPr>
              <p:cNvSpPr txBox="1"/>
              <p:nvPr/>
            </p:nvSpPr>
            <p:spPr>
              <a:xfrm>
                <a:off x="4355976" y="658102"/>
                <a:ext cx="4674984" cy="938719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100" b="1" dirty="0"/>
                  <a:t>Terminology Pedantry</a:t>
                </a:r>
                <a:r>
                  <a:rPr lang="en-GB" sz="1100" dirty="0"/>
                  <a:t>: We often say “</a:t>
                </a:r>
                <a:r>
                  <a:rPr lang="en-GB" sz="1100" i="1" dirty="0"/>
                  <a:t>Find the roots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100" dirty="0"/>
                  <a:t>”, i.e. an </a:t>
                </a:r>
                <a:r>
                  <a:rPr lang="en-GB" sz="1100" b="1" u="sng" dirty="0"/>
                  <a:t>equation</a:t>
                </a:r>
                <a:r>
                  <a:rPr lang="en-GB" sz="1100" dirty="0"/>
                  <a:t> in the form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100" dirty="0"/>
                  <a:t>, which really means “</a:t>
                </a:r>
                <a:r>
                  <a:rPr lang="en-GB" sz="1100" i="1" dirty="0"/>
                  <a:t>Find the roots of the function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100" dirty="0"/>
                  <a:t> where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”. But we </a:t>
                </a:r>
                <a:r>
                  <a:rPr lang="en-GB" sz="1100" u="sng" dirty="0"/>
                  <a:t>wouldn’t</a:t>
                </a:r>
                <a:r>
                  <a:rPr lang="en-GB" sz="1100" dirty="0"/>
                  <a:t> say “Find the roots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sz="11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11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=6</m:t>
                    </m:r>
                  </m:oMath>
                </a14:m>
                <a:r>
                  <a:rPr lang="en-GB" sz="1100" dirty="0"/>
                  <a:t>”, but “Find the </a:t>
                </a:r>
                <a:r>
                  <a:rPr lang="en-GB" sz="1100" b="1" dirty="0"/>
                  <a:t>solutions</a:t>
                </a:r>
                <a:r>
                  <a:rPr lang="en-GB" sz="1100" dirty="0"/>
                  <a:t> of…”. So to find roots is to find the </a:t>
                </a:r>
                <a14:m>
                  <m:oMath xmlns:m="http://schemas.openxmlformats.org/officeDocument/2006/math">
                    <m:r>
                      <a:rPr lang="en-GB" sz="11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100" dirty="0"/>
                  <a:t> such that the ‘</a:t>
                </a:r>
                <a:r>
                  <a:rPr lang="en-GB" sz="1100" b="1" u="sng" dirty="0"/>
                  <a:t>output</a:t>
                </a:r>
                <a:r>
                  <a:rPr lang="en-GB" sz="1100" dirty="0"/>
                  <a:t>’, </a:t>
                </a:r>
                <a:r>
                  <a:rPr lang="en-GB" sz="1100" b="1" u="sng" dirty="0"/>
                  <a:t>or one side of the equation</a:t>
                </a:r>
                <a:r>
                  <a:rPr lang="en-GB" sz="1100" dirty="0"/>
                  <a:t>, </a:t>
                </a:r>
                <a:r>
                  <a:rPr lang="en-GB" sz="1100" b="1" u="sng" dirty="0"/>
                  <a:t>is 0</a:t>
                </a:r>
                <a:r>
                  <a:rPr lang="en-GB" sz="1100" dirty="0"/>
                  <a:t>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D27665-CF3A-45F7-91C6-82FC54602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658102"/>
                <a:ext cx="4674984" cy="938719"/>
              </a:xfrm>
              <a:prstGeom prst="rect">
                <a:avLst/>
              </a:prstGeom>
              <a:blipFill>
                <a:blip r:embed="rId9"/>
                <a:stretch>
                  <a:fillRect b="-18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33058B-0BBE-4973-A254-2836FA5583B9}"/>
                  </a:ext>
                </a:extLst>
              </p:cNvPr>
              <p:cNvSpPr txBox="1"/>
              <p:nvPr/>
            </p:nvSpPr>
            <p:spPr>
              <a:xfrm>
                <a:off x="4165382" y="2068539"/>
                <a:ext cx="4953218" cy="7287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−2−</m:t>
                          </m:r>
                          <m:f>
                            <m:f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13</m:t>
                              </m:r>
                            </m:num>
                            <m:den>
                              <m:rad>
                                <m:radPr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deg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89−6</m:t>
                                  </m:r>
                                  <m:rad>
                                    <m:radPr>
                                      <m:degHide m:val="on"/>
                                      <m:ctrlP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600" b="0" i="1" smtClean="0">
                                          <a:latin typeface="Cambria Math" panose="02040503050406030204" pitchFamily="18" charset="0"/>
                                        </a:rPr>
                                        <m:t>159</m:t>
                                      </m:r>
                                    </m:e>
                                  </m:rad>
                                </m:e>
                              </m:rad>
                            </m:den>
                          </m:f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ad>
                            <m:radPr>
                              <m:ctrlP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deg>
                            <m:e>
                              <m:r>
                                <a:rPr lang="en-GB" sz="1600" b="0" i="1" smtClean="0">
                                  <a:latin typeface="Cambria Math" panose="02040503050406030204" pitchFamily="18" charset="0"/>
                                </a:rPr>
                                <m:t>89−6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600" b="0" i="1" smtClean="0">
                                      <a:latin typeface="Cambria Math" panose="02040503050406030204" pitchFamily="18" charset="0"/>
                                    </a:rPr>
                                    <m:t>159</m:t>
                                  </m:r>
                                </m:e>
                              </m:rad>
                            </m:e>
                          </m:rad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B33058B-0BBE-4973-A254-2836FA5583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5382" y="2068539"/>
                <a:ext cx="4953218" cy="72872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4566221" y="2115717"/>
            <a:ext cx="4120579" cy="66558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02023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87946-F5F7-3B8E-6BC2-53E64BA6E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5A866E6-4C5B-F956-5428-EC433D5E5288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E910A01-933C-D972-1146-28D2D3FC2C52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Proving a solution lies in a range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3C36A0C2-0765-DCA2-E2EA-8671F24BFCB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F90F13C-F9A3-B90E-D1FB-83872E7FB86B}"/>
                  </a:ext>
                </a:extLst>
              </p:cNvPr>
              <p:cNvSpPr txBox="1"/>
              <p:nvPr/>
            </p:nvSpPr>
            <p:spPr>
              <a:xfrm>
                <a:off x="827584" y="990823"/>
                <a:ext cx="6984776" cy="36933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Show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−3</m:t>
                    </m:r>
                  </m:oMath>
                </a14:m>
                <a:r>
                  <a:rPr lang="en-GB" dirty="0"/>
                  <a:t> has a root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=0.5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=0.6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990823"/>
                <a:ext cx="6984776" cy="369332"/>
              </a:xfrm>
              <a:prstGeom prst="rect">
                <a:avLst/>
              </a:prstGeom>
              <a:blipFill rotWithShape="0">
                <a:blip r:embed="rId2"/>
                <a:stretch>
                  <a:fillRect b="-4762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Graph Plot">
            <a:extLst>
              <a:ext uri="{FF2B5EF4-FFF2-40B4-BE49-F238E27FC236}">
                <a16:creationId xmlns:a16="http://schemas.microsoft.com/office/drawing/2014/main" id="{5BBAAF29-82FA-71DA-0D42-685C1D0C9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1751851"/>
            <a:ext cx="4392488" cy="2713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2346BA20-7973-53AE-3AE5-5ED44A2AA68D}"/>
                  </a:ext>
                </a:extLst>
              </p:cNvPr>
              <p:cNvSpPr txBox="1"/>
              <p:nvPr/>
            </p:nvSpPr>
            <p:spPr>
              <a:xfrm>
                <a:off x="5148064" y="2060848"/>
                <a:ext cx="3312368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=−0.351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0.6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=0.022…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There is a </a:t>
                </a:r>
                <a:r>
                  <a:rPr lang="en-GB" b="1" u="sng" dirty="0"/>
                  <a:t>change in sign</a:t>
                </a:r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b="1" dirty="0"/>
                  <a:t> is continuous</a:t>
                </a:r>
                <a:r>
                  <a:rPr lang="en-GB" dirty="0"/>
                  <a:t>, so root must lie between 0.5 and 0.6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8064" y="2060848"/>
                <a:ext cx="3312368" cy="1477328"/>
              </a:xfrm>
              <a:prstGeom prst="rect">
                <a:avLst/>
              </a:prstGeom>
              <a:blipFill>
                <a:blip r:embed="rId4"/>
                <a:stretch>
                  <a:fillRect l="-1471" r="-368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C404D8B1-BC4E-635E-3BA4-1473106A76C1}"/>
              </a:ext>
            </a:extLst>
          </p:cNvPr>
          <p:cNvSpPr txBox="1"/>
          <p:nvPr/>
        </p:nvSpPr>
        <p:spPr>
          <a:xfrm>
            <a:off x="6463494" y="4083200"/>
            <a:ext cx="2301742" cy="203132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Exam Tip: </a:t>
            </a:r>
            <a:r>
              <a:rPr lang="en-GB" dirty="0"/>
              <a:t>The mark scheme </a:t>
            </a:r>
            <a:r>
              <a:rPr lang="en-GB" dirty="0" err="1"/>
              <a:t>lookings</a:t>
            </a:r>
            <a:r>
              <a:rPr lang="en-GB" dirty="0"/>
              <a:t> for:</a:t>
            </a:r>
          </a:p>
          <a:p>
            <a:pPr marL="342900" indent="-342900">
              <a:buAutoNum type="arabicPeriod"/>
            </a:pPr>
            <a:r>
              <a:rPr lang="en-GB" dirty="0"/>
              <a:t>Finding the function output for the two values.</a:t>
            </a:r>
          </a:p>
          <a:p>
            <a:pPr marL="342900" indent="-342900">
              <a:buAutoNum type="arabicPeriod"/>
            </a:pPr>
            <a:r>
              <a:rPr lang="en-GB" dirty="0"/>
              <a:t>Referring to a ‘change in sign’.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439A96C-AECE-040F-F65A-782558801AD5}"/>
              </a:ext>
            </a:extLst>
          </p:cNvPr>
          <p:cNvGrpSpPr/>
          <p:nvPr/>
        </p:nvGrpSpPr>
        <p:grpSpPr>
          <a:xfrm>
            <a:off x="539552" y="4653136"/>
            <a:ext cx="4878542" cy="1917319"/>
            <a:chOff x="539552" y="4653136"/>
            <a:chExt cx="4878542" cy="1917319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EF5E6E27-3D2A-AB84-57FE-C73225C78D53}"/>
                </a:ext>
              </a:extLst>
            </p:cNvPr>
            <p:cNvCxnSpPr/>
            <p:nvPr/>
          </p:nvCxnSpPr>
          <p:spPr>
            <a:xfrm>
              <a:off x="539552" y="5751840"/>
              <a:ext cx="3384376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23D89661-4F9B-E28E-5693-74FCC3535CA0}"/>
                </a:ext>
              </a:extLst>
            </p:cNvPr>
            <p:cNvCxnSpPr/>
            <p:nvPr/>
          </p:nvCxnSpPr>
          <p:spPr>
            <a:xfrm flipV="1">
              <a:off x="1043608" y="4653136"/>
              <a:ext cx="0" cy="183736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DB6A38C0-3616-D2FC-07B5-C002FC34C097}"/>
                </a:ext>
              </a:extLst>
            </p:cNvPr>
            <p:cNvSpPr/>
            <p:nvPr/>
          </p:nvSpPr>
          <p:spPr>
            <a:xfrm>
              <a:off x="2123728" y="5949280"/>
              <a:ext cx="216024" cy="21602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AF0FB43-6E20-2B21-2E33-3C6E493A76D3}"/>
                </a:ext>
              </a:extLst>
            </p:cNvPr>
            <p:cNvSpPr/>
            <p:nvPr/>
          </p:nvSpPr>
          <p:spPr>
            <a:xfrm>
              <a:off x="2759355" y="5317312"/>
              <a:ext cx="216024" cy="216024"/>
            </a:xfrm>
            <a:prstGeom prst="ellipse">
              <a:avLst/>
            </a:prstGeom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4ABF5B19-9F75-FFE6-838E-C9267C019565}"/>
                    </a:ext>
                  </a:extLst>
                </p:cNvPr>
                <p:cNvSpPr txBox="1"/>
                <p:nvPr/>
              </p:nvSpPr>
              <p:spPr>
                <a:xfrm>
                  <a:off x="1475656" y="6201123"/>
                  <a:ext cx="1283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0.5,−0.351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5656" y="6201123"/>
                  <a:ext cx="1283699" cy="369332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 r="-8057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4E0DC8F-03A4-F404-FA1E-A8A53704638E}"/>
                    </a:ext>
                  </a:extLst>
                </p:cNvPr>
                <p:cNvSpPr txBox="1"/>
                <p:nvPr/>
              </p:nvSpPr>
              <p:spPr>
                <a:xfrm>
                  <a:off x="2596767" y="4868030"/>
                  <a:ext cx="128369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0.6, 0.022</m:t>
                            </m:r>
                          </m:e>
                        </m:d>
                      </m:oMath>
                    </m:oMathPara>
                  </a14:m>
                  <a:endParaRPr lang="en-GB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96767" y="4868030"/>
                  <a:ext cx="1283699" cy="369332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BC9708E9-EF99-AF81-41B3-BED44B5703B6}"/>
                    </a:ext>
                  </a:extLst>
                </p:cNvPr>
                <p:cNvSpPr txBox="1"/>
                <p:nvPr/>
              </p:nvSpPr>
              <p:spPr>
                <a:xfrm>
                  <a:off x="4013938" y="4780309"/>
                  <a:ext cx="1404156" cy="138499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1200" dirty="0"/>
                    <a:t>If the </a:t>
                  </a:r>
                  <a14:m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GB" sz="1200" dirty="0"/>
                    <a:t> value goes from negative to positive or vice versa, then clearly the </a:t>
                  </a:r>
                  <a14:m>
                    <m:oMath xmlns:m="http://schemas.openxmlformats.org/officeDocument/2006/math">
                      <m:r>
                        <a:rPr lang="en-GB" sz="1200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GB" sz="1200" dirty="0"/>
                    <a:t> values must pass 0 somewhere in between.</a:t>
                  </a: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13938" y="4780309"/>
                  <a:ext cx="1404156" cy="1384995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2643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5EBC1FA-36E8-2955-A604-005761FF145F}"/>
              </a:ext>
            </a:extLst>
          </p:cNvPr>
          <p:cNvSpPr/>
          <p:nvPr/>
        </p:nvSpPr>
        <p:spPr>
          <a:xfrm>
            <a:off x="5148064" y="1841260"/>
            <a:ext cx="3528392" cy="1764841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99298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</p:childTnLst>
        </p:cTn>
      </p:par>
    </p:tnLst>
    <p:bldLst>
      <p:bldP spid="7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5612A98-B9D7-4B07-B623-8B1C223B22D2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156D4F97-90AB-405E-822F-A34422A188EF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…but only if the function is continuous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9D8AF5CF-FD40-4D98-BD3B-471E7A4734F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1E949850-955D-431B-8B11-F167112653AB}"/>
              </a:ext>
            </a:extLst>
          </p:cNvPr>
          <p:cNvSpPr txBox="1"/>
          <p:nvPr/>
        </p:nvSpPr>
        <p:spPr>
          <a:xfrm>
            <a:off x="395536" y="836712"/>
            <a:ext cx="39604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Stupid Steve says: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peech Bubble: Oval 5">
                <a:extLst>
                  <a:ext uri="{FF2B5EF4-FFF2-40B4-BE49-F238E27FC236}">
                    <a16:creationId xmlns:a16="http://schemas.microsoft.com/office/drawing/2014/main" id="{B8C9DAAF-26A0-42C7-8E54-312553BF9A60}"/>
                  </a:ext>
                </a:extLst>
              </p:cNvPr>
              <p:cNvSpPr/>
              <p:nvPr/>
            </p:nvSpPr>
            <p:spPr>
              <a:xfrm>
                <a:off x="3707904" y="764704"/>
                <a:ext cx="3600400" cy="1775398"/>
              </a:xfrm>
              <a:prstGeom prst="wedgeEllipseCallout">
                <a:avLst>
                  <a:gd name="adj1" fmla="val -61723"/>
                  <a:gd name="adj2" fmla="val 46094"/>
                </a:avLst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1600" dirty="0"/>
                  <a:t>When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sz="1600" dirty="0"/>
                  <a:t>, then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GB" sz="1600" dirty="0"/>
                  <a:t> and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GB" sz="1600" dirty="0"/>
                  <a:t>. There is a change in sign therefore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sz="1600" dirty="0"/>
                  <a:t> has a root in the range [-1, 1] </a:t>
                </a:r>
              </a:p>
            </p:txBody>
          </p:sp>
        </mc:Choice>
        <mc:Fallback xmlns="">
          <p:sp>
            <p:nvSpPr>
              <p:cNvPr id="6" name="Speech Bubble: Oval 5">
                <a:extLst>
                  <a:ext uri="{FF2B5EF4-FFF2-40B4-BE49-F238E27FC236}">
                    <a16:creationId xmlns:a16="http://schemas.microsoft.com/office/drawing/2014/main" id="{B8C9DAAF-26A0-42C7-8E54-312553BF9A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7904" y="764704"/>
                <a:ext cx="3600400" cy="1775398"/>
              </a:xfrm>
              <a:prstGeom prst="wedgeEllipseCallout">
                <a:avLst>
                  <a:gd name="adj1" fmla="val -61723"/>
                  <a:gd name="adj2" fmla="val 46094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animal, cow, doodle, remember the milk icon">
            <a:extLst>
              <a:ext uri="{FF2B5EF4-FFF2-40B4-BE49-F238E27FC236}">
                <a16:creationId xmlns:a16="http://schemas.microsoft.com/office/drawing/2014/main" id="{C410EF0F-82AA-4829-AFB7-709C8A742C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67744" y="1687197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B712866-AEA8-4898-A66E-0387C2B8AD19}"/>
              </a:ext>
            </a:extLst>
          </p:cNvPr>
          <p:cNvCxnSpPr/>
          <p:nvPr/>
        </p:nvCxnSpPr>
        <p:spPr>
          <a:xfrm>
            <a:off x="541014" y="5239385"/>
            <a:ext cx="3024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FC5EDB5-611C-446B-AABC-0E6691720338}"/>
              </a:ext>
            </a:extLst>
          </p:cNvPr>
          <p:cNvCxnSpPr>
            <a:cxnSpLocks/>
          </p:cNvCxnSpPr>
          <p:nvPr/>
        </p:nvCxnSpPr>
        <p:spPr>
          <a:xfrm flipV="1">
            <a:off x="2031917" y="3753322"/>
            <a:ext cx="0" cy="273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E86E138-7042-42ED-8424-91081222F2C7}"/>
              </a:ext>
            </a:extLst>
          </p:cNvPr>
          <p:cNvSpPr/>
          <p:nvPr/>
        </p:nvSpPr>
        <p:spPr>
          <a:xfrm>
            <a:off x="663101" y="5327417"/>
            <a:ext cx="1318437" cy="1169582"/>
          </a:xfrm>
          <a:custGeom>
            <a:avLst/>
            <a:gdLst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8437" h="1169582">
                <a:moveTo>
                  <a:pt x="0" y="0"/>
                </a:moveTo>
                <a:cubicBezTo>
                  <a:pt x="331381" y="51391"/>
                  <a:pt x="662762" y="102782"/>
                  <a:pt x="882502" y="297712"/>
                </a:cubicBezTo>
                <a:cubicBezTo>
                  <a:pt x="1102242" y="492642"/>
                  <a:pt x="1263501" y="714154"/>
                  <a:pt x="1318437" y="116958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06DDD9F6-59A7-4E82-9849-2A553666459C}"/>
              </a:ext>
            </a:extLst>
          </p:cNvPr>
          <p:cNvSpPr/>
          <p:nvPr/>
        </p:nvSpPr>
        <p:spPr>
          <a:xfrm rot="10800000">
            <a:off x="2100037" y="3972847"/>
            <a:ext cx="1318437" cy="1169582"/>
          </a:xfrm>
          <a:custGeom>
            <a:avLst/>
            <a:gdLst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8437" h="1169582">
                <a:moveTo>
                  <a:pt x="0" y="0"/>
                </a:moveTo>
                <a:cubicBezTo>
                  <a:pt x="331381" y="51391"/>
                  <a:pt x="662762" y="102782"/>
                  <a:pt x="882502" y="297712"/>
                </a:cubicBezTo>
                <a:cubicBezTo>
                  <a:pt x="1102242" y="492642"/>
                  <a:pt x="1263501" y="714154"/>
                  <a:pt x="1318437" y="1169582"/>
                </a:cubicBez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AEF6CF-ED8D-494B-BE59-14B028FB9F26}"/>
              </a:ext>
            </a:extLst>
          </p:cNvPr>
          <p:cNvSpPr/>
          <p:nvPr/>
        </p:nvSpPr>
        <p:spPr>
          <a:xfrm>
            <a:off x="1562178" y="5636163"/>
            <a:ext cx="128736" cy="12918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B6DD9D9-0A4F-426A-BF8A-81D21E4F8129}"/>
              </a:ext>
            </a:extLst>
          </p:cNvPr>
          <p:cNvSpPr/>
          <p:nvPr/>
        </p:nvSpPr>
        <p:spPr>
          <a:xfrm>
            <a:off x="2426274" y="4742223"/>
            <a:ext cx="128736" cy="12918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A584B4-2D64-42F3-89CE-48B8CEA11048}"/>
                  </a:ext>
                </a:extLst>
              </p:cNvPr>
              <p:cNvSpPr txBox="1"/>
              <p:nvPr/>
            </p:nvSpPr>
            <p:spPr>
              <a:xfrm>
                <a:off x="2297835" y="4474510"/>
                <a:ext cx="1167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70A584B4-2D64-42F3-89CE-48B8CEA110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7835" y="4474510"/>
                <a:ext cx="1167408" cy="369332"/>
              </a:xfrm>
              <a:prstGeom prst="rect">
                <a:avLst/>
              </a:prstGeom>
              <a:blipFill>
                <a:blip r:embed="rId4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4500A3-1CD7-4D0B-ADF7-CA041408ADD0}"/>
                  </a:ext>
                </a:extLst>
              </p:cNvPr>
              <p:cNvSpPr txBox="1"/>
              <p:nvPr/>
            </p:nvSpPr>
            <p:spPr>
              <a:xfrm>
                <a:off x="596426" y="5746296"/>
                <a:ext cx="116740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(−1,−1)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74500A3-1CD7-4D0B-ADF7-CA041408AD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426" y="5746296"/>
                <a:ext cx="1167408" cy="369332"/>
              </a:xfrm>
              <a:prstGeom prst="rect">
                <a:avLst/>
              </a:prstGeom>
              <a:blipFill>
                <a:blip r:embed="rId5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B99A171B-5DF0-4152-A8E8-8C23FD7B03B8}"/>
              </a:ext>
            </a:extLst>
          </p:cNvPr>
          <p:cNvSpPr txBox="1"/>
          <p:nvPr/>
        </p:nvSpPr>
        <p:spPr>
          <a:xfrm>
            <a:off x="4126565" y="4147471"/>
            <a:ext cx="46085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function is </a:t>
            </a:r>
            <a:r>
              <a:rPr lang="en-GB" b="1" dirty="0"/>
              <a:t>continuous</a:t>
            </a:r>
            <a:r>
              <a:rPr lang="en-GB" dirty="0"/>
              <a:t> if the line </a:t>
            </a:r>
            <a:r>
              <a:rPr lang="en-GB" b="1" dirty="0"/>
              <a:t>does not ‘jump’</a:t>
            </a:r>
            <a:r>
              <a:rPr lang="en-GB" dirty="0"/>
              <a:t>. A root is only guaranteed with a sign change if the function is continuous, as otherwise the line can skip past 0 (in this case due to a vertical asymptote.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54BA694-5BE1-4D48-8ED3-B2727D440C9A}"/>
              </a:ext>
            </a:extLst>
          </p:cNvPr>
          <p:cNvSpPr txBox="1"/>
          <p:nvPr/>
        </p:nvSpPr>
        <p:spPr>
          <a:xfrm>
            <a:off x="2877209" y="2895352"/>
            <a:ext cx="3600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 dirty="0"/>
              <a:t>Why is Steve wrong?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0E711C-F6E9-4963-A13F-E69B42303100}"/>
                  </a:ext>
                </a:extLst>
              </p:cNvPr>
              <p:cNvSpPr txBox="1"/>
              <p:nvPr/>
            </p:nvSpPr>
            <p:spPr>
              <a:xfrm>
                <a:off x="3544675" y="5015458"/>
                <a:ext cx="33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A80E711C-F6E9-4963-A13F-E69B423031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4675" y="5015458"/>
                <a:ext cx="33064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6A2DA9-6C41-4945-A81C-AF4211BBE411}"/>
                  </a:ext>
                </a:extLst>
              </p:cNvPr>
              <p:cNvSpPr txBox="1"/>
              <p:nvPr/>
            </p:nvSpPr>
            <p:spPr>
              <a:xfrm>
                <a:off x="1887862" y="3443587"/>
                <a:ext cx="33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EA6A2DA9-6C41-4945-A81C-AF4211BBE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87862" y="3443587"/>
                <a:ext cx="330640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6993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3" grpId="0" animBg="1"/>
      <p:bldP spid="16" grpId="0" animBg="1"/>
      <p:bldP spid="15" grpId="0"/>
      <p:bldP spid="18" grpId="0"/>
      <p:bldP spid="17" grpId="0"/>
      <p:bldP spid="21" grpId="0"/>
      <p:bldP spid="2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483096B-073E-455D-9A4E-80164491779C}"/>
              </a:ext>
            </a:extLst>
          </p:cNvPr>
          <p:cNvGrpSpPr/>
          <p:nvPr/>
        </p:nvGrpSpPr>
        <p:grpSpPr>
          <a:xfrm>
            <a:off x="0" y="0"/>
            <a:ext cx="9144000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AFF98FE4-9E36-43AA-BF0F-EDF3E5880DB9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…and no sign change doesn’t mean there isn’t a root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19D4FDEC-E39C-4822-B430-29629BF2F348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18A42699-EA68-4F8D-A899-CA9B949C3194}"/>
              </a:ext>
            </a:extLst>
          </p:cNvPr>
          <p:cNvCxnSpPr/>
          <p:nvPr/>
        </p:nvCxnSpPr>
        <p:spPr>
          <a:xfrm>
            <a:off x="1092557" y="2830013"/>
            <a:ext cx="302433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906D8D4-4877-4B0F-8991-43A19CA6FC41}"/>
              </a:ext>
            </a:extLst>
          </p:cNvPr>
          <p:cNvCxnSpPr>
            <a:cxnSpLocks/>
          </p:cNvCxnSpPr>
          <p:nvPr/>
        </p:nvCxnSpPr>
        <p:spPr>
          <a:xfrm flipV="1">
            <a:off x="1258104" y="1237934"/>
            <a:ext cx="0" cy="2736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C035D720-90D7-4C09-9DC3-EC5AEA1ABC26}"/>
              </a:ext>
            </a:extLst>
          </p:cNvPr>
          <p:cNvSpPr/>
          <p:nvPr/>
        </p:nvSpPr>
        <p:spPr>
          <a:xfrm>
            <a:off x="1750863" y="3473534"/>
            <a:ext cx="128736" cy="12918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524F55-0FDA-4456-AB25-6751189711FE}"/>
              </a:ext>
            </a:extLst>
          </p:cNvPr>
          <p:cNvSpPr/>
          <p:nvPr/>
        </p:nvSpPr>
        <p:spPr>
          <a:xfrm>
            <a:off x="2915816" y="3087182"/>
            <a:ext cx="128736" cy="129183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099167-2663-4F1B-8EBD-D59139068090}"/>
                  </a:ext>
                </a:extLst>
              </p:cNvPr>
              <p:cNvSpPr txBox="1"/>
              <p:nvPr/>
            </p:nvSpPr>
            <p:spPr>
              <a:xfrm>
                <a:off x="4096218" y="2606086"/>
                <a:ext cx="33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FD099167-2663-4F1B-8EBD-D59139068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6218" y="2606086"/>
                <a:ext cx="330640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0165F0-A4A0-4B8E-9F5C-5FB3654D4FDB}"/>
                  </a:ext>
                </a:extLst>
              </p:cNvPr>
              <p:cNvSpPr txBox="1"/>
              <p:nvPr/>
            </p:nvSpPr>
            <p:spPr>
              <a:xfrm>
                <a:off x="1089577" y="860044"/>
                <a:ext cx="33064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0165F0-A4A0-4B8E-9F5C-5FB3654D4F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9577" y="860044"/>
                <a:ext cx="330640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CB784DA-A757-4535-A888-7DF37C128EEF}"/>
              </a:ext>
            </a:extLst>
          </p:cNvPr>
          <p:cNvSpPr/>
          <p:nvPr/>
        </p:nvSpPr>
        <p:spPr>
          <a:xfrm>
            <a:off x="1721228" y="2130676"/>
            <a:ext cx="1573515" cy="1846238"/>
          </a:xfrm>
          <a:custGeom>
            <a:avLst/>
            <a:gdLst>
              <a:gd name="connsiteX0" fmla="*/ 5972 w 1573515"/>
              <a:gd name="connsiteY0" fmla="*/ 1846238 h 1846238"/>
              <a:gd name="connsiteX1" fmla="*/ 78543 w 1573515"/>
              <a:gd name="connsiteY1" fmla="*/ 1381781 h 1846238"/>
              <a:gd name="connsiteX2" fmla="*/ 557515 w 1573515"/>
              <a:gd name="connsiteY2" fmla="*/ 2924 h 1846238"/>
              <a:gd name="connsiteX3" fmla="*/ 1283229 w 1573515"/>
              <a:gd name="connsiteY3" fmla="*/ 1033438 h 1846238"/>
              <a:gd name="connsiteX4" fmla="*/ 1573515 w 1573515"/>
              <a:gd name="connsiteY4" fmla="*/ 1599495 h 184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73515" h="1846238">
                <a:moveTo>
                  <a:pt x="5972" y="1846238"/>
                </a:moveTo>
                <a:cubicBezTo>
                  <a:pt x="-3705" y="1767619"/>
                  <a:pt x="-13381" y="1689000"/>
                  <a:pt x="78543" y="1381781"/>
                </a:cubicBezTo>
                <a:cubicBezTo>
                  <a:pt x="170467" y="1074562"/>
                  <a:pt x="356734" y="60981"/>
                  <a:pt x="557515" y="2924"/>
                </a:cubicBezTo>
                <a:cubicBezTo>
                  <a:pt x="758296" y="-55133"/>
                  <a:pt x="1113896" y="767343"/>
                  <a:pt x="1283229" y="1033438"/>
                </a:cubicBezTo>
                <a:cubicBezTo>
                  <a:pt x="1452562" y="1299533"/>
                  <a:pt x="1513038" y="1449514"/>
                  <a:pt x="1573515" y="1599495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96FD86E-0916-401D-9A98-3FE14DB045EF}"/>
              </a:ext>
            </a:extLst>
          </p:cNvPr>
          <p:cNvSpPr txBox="1"/>
          <p:nvPr/>
        </p:nvSpPr>
        <p:spPr>
          <a:xfrm>
            <a:off x="4797783" y="1543247"/>
            <a:ext cx="37444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/>
              <a:t>Beware! </a:t>
            </a:r>
            <a:r>
              <a:rPr lang="en-GB" sz="2000" dirty="0"/>
              <a:t>Just because there isn’t a sign change, doesn’t mean there’s no root in that interval.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1E54BF4-6943-4911-9F61-8CC6B814BB7A}"/>
              </a:ext>
            </a:extLst>
          </p:cNvPr>
          <p:cNvSpPr txBox="1"/>
          <p:nvPr/>
        </p:nvSpPr>
        <p:spPr>
          <a:xfrm>
            <a:off x="1763117" y="2597010"/>
            <a:ext cx="459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root</a:t>
            </a:r>
            <a:endParaRPr lang="en-GB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36274F-7FC9-4896-AAF0-BF00E7B19BE9}"/>
              </a:ext>
            </a:extLst>
          </p:cNvPr>
          <p:cNvSpPr txBox="1"/>
          <p:nvPr/>
        </p:nvSpPr>
        <p:spPr>
          <a:xfrm>
            <a:off x="2563302" y="2617043"/>
            <a:ext cx="4593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root</a:t>
            </a:r>
            <a:endParaRPr lang="en-GB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4F7660-5E34-4BD5-A86F-CFFE854259F7}"/>
              </a:ext>
            </a:extLst>
          </p:cNvPr>
          <p:cNvSpPr txBox="1"/>
          <p:nvPr/>
        </p:nvSpPr>
        <p:spPr>
          <a:xfrm>
            <a:off x="4750158" y="2913648"/>
            <a:ext cx="36626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The sign change method fails to detect a root if there were an </a:t>
            </a:r>
            <a:r>
              <a:rPr lang="en-GB" b="1" dirty="0"/>
              <a:t>even number of roots</a:t>
            </a:r>
            <a:r>
              <a:rPr lang="en-GB" dirty="0"/>
              <a:t> in that interval.</a:t>
            </a:r>
          </a:p>
        </p:txBody>
      </p:sp>
    </p:spTree>
    <p:extLst>
      <p:ext uri="{BB962C8B-B14F-4D97-AF65-F5344CB8AC3E}">
        <p14:creationId xmlns:p14="http://schemas.microsoft.com/office/powerpoint/2010/main" val="2831007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/>
      <p:bldP spid="19" grpId="0"/>
      <p:bldP spid="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Proving a solution to a given accuracy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7" name="Rectangle 6"/>
          <p:cNvSpPr/>
          <p:nvPr/>
        </p:nvSpPr>
        <p:spPr>
          <a:xfrm>
            <a:off x="395536" y="764704"/>
            <a:ext cx="2304256" cy="41078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dirty="0"/>
              <a:t>Edexcel C3 Jan 2013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186871"/>
            <a:ext cx="7248525" cy="123825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611560" y="2636912"/>
                <a:ext cx="7704856" cy="4247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Thinking back to lower school, if the root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2.307</m:t>
                    </m:r>
                  </m:oMath>
                </a14:m>
                <a:r>
                  <a:rPr lang="en-GB" dirty="0"/>
                  <a:t> is correct to 3dp, what’s the smallest and greatest value it could be?</a:t>
                </a:r>
              </a:p>
              <a:p>
                <a:endParaRPr lang="en-GB" dirty="0"/>
              </a:p>
              <a:p>
                <a:r>
                  <a:rPr lang="en-GB" b="1" dirty="0"/>
                  <a:t>Smallest: 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2.3065</m:t>
                    </m:r>
                  </m:oMath>
                </a14:m>
                <a:endParaRPr lang="en-GB" dirty="0"/>
              </a:p>
              <a:p>
                <a:r>
                  <a:rPr lang="en-GB" b="1" dirty="0"/>
                  <a:t>Greatest:	 	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2.3075</m:t>
                    </m:r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If there was a sign change between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2.3065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=2.3075</m:t>
                    </m:r>
                  </m:oMath>
                </a14:m>
                <a:r>
                  <a:rPr lang="en-GB" dirty="0"/>
                  <a:t>, then we know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2.3065&lt;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&lt;2.3075</m:t>
                    </m:r>
                  </m:oMath>
                </a14:m>
                <a:r>
                  <a:rPr lang="en-GB" dirty="0"/>
                  <a:t>. But if the value is in this range, then we know it is 2.307 to 3 decimal places!</a:t>
                </a:r>
              </a:p>
              <a:p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𝟑𝟎𝟔𝟓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𝟎𝟎𝟎𝟐𝟕𝟓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GB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𝟑𝟎𝟕𝟓</m:t>
                          </m:r>
                        </m:e>
                      </m:d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𝟎𝟎𝟒𝟒𝟐</m:t>
                      </m:r>
                    </m:oMath>
                  </m:oMathPara>
                </a14:m>
                <a:endParaRPr lang="en-GB" b="1" dirty="0"/>
              </a:p>
              <a:p>
                <a:r>
                  <a:rPr lang="en-GB" b="1" dirty="0"/>
                  <a:t>There is a change in sign in the interval </a:t>
                </a:r>
                <a14:m>
                  <m:oMath xmlns:m="http://schemas.openxmlformats.org/officeDocument/2006/math">
                    <m:r>
                      <a:rPr lang="en-GB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𝟑𝟎𝟔𝟓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𝟑𝟎𝟕𝟓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b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𝟑𝟎𝟔𝟓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𝟑𝟎𝟕𝟓</m:t>
                      </m:r>
                    </m:oMath>
                    <m:oMath xmlns:m="http://schemas.openxmlformats.org/officeDocument/2006/math"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𝜶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𝟑𝟎𝟕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𝒕𝒐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GB" b="1" i="1" smtClean="0">
                          <a:latin typeface="Cambria Math" panose="02040503050406030204" pitchFamily="18" charset="0"/>
                        </a:rPr>
                        <m:t>𝒅𝒑</m:t>
                      </m:r>
                    </m:oMath>
                  </m:oMathPara>
                </a14:m>
                <a:endParaRPr lang="en-GB" b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2636912"/>
                <a:ext cx="7704856" cy="4247317"/>
              </a:xfrm>
              <a:prstGeom prst="rect">
                <a:avLst/>
              </a:prstGeom>
              <a:blipFill>
                <a:blip r:embed="rId3"/>
                <a:stretch>
                  <a:fillRect l="-633" t="-862" r="-158" b="-43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Rectangle 16"/>
          <p:cNvSpPr/>
          <p:nvPr/>
        </p:nvSpPr>
        <p:spPr>
          <a:xfrm>
            <a:off x="2400309" y="3429001"/>
            <a:ext cx="1019563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00308" y="3789041"/>
            <a:ext cx="1019563" cy="36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9388" y="5332537"/>
            <a:ext cx="7956612" cy="1461963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 What do we write in exam…</a:t>
            </a:r>
          </a:p>
        </p:txBody>
      </p:sp>
    </p:spTree>
    <p:extLst>
      <p:ext uri="{BB962C8B-B14F-4D97-AF65-F5344CB8AC3E}">
        <p14:creationId xmlns:p14="http://schemas.microsoft.com/office/powerpoint/2010/main" val="1740445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25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" fill="hold">
                      <p:stCondLst>
                        <p:cond delay="0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1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F1205E5B-6D95-4F20-AFF6-9B045F6DAAF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E4B141C9-3372-42E2-982D-C4059EA1AC6A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Example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CE93D69-5054-4DC7-A96B-0B81A79378AC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09D60B-0037-41FD-B801-D3A982DC13DF}"/>
                  </a:ext>
                </a:extLst>
              </p:cNvPr>
              <p:cNvSpPr txBox="1"/>
              <p:nvPr/>
            </p:nvSpPr>
            <p:spPr>
              <a:xfrm>
                <a:off x="323528" y="908720"/>
                <a:ext cx="8424936" cy="1431546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[Textbook] (a) Using the same axes, sketch the graphs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dirty="0"/>
                  <a:t>. Explain how your diagrams shows that the function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lang="en-GB" dirty="0"/>
                  <a:t> has only one root.</a:t>
                </a:r>
              </a:p>
              <a:p>
                <a:r>
                  <a:rPr lang="en-GB" dirty="0"/>
                  <a:t>(b) Show that this root lies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1.7&lt;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&lt;1.8</m:t>
                    </m:r>
                  </m:oMath>
                </a14:m>
                <a:endParaRPr lang="en-GB" dirty="0"/>
              </a:p>
              <a:p>
                <a:r>
                  <a:rPr lang="en-GB" dirty="0"/>
                  <a:t>(c) Given that the root of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GB" dirty="0"/>
                  <a:t>, show that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=1.763</m:t>
                    </m:r>
                  </m:oMath>
                </a14:m>
                <a:r>
                  <a:rPr lang="en-GB" dirty="0"/>
                  <a:t> correct to 3 decimal places.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E09D60B-0037-41FD-B801-D3A982DC1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528" y="908720"/>
                <a:ext cx="8424936" cy="1431546"/>
              </a:xfrm>
              <a:prstGeom prst="rect">
                <a:avLst/>
              </a:prstGeom>
              <a:blipFill>
                <a:blip r:embed="rId2"/>
                <a:stretch>
                  <a:fillRect b="-383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1DAD63F-9683-418E-A7D6-4ACE80F4E7F2}"/>
              </a:ext>
            </a:extLst>
          </p:cNvPr>
          <p:cNvCxnSpPr/>
          <p:nvPr/>
        </p:nvCxnSpPr>
        <p:spPr>
          <a:xfrm flipV="1">
            <a:off x="2221136" y="2713112"/>
            <a:ext cx="0" cy="30963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B97F850-3749-4143-ABBB-714814287239}"/>
              </a:ext>
            </a:extLst>
          </p:cNvPr>
          <p:cNvCxnSpPr>
            <a:cxnSpLocks/>
          </p:cNvCxnSpPr>
          <p:nvPr/>
        </p:nvCxnSpPr>
        <p:spPr>
          <a:xfrm>
            <a:off x="670868" y="4297536"/>
            <a:ext cx="32403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A4153D-FF46-4843-9C85-E74B4FEC8274}"/>
                  </a:ext>
                </a:extLst>
              </p:cNvPr>
              <p:cNvSpPr txBox="1"/>
              <p:nvPr/>
            </p:nvSpPr>
            <p:spPr>
              <a:xfrm>
                <a:off x="3894336" y="4085704"/>
                <a:ext cx="258564" cy="371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1A4153D-FF46-4843-9C85-E74B4FEC82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4336" y="4085704"/>
                <a:ext cx="258564" cy="371996"/>
              </a:xfrm>
              <a:prstGeom prst="rect">
                <a:avLst/>
              </a:prstGeom>
              <a:blipFill>
                <a:blip r:embed="rId3"/>
                <a:stretch>
                  <a:fillRect r="-71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A1BD7B-EAD3-434C-834F-09E0DFF3F8F8}"/>
                  </a:ext>
                </a:extLst>
              </p:cNvPr>
              <p:cNvSpPr txBox="1"/>
              <p:nvPr/>
            </p:nvSpPr>
            <p:spPr>
              <a:xfrm>
                <a:off x="2091854" y="2386998"/>
                <a:ext cx="258564" cy="371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EA1BD7B-EAD3-434C-834F-09E0DFF3F8F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1854" y="2386998"/>
                <a:ext cx="258564" cy="371996"/>
              </a:xfrm>
              <a:prstGeom prst="rect">
                <a:avLst/>
              </a:prstGeom>
              <a:blipFill>
                <a:blip r:embed="rId4"/>
                <a:stretch>
                  <a:fillRect r="-16279" b="-491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5639A75-F6C0-43FD-A8F8-1DF6DDC4F246}"/>
              </a:ext>
            </a:extLst>
          </p:cNvPr>
          <p:cNvSpPr/>
          <p:nvPr/>
        </p:nvSpPr>
        <p:spPr>
          <a:xfrm rot="10800000">
            <a:off x="2315936" y="2880646"/>
            <a:ext cx="1430563" cy="1335753"/>
          </a:xfrm>
          <a:custGeom>
            <a:avLst/>
            <a:gdLst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8437" h="1169582">
                <a:moveTo>
                  <a:pt x="0" y="0"/>
                </a:moveTo>
                <a:cubicBezTo>
                  <a:pt x="331381" y="51391"/>
                  <a:pt x="662762" y="102782"/>
                  <a:pt x="882502" y="297712"/>
                </a:cubicBezTo>
                <a:cubicBezTo>
                  <a:pt x="1102242" y="492642"/>
                  <a:pt x="1263501" y="714154"/>
                  <a:pt x="1318437" y="1169582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D855D22-5702-4264-A9DC-5C50A7D71C7D}"/>
              </a:ext>
            </a:extLst>
          </p:cNvPr>
          <p:cNvSpPr/>
          <p:nvPr/>
        </p:nvSpPr>
        <p:spPr>
          <a:xfrm>
            <a:off x="684172" y="4424784"/>
            <a:ext cx="1430563" cy="1335753"/>
          </a:xfrm>
          <a:custGeom>
            <a:avLst/>
            <a:gdLst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8437" h="1169582">
                <a:moveTo>
                  <a:pt x="0" y="0"/>
                </a:moveTo>
                <a:cubicBezTo>
                  <a:pt x="331381" y="51391"/>
                  <a:pt x="662762" y="102782"/>
                  <a:pt x="882502" y="297712"/>
                </a:cubicBezTo>
                <a:cubicBezTo>
                  <a:pt x="1102242" y="492642"/>
                  <a:pt x="1263501" y="714154"/>
                  <a:pt x="1318437" y="1169582"/>
                </a:cubicBezTo>
              </a:path>
            </a:pathLst>
          </a:cu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0D4B2EB1-94FA-435F-973F-943E0EAF1577}"/>
              </a:ext>
            </a:extLst>
          </p:cNvPr>
          <p:cNvSpPr/>
          <p:nvPr/>
        </p:nvSpPr>
        <p:spPr>
          <a:xfrm rot="16200000">
            <a:off x="2070821" y="3843983"/>
            <a:ext cx="2001762" cy="1578196"/>
          </a:xfrm>
          <a:custGeom>
            <a:avLst/>
            <a:gdLst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  <a:gd name="connsiteX0" fmla="*/ 0 w 1318437"/>
              <a:gd name="connsiteY0" fmla="*/ 0 h 1169582"/>
              <a:gd name="connsiteX1" fmla="*/ 882502 w 1318437"/>
              <a:gd name="connsiteY1" fmla="*/ 297712 h 1169582"/>
              <a:gd name="connsiteX2" fmla="*/ 1318437 w 1318437"/>
              <a:gd name="connsiteY2" fmla="*/ 1169582 h 11695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8437" h="1169582">
                <a:moveTo>
                  <a:pt x="0" y="0"/>
                </a:moveTo>
                <a:cubicBezTo>
                  <a:pt x="331381" y="51391"/>
                  <a:pt x="662762" y="102782"/>
                  <a:pt x="882502" y="297712"/>
                </a:cubicBezTo>
                <a:cubicBezTo>
                  <a:pt x="1102242" y="492642"/>
                  <a:pt x="1263501" y="714154"/>
                  <a:pt x="1318437" y="1169582"/>
                </a:cubicBezTo>
              </a:path>
            </a:pathLst>
          </a:custGeom>
          <a:ln w="28575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A5B0E5-4529-4813-A220-537BEE6CA7C2}"/>
                  </a:ext>
                </a:extLst>
              </p:cNvPr>
              <p:cNvSpPr txBox="1"/>
              <p:nvPr/>
            </p:nvSpPr>
            <p:spPr>
              <a:xfrm>
                <a:off x="3771901" y="3433316"/>
                <a:ext cx="115594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</m:oMath>
                  </m:oMathPara>
                </a14:m>
                <a:endParaRPr lang="en-GB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FA5B0E5-4529-4813-A220-537BEE6CA7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1" y="3433316"/>
                <a:ext cx="1155947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878466-5FFF-419E-9597-FB1F4517E787}"/>
                  </a:ext>
                </a:extLst>
              </p:cNvPr>
              <p:cNvSpPr txBox="1"/>
              <p:nvPr/>
            </p:nvSpPr>
            <p:spPr>
              <a:xfrm>
                <a:off x="2158258" y="2673898"/>
                <a:ext cx="1155947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GB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</m:oMathPara>
                </a14:m>
                <a:endParaRPr lang="en-GB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39878466-5FFF-419E-9597-FB1F4517E7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8258" y="2673898"/>
                <a:ext cx="1155947" cy="6127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F4A06B-8FDE-4848-9872-32446D72AB1C}"/>
                  </a:ext>
                </a:extLst>
              </p:cNvPr>
              <p:cNvSpPr txBox="1"/>
              <p:nvPr/>
            </p:nvSpPr>
            <p:spPr>
              <a:xfrm>
                <a:off x="340668" y="5733256"/>
                <a:ext cx="4837547" cy="14108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The lines intersect where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  → </m:t>
                    </m:r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GB" sz="1400" dirty="0"/>
              </a:p>
              <a:p>
                <a:r>
                  <a:rPr lang="en-GB" sz="1400" dirty="0"/>
                  <a:t>Thus the roots of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1400" b="0" i="0" smtClean="0">
                            <a:latin typeface="Cambria Math" panose="02040503050406030204" pitchFamily="18" charset="0"/>
                          </a:rPr>
                          <m:t>ln</m:t>
                        </m:r>
                      </m:fName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sz="1400" dirty="0"/>
                  <a:t> correspond to the points of intersection, and there is only one point of intersection on the graph.</a:t>
                </a:r>
              </a:p>
              <a:p>
                <a:endParaRPr lang="en-GB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F4A06B-8FDE-4848-9872-32446D72A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0668" y="5733256"/>
                <a:ext cx="4837547" cy="1410899"/>
              </a:xfrm>
              <a:prstGeom prst="rect">
                <a:avLst/>
              </a:prstGeom>
              <a:blipFill>
                <a:blip r:embed="rId7"/>
                <a:stretch>
                  <a:fillRect l="-3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Rectangle 18">
            <a:extLst>
              <a:ext uri="{FF2B5EF4-FFF2-40B4-BE49-F238E27FC236}">
                <a16:creationId xmlns:a16="http://schemas.microsoft.com/office/drawing/2014/main" id="{F2DA6037-29FF-484F-B497-3A38426042E8}"/>
              </a:ext>
            </a:extLst>
          </p:cNvPr>
          <p:cNvSpPr/>
          <p:nvPr/>
        </p:nvSpPr>
        <p:spPr>
          <a:xfrm>
            <a:off x="86544" y="2457998"/>
            <a:ext cx="288032" cy="3230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17D4FD-BA47-4804-BBFF-A1BD02B08B32}"/>
              </a:ext>
            </a:extLst>
          </p:cNvPr>
          <p:cNvSpPr/>
          <p:nvPr/>
        </p:nvSpPr>
        <p:spPr>
          <a:xfrm>
            <a:off x="5194673" y="2597467"/>
            <a:ext cx="288032" cy="3230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8328D5-17B2-40D4-ABB8-24587E726786}"/>
                  </a:ext>
                </a:extLst>
              </p:cNvPr>
              <p:cNvSpPr txBox="1"/>
              <p:nvPr/>
            </p:nvSpPr>
            <p:spPr>
              <a:xfrm>
                <a:off x="5631036" y="2572996"/>
                <a:ext cx="3284364" cy="35096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GB" sz="1600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1.7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=−0.0576…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1.8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=0.0322…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 is a change of sign between 1.7 and 1.8, so there is a root in the interval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1.7&lt;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&lt;1.8</m:t>
                    </m:r>
                  </m:oMath>
                </a14:m>
                <a:endParaRPr lang="en-GB" sz="1600" dirty="0"/>
              </a:p>
              <a:p>
                <a:endParaRPr lang="en-GB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1.17625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=−0.00064&lt;0</m:t>
                      </m:r>
                    </m:oMath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1.7635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=0.00024&gt;0</m:t>
                      </m:r>
                    </m:oMath>
                  </m:oMathPara>
                </a14:m>
                <a:endParaRPr lang="en-GB" sz="1600" dirty="0"/>
              </a:p>
              <a:p>
                <a:r>
                  <a:rPr lang="en-GB" sz="1600" dirty="0"/>
                  <a:t>There is a change of sign in the interval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(1.7625, 1.7635)</m:t>
                    </m:r>
                  </m:oMath>
                </a14:m>
                <a:r>
                  <a:rPr lang="en-GB" sz="1600" dirty="0"/>
                  <a:t> so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1.7625&lt;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&lt;1.7635</m:t>
                    </m:r>
                  </m:oMath>
                </a14:m>
                <a:r>
                  <a:rPr lang="en-GB" sz="1600" dirty="0"/>
                  <a:t>, so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=1.763</m:t>
                    </m:r>
                  </m:oMath>
                </a14:m>
                <a:r>
                  <a:rPr lang="en-GB" sz="1600" dirty="0"/>
                  <a:t> correct to 3dp.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58328D5-17B2-40D4-ABB8-24587E7267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1036" y="2572996"/>
                <a:ext cx="3284364" cy="3509615"/>
              </a:xfrm>
              <a:prstGeom prst="rect">
                <a:avLst/>
              </a:prstGeom>
              <a:blipFill>
                <a:blip r:embed="rId8"/>
                <a:stretch>
                  <a:fillRect l="-1113" r="-557" b="-121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>
            <a:extLst>
              <a:ext uri="{FF2B5EF4-FFF2-40B4-BE49-F238E27FC236}">
                <a16:creationId xmlns:a16="http://schemas.microsoft.com/office/drawing/2014/main" id="{45B44419-D35C-4503-8B42-8C2C52EDAD96}"/>
              </a:ext>
            </a:extLst>
          </p:cNvPr>
          <p:cNvSpPr/>
          <p:nvPr/>
        </p:nvSpPr>
        <p:spPr>
          <a:xfrm>
            <a:off x="5190915" y="4575266"/>
            <a:ext cx="288032" cy="323054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281DFE7-158E-4864-B59A-A86D624BEE1D}"/>
              </a:ext>
            </a:extLst>
          </p:cNvPr>
          <p:cNvSpPr/>
          <p:nvPr/>
        </p:nvSpPr>
        <p:spPr>
          <a:xfrm>
            <a:off x="374577" y="2476920"/>
            <a:ext cx="4671766" cy="433028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5A5E3E3-7AA5-4406-8F08-6783D228BE51}"/>
              </a:ext>
            </a:extLst>
          </p:cNvPr>
          <p:cNvSpPr/>
          <p:nvPr/>
        </p:nvSpPr>
        <p:spPr>
          <a:xfrm>
            <a:off x="5481713" y="2597467"/>
            <a:ext cx="3433687" cy="17000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3C0FDC1-391F-488A-889A-EFCAFD18155E}"/>
              </a:ext>
            </a:extLst>
          </p:cNvPr>
          <p:cNvSpPr/>
          <p:nvPr/>
        </p:nvSpPr>
        <p:spPr>
          <a:xfrm>
            <a:off x="5481713" y="4554737"/>
            <a:ext cx="3433687" cy="1700069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84891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>
                  <a:latin typeface="+mj-lt"/>
                </a:rPr>
                <a:t>Exercise 10.1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2/AS</a:t>
            </a:r>
          </a:p>
          <a:p>
            <a:r>
              <a:rPr lang="en-GB" sz="2400" dirty="0"/>
              <a:t>Page 81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024F37F9-8322-1DCC-FA85-40BE9D3BD6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0150" y="919162"/>
            <a:ext cx="6743700" cy="501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6D20592B-E55E-583D-8649-28D607A021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95362"/>
            <a:ext cx="685800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0FF53-D376-6E8C-D0FD-1D517FE59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BC62057-5111-B8A6-4E80-4193E055911B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B0E89DB0-01D1-BE2B-F9D3-8CB397834D7E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713F8B5A-9D24-B9B4-CD6B-9A26C85DC691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61FE0C5-0DCD-F384-1887-A021D3E034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203" y="980728"/>
            <a:ext cx="6648450" cy="4314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5857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 descr="A paper with math equations and numbers&#10;&#10;AI-generated content may be incorrect.">
            <a:extLst>
              <a:ext uri="{FF2B5EF4-FFF2-40B4-BE49-F238E27FC236}">
                <a16:creationId xmlns:a16="http://schemas.microsoft.com/office/drawing/2014/main" id="{B2837A05-8AE7-EF70-C568-8C3A33CCCE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36712"/>
            <a:ext cx="9144000" cy="4798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99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0CC18-388A-D791-BD8C-B4F964CF1C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7F01EA-0633-F206-2359-D81F0A434E3E}"/>
              </a:ext>
            </a:extLst>
          </p:cNvPr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60A9E226-99AD-F974-6305-7281F3EE1D40}"/>
                </a:ext>
              </a:extLst>
            </p:cNvPr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/>
                <a:t>Homework</a:t>
              </a:r>
              <a:r>
                <a:rPr lang="en-GB" sz="3200">
                  <a:latin typeface="+mj-lt"/>
                </a:rPr>
                <a:t> </a:t>
              </a:r>
              <a:r>
                <a:rPr lang="en-GB" sz="3200" dirty="0">
                  <a:latin typeface="+mj-lt"/>
                </a:rPr>
                <a:t>Answers</a:t>
              </a:r>
              <a:endParaRPr lang="en-GB" sz="3200" dirty="0"/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C27722CE-8429-DC51-558C-3C088CC9A7C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 descr="A group of math equations&#10;&#10;AI-generated content may be incorrect.">
            <a:extLst>
              <a:ext uri="{FF2B5EF4-FFF2-40B4-BE49-F238E27FC236}">
                <a16:creationId xmlns:a16="http://schemas.microsoft.com/office/drawing/2014/main" id="{BDD47F02-DD86-1A70-9CAA-D6B1E402A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144" y="836712"/>
            <a:ext cx="9144000" cy="565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95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61754</TotalTime>
  <Words>939</Words>
  <Application>Microsoft Office PowerPoint</Application>
  <PresentationFormat>On-screen Show (4:3)</PresentationFormat>
  <Paragraphs>91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Wingdings</vt:lpstr>
      <vt:lpstr>Office Theme</vt:lpstr>
      <vt:lpstr>P2 Chapter 10: Numerical Methods  Locating Roots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2026-03-26T10:18:12Z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