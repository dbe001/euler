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547" r:id="rId5"/>
    <p:sldId id="559" r:id="rId6"/>
    <p:sldId id="561" r:id="rId7"/>
    <p:sldId id="560" r:id="rId8"/>
    <p:sldId id="549" r:id="rId9"/>
    <p:sldId id="543" r:id="rId10"/>
    <p:sldId id="550" r:id="rId11"/>
    <p:sldId id="566" r:id="rId12"/>
    <p:sldId id="562" r:id="rId13"/>
    <p:sldId id="563" r:id="rId14"/>
    <p:sldId id="564" r:id="rId15"/>
    <p:sldId id="56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8853C1-1A00-43D3-B735-2ADAE59A2F3D}" v="1" dt="2026-02-02T13:40:49.1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custSel addSld delSld modSld">
      <pc:chgData name="Dieter Beaven" userId="9bbdb69f-69d0-4759-aa9b-5c090a2da237" providerId="ADAL" clId="{B47B330E-67D7-47E6-A6C8-686253D34652}" dt="2026-02-02T13:43:55.668" v="19" actId="1076"/>
      <pc:docMkLst>
        <pc:docMk/>
      </pc:docMkLst>
      <pc:sldChg chg="addSp modSp mod">
        <pc:chgData name="Dieter Beaven" userId="9bbdb69f-69d0-4759-aa9b-5c090a2da237" providerId="ADAL" clId="{B47B330E-67D7-47E6-A6C8-686253D34652}" dt="2026-02-02T13:41:45.906" v="4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B47B330E-67D7-47E6-A6C8-686253D34652}" dt="2026-02-02T13:41:45.906" v="4" actId="1076"/>
          <ac:picMkLst>
            <pc:docMk/>
            <pc:sldMk cId="3896053727" sldId="543"/>
            <ac:picMk id="6" creationId="{0274B544-8E8F-4FAA-224A-CB49E02C6A83}"/>
          </ac:picMkLst>
        </pc:picChg>
      </pc:sldChg>
      <pc:sldChg chg="addSp delSp modSp mod">
        <pc:chgData name="Dieter Beaven" userId="9bbdb69f-69d0-4759-aa9b-5c090a2da237" providerId="ADAL" clId="{B47B330E-67D7-47E6-A6C8-686253D34652}" dt="2026-02-02T13:42:48.376" v="13" actId="1076"/>
        <pc:sldMkLst>
          <pc:docMk/>
          <pc:sldMk cId="4091202299" sldId="550"/>
        </pc:sldMkLst>
        <pc:picChg chg="add del mod">
          <ac:chgData name="Dieter Beaven" userId="9bbdb69f-69d0-4759-aa9b-5c090a2da237" providerId="ADAL" clId="{B47B330E-67D7-47E6-A6C8-686253D34652}" dt="2026-02-02T13:42:45.600" v="9" actId="478"/>
          <ac:picMkLst>
            <pc:docMk/>
            <pc:sldMk cId="4091202299" sldId="550"/>
            <ac:picMk id="6" creationId="{61574669-E04E-EE59-FF75-712D362C1587}"/>
          </ac:picMkLst>
        </pc:picChg>
        <pc:picChg chg="add mod">
          <ac:chgData name="Dieter Beaven" userId="9bbdb69f-69d0-4759-aa9b-5c090a2da237" providerId="ADAL" clId="{B47B330E-67D7-47E6-A6C8-686253D34652}" dt="2026-02-02T13:42:48.376" v="13" actId="1076"/>
          <ac:picMkLst>
            <pc:docMk/>
            <pc:sldMk cId="4091202299" sldId="550"/>
            <ac:picMk id="8" creationId="{BD3BD1AA-7879-2602-6C33-17881298968E}"/>
          </ac:picMkLst>
        </pc:picChg>
      </pc:sldChg>
      <pc:sldChg chg="del">
        <pc:chgData name="Dieter Beaven" userId="9bbdb69f-69d0-4759-aa9b-5c090a2da237" providerId="ADAL" clId="{B47B330E-67D7-47E6-A6C8-686253D34652}" dt="2026-02-02T13:42:51.625" v="14" actId="47"/>
        <pc:sldMkLst>
          <pc:docMk/>
          <pc:sldMk cId="3826585799" sldId="551"/>
        </pc:sldMkLst>
      </pc:sldChg>
      <pc:sldChg chg="addSp modSp add mod">
        <pc:chgData name="Dieter Beaven" userId="9bbdb69f-69d0-4759-aa9b-5c090a2da237" providerId="ADAL" clId="{B47B330E-67D7-47E6-A6C8-686253D34652}" dt="2026-02-02T13:43:55.668" v="19" actId="1076"/>
        <pc:sldMkLst>
          <pc:docMk/>
          <pc:sldMk cId="1724013773" sldId="566"/>
        </pc:sldMkLst>
        <pc:picChg chg="add mod">
          <ac:chgData name="Dieter Beaven" userId="9bbdb69f-69d0-4759-aa9b-5c090a2da237" providerId="ADAL" clId="{B47B330E-67D7-47E6-A6C8-686253D34652}" dt="2026-02-02T13:43:55.668" v="19" actId="1076"/>
          <ac:picMkLst>
            <pc:docMk/>
            <pc:sldMk cId="1724013773" sldId="566"/>
            <ac:picMk id="6" creationId="{FAD5C6FA-1D8C-65C3-6CC1-F47BC6ADFE6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0.png"/><Relationship Id="rId4" Type="http://schemas.openxmlformats.org/officeDocument/2006/relationships/image" Target="../media/image5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60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496" y="2130425"/>
            <a:ext cx="9073008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7: </a:t>
            </a:r>
            <a:r>
              <a:rPr lang="en-GB" dirty="0">
                <a:solidFill>
                  <a:schemeClr val="accent5"/>
                </a:solidFill>
              </a:rPr>
              <a:t>Trigonometric Equations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Proving Identities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D6AF39F-A46B-433B-9E4E-174F5B853AC9}"/>
              </a:ext>
            </a:extLst>
          </p:cNvPr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B156B2C-875D-431F-93FE-7D52A8F81E3A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Proving Trigonometric Identities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9815C52-F3F2-4701-8632-33692BB77C2A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0DDD5B-AF6C-4FCC-84D6-1327DB9064F7}"/>
                  </a:ext>
                </a:extLst>
              </p:cNvPr>
              <p:cNvSpPr txBox="1"/>
              <p:nvPr/>
            </p:nvSpPr>
            <p:spPr>
              <a:xfrm>
                <a:off x="432211" y="1702252"/>
                <a:ext cx="3744416" cy="48558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Prove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/>
                          </a:rPr>
                          <m:t>tan</m:t>
                        </m:r>
                      </m:fName>
                      <m:e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  <m:r>
                          <a:rPr lang="en-GB" b="0" i="1" smtClean="0">
                            <a:latin typeface="Cambria Math"/>
                          </a:rPr>
                          <m:t>𝜃</m:t>
                        </m:r>
                      </m:e>
                    </m:func>
                    <m:r>
                      <a:rPr lang="en-GB" b="0" i="1" smtClean="0">
                        <a:latin typeface="Cambria Math"/>
                      </a:rPr>
                      <m:t>≡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/>
                              </a:rPr>
                              <m:t>cot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𝜃</m:t>
                            </m:r>
                          </m:e>
                        </m:func>
                        <m:r>
                          <a:rPr lang="en-GB" b="0" i="1" smtClean="0">
                            <a:latin typeface="Cambria Math"/>
                          </a:rPr>
                          <m:t>−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/>
                              </a:rPr>
                              <m:t>tan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𝜃</m:t>
                            </m:r>
                          </m:e>
                        </m:func>
                      </m:den>
                    </m:f>
                  </m:oMath>
                </a14:m>
                <a:endParaRPr lang="en-GB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0DDD5B-AF6C-4FCC-84D6-1327DB906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11" y="1702252"/>
                <a:ext cx="3744416" cy="4855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6B559E-8284-4921-B8D6-07BC3D37C378}"/>
                  </a:ext>
                </a:extLst>
              </p:cNvPr>
              <p:cNvSpPr txBox="1"/>
              <p:nvPr/>
            </p:nvSpPr>
            <p:spPr>
              <a:xfrm>
                <a:off x="406740" y="3917848"/>
                <a:ext cx="3744416" cy="49853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Prove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1−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2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𝜃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2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𝜃</m:t>
                            </m:r>
                          </m:e>
                        </m:func>
                      </m:den>
                    </m:f>
                    <m:r>
                      <a:rPr lang="en-GB" b="0" i="1" smtClean="0">
                        <a:latin typeface="Cambria Math"/>
                      </a:rPr>
                      <m:t>≡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/>
                          </a:rPr>
                          <m:t>tan</m:t>
                        </m:r>
                      </m:fName>
                      <m:e>
                        <m:r>
                          <a:rPr lang="en-GB" b="0" i="1" smtClean="0">
                            <a:latin typeface="Cambria Math"/>
                          </a:rPr>
                          <m:t>𝜃</m:t>
                        </m:r>
                      </m:e>
                    </m:func>
                  </m:oMath>
                </a14:m>
                <a:endParaRPr lang="en-GB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6B559E-8284-4921-B8D6-07BC3D37C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40" y="3917848"/>
                <a:ext cx="3744416" cy="4985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73618F2-9C54-41B5-9BB0-A1F1DE491A85}"/>
              </a:ext>
            </a:extLst>
          </p:cNvPr>
          <p:cNvSpPr txBox="1"/>
          <p:nvPr/>
        </p:nvSpPr>
        <p:spPr>
          <a:xfrm>
            <a:off x="270365" y="741019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Just like Chapter 6 had ‘</a:t>
            </a:r>
            <a:r>
              <a:rPr lang="en-GB" dirty="0" err="1"/>
              <a:t>provey</a:t>
            </a:r>
            <a:r>
              <a:rPr lang="en-GB" dirty="0"/>
              <a:t>’ and ‘</a:t>
            </a:r>
            <a:r>
              <a:rPr lang="en-GB" dirty="0" err="1"/>
              <a:t>solvey</a:t>
            </a:r>
            <a:r>
              <a:rPr lang="en-GB" dirty="0"/>
              <a:t>’ questions, we also get the ‘</a:t>
            </a:r>
            <a:r>
              <a:rPr lang="en-GB" dirty="0" err="1"/>
              <a:t>provey</a:t>
            </a:r>
            <a:r>
              <a:rPr lang="en-GB" dirty="0"/>
              <a:t>’ questions in Chapter 7. Just use the appropriate double angle or addition formula.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36D4FF-FAC1-462A-9D36-6820FC28B2C4}"/>
                  </a:ext>
                </a:extLst>
              </p:cNvPr>
              <p:cNvSpPr txBox="1"/>
              <p:nvPr/>
            </p:nvSpPr>
            <p:spPr>
              <a:xfrm>
                <a:off x="192760" y="2302160"/>
                <a:ext cx="4223319" cy="1359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/>
                            </a:rPr>
                            <m:t>2</m:t>
                          </m:r>
                          <m:r>
                            <a:rPr lang="en-GB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2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GB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2</m:t>
                          </m:r>
                        </m:num>
                        <m:den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/>
                                    </a:rPr>
                                    <m:t>tan</m:t>
                                  </m:r>
                                </m:fName>
                                <m:e>
                                  <m:r>
                                    <a:rPr lang="en-GB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  <m:r>
                            <a:rPr lang="en-GB" i="1">
                              <a:latin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GB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    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/>
                            </a:rPr>
                            <m:t>2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/>
                                </a:rPr>
                                <m:t>cot</m:t>
                              </m:r>
                            </m:fName>
                            <m:e>
                              <m:r>
                                <a:rPr lang="en-GB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  <m:r>
                            <a:rPr lang="en-GB" i="1">
                              <a:latin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GB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36D4FF-FAC1-462A-9D36-6820FC28B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60" y="2302160"/>
                <a:ext cx="4223319" cy="1359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EE9F8581-48DC-446E-AE2B-8D7C681173EF}"/>
              </a:ext>
            </a:extLst>
          </p:cNvPr>
          <p:cNvSpPr/>
          <p:nvPr/>
        </p:nvSpPr>
        <p:spPr>
          <a:xfrm>
            <a:off x="435977" y="2194691"/>
            <a:ext cx="3736883" cy="148417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E89626-62B9-4B61-A423-31668DD4680B}"/>
                  </a:ext>
                </a:extLst>
              </p:cNvPr>
              <p:cNvSpPr txBox="1"/>
              <p:nvPr/>
            </p:nvSpPr>
            <p:spPr>
              <a:xfrm>
                <a:off x="270365" y="4547900"/>
                <a:ext cx="4536504" cy="925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1−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1−2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b="0" i="0" smtClean="0">
                                          <a:latin typeface="Cambria Math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≡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≡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E89626-62B9-4B61-A423-31668DD46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65" y="4547900"/>
                <a:ext cx="4536504" cy="9251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EAEF1953-67CA-4689-8A66-6A81EA12126B}"/>
              </a:ext>
            </a:extLst>
          </p:cNvPr>
          <p:cNvSpPr/>
          <p:nvPr/>
        </p:nvSpPr>
        <p:spPr>
          <a:xfrm>
            <a:off x="400872" y="4416382"/>
            <a:ext cx="3750284" cy="11728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3120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35D6E46-D307-4827-BA0E-722E62590173}"/>
              </a:ext>
            </a:extLst>
          </p:cNvPr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09AC0B0-B072-483A-B7A3-61DA67830D06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2CA7616-F83C-43B1-A4C7-AD8F17F9DB1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EF5100-B03F-4C8D-B3EC-04F7BDB7DBA0}"/>
                  </a:ext>
                </a:extLst>
              </p:cNvPr>
              <p:cNvSpPr txBox="1"/>
              <p:nvPr/>
            </p:nvSpPr>
            <p:spPr>
              <a:xfrm>
                <a:off x="410945" y="947340"/>
                <a:ext cx="5147901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[OCR] Prove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𝑐𝑜𝑠𝑒𝑐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EF5100-B03F-4C8D-B3EC-04F7BDB7D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45" y="947340"/>
                <a:ext cx="5147901" cy="369332"/>
              </a:xfrm>
              <a:prstGeom prst="rect">
                <a:avLst/>
              </a:prstGeom>
              <a:blipFill>
                <a:blip r:embed="rId2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411050-20C8-4866-B68F-5E66F1039907}"/>
                  </a:ext>
                </a:extLst>
              </p:cNvPr>
              <p:cNvSpPr txBox="1"/>
              <p:nvPr/>
            </p:nvSpPr>
            <p:spPr>
              <a:xfrm>
                <a:off x="611560" y="1556792"/>
                <a:ext cx="4536504" cy="1724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𝟐𝐬𝐢𝐧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𝐜𝐨𝐭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411050-20C8-4866-B68F-5E66F1039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556792"/>
                <a:ext cx="4536504" cy="17243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95A18B-87EA-4624-9CDD-D0CBFEF4A083}"/>
                  </a:ext>
                </a:extLst>
              </p:cNvPr>
              <p:cNvSpPr txBox="1"/>
              <p:nvPr/>
            </p:nvSpPr>
            <p:spPr>
              <a:xfrm>
                <a:off x="357781" y="3438812"/>
                <a:ext cx="5147901" cy="92140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[OCR] By writing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2×</m:t>
                            </m:r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GB" b="0" dirty="0"/>
                  <a:t> or otherwise, prove the identity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GB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95A18B-87EA-4624-9CDD-D0CBFEF4A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81" y="3438812"/>
                <a:ext cx="5147901" cy="9214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6CE233-D62D-4712-936B-A148D2041253}"/>
                  </a:ext>
                </a:extLst>
              </p:cNvPr>
              <p:cNvSpPr txBox="1"/>
              <p:nvPr/>
            </p:nvSpPr>
            <p:spPr>
              <a:xfrm>
                <a:off x="309009" y="4422593"/>
                <a:ext cx="5112568" cy="2302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f>
                                <m:f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num>
                                <m:den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∴ 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func>
                                <m:func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1" i="0" smtClean="0">
                                          <a:latin typeface="Cambria Math" panose="02040503050406030204" pitchFamily="18" charset="0"/>
                                        </a:rPr>
                                        <m:t>𝐜𝐨𝐬</m:t>
                                      </m:r>
                                    </m:e>
                                    <m:sup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GB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num>
                                        <m:den>
                                          <m:r>
                                            <a:rPr lang="en-GB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func>
                                <m:func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𝒄𝒐𝒔</m:t>
                                      </m:r>
                                    </m:e>
                                    <m:sup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GB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num>
                                        <m:den>
                                          <m:r>
                                            <a:rPr lang="en-GB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func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1" i="0" smtClean="0">
                                          <a:latin typeface="Cambria Math" panose="02040503050406030204" pitchFamily="18" charset="0"/>
                                        </a:rPr>
                                        <m:t>𝐜𝐨𝐬</m:t>
                                      </m:r>
                                    </m:e>
                                    <m:sup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GB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num>
                                        <m:den>
                                          <m:r>
                                            <a:rPr lang="en-GB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num>
                                    <m:den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 panose="02040503050406030204" pitchFamily="18" charset="0"/>
                                    </a:rPr>
                                    <m:t>𝐬𝐢𝐧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num>
                                    <m:den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num>
                                    <m:den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6CE233-D62D-4712-936B-A148D2041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09" y="4422593"/>
                <a:ext cx="5112568" cy="23026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9EEA12D2-A3B8-4B97-BDCC-DFD9E9C9060B}"/>
              </a:ext>
            </a:extLst>
          </p:cNvPr>
          <p:cNvSpPr/>
          <p:nvPr/>
        </p:nvSpPr>
        <p:spPr>
          <a:xfrm>
            <a:off x="410945" y="1316672"/>
            <a:ext cx="5147901" cy="196443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B6740C-1D99-400B-8E9B-DC2E77EEFD3A}"/>
              </a:ext>
            </a:extLst>
          </p:cNvPr>
          <p:cNvSpPr/>
          <p:nvPr/>
        </p:nvSpPr>
        <p:spPr>
          <a:xfrm>
            <a:off x="357781" y="4360218"/>
            <a:ext cx="5147901" cy="23808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1571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5E47B9-1229-4317-A883-56FDDB916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37" y="1066716"/>
            <a:ext cx="5071254" cy="215476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03DDC77-B938-4E25-B196-AB695621208C}"/>
              </a:ext>
            </a:extLst>
          </p:cNvPr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4" name="TextBox 32">
              <a:extLst>
                <a:ext uri="{FF2B5EF4-FFF2-40B4-BE49-F238E27FC236}">
                  <a16:creationId xmlns:a16="http://schemas.microsoft.com/office/drawing/2014/main" id="{4BEF77B1-69E8-4CBB-972B-5DAED91F67AA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Very Challenging Exam Example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E39C5CB-C05C-47EC-8956-8C326E67CA7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A51ABE2-4593-4BFB-AC93-467602D71A2B}"/>
              </a:ext>
            </a:extLst>
          </p:cNvPr>
          <p:cNvSpPr txBox="1"/>
          <p:nvPr/>
        </p:nvSpPr>
        <p:spPr>
          <a:xfrm>
            <a:off x="293936" y="705520"/>
            <a:ext cx="308933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C3 June 2015 Q8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B9D79-75F3-484C-8EE4-4A661A88A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52" y="3305175"/>
            <a:ext cx="5105400" cy="2828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93FEDD-2ADD-4BF3-8FCA-74E1217EA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562" y="1471381"/>
            <a:ext cx="3553408" cy="157851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A12C9C6-1A89-44AB-91AB-8E3BDFAF7A38}"/>
              </a:ext>
            </a:extLst>
          </p:cNvPr>
          <p:cNvSpPr/>
          <p:nvPr/>
        </p:nvSpPr>
        <p:spPr>
          <a:xfrm>
            <a:off x="5595620" y="1419240"/>
            <a:ext cx="3469940" cy="16497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DDB2854-E5D0-4705-860F-895F29211257}"/>
                  </a:ext>
                </a:extLst>
              </p:cNvPr>
              <p:cNvSpPr/>
              <p:nvPr/>
            </p:nvSpPr>
            <p:spPr>
              <a:xfrm>
                <a:off x="2915816" y="3272905"/>
                <a:ext cx="2164184" cy="82919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1100" dirty="0"/>
                  <a:t>We eventually want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1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1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r>
                  <a:rPr lang="en-GB" sz="1100" dirty="0"/>
                  <a:t> so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1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1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r>
                  <a:rPr lang="en-GB" sz="1100" dirty="0"/>
                  <a:t> is best choice of double-angle formula because this can be factorise to give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1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1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r>
                  <a:rPr lang="en-GB" sz="1100" dirty="0"/>
                  <a:t> as a factor.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DDB2854-E5D0-4705-860F-895F292112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3272905"/>
                <a:ext cx="2164184" cy="829195"/>
              </a:xfrm>
              <a:prstGeom prst="rect">
                <a:avLst/>
              </a:prstGeom>
              <a:blipFill>
                <a:blip r:embed="rId5"/>
                <a:stretch>
                  <a:fillRect t="-4286"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E5B646-8BCB-40DB-9750-4758150BDE56}"/>
              </a:ext>
            </a:extLst>
          </p:cNvPr>
          <p:cNvCxnSpPr>
            <a:cxnSpLocks/>
          </p:cNvCxnSpPr>
          <p:nvPr/>
        </p:nvCxnSpPr>
        <p:spPr>
          <a:xfrm flipH="1">
            <a:off x="2578100" y="4102100"/>
            <a:ext cx="368300" cy="393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A779AF-B395-4ED2-BB4B-867CA6E8DAF8}"/>
                  </a:ext>
                </a:extLst>
              </p:cNvPr>
              <p:cNvSpPr txBox="1"/>
              <p:nvPr/>
            </p:nvSpPr>
            <p:spPr>
              <a:xfrm>
                <a:off x="5378883" y="5219091"/>
                <a:ext cx="3667349" cy="138499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This is even less obvious. Knowing that we’ll have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2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func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2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func>
                      </m:e>
                    </m:d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2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func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2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func>
                      </m:e>
                    </m:d>
                  </m:oMath>
                </a14:m>
                <a:r>
                  <a:rPr lang="en-GB" sz="1200" dirty="0"/>
                  <a:t> in the denominator and that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r>
                  <a:rPr lang="en-GB" sz="1200" dirty="0"/>
                  <a:t> will cancel, we might work backwards from the final result and multiply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r>
                  <a:rPr lang="en-GB" sz="1200" dirty="0"/>
                  <a:t>! Working backwards from the thing we’re trying to prove is occasionally a good strategy (provided the steps are reversible!)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A779AF-B395-4ED2-BB4B-867CA6E8D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883" y="5219091"/>
                <a:ext cx="3667349" cy="1384995"/>
              </a:xfrm>
              <a:prstGeom prst="rect">
                <a:avLst/>
              </a:prstGeom>
              <a:blipFill>
                <a:blip r:embed="rId6"/>
                <a:stretch>
                  <a:fillRect r="-660" b="-1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F3C8AAD-6DE8-4428-A2E7-0F74D7D5A09C}"/>
              </a:ext>
            </a:extLst>
          </p:cNvPr>
          <p:cNvCxnSpPr>
            <a:cxnSpLocks/>
          </p:cNvCxnSpPr>
          <p:nvPr/>
        </p:nvCxnSpPr>
        <p:spPr>
          <a:xfrm flipH="1" flipV="1">
            <a:off x="3619500" y="4749801"/>
            <a:ext cx="787400" cy="1231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8F359F1-4582-4A8D-A7A6-B8E12B922F33}"/>
              </a:ext>
            </a:extLst>
          </p:cNvPr>
          <p:cNvSpPr/>
          <p:nvPr/>
        </p:nvSpPr>
        <p:spPr>
          <a:xfrm>
            <a:off x="45684" y="3270592"/>
            <a:ext cx="9019876" cy="347077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</a:t>
            </a:r>
          </a:p>
        </p:txBody>
      </p:sp>
    </p:spTree>
    <p:extLst>
      <p:ext uri="{BB962C8B-B14F-4D97-AF65-F5344CB8AC3E}">
        <p14:creationId xmlns:p14="http://schemas.microsoft.com/office/powerpoint/2010/main" val="254375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24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7.6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53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24B0A74-C8D8-A16F-054E-F3AA67F1B42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38" y="2566690"/>
            <a:ext cx="6768752" cy="17519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876967-BAB8-316D-70F2-278C51CBC432}"/>
              </a:ext>
            </a:extLst>
          </p:cNvPr>
          <p:cNvSpPr txBox="1"/>
          <p:nvPr/>
        </p:nvSpPr>
        <p:spPr>
          <a:xfrm>
            <a:off x="437291" y="1953971"/>
            <a:ext cx="1326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0DD6C4-6033-5F40-2C15-58D92D00780B}"/>
              </a:ext>
            </a:extLst>
          </p:cNvPr>
          <p:cNvSpPr txBox="1"/>
          <p:nvPr/>
        </p:nvSpPr>
        <p:spPr>
          <a:xfrm>
            <a:off x="428039" y="2307011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[STEP I 2005 Q4]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4F3537-2C56-051B-90F9-A6A61FA7F4CA}"/>
                  </a:ext>
                </a:extLst>
              </p:cNvPr>
              <p:cNvSpPr/>
              <p:nvPr/>
            </p:nvSpPr>
            <p:spPr>
              <a:xfrm>
                <a:off x="612763" y="4498575"/>
                <a:ext cx="5220880" cy="5127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(a)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117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125</m:t>
                        </m:r>
                      </m:den>
                    </m:f>
                  </m:oMath>
                </a14:m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(b)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𝑡𝑎𝑛</m:t>
                    </m:r>
                    <m:r>
                      <a:rPr lang="en-GB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=8+</m:t>
                    </m:r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75</m:t>
                        </m:r>
                      </m:e>
                    </m:rad>
                  </m:oMath>
                </a14:m>
                <a:endParaRPr lang="en-GB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44F3537-2C56-051B-90F9-A6A61FA7F4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63" y="4498575"/>
                <a:ext cx="5220880" cy="512704"/>
              </a:xfrm>
              <a:prstGeom prst="rect">
                <a:avLst/>
              </a:prstGeom>
              <a:blipFill>
                <a:blip r:embed="rId3"/>
                <a:stretch>
                  <a:fillRect l="-1051"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81E99457-8383-4AEC-AD3D-6A7FD6B07394}"/>
              </a:ext>
            </a:extLst>
          </p:cNvPr>
          <p:cNvSpPr/>
          <p:nvPr/>
        </p:nvSpPr>
        <p:spPr>
          <a:xfrm>
            <a:off x="974472" y="4466730"/>
            <a:ext cx="641678" cy="6184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AD4A4F-08B2-5C49-BF5B-623EF0A9F054}"/>
              </a:ext>
            </a:extLst>
          </p:cNvPr>
          <p:cNvSpPr/>
          <p:nvPr/>
        </p:nvSpPr>
        <p:spPr>
          <a:xfrm>
            <a:off x="1943692" y="4466029"/>
            <a:ext cx="2124252" cy="6184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table of equations with numbers&#10;&#10;AI-generated content may be incorrect.">
            <a:extLst>
              <a:ext uri="{FF2B5EF4-FFF2-40B4-BE49-F238E27FC236}">
                <a16:creationId xmlns:a16="http://schemas.microsoft.com/office/drawing/2014/main" id="{0274B544-8E8F-4FAA-224A-CB49E02C6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978" y="764704"/>
            <a:ext cx="7200900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BD3BD1AA-7879-2602-6C33-178812989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03" y="764704"/>
            <a:ext cx="7715250" cy="5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D010F-5CF4-E1FF-9980-025F1158D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89F9E16-9D5B-536A-DBFD-5E759DEEF95A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64D41CE-2B00-933C-6275-8E629A46611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AAF3058-190A-7684-772F-3CEAC6DFC11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FAD5C6FA-1D8C-65C3-6CC1-F47BC6ADF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78" y="1052736"/>
            <a:ext cx="773430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13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A71C891-0EEC-8F5C-BF63-7EBB5AF82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971550"/>
            <a:ext cx="889635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69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B4232F2-0BE0-7BA5-A665-A562B903B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900112"/>
            <a:ext cx="8972550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52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1FCE2-11E5-0177-88A2-597532231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E3D12E5-79B1-B964-1C9A-7AD224BE407F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E92FD4D-C83B-D08E-207D-B21038922972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9B10855-6933-C9A9-8557-5034501B5DD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DDA7A45-04D6-4750-6B01-9D8E8B412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" y="814387"/>
            <a:ext cx="8772525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25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A31B9-1B2E-5C2A-EC54-C94DFA3C8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0897D05-1500-E595-F2A8-B27A835A5303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7FB4CFE-B10D-6D8A-F85F-127B40B96434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75B7E18-F4E1-15B9-8CD5-5876B1BCBAF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5D1C48D-934A-8CFE-FA28-E1A55087E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4" y="764704"/>
            <a:ext cx="9144000" cy="561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945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61754</TotalTime>
  <Words>297</Words>
  <Application>Microsoft Office PowerPoint</Application>
  <PresentationFormat>On-screen Show (4:3)</PresentationFormat>
  <Paragraphs>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P2 Chapter 7: Trigonometric Equations  Proving Identities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2026-02-02T13:44:01Z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