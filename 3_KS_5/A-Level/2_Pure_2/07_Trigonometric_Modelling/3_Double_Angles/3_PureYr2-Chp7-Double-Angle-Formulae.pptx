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547" r:id="rId5"/>
    <p:sldId id="544" r:id="rId6"/>
    <p:sldId id="542" r:id="rId7"/>
    <p:sldId id="553" r:id="rId8"/>
    <p:sldId id="549" r:id="rId9"/>
    <p:sldId id="543" r:id="rId10"/>
    <p:sldId id="550" r:id="rId11"/>
    <p:sldId id="551" r:id="rId12"/>
    <p:sldId id="554" r:id="rId13"/>
    <p:sldId id="545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64C664-9284-4205-A269-8F03F8C66FF7}" v="1" dt="2026-01-29T10:34:01.8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12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518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B47B330E-67D7-47E6-A6C8-686253D34652}"/>
    <pc:docChg chg="undo custSel addSld modSld">
      <pc:chgData name="Dieter Beaven" userId="9bbdb69f-69d0-4759-aa9b-5c090a2da237" providerId="ADAL" clId="{B47B330E-67D7-47E6-A6C8-686253D34652}" dt="2026-01-29T10:38:02.157" v="31" actId="20577"/>
      <pc:docMkLst>
        <pc:docMk/>
      </pc:docMkLst>
      <pc:sldChg chg="addSp modSp mod">
        <pc:chgData name="Dieter Beaven" userId="9bbdb69f-69d0-4759-aa9b-5c090a2da237" providerId="ADAL" clId="{B47B330E-67D7-47E6-A6C8-686253D34652}" dt="2026-01-29T10:33:53.940" v="10" actId="1076"/>
        <pc:sldMkLst>
          <pc:docMk/>
          <pc:sldMk cId="3896053727" sldId="543"/>
        </pc:sldMkLst>
        <pc:picChg chg="add mod">
          <ac:chgData name="Dieter Beaven" userId="9bbdb69f-69d0-4759-aa9b-5c090a2da237" providerId="ADAL" clId="{B47B330E-67D7-47E6-A6C8-686253D34652}" dt="2026-01-29T10:33:53.940" v="10" actId="1076"/>
          <ac:picMkLst>
            <pc:docMk/>
            <pc:sldMk cId="3896053727" sldId="543"/>
            <ac:picMk id="6" creationId="{EEE5BDA5-37C8-625B-0253-9AD704E546AF}"/>
          </ac:picMkLst>
        </pc:picChg>
      </pc:sldChg>
      <pc:sldChg chg="addSp delSp modSp mod">
        <pc:chgData name="Dieter Beaven" userId="9bbdb69f-69d0-4759-aa9b-5c090a2da237" providerId="ADAL" clId="{B47B330E-67D7-47E6-A6C8-686253D34652}" dt="2026-01-29T10:33:50.956" v="9" actId="1076"/>
        <pc:sldMkLst>
          <pc:docMk/>
          <pc:sldMk cId="4091202299" sldId="550"/>
        </pc:sldMkLst>
        <pc:picChg chg="add del mod">
          <ac:chgData name="Dieter Beaven" userId="9bbdb69f-69d0-4759-aa9b-5c090a2da237" providerId="ADAL" clId="{B47B330E-67D7-47E6-A6C8-686253D34652}" dt="2026-01-29T10:33:02.085" v="5" actId="22"/>
          <ac:picMkLst>
            <pc:docMk/>
            <pc:sldMk cId="4091202299" sldId="550"/>
            <ac:picMk id="6" creationId="{65677104-25FF-917B-5FA8-6ED58C8F67B3}"/>
          </ac:picMkLst>
        </pc:picChg>
        <pc:picChg chg="add mod">
          <ac:chgData name="Dieter Beaven" userId="9bbdb69f-69d0-4759-aa9b-5c090a2da237" providerId="ADAL" clId="{B47B330E-67D7-47E6-A6C8-686253D34652}" dt="2026-01-29T10:33:50.956" v="9" actId="1076"/>
          <ac:picMkLst>
            <pc:docMk/>
            <pc:sldMk cId="4091202299" sldId="550"/>
            <ac:picMk id="8" creationId="{21472598-49D3-8325-229F-42A57CE8CA62}"/>
          </ac:picMkLst>
        </pc:picChg>
      </pc:sldChg>
      <pc:sldChg chg="addSp delSp modSp mod">
        <pc:chgData name="Dieter Beaven" userId="9bbdb69f-69d0-4759-aa9b-5c090a2da237" providerId="ADAL" clId="{B47B330E-67D7-47E6-A6C8-686253D34652}" dt="2026-01-29T10:35:26.968" v="21" actId="1076"/>
        <pc:sldMkLst>
          <pc:docMk/>
          <pc:sldMk cId="3826585799" sldId="551"/>
        </pc:sldMkLst>
        <pc:picChg chg="add del mod">
          <ac:chgData name="Dieter Beaven" userId="9bbdb69f-69d0-4759-aa9b-5c090a2da237" providerId="ADAL" clId="{B47B330E-67D7-47E6-A6C8-686253D34652}" dt="2026-01-29T10:35:16.524" v="15" actId="478"/>
          <ac:picMkLst>
            <pc:docMk/>
            <pc:sldMk cId="3826585799" sldId="551"/>
            <ac:picMk id="6" creationId="{CB909248-9F22-F630-0ACB-799CDECA941D}"/>
          </ac:picMkLst>
        </pc:picChg>
        <pc:picChg chg="add mod">
          <ac:chgData name="Dieter Beaven" userId="9bbdb69f-69d0-4759-aa9b-5c090a2da237" providerId="ADAL" clId="{B47B330E-67D7-47E6-A6C8-686253D34652}" dt="2026-01-29T10:35:26.968" v="21" actId="1076"/>
          <ac:picMkLst>
            <pc:docMk/>
            <pc:sldMk cId="3826585799" sldId="551"/>
            <ac:picMk id="8" creationId="{0D6B345E-155A-2BE6-E199-28447A5AEDD1}"/>
          </ac:picMkLst>
        </pc:picChg>
      </pc:sldChg>
      <pc:sldChg chg="modSp mod">
        <pc:chgData name="Dieter Beaven" userId="9bbdb69f-69d0-4759-aa9b-5c090a2da237" providerId="ADAL" clId="{B47B330E-67D7-47E6-A6C8-686253D34652}" dt="2026-01-29T10:38:02.157" v="31" actId="20577"/>
        <pc:sldMkLst>
          <pc:docMk/>
          <pc:sldMk cId="2769226779" sldId="553"/>
        </pc:sldMkLst>
        <pc:spChg chg="mod">
          <ac:chgData name="Dieter Beaven" userId="9bbdb69f-69d0-4759-aa9b-5c090a2da237" providerId="ADAL" clId="{B47B330E-67D7-47E6-A6C8-686253D34652}" dt="2026-01-29T10:38:02.157" v="31" actId="20577"/>
          <ac:spMkLst>
            <pc:docMk/>
            <pc:sldMk cId="2769226779" sldId="553"/>
            <ac:spMk id="7" creationId="{C016190D-B658-4A45-A1EB-4EB834B0265A}"/>
          </ac:spMkLst>
        </pc:spChg>
      </pc:sldChg>
      <pc:sldChg chg="addSp modSp add mod">
        <pc:chgData name="Dieter Beaven" userId="9bbdb69f-69d0-4759-aa9b-5c090a2da237" providerId="ADAL" clId="{B47B330E-67D7-47E6-A6C8-686253D34652}" dt="2026-01-29T10:36:11.004" v="27" actId="1036"/>
        <pc:sldMkLst>
          <pc:docMk/>
          <pc:sldMk cId="1593888526" sldId="554"/>
        </pc:sldMkLst>
        <pc:picChg chg="add mod">
          <ac:chgData name="Dieter Beaven" userId="9bbdb69f-69d0-4759-aa9b-5c090a2da237" providerId="ADAL" clId="{B47B330E-67D7-47E6-A6C8-686253D34652}" dt="2026-01-29T10:36:11.004" v="27" actId="1036"/>
          <ac:picMkLst>
            <pc:docMk/>
            <pc:sldMk cId="1593888526" sldId="554"/>
            <ac:picMk id="6" creationId="{8C15861C-6704-11E6-6A85-64D74B76FBF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496" y="2130425"/>
            <a:ext cx="9073008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7: </a:t>
            </a:r>
            <a:r>
              <a:rPr lang="en-GB" dirty="0">
                <a:solidFill>
                  <a:schemeClr val="accent5"/>
                </a:solidFill>
              </a:rPr>
              <a:t>Trigonometric Equations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Double Angle Formulae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Double Angle Formulae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96009" y="1329635"/>
                <a:ext cx="7704856" cy="3487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/>
                                </a:rPr>
                                <m:t>2</m:t>
                              </m:r>
                              <m:r>
                                <a:rPr lang="en-GB" sz="2800" b="0" i="1" smtClean="0">
                                  <a:latin typeface="Cambria Math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  <m:r>
                        <a:rPr lang="en-GB" sz="2800" b="0" i="1" smtClean="0">
                          <a:latin typeface="Cambria Math"/>
                        </a:rPr>
                        <m:t>≡2</m:t>
                      </m:r>
                      <m:func>
                        <m:func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GB" sz="2800" b="0" i="1" smtClean="0">
                              <a:latin typeface="Cambria Math"/>
                            </a:rPr>
                            <m:t>𝐴</m:t>
                          </m:r>
                        </m:e>
                      </m:func>
                      <m:func>
                        <m:func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GB" sz="2800" b="0" i="1" smtClean="0">
                              <a:latin typeface="Cambria Math"/>
                            </a:rPr>
                            <m:t>𝐴</m:t>
                          </m:r>
                        </m:e>
                      </m:func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/>
                                </a:rPr>
                                <m:t>2</m:t>
                              </m:r>
                              <m:r>
                                <a:rPr lang="en-GB" sz="2800" b="0" i="1" smtClean="0">
                                  <a:latin typeface="Cambria Math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  <m:r>
                        <a:rPr lang="en-GB" sz="2800" b="0" i="1" smtClean="0">
                          <a:latin typeface="Cambria Math"/>
                        </a:rPr>
                        <m:t>≡</m:t>
                      </m:r>
                      <m:func>
                        <m:func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2800" b="0" i="0" smtClean="0">
                                  <a:latin typeface="Cambria Math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sz="2800" b="0" i="1" smtClean="0">
                              <a:latin typeface="Cambria Math"/>
                            </a:rPr>
                            <m:t>𝐴</m:t>
                          </m:r>
                        </m:e>
                      </m:func>
                      <m:r>
                        <a:rPr lang="en-GB" sz="2800" b="0" i="1" smtClean="0">
                          <a:latin typeface="Cambria Math"/>
                        </a:rPr>
                        <m:t>−</m:t>
                      </m:r>
                      <m:func>
                        <m:func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2800" b="0" i="0" smtClean="0">
                                  <a:latin typeface="Cambria Math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sz="2800" b="0" i="1" smtClean="0">
                              <a:latin typeface="Cambria Math"/>
                            </a:rPr>
                            <m:t>𝐴</m:t>
                          </m:r>
                        </m:e>
                      </m:func>
                    </m:oMath>
                  </m:oMathPara>
                </a14:m>
                <a:br>
                  <a:rPr lang="en-GB" sz="2800" b="0" i="1" dirty="0">
                    <a:latin typeface="Cambria Math"/>
                  </a:rPr>
                </a:br>
                <a:r>
                  <a:rPr lang="en-GB" sz="2800" b="0" i="1" dirty="0">
                    <a:latin typeface="Cambria Math"/>
                  </a:rPr>
                  <a:t>                                       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/>
                      </a:rPr>
                      <m:t>≡2</m:t>
                    </m:r>
                    <m:func>
                      <m:func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2800" b="0" i="0" smtClean="0">
                                <a:latin typeface="Cambria Math"/>
                              </a:rPr>
                              <m:t>cos</m:t>
                            </m:r>
                          </m:e>
                          <m:sup>
                            <m:r>
                              <a:rPr lang="en-GB" sz="2800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2800" b="0" i="1" smtClean="0">
                            <a:latin typeface="Cambria Math"/>
                          </a:rPr>
                          <m:t>𝐴</m:t>
                        </m:r>
                      </m:e>
                    </m:func>
                    <m:r>
                      <a:rPr lang="en-GB" sz="2800" b="0" i="1" smtClean="0">
                        <a:latin typeface="Cambria Math"/>
                      </a:rPr>
                      <m:t>−1</m:t>
                    </m:r>
                  </m:oMath>
                </a14:m>
                <a:br>
                  <a:rPr lang="en-GB" sz="2800" b="0" i="1" dirty="0">
                    <a:latin typeface="Cambria Math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/>
                        </a:rPr>
                        <m:t>          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                             </m:t>
                      </m:r>
                      <m:r>
                        <a:rPr lang="en-GB" sz="2800" b="0" i="1" smtClean="0">
                          <a:latin typeface="Cambria Math"/>
                        </a:rPr>
                        <m:t>≡1−2</m:t>
                      </m:r>
                      <m:func>
                        <m:func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2800" b="0" i="0" smtClean="0">
                                  <a:latin typeface="Cambria Math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sz="2800" b="0" i="1" smtClean="0">
                              <a:latin typeface="Cambria Math"/>
                            </a:rPr>
                            <m:t>𝐴</m:t>
                          </m:r>
                        </m:e>
                      </m:func>
                    </m:oMath>
                  </m:oMathPara>
                </a14:m>
                <a:br>
                  <a:rPr lang="en-GB" sz="2800" b="0" i="1" dirty="0">
                    <a:latin typeface="Cambria Math"/>
                  </a:rPr>
                </a:br>
                <a:br>
                  <a:rPr lang="en-GB" sz="2800" b="0" i="1" dirty="0">
                    <a:latin typeface="Cambria Math"/>
                  </a:rPr>
                </a:br>
                <a:endParaRPr lang="en-GB" sz="280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 b="0" i="0" smtClean="0">
                              <a:latin typeface="Cambria Math"/>
                            </a:rPr>
                            <m:t>tan</m:t>
                          </m:r>
                        </m:fName>
                        <m:e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/>
                                </a:rPr>
                                <m:t>2</m:t>
                              </m:r>
                              <m:r>
                                <a:rPr lang="en-GB" sz="2800" b="0" i="1" smtClean="0">
                                  <a:latin typeface="Cambria Math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  <m:r>
                        <a:rPr lang="en-GB" sz="28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/>
                            </a:rPr>
                            <m:t>2</m:t>
                          </m:r>
                          <m:func>
                            <m:func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800" b="0" i="0" smtClean="0">
                                  <a:latin typeface="Cambria Math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GB" sz="2800" b="0" i="1" smtClean="0">
                                  <a:latin typeface="Cambria Math"/>
                                </a:rPr>
                                <m:t>𝐴</m:t>
                              </m:r>
                            </m:e>
                          </m:func>
                        </m:num>
                        <m:den>
                          <m:r>
                            <a:rPr lang="en-GB" sz="2800" b="0" i="1" smtClean="0">
                              <a:latin typeface="Cambria Math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800" b="0" i="0" smtClean="0">
                                      <a:latin typeface="Cambria Math"/>
                                    </a:rPr>
                                    <m:t>tan</m:t>
                                  </m:r>
                                </m:e>
                                <m:sup>
                                  <m:r>
                                    <a:rPr lang="en-GB" sz="28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sz="2800" b="0" i="1" smtClean="0">
                                  <a:latin typeface="Cambria Math"/>
                                </a:rPr>
                                <m:t>𝐴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09" y="1329635"/>
                <a:ext cx="7704856" cy="34871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6660232" y="3133203"/>
            <a:ext cx="2376264" cy="203132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Tip</a:t>
            </a:r>
            <a:r>
              <a:rPr lang="en-GB" dirty="0"/>
              <a:t>: Way to remember which way round these go is that the cos on the RHS is ‘attracted’ to the cos on the LHS, whereas the sin is pushed away.</a:t>
            </a:r>
          </a:p>
        </p:txBody>
      </p:sp>
      <p:cxnSp>
        <p:nvCxnSpPr>
          <p:cNvPr id="8" name="Straight Arrow Connector 7"/>
          <p:cNvCxnSpPr>
            <a:cxnSpLocks/>
          </p:cNvCxnSpPr>
          <p:nvPr/>
        </p:nvCxnSpPr>
        <p:spPr>
          <a:xfrm flipH="1" flipV="1">
            <a:off x="5724128" y="3151494"/>
            <a:ext cx="1008112" cy="78156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59173" y="5162199"/>
                <a:ext cx="676875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GB" dirty="0"/>
                  <a:t>These are all easily derivable by just setting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𝐴</m:t>
                    </m:r>
                    <m:r>
                      <a:rPr lang="en-GB" b="0" i="1" smtClean="0">
                        <a:latin typeface="Cambria Math"/>
                      </a:rPr>
                      <m:t>=</m:t>
                    </m:r>
                    <m:r>
                      <a:rPr lang="en-GB" b="0" i="1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GB" dirty="0"/>
                  <a:t> in the compound angle formulae. e.g. </a:t>
                </a:r>
                <a:br>
                  <a:rPr lang="en-GB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func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func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func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173" y="5162199"/>
                <a:ext cx="6768752" cy="1477328"/>
              </a:xfrm>
              <a:prstGeom prst="rect">
                <a:avLst/>
              </a:prstGeom>
              <a:blipFill>
                <a:blip r:embed="rId3"/>
                <a:stretch>
                  <a:fillRect l="-811" t="-24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504121" y="1265898"/>
            <a:ext cx="792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Wingdings" panose="05000000000000000000" pitchFamily="2" charset="2"/>
              </a:rPr>
              <a:t>!</a:t>
            </a:r>
            <a:endParaRPr lang="en-GB" dirty="0">
              <a:latin typeface="Wingdings" panose="05000000000000000000" pitchFamily="2" charset="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5125" y="1204342"/>
            <a:ext cx="2376264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This first form is relatively rare.</a:t>
            </a:r>
          </a:p>
        </p:txBody>
      </p:sp>
      <p:cxnSp>
        <p:nvCxnSpPr>
          <p:cNvPr id="13" name="Straight Arrow Connector 12"/>
          <p:cNvCxnSpPr>
            <a:stCxn id="12" idx="1"/>
          </p:cNvCxnSpPr>
          <p:nvPr/>
        </p:nvCxnSpPr>
        <p:spPr>
          <a:xfrm flipH="1">
            <a:off x="6184641" y="1527508"/>
            <a:ext cx="400484" cy="32316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1D65443-7F56-4433-9880-7D2C952F3803}"/>
              </a:ext>
            </a:extLst>
          </p:cNvPr>
          <p:cNvSpPr txBox="1"/>
          <p:nvPr/>
        </p:nvSpPr>
        <p:spPr>
          <a:xfrm>
            <a:off x="249266" y="735676"/>
            <a:ext cx="7316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Double-angle formula allow you to halve the angle within a trig function.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0C15FCC-508F-41AA-BB8F-70C258FDA185}"/>
              </a:ext>
            </a:extLst>
          </p:cNvPr>
          <p:cNvCxnSpPr/>
          <p:nvPr/>
        </p:nvCxnSpPr>
        <p:spPr>
          <a:xfrm>
            <a:off x="899592" y="5013176"/>
            <a:ext cx="730127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0240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4B2361B-0CD4-4BC8-BCE2-7853FE87E50E}"/>
              </a:ext>
            </a:extLst>
          </p:cNvPr>
          <p:cNvGrpSpPr/>
          <p:nvPr/>
        </p:nvGrpSpPr>
        <p:grpSpPr>
          <a:xfrm>
            <a:off x="0" y="0"/>
            <a:ext cx="9144000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326CE14C-86C1-406C-A92D-11993F9E0AEB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Examples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3503E83-B28F-4362-84BE-3ADDE6A9EABF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FFA710-447E-4877-BA54-E0ED5E598F46}"/>
                  </a:ext>
                </a:extLst>
              </p:cNvPr>
              <p:cNvSpPr txBox="1"/>
              <p:nvPr/>
            </p:nvSpPr>
            <p:spPr>
              <a:xfrm>
                <a:off x="508269" y="851226"/>
                <a:ext cx="7527460" cy="196124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[Textbook] Use the double-angle formulae to write each of the following as a single trigonometric ratio.</a:t>
                </a:r>
              </a:p>
              <a:p>
                <a:pPr marL="342900" indent="-342900">
                  <a:buAutoNum type="alphaLcParenR"/>
                </a:pPr>
                <a:r>
                  <a:rPr lang="en-GB" b="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50°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50° </m:t>
                        </m:r>
                      </m:e>
                    </m:func>
                  </m:oMath>
                </a14:m>
                <a:endParaRPr lang="en-GB" dirty="0"/>
              </a:p>
              <a:p>
                <a:pPr marL="342900" indent="-342900">
                  <a:buAutoNum type="alphaL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fName>
                          <m:e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den>
                    </m:f>
                  </m:oMath>
                </a14:m>
                <a:endParaRPr lang="en-GB" dirty="0"/>
              </a:p>
              <a:p>
                <a:pPr marL="342900" indent="-342900">
                  <a:buAutoNum type="alphaL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70°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sec</m:t>
                            </m:r>
                          </m:fNam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70°</m:t>
                            </m:r>
                          </m:e>
                        </m:func>
                      </m:den>
                    </m:f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FFA710-447E-4877-BA54-E0ED5E598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269" y="851226"/>
                <a:ext cx="7527460" cy="19612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9F96D6-12DD-4635-98F4-7883106DD506}"/>
                  </a:ext>
                </a:extLst>
              </p:cNvPr>
              <p:cNvSpPr txBox="1"/>
              <p:nvPr/>
            </p:nvSpPr>
            <p:spPr>
              <a:xfrm>
                <a:off x="1259632" y="3075950"/>
                <a:ext cx="5328592" cy="35383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This matches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 i="0" smtClean="0">
                            <a:latin typeface="Cambria Math" panose="02040503050406030204" pitchFamily="18" charset="0"/>
                          </a:rPr>
                          <m:t>𝐜𝐨𝐬</m:t>
                        </m:r>
                      </m:fName>
                      <m:e>
                        <m:d>
                          <m:d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d>
                      </m:e>
                    </m:func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1" i="0" smtClean="0">
                                <a:latin typeface="Cambria Math" panose="02040503050406030204" pitchFamily="18" charset="0"/>
                              </a:rPr>
                              <m:t>𝐜𝐨𝐬</m:t>
                            </m:r>
                          </m:e>
                          <m:sup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fName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func>
                    <m:r>
                      <a:rPr lang="en-GB" b="1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1" i="0" smtClean="0">
                                <a:latin typeface="Cambria Math" panose="02040503050406030204" pitchFamily="18" charset="0"/>
                              </a:rPr>
                              <m:t>𝐬𝐢𝐧</m:t>
                            </m:r>
                          </m:e>
                          <m:sup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fName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func>
                  </m:oMath>
                </a14:m>
                <a:r>
                  <a:rPr lang="en-GB" b="1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𝒄𝒐𝒔</m:t>
                              </m:r>
                            </m:e>
                            <m:sup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fName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𝟓𝟎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°</m:t>
                          </m:r>
                        </m:e>
                      </m:func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𝒔𝒊𝒏</m:t>
                              </m:r>
                            </m:e>
                            <m:sup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fName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𝟓𝟎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° 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𝟏𝟎𝟎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b="1" dirty="0"/>
              </a:p>
              <a:p>
                <a:endParaRPr lang="en-GB" b="1" dirty="0"/>
              </a:p>
              <a:p>
                <a:r>
                  <a:rPr lang="en-GB" b="1" dirty="0"/>
                  <a:t>This matches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 i="0" smtClean="0">
                            <a:latin typeface="Cambria Math" panose="02040503050406030204" pitchFamily="18" charset="0"/>
                          </a:rPr>
                          <m:t>𝐭𝐚𝐧</m:t>
                        </m:r>
                      </m:fName>
                      <m:e>
                        <m:d>
                          <m:d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d>
                      </m:e>
                    </m:func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func>
                          <m:func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GB" b="1" i="0" smtClean="0">
                                <a:latin typeface="Cambria Math" panose="02040503050406030204" pitchFamily="18" charset="0"/>
                              </a:rPr>
                              <m:t>𝐭𝐚𝐧</m:t>
                            </m:r>
                          </m:fName>
                          <m:e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func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b="1" i="0" smtClean="0">
                                    <a:latin typeface="Cambria Math" panose="02040503050406030204" pitchFamily="18" charset="0"/>
                                  </a:rPr>
                                  <m:t>𝐭𝐚𝐧</m:t>
                                </m:r>
                              </m:e>
                              <m:sup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fName>
                          <m:e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func>
                      </m:den>
                    </m:f>
                  </m:oMath>
                </a14:m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𝒕𝒂𝒏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  <m:t>𝝅</m:t>
                                      </m:r>
                                    </m:num>
                                    <m:den>
                                      <m: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  <m:t>𝟔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𝒕𝒂𝒏</m:t>
                                  </m:r>
                                </m:e>
                                <m:sup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d>
                                <m:d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  <m:t>𝝅</m:t>
                                      </m:r>
                                    </m:num>
                                    <m:den>
                                      <m: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  <m:t>𝟔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𝝅</m:t>
                                  </m:r>
                                </m:num>
                                <m:den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GB" b="1" dirty="0"/>
              </a:p>
              <a:p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𝟕𝟎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𝐬𝐞𝐜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𝟕𝟎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func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𝟕𝟎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func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÷</m:t>
                          </m:r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𝐜𝐨𝐬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𝟕𝟎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func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𝟕𝟎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°</m:t>
                          </m:r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𝟕𝟎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°</m:t>
                          </m:r>
                        </m:e>
                      </m:func>
                    </m:oMath>
                  </m:oMathPara>
                </a14:m>
                <a:endParaRPr lang="en-GB" b="1" dirty="0"/>
              </a:p>
              <a:p>
                <a:r>
                  <a:rPr lang="en-GB" b="1" dirty="0"/>
                  <a:t>This matches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 i="0" smtClean="0">
                            <a:latin typeface="Cambria Math" panose="02040503050406030204" pitchFamily="18" charset="0"/>
                          </a:rPr>
                          <m:t>𝐬𝐢𝐧</m:t>
                        </m:r>
                      </m:fName>
                      <m:e>
                        <m:d>
                          <m:d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d>
                      </m:e>
                    </m:func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𝟐</m:t>
                    </m:r>
                    <m:func>
                      <m:func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 i="0" smtClean="0">
                            <a:latin typeface="Cambria Math" panose="02040503050406030204" pitchFamily="18" charset="0"/>
                          </a:rPr>
                          <m:t>𝐬𝐢𝐧</m:t>
                        </m:r>
                      </m:fName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func>
                    <m:func>
                      <m:func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 i="0" smtClean="0">
                            <a:latin typeface="Cambria Math" panose="02040503050406030204" pitchFamily="18" charset="0"/>
                          </a:rPr>
                          <m:t>𝐜𝐨𝐬</m:t>
                        </m:r>
                      </m:fName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func>
                  </m:oMath>
                </a14:m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𝟕𝟎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°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𝒄𝒐𝒔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𝟕𝟎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°=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𝟏𝟒𝟎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°</m:t>
                          </m:r>
                        </m:e>
                      </m:func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9F96D6-12DD-4635-98F4-7883106DD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3075950"/>
                <a:ext cx="5328592" cy="3538341"/>
              </a:xfrm>
              <a:prstGeom prst="rect">
                <a:avLst/>
              </a:prstGeom>
              <a:blipFill>
                <a:blip r:embed="rId3"/>
                <a:stretch>
                  <a:fillRect l="-1030" t="-8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AA40F4-D8DD-4097-BB6D-524E00016EC5}"/>
                  </a:ext>
                </a:extLst>
              </p:cNvPr>
              <p:cNvSpPr txBox="1"/>
              <p:nvPr/>
            </p:nvSpPr>
            <p:spPr>
              <a:xfrm>
                <a:off x="6284685" y="1373178"/>
                <a:ext cx="2694880" cy="172072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/>
                        </a:rPr>
                        <m:t>=2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   =</m:t>
                      </m:r>
                      <m:r>
                        <a:rPr lang="en-GB" b="0" i="1" smtClean="0">
                          <a:latin typeface="Cambria Math"/>
                        </a:rPr>
                        <m:t>2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/>
                        </a:rPr>
                        <m:t>−1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             =1−2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tan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func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/>
                                    </a:rPr>
                                    <m:t>tan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AA40F4-D8DD-4097-BB6D-524E00016E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4685" y="1373178"/>
                <a:ext cx="2694880" cy="17207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2F600B19-DD82-471A-B172-C6D58AA371A6}"/>
              </a:ext>
            </a:extLst>
          </p:cNvPr>
          <p:cNvSpPr/>
          <p:nvPr/>
        </p:nvSpPr>
        <p:spPr>
          <a:xfrm>
            <a:off x="816613" y="3125803"/>
            <a:ext cx="247307" cy="26308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EE4F0D-0A42-4B9E-BCCA-537FC8B14DFC}"/>
              </a:ext>
            </a:extLst>
          </p:cNvPr>
          <p:cNvSpPr/>
          <p:nvPr/>
        </p:nvSpPr>
        <p:spPr>
          <a:xfrm>
            <a:off x="804229" y="3945491"/>
            <a:ext cx="247307" cy="26308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38F488-A7AA-4C6A-9ABD-966F96C7C295}"/>
              </a:ext>
            </a:extLst>
          </p:cNvPr>
          <p:cNvSpPr/>
          <p:nvPr/>
        </p:nvSpPr>
        <p:spPr>
          <a:xfrm>
            <a:off x="817395" y="5422026"/>
            <a:ext cx="247307" cy="26308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72BA0C-2A4C-4BFA-9447-65DCAE56D4C9}"/>
              </a:ext>
            </a:extLst>
          </p:cNvPr>
          <p:cNvSpPr/>
          <p:nvPr/>
        </p:nvSpPr>
        <p:spPr>
          <a:xfrm>
            <a:off x="1066152" y="3125803"/>
            <a:ext cx="5522072" cy="5842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B8202E-D3CC-495A-937B-0E0D5A4F9976}"/>
              </a:ext>
            </a:extLst>
          </p:cNvPr>
          <p:cNvSpPr/>
          <p:nvPr/>
        </p:nvSpPr>
        <p:spPr>
          <a:xfrm>
            <a:off x="1066152" y="3938583"/>
            <a:ext cx="5522072" cy="130651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D07A84-D8F1-4826-BF20-2B440786CAA1}"/>
              </a:ext>
            </a:extLst>
          </p:cNvPr>
          <p:cNvSpPr/>
          <p:nvPr/>
        </p:nvSpPr>
        <p:spPr>
          <a:xfrm>
            <a:off x="1085196" y="5422026"/>
            <a:ext cx="5522072" cy="130651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95874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A180BF4-E8D9-44B4-AC43-CBAB71E4F4F8}"/>
              </a:ext>
            </a:extLst>
          </p:cNvPr>
          <p:cNvGrpSpPr/>
          <p:nvPr/>
        </p:nvGrpSpPr>
        <p:grpSpPr>
          <a:xfrm>
            <a:off x="0" y="0"/>
            <a:ext cx="9144000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58BA9D16-B988-49DA-828A-4760952ED7C1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Examples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21A99C1-5346-4041-BC60-9D386F7927B9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73BAD93-9085-4E86-8D4E-E0AD25BA344C}"/>
                  </a:ext>
                </a:extLst>
              </p:cNvPr>
              <p:cNvSpPr txBox="1"/>
              <p:nvPr/>
            </p:nvSpPr>
            <p:spPr>
              <a:xfrm>
                <a:off x="508269" y="851226"/>
                <a:ext cx="5503891" cy="64633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[Textbook] Given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=3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=3−4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/>
                  <a:t>, eliminate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/>
                  <a:t> and express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in terms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73BAD93-9085-4E86-8D4E-E0AD25BA3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269" y="851226"/>
                <a:ext cx="5503891" cy="646331"/>
              </a:xfrm>
              <a:prstGeom prst="rect">
                <a:avLst/>
              </a:prstGeom>
              <a:blipFill>
                <a:blip r:embed="rId2"/>
                <a:stretch>
                  <a:fillRect b="-230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8965DE5-220D-49A2-9ECA-0564B513411A}"/>
                  </a:ext>
                </a:extLst>
              </p:cNvPr>
              <p:cNvSpPr txBox="1"/>
              <p:nvPr/>
            </p:nvSpPr>
            <p:spPr>
              <a:xfrm>
                <a:off x="6300192" y="851226"/>
                <a:ext cx="2694880" cy="172072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/>
                        </a:rPr>
                        <m:t>=2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   =</m:t>
                      </m:r>
                      <m:r>
                        <a:rPr lang="en-GB" b="0" i="1" smtClean="0">
                          <a:latin typeface="Cambria Math"/>
                        </a:rPr>
                        <m:t>2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/>
                        </a:rPr>
                        <m:t>−1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             =1−2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tan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func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/>
                                    </a:rPr>
                                    <m:t>tan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8965DE5-220D-49A2-9ECA-0564B5134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192" y="851226"/>
                <a:ext cx="2694880" cy="17207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016190D-B658-4A45-A1EB-4EB834B0265A}"/>
              </a:ext>
            </a:extLst>
          </p:cNvPr>
          <p:cNvSpPr txBox="1"/>
          <p:nvPr/>
        </p:nvSpPr>
        <p:spPr>
          <a:xfrm>
            <a:off x="6300192" y="2772610"/>
            <a:ext cx="2694880" cy="116955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b="1" dirty="0"/>
              <a:t>Note</a:t>
            </a:r>
            <a:r>
              <a:rPr lang="en-GB" sz="1400" dirty="0"/>
              <a:t>: This question is an example of turning a set of </a:t>
            </a:r>
            <a:r>
              <a:rPr lang="en-GB" sz="1400" b="1" dirty="0"/>
              <a:t>parametric equations </a:t>
            </a:r>
            <a:r>
              <a:rPr lang="en-GB" sz="1400" dirty="0"/>
              <a:t>into a single </a:t>
            </a:r>
            <a:r>
              <a:rPr lang="en-GB" sz="1400" b="1" dirty="0"/>
              <a:t>Cartesian</a:t>
            </a:r>
            <a:r>
              <a:rPr lang="en-GB" sz="1400" dirty="0"/>
              <a:t> one. You will cover this in the next chapter.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DDBC082-10B7-4BF4-AC10-B217AB0D3C45}"/>
              </a:ext>
            </a:extLst>
          </p:cNvPr>
          <p:cNvCxnSpPr>
            <a:stCxn id="7" idx="1"/>
          </p:cNvCxnSpPr>
          <p:nvPr/>
        </p:nvCxnSpPr>
        <p:spPr>
          <a:xfrm flipH="1" flipV="1">
            <a:off x="6032500" y="3238500"/>
            <a:ext cx="267692" cy="118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474FE3A-C192-4B73-BA80-A8B8544678D0}"/>
                  </a:ext>
                </a:extLst>
              </p:cNvPr>
              <p:cNvSpPr txBox="1"/>
              <p:nvPr/>
            </p:nvSpPr>
            <p:spPr>
              <a:xfrm>
                <a:off x="645468" y="1645816"/>
                <a:ext cx="4464496" cy="19836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0" smtClean="0">
                                      <a:latin typeface="Cambria Math" panose="02040503050406030204" pitchFamily="18" charset="0"/>
                                    </a:rPr>
                                    <m:t>𝐬𝐢𝐧</m:t>
                                  </m:r>
                                </m:e>
                                <m:sup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   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𝟖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b="1" dirty="0"/>
              </a:p>
              <a:p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𝟖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num>
                                <m:den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474FE3A-C192-4B73-BA80-A8B854467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468" y="1645816"/>
                <a:ext cx="4464496" cy="19836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BE1536F-812F-417F-9E95-EF5F38B286F3}"/>
                  </a:ext>
                </a:extLst>
              </p:cNvPr>
              <p:cNvSpPr txBox="1"/>
              <p:nvPr/>
            </p:nvSpPr>
            <p:spPr>
              <a:xfrm>
                <a:off x="394588" y="3716872"/>
                <a:ext cx="5731251" cy="76104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Given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is acute, find the exact value of</a:t>
                </a:r>
              </a:p>
              <a:p>
                <a:r>
                  <a:rPr lang="en-GB" dirty="0"/>
                  <a:t>(a)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      (b)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BE1536F-812F-417F-9E95-EF5F38B28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88" y="3716872"/>
                <a:ext cx="5731251" cy="761042"/>
              </a:xfrm>
              <a:prstGeom prst="rect">
                <a:avLst/>
              </a:prstGeom>
              <a:blipFill>
                <a:blip r:embed="rId5"/>
                <a:stretch>
                  <a:fillRect b="-2013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417F98A-AC22-4E4B-B594-9B86729D1ED1}"/>
                  </a:ext>
                </a:extLst>
              </p:cNvPr>
              <p:cNvSpPr txBox="1"/>
              <p:nvPr/>
            </p:nvSpPr>
            <p:spPr>
              <a:xfrm>
                <a:off x="533669" y="4572546"/>
                <a:ext cx="5854431" cy="2309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Since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𝒔𝒊</m:t>
                    </m:r>
                    <m:sSup>
                      <m:sSup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400" b="1" i="0" smtClean="0">
                        <a:latin typeface="Cambria Math" panose="02040503050406030204" pitchFamily="18" charset="0"/>
                      </a:rPr>
                      <m:t>𝐜𝐨</m:t>
                    </m:r>
                    <m:sSup>
                      <m:sSup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1" i="0" smtClean="0"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p>
                        <m:r>
                          <a:rPr lang="en-GB" sz="1400" b="1" i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 sz="1400" b="1" i="1" dirty="0"/>
                  <a:t>,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𝒔𝒊𝒏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=±</m:t>
                    </m:r>
                    <m:rad>
                      <m:radPr>
                        <m:degHide m:val="on"/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𝒄𝒐</m:t>
                        </m:r>
                        <m:sSup>
                          <m:sSupPr>
                            <m:ctrlP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rad>
                  </m:oMath>
                </a14:m>
                <a:endParaRPr lang="en-GB" sz="1400" b="1" i="1" dirty="0"/>
              </a:p>
              <a:p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𝒔𝒊𝒏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sz="1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GB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GB" sz="1400" b="1" i="1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  <m:t>𝟕</m:t>
                            </m:r>
                          </m:e>
                        </m:rad>
                      </m:num>
                      <m:den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GB" sz="1400" b="1" i="1" dirty="0"/>
                  <a:t> </a:t>
                </a:r>
                <a:r>
                  <a:rPr lang="en-GB" sz="1400" b="1" dirty="0"/>
                  <a:t>(and is positive given </a:t>
                </a:r>
                <a14:m>
                  <m:oMath xmlns:m="http://schemas.openxmlformats.org/officeDocument/2006/math">
                    <m:r>
                      <a:rPr lang="en-GB" sz="1400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sz="1400" b="1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sz="1400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GB" sz="1400" b="1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sz="1400" b="1" i="0" smtClean="0">
                        <a:latin typeface="Cambria Math" panose="02040503050406030204" pitchFamily="18" charset="0"/>
                      </a:rPr>
                      <m:t>𝟗𝟎</m:t>
                    </m:r>
                    <m:r>
                      <a:rPr lang="en-GB" sz="1400" b="1" i="0" smtClean="0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GB" sz="1400" b="1" dirty="0"/>
                  <a:t>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𝒔𝒊𝒏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𝒔𝒊𝒏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𝒄𝒐𝒔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e>
                          </m:rad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ad>
                            <m:radPr>
                              <m:degHide m:val="on"/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e>
                          </m:rad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den>
                      </m:f>
                    </m:oMath>
                  </m:oMathPara>
                </a14:m>
                <a:endParaRPr lang="en-GB" sz="1400" b="1" i="1" dirty="0"/>
              </a:p>
              <a:p>
                <a:endParaRPr lang="en-GB" sz="1400" b="1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𝒕𝒂𝒏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𝒔𝒊𝒏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𝒄𝒐𝒔</m:t>
                          </m:r>
                        </m:den>
                      </m:f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ad>
                            <m:radPr>
                              <m:degHide m:val="on"/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e>
                          </m:rad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e>
                          </m:rad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      ∴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𝒕𝒂𝒏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𝟕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sz="14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ad>
                                        <m:radPr>
                                          <m:degHide m:val="on"/>
                                          <m:ctrlPr>
                                            <a:rPr lang="en-GB" sz="14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GB" sz="1400" b="1" i="1" smtClean="0">
                                              <a:latin typeface="Cambria Math" panose="02040503050406030204" pitchFamily="18" charset="0"/>
                                            </a:rPr>
                                            <m:t>𝟕</m:t>
                                          </m:r>
                                        </m:e>
                                      </m:rad>
                                    </m:num>
                                    <m:den>
                                      <m:r>
                                        <a:rPr lang="en-GB" sz="1400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𝟑</m:t>
                      </m:r>
                      <m:rad>
                        <m:radPr>
                          <m:degHide m:val="on"/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e>
                      </m:rad>
                    </m:oMath>
                  </m:oMathPara>
                </a14:m>
                <a:endParaRPr lang="en-GB" sz="1400" b="1" i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417F98A-AC22-4E4B-B594-9B86729D1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669" y="4572546"/>
                <a:ext cx="5854431" cy="2309799"/>
              </a:xfrm>
              <a:prstGeom prst="rect">
                <a:avLst/>
              </a:prstGeom>
              <a:blipFill>
                <a:blip r:embed="rId6"/>
                <a:stretch>
                  <a:fillRect l="-3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823A407D-D14A-471B-A3A2-6CEC937DDEA6}"/>
              </a:ext>
            </a:extLst>
          </p:cNvPr>
          <p:cNvSpPr/>
          <p:nvPr/>
        </p:nvSpPr>
        <p:spPr>
          <a:xfrm>
            <a:off x="508269" y="1497556"/>
            <a:ext cx="5503891" cy="212468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AE290B-0CE6-4DE0-AAB5-C4DFA7BE28E7}"/>
              </a:ext>
            </a:extLst>
          </p:cNvPr>
          <p:cNvSpPr/>
          <p:nvPr/>
        </p:nvSpPr>
        <p:spPr>
          <a:xfrm>
            <a:off x="394588" y="4484466"/>
            <a:ext cx="5731251" cy="233543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69226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7.3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 dirty="0"/>
              <a:t>Page 50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EE5BDA5-37C8-625B-0253-9AD704E54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908720"/>
            <a:ext cx="6753225" cy="559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 descr="A math problem with equations&#10;&#10;AI-generated content may be incorrect.">
            <a:extLst>
              <a:ext uri="{FF2B5EF4-FFF2-40B4-BE49-F238E27FC236}">
                <a16:creationId xmlns:a16="http://schemas.microsoft.com/office/drawing/2014/main" id="{21472598-49D3-8325-229F-42A57CE8C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876300"/>
            <a:ext cx="6772275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FF53-D376-6E8C-D0FD-1D517FE5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C62057-5111-B8A6-4E80-4193E05591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0E89DB0-01D1-BE2B-F9D3-8CB397834D7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3F8B5A-9D24-B9B4-CD6B-9A26C85DC69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 descr="A math problem with equations&#10;&#10;AI-generated content may be incorrect.">
            <a:extLst>
              <a:ext uri="{FF2B5EF4-FFF2-40B4-BE49-F238E27FC236}">
                <a16:creationId xmlns:a16="http://schemas.microsoft.com/office/drawing/2014/main" id="{0D6B345E-155A-2BE6-E199-28447A5AE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980728"/>
            <a:ext cx="6715125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85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FD652-5E94-C7DC-DBA7-44AF72E5A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6D4EEC0-F0C2-D611-C2E1-D9FCA5E03566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24A8B0D9-AB89-FD3F-51DD-42B0C211F91D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2AB348F-0BDE-F558-BACA-357A61A5671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8C15861C-6704-11E6-6A85-64D74B76F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931540"/>
            <a:ext cx="680085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888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6C38F0DD-B230-7E6E-539E-2BB9B9F9D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40" y="836712"/>
            <a:ext cx="8867775" cy="558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2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61765</TotalTime>
  <Words>460</Words>
  <Application>Microsoft Office PowerPoint</Application>
  <PresentationFormat>On-screen Show (4:3)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 Math</vt:lpstr>
      <vt:lpstr>Wingdings</vt:lpstr>
      <vt:lpstr>Office Theme</vt:lpstr>
      <vt:lpstr>P2 Chapter 7: Trigonometric Equations  Double Angle Formulae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2026-01-29T10:38:05Z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