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4"/>
  </p:notesMasterIdLst>
  <p:sldIdLst>
    <p:sldId id="547" r:id="rId5"/>
    <p:sldId id="538" r:id="rId6"/>
    <p:sldId id="539" r:id="rId7"/>
    <p:sldId id="540" r:id="rId8"/>
    <p:sldId id="541" r:id="rId9"/>
    <p:sldId id="549" r:id="rId10"/>
    <p:sldId id="543" r:id="rId11"/>
    <p:sldId id="550" r:id="rId12"/>
    <p:sldId id="545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812" autoAdjust="0"/>
    <p:restoredTop sz="88534" autoAdjust="0"/>
  </p:normalViewPr>
  <p:slideViewPr>
    <p:cSldViewPr>
      <p:cViewPr varScale="1">
        <p:scale>
          <a:sx n="112" d="100"/>
          <a:sy n="112" d="100"/>
        </p:scale>
        <p:origin x="1518" y="108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ter Beaven" userId="9bbdb69f-69d0-4759-aa9b-5c090a2da237" providerId="ADAL" clId="{B47B330E-67D7-47E6-A6C8-686253D34652}"/>
    <pc:docChg chg="custSel delSld modSld">
      <pc:chgData name="Dieter Beaven" userId="9bbdb69f-69d0-4759-aa9b-5c090a2da237" providerId="ADAL" clId="{B47B330E-67D7-47E6-A6C8-686253D34652}" dt="2026-01-29T10:20:41.096" v="23" actId="47"/>
      <pc:docMkLst>
        <pc:docMk/>
      </pc:docMkLst>
      <pc:sldChg chg="addSp delSp modSp mod">
        <pc:chgData name="Dieter Beaven" userId="9bbdb69f-69d0-4759-aa9b-5c090a2da237" providerId="ADAL" clId="{B47B330E-67D7-47E6-A6C8-686253D34652}" dt="2026-01-29T10:20:37.274" v="22" actId="1076"/>
        <pc:sldMkLst>
          <pc:docMk/>
          <pc:sldMk cId="3896053727" sldId="543"/>
        </pc:sldMkLst>
        <pc:picChg chg="add del mod">
          <ac:chgData name="Dieter Beaven" userId="9bbdb69f-69d0-4759-aa9b-5c090a2da237" providerId="ADAL" clId="{B47B330E-67D7-47E6-A6C8-686253D34652}" dt="2026-01-29T10:19:30.171" v="5" actId="478"/>
          <ac:picMkLst>
            <pc:docMk/>
            <pc:sldMk cId="3896053727" sldId="543"/>
            <ac:picMk id="6" creationId="{7F361F19-919E-DDCE-2C43-033350600058}"/>
          </ac:picMkLst>
        </pc:picChg>
        <pc:picChg chg="add del mod">
          <ac:chgData name="Dieter Beaven" userId="9bbdb69f-69d0-4759-aa9b-5c090a2da237" providerId="ADAL" clId="{B47B330E-67D7-47E6-A6C8-686253D34652}" dt="2026-01-29T10:19:37.342" v="11" actId="478"/>
          <ac:picMkLst>
            <pc:docMk/>
            <pc:sldMk cId="3896053727" sldId="543"/>
            <ac:picMk id="8" creationId="{A48F7F4F-8A57-C8F9-517C-5BB89FC98195}"/>
          </ac:picMkLst>
        </pc:picChg>
        <pc:picChg chg="add mod">
          <ac:chgData name="Dieter Beaven" userId="9bbdb69f-69d0-4759-aa9b-5c090a2da237" providerId="ADAL" clId="{B47B330E-67D7-47E6-A6C8-686253D34652}" dt="2026-01-29T10:20:37.274" v="22" actId="1076"/>
          <ac:picMkLst>
            <pc:docMk/>
            <pc:sldMk cId="3896053727" sldId="543"/>
            <ac:picMk id="10" creationId="{4E23EFDB-09F7-FEF7-D100-285221777E7D}"/>
          </ac:picMkLst>
        </pc:picChg>
      </pc:sldChg>
      <pc:sldChg chg="addSp delSp modSp mod">
        <pc:chgData name="Dieter Beaven" userId="9bbdb69f-69d0-4759-aa9b-5c090a2da237" providerId="ADAL" clId="{B47B330E-67D7-47E6-A6C8-686253D34652}" dt="2026-01-29T10:20:35.022" v="21" actId="1076"/>
        <pc:sldMkLst>
          <pc:docMk/>
          <pc:sldMk cId="4091202299" sldId="550"/>
        </pc:sldMkLst>
        <pc:picChg chg="add del mod">
          <ac:chgData name="Dieter Beaven" userId="9bbdb69f-69d0-4759-aa9b-5c090a2da237" providerId="ADAL" clId="{B47B330E-67D7-47E6-A6C8-686253D34652}" dt="2026-01-29T10:19:33.236" v="9" actId="478"/>
          <ac:picMkLst>
            <pc:docMk/>
            <pc:sldMk cId="4091202299" sldId="550"/>
            <ac:picMk id="6" creationId="{5890BDC5-5FC6-7899-F7BE-B6DC87E89C09}"/>
          </ac:picMkLst>
        </pc:picChg>
        <pc:picChg chg="add mod">
          <ac:chgData name="Dieter Beaven" userId="9bbdb69f-69d0-4759-aa9b-5c090a2da237" providerId="ADAL" clId="{B47B330E-67D7-47E6-A6C8-686253D34652}" dt="2026-01-29T10:20:35.022" v="21" actId="1076"/>
          <ac:picMkLst>
            <pc:docMk/>
            <pc:sldMk cId="4091202299" sldId="550"/>
            <ac:picMk id="8" creationId="{3FA24F5A-EBAD-412A-400A-3CEE49E5750B}"/>
          </ac:picMkLst>
        </pc:picChg>
      </pc:sldChg>
      <pc:sldChg chg="del">
        <pc:chgData name="Dieter Beaven" userId="9bbdb69f-69d0-4759-aa9b-5c090a2da237" providerId="ADAL" clId="{B47B330E-67D7-47E6-A6C8-686253D34652}" dt="2026-01-29T10:20:41.096" v="23" actId="47"/>
        <pc:sldMkLst>
          <pc:docMk/>
          <pc:sldMk cId="3826585799" sldId="55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29/01/2026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29/01/2026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1611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29/01/2026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5171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29/01/2026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520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29/01/2026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617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29/01/2026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052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29/01/2026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8912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29/01/2026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29/01/2026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7128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29/01/2026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49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29/01/2026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3399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29/01/2026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2211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29/01/2026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496" y="2130425"/>
            <a:ext cx="9073008" cy="3026767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92D050"/>
                </a:solidFill>
              </a:rPr>
              <a:t>P2 Chapter 7: </a:t>
            </a:r>
            <a:r>
              <a:rPr lang="en-GB" dirty="0">
                <a:solidFill>
                  <a:schemeClr val="accent5"/>
                </a:solidFill>
              </a:rPr>
              <a:t>Trigonometric Equations</a:t>
            </a:r>
            <a:br>
              <a:rPr lang="en-GB" dirty="0"/>
            </a:br>
            <a:br>
              <a:rPr lang="en-GB"/>
            </a:br>
            <a:r>
              <a:rPr lang="en-GB"/>
              <a:t>Using Addition Formulae </a:t>
            </a:r>
            <a:endParaRPr lang="en-GB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1975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4000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Uses of Addition Formulae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899592" y="836712"/>
                <a:ext cx="7527460" cy="533608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[Textbook] Using a suitable angle formulae, show that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15°</m:t>
                        </m:r>
                      </m:e>
                    </m:func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  <m:r>
                          <a:rPr lang="en-GB" i="1"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GB" i="1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2" y="836712"/>
                <a:ext cx="7527460" cy="53360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467544" y="836712"/>
            <a:ext cx="432048" cy="533608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Q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882998" y="1484784"/>
                <a:ext cx="6984776" cy="22203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𝐬𝐢𝐧</m:t>
                          </m:r>
                        </m:fName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𝟏𝟓</m:t>
                          </m:r>
                        </m:e>
                      </m:func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𝐬𝐢𝐧</m:t>
                          </m:r>
                        </m:fName>
                        <m:e>
                          <m:d>
                            <m:d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𝟒𝟓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𝟑𝟎</m:t>
                              </m:r>
                            </m:e>
                          </m:d>
                        </m:e>
                      </m:func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𝐬𝐢𝐧</m:t>
                          </m:r>
                        </m:fName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𝟒𝟓</m:t>
                          </m:r>
                        </m:e>
                      </m:func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𝐜𝐨𝐬</m:t>
                          </m:r>
                        </m:fName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𝟑𝟎</m:t>
                          </m:r>
                        </m:e>
                      </m:func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𝐜𝐨𝐬</m:t>
                          </m:r>
                        </m:fName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𝟒𝟓</m:t>
                          </m:r>
                        </m:e>
                      </m:func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𝐬𝐢𝐧</m:t>
                          </m:r>
                        </m:fName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𝟑𝟎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              =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rad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e>
                          </m:rad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rad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a:rPr lang="en-GB" b="1" i="0" smtClean="0">
                          <a:latin typeface="Cambria Math" panose="02040503050406030204" pitchFamily="18" charset="0"/>
                        </a:rPr>
                        <m:t>             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e>
                          </m:rad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ad>
                            <m:radPr>
                              <m:degHide m:val="on"/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rad>
                        </m:den>
                      </m:f>
                    </m:oMath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            =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𝟔</m:t>
                              </m:r>
                            </m:e>
                          </m:rad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ad>
                            <m:radPr>
                              <m:degHide m:val="on"/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rad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998" y="1484784"/>
                <a:ext cx="6984776" cy="2220351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899592" y="3976959"/>
                <a:ext cx="7776864" cy="762773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[Textbook] Given that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func>
                    <m:r>
                      <a:rPr lang="en-GB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180°&lt;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&lt;270°</m:t>
                    </m:r>
                  </m:oMath>
                </a14:m>
                <a:r>
                  <a:rPr lang="en-GB" dirty="0"/>
                  <a:t>, and that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func>
                    <m:r>
                      <a:rPr lang="en-GB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</m:oMath>
                </a14:m>
                <a:r>
                  <a:rPr lang="en-GB" dirty="0"/>
                  <a:t>, find the value of: (a)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e>
                    </m:func>
                  </m:oMath>
                </a14:m>
                <a:r>
                  <a:rPr lang="en-GB" dirty="0"/>
                  <a:t>   (b)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tan</m:t>
                        </m:r>
                      </m:fName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e>
                    </m:func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2" y="3976959"/>
                <a:ext cx="7776864" cy="762773"/>
              </a:xfrm>
              <a:prstGeom prst="rect">
                <a:avLst/>
              </a:prstGeom>
              <a:blipFill>
                <a:blip r:embed="rId4"/>
                <a:stretch>
                  <a:fillRect b="-1333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294101" y="4827125"/>
                <a:ext cx="6438139" cy="19428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𝒄𝒐𝒔</m:t>
                      </m:r>
                      <m:d>
                        <m:d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</m:d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𝒄𝒐𝒔</m:t>
                      </m:r>
                      <m:d>
                        <m:d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d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𝒄𝒐𝒔</m:t>
                      </m:r>
                      <m:d>
                        <m:d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</m:d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𝒔𝒊𝒏</m:t>
                      </m:r>
                      <m:d>
                        <m:d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d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𝒔𝒊𝒏</m:t>
                      </m:r>
                      <m:d>
                        <m:d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</m:d>
                    </m:oMath>
                  </m:oMathPara>
                </a14:m>
                <a:br>
                  <a:rPr lang="en-GB" sz="1400" b="1" dirty="0"/>
                </a:br>
                <a14:m>
                  <m:oMath xmlns:m="http://schemas.openxmlformats.org/officeDocument/2006/math"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𝒄𝒐𝒔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≡</m:t>
                    </m:r>
                    <m:rad>
                      <m:radPr>
                        <m:degHide m:val="on"/>
                        <m:ctrlPr>
                          <a:rPr lang="en-GB" sz="1400" b="1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𝒔𝒊</m:t>
                        </m:r>
                        <m:sSup>
                          <m:sSupPr>
                            <m:ctrlPr>
                              <a:rPr lang="en-GB" sz="14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400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p>
                            <m:r>
                              <a:rPr lang="en-GB" sz="14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rad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=±</m:t>
                    </m:r>
                    <m:f>
                      <m:fPr>
                        <m:ctrlPr>
                          <a:rPr lang="en-GB" sz="14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</m:num>
                      <m:den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𝟓</m:t>
                        </m:r>
                      </m:den>
                    </m:f>
                  </m:oMath>
                </a14:m>
                <a:r>
                  <a:rPr lang="en-GB" sz="1400" b="1" dirty="0"/>
                  <a:t>. But we know from the graph of </a:t>
                </a:r>
                <a14:m>
                  <m:oMath xmlns:m="http://schemas.openxmlformats.org/officeDocument/2006/math"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𝒄𝒐𝒔</m:t>
                    </m:r>
                  </m:oMath>
                </a14:m>
                <a:r>
                  <a:rPr lang="en-GB" sz="1400" b="1" dirty="0"/>
                  <a:t> that it is negative between </a:t>
                </a:r>
                <a14:m>
                  <m:oMath xmlns:m="http://schemas.openxmlformats.org/officeDocument/2006/math"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𝟏𝟖𝟎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°&lt;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𝟐𝟕𝟎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GB" sz="1400" b="1" dirty="0"/>
                  <a:t>, so </a:t>
                </a:r>
                <a14:m>
                  <m:oMath xmlns:m="http://schemas.openxmlformats.org/officeDocument/2006/math"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𝒄𝒐𝒔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GB" sz="14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</m:num>
                      <m:den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𝟓</m:t>
                        </m:r>
                      </m:den>
                    </m:f>
                  </m:oMath>
                </a14:m>
                <a:r>
                  <a:rPr lang="en-GB" sz="1400" b="1" dirty="0"/>
                  <a:t>.</a:t>
                </a:r>
              </a:p>
              <a:p>
                <a:r>
                  <a:rPr lang="en-GB" sz="1400" b="1" dirty="0"/>
                  <a:t>Similarly </a:t>
                </a:r>
                <a14:m>
                  <m:oMath xmlns:m="http://schemas.openxmlformats.org/officeDocument/2006/math"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𝒔𝒊𝒏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=±</m:t>
                    </m:r>
                    <m:f>
                      <m:fPr>
                        <m:ctrlPr>
                          <a:rPr lang="en-GB" sz="14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𝟓</m:t>
                        </m:r>
                      </m:num>
                      <m:den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𝟏𝟑</m:t>
                        </m:r>
                      </m:den>
                    </m:f>
                  </m:oMath>
                </a14:m>
                <a:r>
                  <a:rPr lang="en-GB" sz="1400" b="1" dirty="0"/>
                  <a:t>, and similarly considering the graph for </a:t>
                </a:r>
                <a14:m>
                  <m:oMath xmlns:m="http://schemas.openxmlformats.org/officeDocument/2006/math"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𝒔𝒊𝒏</m:t>
                    </m:r>
                  </m:oMath>
                </a14:m>
                <a:r>
                  <a:rPr lang="en-GB" sz="1400" b="1" dirty="0"/>
                  <a:t>, </a:t>
                </a:r>
                <a14:m>
                  <m:oMath xmlns:m="http://schemas.openxmlformats.org/officeDocument/2006/math"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𝒔𝒊𝒏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=+</m:t>
                    </m:r>
                    <m:f>
                      <m:fPr>
                        <m:ctrlPr>
                          <a:rPr lang="en-GB" sz="14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𝟓</m:t>
                        </m:r>
                      </m:num>
                      <m:den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𝟏𝟑</m:t>
                        </m:r>
                      </m:den>
                    </m:f>
                  </m:oMath>
                </a14:m>
                <a:r>
                  <a:rPr lang="en-GB" sz="1400" b="1" dirty="0"/>
                  <a:t>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∴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𝒄𝒐𝒔</m:t>
                      </m:r>
                      <m:d>
                        <m:d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</m:d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num>
                            <m:den>
                              <m: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den>
                          </m:f>
                        </m:e>
                      </m:d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  <m:t>𝟏𝟐</m:t>
                              </m:r>
                            </m:num>
                            <m:den>
                              <m: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  <m:t>𝟏𝟑</m:t>
                              </m:r>
                            </m:den>
                          </m:f>
                        </m:e>
                      </m:d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num>
                            <m:den>
                              <m: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den>
                          </m:f>
                        </m:e>
                      </m:d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num>
                            <m:den>
                              <m: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  <m:t>𝟏𝟑</m:t>
                              </m:r>
                            </m:den>
                          </m:f>
                        </m:e>
                      </m:d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𝟑𝟑</m:t>
                          </m:r>
                        </m:num>
                        <m:den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𝟔𝟓</m:t>
                          </m:r>
                        </m:den>
                      </m:f>
                    </m:oMath>
                  </m:oMathPara>
                </a14:m>
                <a:endParaRPr lang="en-GB" sz="1400" b="1" dirty="0"/>
              </a:p>
              <a:p>
                <a:r>
                  <a:rPr lang="en-GB" sz="1400" b="1" dirty="0"/>
                  <a:t>Continued…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101" y="4827125"/>
                <a:ext cx="6438139" cy="1942840"/>
              </a:xfrm>
              <a:prstGeom prst="rect">
                <a:avLst/>
              </a:prstGeom>
              <a:blipFill>
                <a:blip r:embed="rId5"/>
                <a:stretch>
                  <a:fillRect l="-284" b="-21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/>
          <p:cNvSpPr/>
          <p:nvPr/>
        </p:nvSpPr>
        <p:spPr>
          <a:xfrm>
            <a:off x="467544" y="3959304"/>
            <a:ext cx="432048" cy="386987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Q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9592" y="1362771"/>
            <a:ext cx="7527460" cy="227279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2072" y="4851400"/>
            <a:ext cx="6276528" cy="18542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6AF0860-E24B-4C50-98ED-DDAF1996602F}"/>
                  </a:ext>
                </a:extLst>
              </p:cNvPr>
              <p:cNvSpPr txBox="1"/>
              <p:nvPr/>
            </p:nvSpPr>
            <p:spPr>
              <a:xfrm>
                <a:off x="6804248" y="4856460"/>
                <a:ext cx="2240632" cy="1197700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400" b="1" dirty="0"/>
                  <a:t>Fro Tip</a:t>
                </a:r>
                <a:r>
                  <a:rPr lang="en-GB" sz="1400" dirty="0"/>
                  <a:t>: You can get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𝑐𝑜𝑠</m:t>
                    </m:r>
                  </m:oMath>
                </a14:m>
                <a:r>
                  <a:rPr lang="en-GB" sz="1400" dirty="0"/>
                  <a:t> in terms of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𝑠𝑖𝑛</m:t>
                    </m:r>
                  </m:oMath>
                </a14:m>
                <a:r>
                  <a:rPr lang="en-GB" sz="1400" dirty="0"/>
                  <a:t> and vice versa by using a rearrangement of </a:t>
                </a:r>
                <a:br>
                  <a:rPr lang="en-GB" sz="1400" dirty="0"/>
                </a:br>
                <a14:m>
                  <m:oMath xmlns:m="http://schemas.openxmlformats.org/officeDocument/2006/math">
                    <m:func>
                      <m:func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GB" sz="1400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GB" sz="1400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≡1</m:t>
                    </m:r>
                  </m:oMath>
                </a14:m>
                <a:r>
                  <a:rPr lang="en-GB" sz="1400" dirty="0"/>
                  <a:t>.</a:t>
                </a:r>
              </a:p>
              <a:p>
                <a:r>
                  <a:rPr lang="en-GB" sz="1400" dirty="0"/>
                  <a:t>So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400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func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func>
                          <m:funcPr>
                            <m:ctrlP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lang="en-GB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GB" sz="1400" b="0" i="0" smtClean="0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GB" sz="1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fName>
                          <m:e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func>
                      </m:e>
                    </m:rad>
                  </m:oMath>
                </a14:m>
                <a:endParaRPr lang="en-GB" sz="1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6AF0860-E24B-4C50-98ED-DDAF199660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4248" y="4856460"/>
                <a:ext cx="2240632" cy="1197700"/>
              </a:xfrm>
              <a:prstGeom prst="rect">
                <a:avLst/>
              </a:prstGeom>
              <a:blipFill>
                <a:blip r:embed="rId6"/>
                <a:stretch>
                  <a:fillRect l="-269" r="-1075" b="-3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7052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40D354E-6B87-488C-B222-677BA3AD74B3}"/>
              </a:ext>
            </a:extLst>
          </p:cNvPr>
          <p:cNvGrpSpPr/>
          <p:nvPr/>
        </p:nvGrpSpPr>
        <p:grpSpPr>
          <a:xfrm>
            <a:off x="0" y="0"/>
            <a:ext cx="9144000" cy="587744"/>
            <a:chOff x="0" y="13335"/>
            <a:chExt cx="9144218" cy="587744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2EBA0147-8002-4EE9-A406-3626762CE060}"/>
                </a:ext>
              </a:extLst>
            </p:cNvPr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Continued…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217AD608-180B-4A1E-89F4-F8C1F377D55D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9A65E2D-206F-420E-93F9-E4ADE3B653C8}"/>
                  </a:ext>
                </a:extLst>
              </p:cNvPr>
              <p:cNvSpPr txBox="1"/>
              <p:nvPr/>
            </p:nvSpPr>
            <p:spPr>
              <a:xfrm>
                <a:off x="827584" y="836712"/>
                <a:ext cx="7527460" cy="762773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Given that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func>
                    <m:r>
                      <a:rPr lang="en-GB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180°&lt;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&lt;270°</m:t>
                    </m:r>
                  </m:oMath>
                </a14:m>
                <a:r>
                  <a:rPr lang="en-GB" dirty="0"/>
                  <a:t>, and that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func>
                    <m:r>
                      <a:rPr lang="en-GB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</m:oMath>
                </a14:m>
                <a:r>
                  <a:rPr lang="en-GB" dirty="0"/>
                  <a:t>, find the value of: (b)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tan</m:t>
                        </m:r>
                      </m:fName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e>
                    </m:func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9A65E2D-206F-420E-93F9-E4ADE3B653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836712"/>
                <a:ext cx="7527460" cy="762773"/>
              </a:xfrm>
              <a:prstGeom prst="rect">
                <a:avLst/>
              </a:prstGeom>
              <a:blipFill>
                <a:blip r:embed="rId2"/>
                <a:stretch>
                  <a:fillRect b="-2013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B628A02E-85E5-49CE-80F9-63A337DE1E9E}"/>
              </a:ext>
            </a:extLst>
          </p:cNvPr>
          <p:cNvSpPr/>
          <p:nvPr/>
        </p:nvSpPr>
        <p:spPr>
          <a:xfrm>
            <a:off x="395536" y="819057"/>
            <a:ext cx="432048" cy="386987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Q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F0C7131-702C-461E-AA68-92B8B64658F5}"/>
                  </a:ext>
                </a:extLst>
              </p:cNvPr>
              <p:cNvSpPr txBox="1"/>
              <p:nvPr/>
            </p:nvSpPr>
            <p:spPr>
              <a:xfrm>
                <a:off x="952500" y="1988840"/>
                <a:ext cx="7507932" cy="27931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𝐭𝐚𝐧</m:t>
                          </m:r>
                        </m:fName>
                        <m:e>
                          <m:d>
                            <m:d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e>
                          </m:d>
                        </m:e>
                      </m:func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b="1" i="0" smtClean="0">
                                  <a:latin typeface="Cambria Math" panose="02040503050406030204" pitchFamily="18" charset="0"/>
                                </a:rPr>
                                <m:t>𝐭𝐚𝐧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</m:e>
                              </m:d>
                            </m:e>
                          </m:func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𝐭𝐚𝐧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𝑩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b="1" i="0" smtClean="0">
                                  <a:latin typeface="Cambria Math" panose="02040503050406030204" pitchFamily="18" charset="0"/>
                                </a:rPr>
                                <m:t>𝐭𝐚𝐧</m:t>
                              </m:r>
                            </m:fName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</m:func>
                          <m:func>
                            <m:func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b="1" i="0" smtClean="0">
                                  <a:latin typeface="Cambria Math" panose="02040503050406030204" pitchFamily="18" charset="0"/>
                                </a:rPr>
                                <m:t>𝐭𝐚𝐧</m:t>
                              </m:r>
                            </m:fName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endParaRPr lang="en-GB" b="1" dirty="0"/>
              </a:p>
              <a:p>
                <a:r>
                  <a:rPr lang="en-GB" b="1" dirty="0"/>
                  <a:t>We earlier found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GB" b="1" i="0" smtClean="0">
                            <a:latin typeface="Cambria Math" panose="02040503050406030204" pitchFamily="18" charset="0"/>
                          </a:rPr>
                          <m:t>𝐬𝐢𝐧</m:t>
                        </m:r>
                      </m:fName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func>
                    <m:r>
                      <a:rPr lang="en-GB" b="1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num>
                      <m:den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𝟓</m:t>
                        </m:r>
                      </m:den>
                    </m:f>
                    <m:r>
                      <a:rPr lang="en-GB" b="1" i="1" smtClean="0">
                        <a:latin typeface="Cambria Math" panose="02040503050406030204" pitchFamily="18" charset="0"/>
                      </a:rPr>
                      <m:t>,</m:t>
                    </m:r>
                    <m:func>
                      <m:func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GB" b="1" i="0" smtClean="0">
                            <a:latin typeface="Cambria Math" panose="02040503050406030204" pitchFamily="18" charset="0"/>
                          </a:rPr>
                          <m:t>𝐬𝐢𝐧</m:t>
                        </m:r>
                      </m:fName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func>
                    <m:r>
                      <a:rPr lang="en-GB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𝟓</m:t>
                        </m:r>
                      </m:num>
                      <m:den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𝟏𝟑</m:t>
                        </m:r>
                      </m:den>
                    </m:f>
                    <m:r>
                      <a:rPr lang="en-GB" b="1" i="1" smtClean="0">
                        <a:latin typeface="Cambria Math" panose="02040503050406030204" pitchFamily="18" charset="0"/>
                      </a:rPr>
                      <m:t>,</m:t>
                    </m:r>
                    <m:func>
                      <m:func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GB" b="1" i="0" smtClean="0">
                            <a:latin typeface="Cambria Math" panose="02040503050406030204" pitchFamily="18" charset="0"/>
                          </a:rPr>
                          <m:t>𝐜𝐨𝐬</m:t>
                        </m:r>
                      </m:fName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func>
                    <m:r>
                      <a:rPr lang="en-GB" b="1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</m:num>
                      <m:den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𝟓</m:t>
                        </m:r>
                      </m:den>
                    </m:f>
                    <m:r>
                      <a:rPr lang="en-GB" b="1" i="1" smtClean="0">
                        <a:latin typeface="Cambria Math" panose="02040503050406030204" pitchFamily="18" charset="0"/>
                      </a:rPr>
                      <m:t>,</m:t>
                    </m:r>
                    <m:func>
                      <m:func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GB" b="1" i="0" smtClean="0">
                            <a:latin typeface="Cambria Math" panose="02040503050406030204" pitchFamily="18" charset="0"/>
                          </a:rPr>
                          <m:t>𝐜𝐨𝐬</m:t>
                        </m:r>
                      </m:fName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func>
                    <m:r>
                      <a:rPr lang="en-GB" b="1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𝟏𝟐</m:t>
                        </m:r>
                      </m:num>
                      <m:den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𝟏𝟑</m:t>
                        </m:r>
                      </m:den>
                    </m:f>
                  </m:oMath>
                </a14:m>
                <a:r>
                  <a:rPr lang="en-GB" b="1" dirty="0"/>
                  <a:t> </a:t>
                </a:r>
              </a:p>
              <a:p>
                <a:endParaRPr lang="en-GB" b="1" dirty="0"/>
              </a:p>
              <a:p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∴</m:t>
                    </m:r>
                    <m:func>
                      <m:func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GB" b="1" i="0" smtClean="0">
                            <a:latin typeface="Cambria Math" panose="02040503050406030204" pitchFamily="18" charset="0"/>
                          </a:rPr>
                          <m:t>𝐭𝐚𝐧</m:t>
                        </m:r>
                      </m:fName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func>
                    <m:r>
                      <a:rPr lang="en-GB" b="1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GB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</m:num>
                          <m:den>
                            <m:r>
                              <a:rPr lang="en-GB" b="1" i="1" smtClean="0">
                                <a:latin typeface="Cambria Math" panose="02040503050406030204" pitchFamily="18" charset="0"/>
                              </a:rPr>
                              <m:t>𝟓</m:t>
                            </m:r>
                          </m:den>
                        </m:f>
                      </m:e>
                    </m:d>
                    <m:r>
                      <a:rPr lang="en-GB" b="1" i="1" smtClean="0">
                        <a:latin typeface="Cambria Math" panose="02040503050406030204" pitchFamily="18" charset="0"/>
                      </a:rPr>
                      <m:t>÷</m:t>
                    </m:r>
                    <m:d>
                      <m:d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GB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b="1" i="1" smtClean="0">
                                <a:latin typeface="Cambria Math" panose="02040503050406030204" pitchFamily="18" charset="0"/>
                              </a:rPr>
                              <m:t>𝟒</m:t>
                            </m:r>
                          </m:num>
                          <m:den>
                            <m:r>
                              <a:rPr lang="en-GB" b="1" i="1" smtClean="0">
                                <a:latin typeface="Cambria Math" panose="02040503050406030204" pitchFamily="18" charset="0"/>
                              </a:rPr>
                              <m:t>𝟓</m:t>
                            </m:r>
                          </m:den>
                        </m:f>
                      </m:e>
                    </m:d>
                    <m:r>
                      <a:rPr lang="en-GB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num>
                      <m:den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</m:den>
                    </m:f>
                  </m:oMath>
                </a14:m>
                <a:r>
                  <a:rPr lang="en-GB" b="1" dirty="0"/>
                  <a:t> and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GB" b="1" i="0" smtClean="0">
                            <a:latin typeface="Cambria Math" panose="02040503050406030204" pitchFamily="18" charset="0"/>
                          </a:rPr>
                          <m:t>𝐭𝐚𝐧</m:t>
                        </m:r>
                      </m:fName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func>
                    <m:r>
                      <a:rPr lang="en-GB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𝟓</m:t>
                        </m:r>
                      </m:num>
                      <m:den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𝟏𝟑</m:t>
                        </m:r>
                      </m:den>
                    </m:f>
                    <m:r>
                      <a:rPr lang="en-GB" b="1" i="1" smtClean="0">
                        <a:latin typeface="Cambria Math" panose="02040503050406030204" pitchFamily="18" charset="0"/>
                      </a:rPr>
                      <m:t>÷</m:t>
                    </m:r>
                    <m:d>
                      <m:d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GB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b="1" i="1" smtClean="0">
                                <a:latin typeface="Cambria Math" panose="02040503050406030204" pitchFamily="18" charset="0"/>
                              </a:rPr>
                              <m:t>𝟏𝟐</m:t>
                            </m:r>
                          </m:num>
                          <m:den>
                            <m:r>
                              <a:rPr lang="en-GB" b="1" i="1" smtClean="0">
                                <a:latin typeface="Cambria Math" panose="02040503050406030204" pitchFamily="18" charset="0"/>
                              </a:rPr>
                              <m:t>𝟏𝟑</m:t>
                            </m:r>
                          </m:den>
                        </m:f>
                      </m:e>
                    </m:d>
                    <m:r>
                      <a:rPr lang="en-GB" b="1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𝟓</m:t>
                        </m:r>
                      </m:num>
                      <m:den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𝟏𝟐</m:t>
                        </m:r>
                      </m:den>
                    </m:f>
                  </m:oMath>
                </a14:m>
                <a:endParaRPr lang="en-GB" b="1" dirty="0"/>
              </a:p>
              <a:p>
                <a:endParaRPr lang="en-GB" b="1" dirty="0">
                  <a:latin typeface="+mj-lt"/>
                </a:endParaRPr>
              </a:p>
              <a:p>
                <a:r>
                  <a:rPr lang="en-GB" b="1" dirty="0">
                    <a:latin typeface="+mj-lt"/>
                  </a:rPr>
                  <a:t>By substitution: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𝐭𝐚𝐧</m:t>
                          </m:r>
                        </m:fName>
                        <m:e>
                          <m:d>
                            <m:d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e>
                          </m:d>
                        </m:e>
                      </m:func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𝟏𝟔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𝟔𝟑</m:t>
                          </m:r>
                        </m:den>
                      </m:f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F0C7131-702C-461E-AA68-92B8B64658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500" y="1988840"/>
                <a:ext cx="7507932" cy="2793137"/>
              </a:xfrm>
              <a:prstGeom prst="rect">
                <a:avLst/>
              </a:prstGeom>
              <a:blipFill>
                <a:blip r:embed="rId3"/>
                <a:stretch>
                  <a:fillRect l="-64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D1DAF983-5469-404D-B4B9-55CAB3069C93}"/>
              </a:ext>
            </a:extLst>
          </p:cNvPr>
          <p:cNvSpPr/>
          <p:nvPr/>
        </p:nvSpPr>
        <p:spPr>
          <a:xfrm>
            <a:off x="808160" y="1595399"/>
            <a:ext cx="7546883" cy="318657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147765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C086A60-D393-4413-ABB9-ED83AA816BDB}"/>
              </a:ext>
            </a:extLst>
          </p:cNvPr>
          <p:cNvGrpSpPr/>
          <p:nvPr/>
        </p:nvGrpSpPr>
        <p:grpSpPr>
          <a:xfrm>
            <a:off x="0" y="0"/>
            <a:ext cx="9144000" cy="587744"/>
            <a:chOff x="0" y="13335"/>
            <a:chExt cx="9144218" cy="587744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F738557F-97EE-4C0C-88B5-0FC3616935FC}"/>
                </a:ext>
              </a:extLst>
            </p:cNvPr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Test Your Understanding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9B90C361-D63B-4002-89B6-1DDDBEE29F23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8A028CF-BC8F-4106-A104-1875DA5D4495}"/>
                  </a:ext>
                </a:extLst>
              </p:cNvPr>
              <p:cNvSpPr txBox="1"/>
              <p:nvPr/>
            </p:nvSpPr>
            <p:spPr>
              <a:xfrm>
                <a:off x="769526" y="952826"/>
                <a:ext cx="7527460" cy="923330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Without using a calculator, determine the exact value of:</a:t>
                </a:r>
              </a:p>
              <a:p>
                <a:pPr marL="342900" indent="-342900">
                  <a:buAutoNum type="alphaLcParenR"/>
                </a:pPr>
                <a:r>
                  <a:rPr lang="en-GB" b="0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75°</m:t>
                            </m:r>
                          </m:e>
                        </m:d>
                      </m:e>
                    </m:func>
                  </m:oMath>
                </a14:m>
                <a:endParaRPr lang="en-GB" dirty="0"/>
              </a:p>
              <a:p>
                <a:pPr marL="342900" indent="-342900">
                  <a:buAutoNum type="alphaLcParenR"/>
                </a:pPr>
                <a:r>
                  <a:rPr lang="en-GB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tan</m:t>
                        </m:r>
                      </m:fName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75°</m:t>
                            </m:r>
                          </m:e>
                        </m:d>
                      </m:e>
                    </m:func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8A028CF-BC8F-4106-A104-1875DA5D44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526" y="952826"/>
                <a:ext cx="7527460" cy="923330"/>
              </a:xfrm>
              <a:prstGeom prst="rect">
                <a:avLst/>
              </a:prstGeom>
              <a:blipFill>
                <a:blip r:embed="rId2"/>
                <a:stretch>
                  <a:fillRect b="-1136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4569DA2-385B-4727-8860-A21548462E9A}"/>
                  </a:ext>
                </a:extLst>
              </p:cNvPr>
              <p:cNvSpPr txBox="1"/>
              <p:nvPr/>
            </p:nvSpPr>
            <p:spPr>
              <a:xfrm>
                <a:off x="1074326" y="2102137"/>
                <a:ext cx="7186850" cy="43384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𝐜𝐨𝐬</m:t>
                          </m:r>
                        </m:fName>
                        <m:e>
                          <m:d>
                            <m:d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𝟕𝟓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°</m:t>
                              </m:r>
                            </m:e>
                          </m:d>
                        </m:e>
                      </m:func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𝐜𝐨𝐬</m:t>
                          </m:r>
                        </m:fName>
                        <m:e>
                          <m:d>
                            <m:d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𝟒𝟓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°+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𝟑𝟎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°</m:t>
                              </m:r>
                            </m:e>
                          </m:d>
                        </m:e>
                      </m:func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𝐜𝐨𝐬</m:t>
                          </m:r>
                        </m:fName>
                        <m:e>
                          <m:d>
                            <m:d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𝟒𝟓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°</m:t>
                              </m:r>
                            </m:e>
                          </m:d>
                        </m:e>
                      </m:func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𝐜𝐨𝐬</m:t>
                          </m:r>
                        </m:fName>
                        <m:e>
                          <m:d>
                            <m:d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𝟑𝟎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°</m:t>
                              </m:r>
                            </m:e>
                          </m:d>
                        </m:e>
                      </m:func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𝐬𝐢𝐧</m:t>
                          </m:r>
                        </m:fName>
                        <m:e>
                          <m:d>
                            <m:d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𝟒𝟓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°</m:t>
                              </m:r>
                            </m:e>
                          </m:d>
                        </m:e>
                      </m:func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𝐬𝐢𝐧</m:t>
                          </m:r>
                        </m:fName>
                        <m:e>
                          <m:d>
                            <m:d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𝟑𝟎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°</m:t>
                              </m:r>
                            </m:e>
                          </m:d>
                        </m:e>
                      </m:func>
                    </m:oMath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     =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rad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e>
                          </m:rad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rad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a:rPr lang="en-GB" b="1" i="0" smtClean="0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e>
                          </m:rad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ad>
                            <m:radPr>
                              <m:degHide m:val="on"/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rad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𝟔</m:t>
                              </m:r>
                            </m:e>
                          </m:rad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ad>
                            <m:radPr>
                              <m:degHide m:val="on"/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rad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</m:oMath>
                  </m:oMathPara>
                </a14:m>
                <a:endParaRPr lang="en-GB" b="1" dirty="0"/>
              </a:p>
              <a:p>
                <a:endParaRPr lang="en-GB" b="1" dirty="0"/>
              </a:p>
              <a:p>
                <a:endParaRPr lang="en-GB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𝐭𝐚𝐧</m:t>
                          </m:r>
                        </m:fName>
                        <m:e>
                          <m:d>
                            <m:d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𝟕𝟓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°</m:t>
                              </m:r>
                            </m:e>
                          </m:d>
                        </m:e>
                      </m:func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b="1" i="0" smtClean="0">
                                  <a:latin typeface="Cambria Math" panose="02040503050406030204" pitchFamily="18" charset="0"/>
                                </a:rPr>
                                <m:t>𝐬𝐢𝐧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𝟕𝟓</m:t>
                                  </m:r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°</m:t>
                                  </m:r>
                                </m:e>
                              </m:d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b="1" i="0" smtClean="0">
                                  <a:latin typeface="Cambria Math" panose="02040503050406030204" pitchFamily="18" charset="0"/>
                                </a:rPr>
                                <m:t>𝐜𝐨𝐬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𝟕𝟓</m:t>
                                  </m:r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°</m:t>
                                  </m:r>
                                </m:e>
                              </m:d>
                            </m:e>
                          </m:func>
                        </m:den>
                      </m:f>
                    </m:oMath>
                  </m:oMathPara>
                </a14:m>
                <a:endParaRPr lang="en-GB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𝐬𝐢𝐧</m:t>
                          </m:r>
                        </m:fName>
                        <m:e>
                          <m:d>
                            <m:d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𝟕𝟓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°</m:t>
                              </m:r>
                            </m:e>
                          </m:d>
                        </m:e>
                      </m:func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𝐬𝐢𝐧</m:t>
                          </m:r>
                        </m:fName>
                        <m:e>
                          <m:d>
                            <m:d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𝟒𝟓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°+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𝟑𝟎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°</m:t>
                              </m:r>
                            </m:e>
                          </m:d>
                        </m:e>
                      </m:func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𝐬𝐢𝐧</m:t>
                          </m:r>
                        </m:fName>
                        <m:e>
                          <m:d>
                            <m:d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𝟒𝟓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°</m:t>
                              </m:r>
                            </m:e>
                          </m:d>
                        </m:e>
                      </m:func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𝐜𝐨𝐬</m:t>
                          </m:r>
                        </m:fName>
                        <m:e>
                          <m:d>
                            <m:d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𝟑𝟎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°</m:t>
                              </m:r>
                            </m:e>
                          </m:d>
                        </m:e>
                      </m:func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𝐜𝐨𝐬</m:t>
                          </m:r>
                        </m:fName>
                        <m:e>
                          <m:d>
                            <m:d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𝟒𝟓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°</m:t>
                              </m:r>
                            </m:e>
                          </m:d>
                        </m:e>
                      </m:func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𝐬𝐢𝐧</m:t>
                          </m:r>
                        </m:fName>
                        <m:e>
                          <m:d>
                            <m:d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𝟑𝟎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°</m:t>
                              </m:r>
                            </m:e>
                          </m:d>
                        </m:e>
                      </m:func>
                    </m:oMath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                 =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rad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e>
                          </m:rad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rad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𝟔</m:t>
                              </m:r>
                            </m:e>
                          </m:rad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ad>
                            <m:radPr>
                              <m:degHide m:val="on"/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rad>
                        </m:num>
                        <m:den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</m:oMath>
                  </m:oMathPara>
                </a14:m>
                <a:endParaRPr lang="en-GB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∴</m:t>
                      </m:r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𝐭𝐚𝐧</m:t>
                          </m:r>
                        </m:fName>
                        <m:e>
                          <m:d>
                            <m:d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𝟕𝟓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°</m:t>
                              </m:r>
                            </m:e>
                          </m:d>
                        </m:e>
                      </m:func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ad>
                                <m:radPr>
                                  <m:degHide m:val="on"/>
                                  <m:ctrlP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  <m:t>𝟔</m:t>
                                  </m:r>
                                </m:e>
                              </m:rad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ad>
                                <m:radPr>
                                  <m:degHide m:val="on"/>
                                  <m:ctrlP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den>
                          </m:f>
                        </m:e>
                      </m:d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÷</m:t>
                      </m:r>
                      <m:d>
                        <m:d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ad>
                                <m:radPr>
                                  <m:degHide m:val="on"/>
                                  <m:ctrlP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  <m:t>𝟔</m:t>
                                  </m:r>
                                </m:e>
                              </m:rad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ad>
                                <m:radPr>
                                  <m:degHide m:val="on"/>
                                  <m:ctrlP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den>
                          </m:f>
                        </m:e>
                      </m:d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𝟔</m:t>
                              </m:r>
                            </m:e>
                          </m:rad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ad>
                            <m:radPr>
                              <m:degHide m:val="on"/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ra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𝟔</m:t>
                              </m:r>
                            </m:e>
                          </m:rad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ad>
                            <m:radPr>
                              <m:degHide m:val="on"/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rad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+</m:t>
                      </m:r>
                      <m:rad>
                        <m:radPr>
                          <m:degHide m:val="on"/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rad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4569DA2-385B-4727-8860-A21548462E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4326" y="2102137"/>
                <a:ext cx="7186850" cy="433849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1E5E93AB-F7F2-4647-B3EF-7A5400FD7F25}"/>
              </a:ext>
            </a:extLst>
          </p:cNvPr>
          <p:cNvSpPr/>
          <p:nvPr/>
        </p:nvSpPr>
        <p:spPr>
          <a:xfrm>
            <a:off x="738949" y="1876156"/>
            <a:ext cx="7558037" cy="20569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411BE5E-33B1-4548-BFA8-0F8CF35333F7}"/>
              </a:ext>
            </a:extLst>
          </p:cNvPr>
          <p:cNvSpPr/>
          <p:nvPr/>
        </p:nvSpPr>
        <p:spPr>
          <a:xfrm>
            <a:off x="738949" y="3933056"/>
            <a:ext cx="7558037" cy="250757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42679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4000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Challenging question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395536" y="764704"/>
            <a:ext cx="2520280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Edexcel June 2013 Q3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688" y="1134036"/>
            <a:ext cx="5686425" cy="3752850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228184" y="1268760"/>
                <a:ext cx="2915598" cy="37287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‘Expanding’ both sides: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/>
                        </a:rPr>
                        <m:t>2</m:t>
                      </m:r>
                      <m:func>
                        <m:func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400" b="0" i="0" smtClean="0">
                              <a:latin typeface="Cambria Math"/>
                            </a:rPr>
                            <m:t>cos</m:t>
                          </m:r>
                        </m:fName>
                        <m:e>
                          <m:r>
                            <a:rPr lang="en-GB" sz="1400" b="0" i="1" smtClean="0">
                              <a:latin typeface="Cambria Math"/>
                            </a:rPr>
                            <m:t>𝑥</m:t>
                          </m:r>
                        </m:e>
                      </m:func>
                      <m:func>
                        <m:func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400" b="0" i="0" smtClean="0">
                              <a:latin typeface="Cambria Math"/>
                            </a:rPr>
                            <m:t>cos</m:t>
                          </m:r>
                        </m:fName>
                        <m:e>
                          <m:r>
                            <a:rPr lang="en-GB" sz="1400" b="0" i="1" smtClean="0">
                              <a:latin typeface="Cambria Math"/>
                            </a:rPr>
                            <m:t>50</m:t>
                          </m:r>
                        </m:e>
                      </m:func>
                      <m:r>
                        <a:rPr lang="en-GB" sz="1400" b="0" i="1" smtClean="0">
                          <a:latin typeface="Cambria Math"/>
                        </a:rPr>
                        <m:t>−2</m:t>
                      </m:r>
                      <m:func>
                        <m:func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400" b="0" i="0" smtClean="0">
                              <a:latin typeface="Cambria Math"/>
                            </a:rPr>
                            <m:t>sin</m:t>
                          </m:r>
                        </m:fName>
                        <m:e>
                          <m:r>
                            <a:rPr lang="en-GB" sz="1400" b="0" i="1" smtClean="0">
                              <a:latin typeface="Cambria Math"/>
                            </a:rPr>
                            <m:t>𝑥</m:t>
                          </m:r>
                        </m:e>
                      </m:func>
                      <m:func>
                        <m:func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400" b="0" i="0" smtClean="0">
                              <a:latin typeface="Cambria Math"/>
                            </a:rPr>
                            <m:t>sin</m:t>
                          </m:r>
                        </m:fName>
                        <m:e>
                          <m:r>
                            <a:rPr lang="en-GB" sz="1400" b="0" i="1" smtClean="0">
                              <a:latin typeface="Cambria Math"/>
                            </a:rPr>
                            <m:t>50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a:rPr lang="en-GB" sz="1400" b="0" i="1" smtClean="0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400" b="0" i="0" smtClean="0">
                              <a:latin typeface="Cambria Math"/>
                            </a:rPr>
                            <m:t>sin</m:t>
                          </m:r>
                        </m:fName>
                        <m:e>
                          <m:r>
                            <a:rPr lang="en-GB" sz="1400" b="0" i="1" smtClean="0">
                              <a:latin typeface="Cambria Math"/>
                            </a:rPr>
                            <m:t>𝑥</m:t>
                          </m:r>
                        </m:e>
                      </m:func>
                      <m:func>
                        <m:func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400" b="0" i="0" smtClean="0">
                              <a:latin typeface="Cambria Math"/>
                            </a:rPr>
                            <m:t>cos</m:t>
                          </m:r>
                        </m:fName>
                        <m:e>
                          <m:r>
                            <a:rPr lang="en-GB" sz="1400" b="0" i="1" smtClean="0">
                              <a:latin typeface="Cambria Math"/>
                            </a:rPr>
                            <m:t>40</m:t>
                          </m:r>
                        </m:e>
                      </m:func>
                      <m:r>
                        <a:rPr lang="en-GB" sz="1400" b="0" i="1" smtClean="0">
                          <a:latin typeface="Cambria Math"/>
                        </a:rPr>
                        <m:t>+</m:t>
                      </m:r>
                      <m:func>
                        <m:func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400" b="0" i="0" smtClean="0">
                              <a:latin typeface="Cambria Math"/>
                            </a:rPr>
                            <m:t>cos</m:t>
                          </m:r>
                        </m:fName>
                        <m:e>
                          <m:r>
                            <a:rPr lang="en-GB" sz="1400" b="0" i="1" smtClean="0">
                              <a:latin typeface="Cambria Math"/>
                            </a:rPr>
                            <m:t>𝑥</m:t>
                          </m:r>
                        </m:e>
                      </m:func>
                      <m:func>
                        <m:func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400" b="0" i="0" smtClean="0">
                              <a:latin typeface="Cambria Math"/>
                            </a:rPr>
                            <m:t>sin</m:t>
                          </m:r>
                        </m:fName>
                        <m:e>
                          <m:r>
                            <a:rPr lang="en-GB" sz="1400" b="0" i="1" smtClean="0">
                              <a:latin typeface="Cambria Math"/>
                            </a:rPr>
                            <m:t>40</m:t>
                          </m:r>
                        </m:e>
                      </m:func>
                    </m:oMath>
                  </m:oMathPara>
                </a14:m>
                <a:endParaRPr lang="en-GB" sz="1400" b="0" dirty="0"/>
              </a:p>
              <a:p>
                <a:endParaRPr lang="en-GB" sz="1400" dirty="0"/>
              </a:p>
              <a:p>
                <a:r>
                  <a:rPr lang="en-GB" sz="1400" dirty="0"/>
                  <a:t>Since thing to prove only has 40 in it, use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400" b="0" i="0" smtClean="0">
                            <a:latin typeface="Cambria Math"/>
                          </a:rPr>
                          <m:t>cos</m:t>
                        </m:r>
                      </m:fName>
                      <m:e>
                        <m:r>
                          <a:rPr lang="en-GB" sz="1400" b="0" i="1" smtClean="0">
                            <a:latin typeface="Cambria Math"/>
                          </a:rPr>
                          <m:t>50</m:t>
                        </m:r>
                      </m:e>
                    </m:func>
                    <m:r>
                      <a:rPr lang="en-GB" sz="1400" b="0" i="1" smtClean="0">
                        <a:latin typeface="Cambria Math"/>
                      </a:rPr>
                      <m:t>=</m:t>
                    </m:r>
                    <m:func>
                      <m:func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400" b="0" i="0" smtClean="0">
                            <a:latin typeface="Cambria Math"/>
                          </a:rPr>
                          <m:t>sin</m:t>
                        </m:r>
                      </m:fName>
                      <m:e>
                        <m:r>
                          <a:rPr lang="en-GB" sz="1400" b="0" i="1" smtClean="0">
                            <a:latin typeface="Cambria Math"/>
                          </a:rPr>
                          <m:t>40</m:t>
                        </m:r>
                      </m:e>
                    </m:func>
                  </m:oMath>
                </a14:m>
                <a:r>
                  <a:rPr lang="en-GB" sz="1400" dirty="0"/>
                  <a:t> and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400" b="0" i="0" smtClean="0">
                            <a:latin typeface="Cambria Math"/>
                          </a:rPr>
                          <m:t>sin</m:t>
                        </m:r>
                      </m:fName>
                      <m:e>
                        <m:r>
                          <a:rPr lang="en-GB" sz="1400" b="0" i="1" smtClean="0">
                            <a:latin typeface="Cambria Math"/>
                          </a:rPr>
                          <m:t>50</m:t>
                        </m:r>
                      </m:e>
                    </m:func>
                    <m:r>
                      <a:rPr lang="en-GB" sz="1400" b="0" i="1" smtClean="0">
                        <a:latin typeface="Cambria Math"/>
                      </a:rPr>
                      <m:t>=</m:t>
                    </m:r>
                    <m:func>
                      <m:func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400" b="0" i="0" smtClean="0">
                            <a:latin typeface="Cambria Math"/>
                          </a:rPr>
                          <m:t>cos</m:t>
                        </m:r>
                      </m:fName>
                      <m:e>
                        <m:r>
                          <a:rPr lang="en-GB" sz="1400" b="0" i="1" smtClean="0">
                            <a:latin typeface="Cambria Math"/>
                          </a:rPr>
                          <m:t>40 </m:t>
                        </m:r>
                      </m:e>
                    </m:func>
                    <m:r>
                      <a:rPr lang="en-GB" sz="1400" b="0" i="1" smtClean="0">
                        <a:latin typeface="Cambria Math"/>
                      </a:rPr>
                      <m:t>.</m:t>
                    </m:r>
                  </m:oMath>
                </a14:m>
                <a:endParaRPr lang="en-GB" sz="1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/>
                        </a:rPr>
                        <m:t>2</m:t>
                      </m:r>
                      <m:func>
                        <m:func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400" b="0" i="0" smtClean="0">
                              <a:latin typeface="Cambria Math"/>
                            </a:rPr>
                            <m:t>cos</m:t>
                          </m:r>
                        </m:fName>
                        <m:e>
                          <m:r>
                            <a:rPr lang="en-GB" sz="1400" b="0" i="1" smtClean="0">
                              <a:latin typeface="Cambria Math"/>
                            </a:rPr>
                            <m:t>𝑥</m:t>
                          </m:r>
                        </m:e>
                      </m:func>
                      <m:func>
                        <m:func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400" b="0" i="0" smtClean="0">
                              <a:latin typeface="Cambria Math"/>
                            </a:rPr>
                            <m:t>sin</m:t>
                          </m:r>
                        </m:fName>
                        <m:e>
                          <m:r>
                            <a:rPr lang="en-GB" sz="1400" b="0" i="1" smtClean="0">
                              <a:latin typeface="Cambria Math"/>
                            </a:rPr>
                            <m:t>40</m:t>
                          </m:r>
                        </m:e>
                      </m:func>
                      <m:r>
                        <a:rPr lang="en-GB" sz="1400" b="0" i="1" smtClean="0">
                          <a:latin typeface="Cambria Math"/>
                        </a:rPr>
                        <m:t>−2</m:t>
                      </m:r>
                      <m:func>
                        <m:func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400" b="0" i="0" smtClean="0">
                              <a:latin typeface="Cambria Math"/>
                            </a:rPr>
                            <m:t>sin</m:t>
                          </m:r>
                        </m:fName>
                        <m:e>
                          <m:r>
                            <a:rPr lang="en-GB" sz="1400" b="0" i="1" smtClean="0">
                              <a:latin typeface="Cambria Math"/>
                            </a:rPr>
                            <m:t>𝑥</m:t>
                          </m:r>
                        </m:e>
                      </m:func>
                      <m:func>
                        <m:func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400" b="0" i="0" smtClean="0">
                              <a:latin typeface="Cambria Math"/>
                            </a:rPr>
                            <m:t>cos</m:t>
                          </m:r>
                        </m:fName>
                        <m:e>
                          <m:r>
                            <a:rPr lang="en-GB" sz="1400" b="0" i="1" smtClean="0">
                              <a:latin typeface="Cambria Math"/>
                            </a:rPr>
                            <m:t>40 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a:rPr lang="en-GB" sz="1400" b="0" i="1" smtClean="0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400" b="0" i="0" smtClean="0">
                              <a:latin typeface="Cambria Math"/>
                            </a:rPr>
                            <m:t>sin</m:t>
                          </m:r>
                        </m:fName>
                        <m:e>
                          <m:r>
                            <a:rPr lang="en-GB" sz="1400" b="0" i="1" smtClean="0">
                              <a:latin typeface="Cambria Math"/>
                            </a:rPr>
                            <m:t>𝑥</m:t>
                          </m:r>
                        </m:e>
                      </m:func>
                      <m:func>
                        <m:func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400" b="0" i="0" smtClean="0">
                              <a:latin typeface="Cambria Math"/>
                            </a:rPr>
                            <m:t>cos</m:t>
                          </m:r>
                        </m:fName>
                        <m:e>
                          <m:r>
                            <a:rPr lang="en-GB" sz="1400" b="0" i="1" smtClean="0">
                              <a:latin typeface="Cambria Math"/>
                            </a:rPr>
                            <m:t>40</m:t>
                          </m:r>
                        </m:e>
                      </m:func>
                      <m:r>
                        <a:rPr lang="en-GB" sz="1400" b="0" i="1" smtClean="0">
                          <a:latin typeface="Cambria Math"/>
                        </a:rPr>
                        <m:t>+</m:t>
                      </m:r>
                      <m:func>
                        <m:func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400" b="0" i="0" smtClean="0">
                              <a:latin typeface="Cambria Math"/>
                            </a:rPr>
                            <m:t>cos</m:t>
                          </m:r>
                        </m:fName>
                        <m:e>
                          <m:r>
                            <a:rPr lang="en-GB" sz="1400" b="0" i="1" smtClean="0">
                              <a:latin typeface="Cambria Math"/>
                            </a:rPr>
                            <m:t>𝑥</m:t>
                          </m:r>
                        </m:e>
                      </m:func>
                      <m:func>
                        <m:func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400" b="0" i="0" smtClean="0">
                              <a:latin typeface="Cambria Math"/>
                            </a:rPr>
                            <m:t>sin</m:t>
                          </m:r>
                        </m:fName>
                        <m:e>
                          <m:r>
                            <a:rPr lang="en-GB" sz="1400" b="0" i="1" smtClean="0">
                              <a:latin typeface="Cambria Math"/>
                            </a:rPr>
                            <m:t>40</m:t>
                          </m:r>
                        </m:e>
                      </m:func>
                    </m:oMath>
                  </m:oMathPara>
                </a14:m>
                <a:endParaRPr lang="en-GB" sz="1400" dirty="0"/>
              </a:p>
              <a:p>
                <a:endParaRPr lang="en-GB" sz="1400" dirty="0"/>
              </a:p>
              <a:p>
                <a:r>
                  <a:rPr lang="en-GB" sz="1400" dirty="0"/>
                  <a:t>As per usual, when we want tans, divide by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400" b="0" i="0" smtClean="0">
                            <a:latin typeface="Cambria Math"/>
                          </a:rPr>
                          <m:t>cos</m:t>
                        </m:r>
                      </m:fName>
                      <m:e>
                        <m:r>
                          <a:rPr lang="en-GB" sz="1400" b="0" i="1" smtClean="0">
                            <a:latin typeface="Cambria Math"/>
                          </a:rPr>
                          <m:t>𝑥</m:t>
                        </m:r>
                      </m:e>
                    </m:func>
                    <m:func>
                      <m:func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400" b="0" i="0" smtClean="0">
                            <a:latin typeface="Cambria Math"/>
                          </a:rPr>
                          <m:t>cos</m:t>
                        </m:r>
                      </m:fName>
                      <m:e>
                        <m:r>
                          <a:rPr lang="en-GB" sz="1400" b="0" i="1" smtClean="0">
                            <a:latin typeface="Cambria Math"/>
                          </a:rPr>
                          <m:t>40</m:t>
                        </m:r>
                      </m:e>
                    </m:func>
                  </m:oMath>
                </a14:m>
                <a:r>
                  <a:rPr lang="en-GB" sz="1400" dirty="0"/>
                  <a:t>:</a:t>
                </a:r>
              </a:p>
              <a:p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/>
                        </a:rPr>
                        <m:t>2</m:t>
                      </m:r>
                      <m:func>
                        <m:func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400" b="0" i="0" smtClean="0">
                              <a:latin typeface="Cambria Math"/>
                            </a:rPr>
                            <m:t>tan</m:t>
                          </m:r>
                        </m:fName>
                        <m:e>
                          <m:r>
                            <a:rPr lang="en-GB" sz="1400" b="0" i="1" smtClean="0">
                              <a:latin typeface="Cambria Math"/>
                            </a:rPr>
                            <m:t>40</m:t>
                          </m:r>
                        </m:e>
                      </m:func>
                      <m:r>
                        <a:rPr lang="en-GB" sz="1400" b="0" i="1" smtClean="0">
                          <a:latin typeface="Cambria Math"/>
                        </a:rPr>
                        <m:t>−2</m:t>
                      </m:r>
                      <m:func>
                        <m:func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400" b="0" i="0" smtClean="0">
                              <a:latin typeface="Cambria Math"/>
                            </a:rPr>
                            <m:t>tan</m:t>
                          </m:r>
                        </m:fName>
                        <m:e>
                          <m:r>
                            <a:rPr lang="en-GB" sz="1400" b="0" i="1" smtClean="0">
                              <a:latin typeface="Cambria Math"/>
                            </a:rPr>
                            <m:t>𝑥</m:t>
                          </m:r>
                        </m:e>
                      </m:func>
                      <m:r>
                        <a:rPr lang="en-GB" sz="1400" b="0" i="1" smtClean="0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400" b="0" i="0" smtClean="0">
                              <a:latin typeface="Cambria Math"/>
                            </a:rPr>
                            <m:t>tan</m:t>
                          </m:r>
                        </m:fName>
                        <m:e>
                          <m:r>
                            <a:rPr lang="en-GB" sz="1400" b="0" i="1" smtClean="0">
                              <a:latin typeface="Cambria Math"/>
                            </a:rPr>
                            <m:t>𝑥</m:t>
                          </m:r>
                        </m:e>
                      </m:func>
                      <m:r>
                        <a:rPr lang="en-GB" sz="1400" b="0" i="1" smtClean="0">
                          <a:latin typeface="Cambria Math"/>
                        </a:rPr>
                        <m:t>+</m:t>
                      </m:r>
                      <m:func>
                        <m:func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400" b="0" i="0" smtClean="0">
                              <a:latin typeface="Cambria Math"/>
                            </a:rPr>
                            <m:t>tan</m:t>
                          </m:r>
                        </m:fName>
                        <m:e>
                          <m:r>
                            <a:rPr lang="en-GB" sz="1400" b="0" i="1" smtClean="0">
                              <a:latin typeface="Cambria Math"/>
                            </a:rPr>
                            <m:t>40</m:t>
                          </m:r>
                        </m:e>
                      </m:func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400" b="0" i="0" smtClean="0">
                              <a:latin typeface="Cambria Math"/>
                            </a:rPr>
                            <m:t>tan</m:t>
                          </m:r>
                        </m:fName>
                        <m:e>
                          <m:r>
                            <a:rPr lang="en-GB" sz="1400" b="0" i="1" smtClean="0">
                              <a:latin typeface="Cambria Math"/>
                            </a:rPr>
                            <m:t>40</m:t>
                          </m:r>
                        </m:e>
                      </m:func>
                      <m:r>
                        <a:rPr lang="en-GB" sz="1400" b="0" i="1" smtClean="0">
                          <a:latin typeface="Cambria Math"/>
                        </a:rPr>
                        <m:t>=3</m:t>
                      </m:r>
                      <m:func>
                        <m:func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400" b="0" i="0" smtClean="0">
                              <a:latin typeface="Cambria Math"/>
                            </a:rPr>
                            <m:t>tan</m:t>
                          </m:r>
                        </m:fName>
                        <m:e>
                          <m:r>
                            <a:rPr lang="en-GB" sz="1400" b="0" i="1" smtClean="0">
                              <a:latin typeface="Cambria Math"/>
                            </a:rPr>
                            <m:t>𝑥</m:t>
                          </m:r>
                        </m:e>
                      </m:func>
                    </m:oMath>
                    <m:oMath xmlns:m="http://schemas.openxmlformats.org/officeDocument/2006/math">
                      <m:f>
                        <m:f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GB" sz="1400" b="0" i="1" smtClean="0">
                              <a:latin typeface="Cambria Math"/>
                            </a:rPr>
                            <m:t>3</m:t>
                          </m:r>
                        </m:den>
                      </m:f>
                      <m:func>
                        <m:func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400" b="0" i="0" smtClean="0">
                              <a:latin typeface="Cambria Math"/>
                            </a:rPr>
                            <m:t>tan</m:t>
                          </m:r>
                        </m:fName>
                        <m:e>
                          <m:r>
                            <a:rPr lang="en-GB" sz="1400" b="0" i="1" smtClean="0">
                              <a:latin typeface="Cambria Math"/>
                            </a:rPr>
                            <m:t>40</m:t>
                          </m:r>
                        </m:e>
                      </m:func>
                      <m:r>
                        <a:rPr lang="en-GB" sz="1400" b="0" i="1" smtClean="0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400" b="0" i="0" smtClean="0">
                              <a:latin typeface="Cambria Math"/>
                            </a:rPr>
                            <m:t>tan</m:t>
                          </m:r>
                        </m:fName>
                        <m:e>
                          <m:r>
                            <a:rPr lang="en-GB" sz="1400" b="0" i="1" smtClean="0">
                              <a:latin typeface="Cambria Math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8184" y="1268760"/>
                <a:ext cx="2915598" cy="3728713"/>
              </a:xfrm>
              <a:prstGeom prst="rect">
                <a:avLst/>
              </a:prstGeom>
              <a:blipFill rotWithShape="1">
                <a:blip r:embed="rId3"/>
                <a:stretch>
                  <a:fillRect l="-628" t="-16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/>
          <p:cNvSpPr/>
          <p:nvPr/>
        </p:nvSpPr>
        <p:spPr>
          <a:xfrm>
            <a:off x="6228184" y="949370"/>
            <a:ext cx="288032" cy="24738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28184" y="1196752"/>
            <a:ext cx="2808312" cy="388843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184305-5161-45C7-AA60-DC794F52864A}"/>
              </a:ext>
            </a:extLst>
          </p:cNvPr>
          <p:cNvSpPr/>
          <p:nvPr/>
        </p:nvSpPr>
        <p:spPr>
          <a:xfrm>
            <a:off x="420688" y="3429000"/>
            <a:ext cx="5700210" cy="140970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416EC6B-4D98-4150-AAE1-1E9E19FE8642}"/>
              </a:ext>
            </a:extLst>
          </p:cNvPr>
          <p:cNvSpPr/>
          <p:nvPr/>
        </p:nvSpPr>
        <p:spPr>
          <a:xfrm>
            <a:off x="5589636" y="1835150"/>
            <a:ext cx="201563" cy="785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6912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Exercise 7.2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395536" y="725840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Pearson Pure Mathematics Year 2/AS</a:t>
            </a:r>
          </a:p>
          <a:p>
            <a:r>
              <a:rPr lang="en-GB" sz="2400" dirty="0"/>
              <a:t>Page 49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739717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E522B76-B24F-5DBA-72A7-6281C8D970C1}"/>
                  </a:ext>
                </a:extLst>
              </p:cNvPr>
              <p:cNvSpPr txBox="1"/>
              <p:nvPr/>
            </p:nvSpPr>
            <p:spPr>
              <a:xfrm>
                <a:off x="303771" y="2381732"/>
                <a:ext cx="5544616" cy="41765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[STEP I 2010 Q3] Show that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fun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fun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func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and deduce that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fun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fun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e>
                      </m:func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Show also that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fun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fun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=−2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e>
                      </m:func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The points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GB" dirty="0"/>
                  <a:t> have coordinates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func>
                          <m:func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func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func>
                          <m:func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func>
                      </m:e>
                    </m:d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func>
                          <m:func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func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func>
                          <m:func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func>
                      </m:e>
                    </m:d>
                  </m:oMath>
                </a14:m>
                <a:r>
                  <a:rPr lang="en-GB" dirty="0"/>
                  <a:t> respectively, where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&lt;2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GB" dirty="0"/>
                  <a:t>,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dirty="0"/>
                  <a:t> are positive.</a:t>
                </a:r>
              </a:p>
              <a:p>
                <a:r>
                  <a:rPr lang="en-GB" dirty="0"/>
                  <a:t>Given that neither of the lines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𝑃𝑄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𝑆𝑅</m:t>
                    </m:r>
                  </m:oMath>
                </a14:m>
                <a:r>
                  <a:rPr lang="en-GB" dirty="0"/>
                  <a:t> is vertical, show that these lines are parallel if and only if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E522B76-B24F-5DBA-72A7-6281C8D970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771" y="2381732"/>
                <a:ext cx="5544616" cy="4176528"/>
              </a:xfrm>
              <a:prstGeom prst="rect">
                <a:avLst/>
              </a:prstGeom>
              <a:blipFill>
                <a:blip r:embed="rId2"/>
                <a:stretch>
                  <a:fillRect l="-990" t="-87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6369E0D6-506C-D853-0751-864EFA99EE82}"/>
              </a:ext>
            </a:extLst>
          </p:cNvPr>
          <p:cNvSpPr txBox="1"/>
          <p:nvPr/>
        </p:nvSpPr>
        <p:spPr>
          <a:xfrm>
            <a:off x="287141" y="1916832"/>
            <a:ext cx="2535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Extension</a:t>
            </a:r>
          </a:p>
        </p:txBody>
      </p:sp>
    </p:spTree>
    <p:extLst>
      <p:ext uri="{BB962C8B-B14F-4D97-AF65-F5344CB8AC3E}">
        <p14:creationId xmlns:p14="http://schemas.microsoft.com/office/powerpoint/2010/main" val="30556581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10" name="Picture 9" descr="A math problem with equations&#10;&#10;AI-generated content may be incorrect.">
            <a:extLst>
              <a:ext uri="{FF2B5EF4-FFF2-40B4-BE49-F238E27FC236}">
                <a16:creationId xmlns:a16="http://schemas.microsoft.com/office/drawing/2014/main" id="{4E23EFDB-09F7-FEF7-D100-285221777E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980728"/>
            <a:ext cx="6610350" cy="546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0537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033AC-846C-1B51-B0D6-66FCEF519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A33E61B-5971-C1CA-63B6-84D4E8CD15B9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91569A6F-F775-6BAD-E18A-F451C7CF95D5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24CF18F9-8040-27F2-298F-E639F1017697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8" name="Picture 7" descr="A math problem with black text&#10;&#10;AI-generated content may be incorrect.">
            <a:extLst>
              <a:ext uri="{FF2B5EF4-FFF2-40B4-BE49-F238E27FC236}">
                <a16:creationId xmlns:a16="http://schemas.microsoft.com/office/drawing/2014/main" id="{3FA24F5A-EBAD-412A-400A-3CEE49E575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1124744"/>
            <a:ext cx="6629400" cy="450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2022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/>
                <a:t>Homework</a:t>
              </a:r>
              <a:r>
                <a:rPr lang="en-GB" sz="3200">
                  <a:latin typeface="+mj-lt"/>
                </a:rPr>
                <a:t> </a:t>
              </a:r>
              <a:r>
                <a:rPr lang="en-GB" sz="3200" dirty="0">
                  <a:latin typeface="+mj-lt"/>
                </a:rPr>
                <a:t>Answers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469C17FB-FC1B-DF10-7956-4A90B9D9B2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678934"/>
            <a:ext cx="4838700" cy="615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699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a1ecaf-a1aa-4fc9-8c75-2805352e1f65">
      <Terms xmlns="http://schemas.microsoft.com/office/infopath/2007/PartnerControls"/>
    </lcf76f155ced4ddcb4097134ff3c332f>
    <TaxCatchAll xmlns="f9cd3b9a-9a6c-485a-81b7-4082693b516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145CED0C8C3544A5BCCC2783BB773D" ma:contentTypeVersion="18" ma:contentTypeDescription="Create a new document." ma:contentTypeScope="" ma:versionID="071d80e8befb16289be70b0ed95d7a13">
  <xsd:schema xmlns:xsd="http://www.w3.org/2001/XMLSchema" xmlns:xs="http://www.w3.org/2001/XMLSchema" xmlns:p="http://schemas.microsoft.com/office/2006/metadata/properties" xmlns:ns2="faa1ecaf-a1aa-4fc9-8c75-2805352e1f65" xmlns:ns3="f9cd3b9a-9a6c-485a-81b7-4082693b5161" targetNamespace="http://schemas.microsoft.com/office/2006/metadata/properties" ma:root="true" ma:fieldsID="bfedc4b824bdcf7bc3afcdacf96d42fb" ns2:_="" ns3:_="">
    <xsd:import namespace="faa1ecaf-a1aa-4fc9-8c75-2805352e1f65"/>
    <xsd:import namespace="f9cd3b9a-9a6c-485a-81b7-4082693b516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a1ecaf-a1aa-4fc9-8c75-2805352e1f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5c9266d-873e-4384-88ad-117b2e21bb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cd3b9a-9a6c-485a-81b7-4082693b516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37dd2894-802d-4a2b-8969-adc31d00c97c}" ma:internalName="TaxCatchAll" ma:showField="CatchAllData" ma:web="f9cd3b9a-9a6c-485a-81b7-4082693b516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A78994C-A71F-42AC-8C1A-2D47B8B074D2}">
  <ds:schemaRefs>
    <ds:schemaRef ds:uri="http://schemas.microsoft.com/office/2006/metadata/properties"/>
    <ds:schemaRef ds:uri="http://schemas.microsoft.com/office/infopath/2007/PartnerControls"/>
    <ds:schemaRef ds:uri="faa1ecaf-a1aa-4fc9-8c75-2805352e1f65"/>
    <ds:schemaRef ds:uri="f9cd3b9a-9a6c-485a-81b7-4082693b5161"/>
  </ds:schemaRefs>
</ds:datastoreItem>
</file>

<file path=customXml/itemProps2.xml><?xml version="1.0" encoding="utf-8"?>
<ds:datastoreItem xmlns:ds="http://schemas.openxmlformats.org/officeDocument/2006/customXml" ds:itemID="{A8F9F0BF-CA8C-4D24-90A1-67BA839288E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9CFC61B-804A-451F-96CB-09693B40877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a1ecaf-a1aa-4fc9-8c75-2805352e1f65"/>
    <ds:schemaRef ds:uri="f9cd3b9a-9a6c-485a-81b7-4082693b516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61751</TotalTime>
  <Words>585</Words>
  <Application>Microsoft Office PowerPoint</Application>
  <PresentationFormat>On-screen Show (4:3)</PresentationFormat>
  <Paragraphs>67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 Math</vt:lpstr>
      <vt:lpstr>Office Theme</vt:lpstr>
      <vt:lpstr>P2 Chapter 7: Trigonometric Equations  Using Addition Formulae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RM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Frost J</dc:creator>
  <cp:lastModifiedBy>Dieter Beaven</cp:lastModifiedBy>
  <cp:revision>1284</cp:revision>
  <dcterms:created xsi:type="dcterms:W3CDTF">2013-02-28T07:36:55Z</dcterms:created>
  <dcterms:modified xsi:type="dcterms:W3CDTF">2026-01-29T10:20:47Z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0x010100E2145CED0C8C3544A5BCCC2783BB773D</vt:lpwstr>
  </property>
</Properties>
</file>