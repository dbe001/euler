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547" r:id="rId5"/>
    <p:sldId id="531" r:id="rId6"/>
    <p:sldId id="532" r:id="rId7"/>
    <p:sldId id="533" r:id="rId8"/>
    <p:sldId id="534" r:id="rId9"/>
    <p:sldId id="535" r:id="rId10"/>
    <p:sldId id="536" r:id="rId11"/>
    <p:sldId id="537" r:id="rId12"/>
    <p:sldId id="549" r:id="rId13"/>
    <p:sldId id="543" r:id="rId14"/>
    <p:sldId id="550" r:id="rId15"/>
    <p:sldId id="551" r:id="rId16"/>
    <p:sldId id="553" r:id="rId17"/>
    <p:sldId id="545" r:id="rId18"/>
    <p:sldId id="55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D0B380-E2B3-4497-9E4E-73E831FF912C}" v="2" dt="2026-01-29T10:17:42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addSld modSld">
      <pc:chgData name="Dieter Beaven" userId="9bbdb69f-69d0-4759-aa9b-5c090a2da237" providerId="ADAL" clId="{B47B330E-67D7-47E6-A6C8-686253D34652}" dt="2026-01-29T10:17:45.363" v="27" actId="1036"/>
      <pc:docMkLst>
        <pc:docMk/>
      </pc:docMkLst>
      <pc:sldChg chg="modSp mod">
        <pc:chgData name="Dieter Beaven" userId="9bbdb69f-69d0-4759-aa9b-5c090a2da237" providerId="ADAL" clId="{B47B330E-67D7-47E6-A6C8-686253D34652}" dt="2026-01-29T10:17:45.363" v="27" actId="1036"/>
        <pc:sldMkLst>
          <pc:docMk/>
          <pc:sldMk cId="3372173304" sldId="532"/>
        </pc:sldMkLst>
        <pc:spChg chg="mod">
          <ac:chgData name="Dieter Beaven" userId="9bbdb69f-69d0-4759-aa9b-5c090a2da237" providerId="ADAL" clId="{B47B330E-67D7-47E6-A6C8-686253D34652}" dt="2026-01-29T10:17:42.603" v="22" actId="20577"/>
          <ac:spMkLst>
            <pc:docMk/>
            <pc:sldMk cId="3372173304" sldId="532"/>
            <ac:spMk id="5" creationId="{00000000-0000-0000-0000-000000000000}"/>
          </ac:spMkLst>
        </pc:spChg>
        <pc:spChg chg="mod">
          <ac:chgData name="Dieter Beaven" userId="9bbdb69f-69d0-4759-aa9b-5c090a2da237" providerId="ADAL" clId="{B47B330E-67D7-47E6-A6C8-686253D34652}" dt="2026-01-29T10:17:45.363" v="27" actId="1036"/>
          <ac:spMkLst>
            <pc:docMk/>
            <pc:sldMk cId="3372173304" sldId="532"/>
            <ac:spMk id="6" creationId="{00000000-0000-0000-0000-000000000000}"/>
          </ac:spMkLst>
        </pc:spChg>
      </pc:sldChg>
      <pc:sldChg chg="addSp modSp mod">
        <pc:chgData name="Dieter Beaven" userId="9bbdb69f-69d0-4759-aa9b-5c090a2da237" providerId="ADAL" clId="{B47B330E-67D7-47E6-A6C8-686253D34652}" dt="2026-01-29T10:13:41.783" v="9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1-29T10:13:41.783" v="9" actId="1076"/>
          <ac:picMkLst>
            <pc:docMk/>
            <pc:sldMk cId="3896053727" sldId="543"/>
            <ac:picMk id="6" creationId="{FB370C38-C4A8-3287-42D2-1CBE0F5605C1}"/>
          </ac:picMkLst>
        </pc:picChg>
      </pc:sldChg>
      <pc:sldChg chg="addSp modSp mod">
        <pc:chgData name="Dieter Beaven" userId="9bbdb69f-69d0-4759-aa9b-5c090a2da237" providerId="ADAL" clId="{B47B330E-67D7-47E6-A6C8-686253D34652}" dt="2026-01-29T10:13:35.607" v="7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1-29T10:13:35.607" v="7" actId="1076"/>
          <ac:picMkLst>
            <pc:docMk/>
            <pc:sldMk cId="4091202299" sldId="550"/>
            <ac:picMk id="6" creationId="{8EFFB73A-D817-981C-B322-AFF4D55805C4}"/>
          </ac:picMkLst>
        </pc:picChg>
      </pc:sldChg>
      <pc:sldChg chg="addSp modSp mod">
        <pc:chgData name="Dieter Beaven" userId="9bbdb69f-69d0-4759-aa9b-5c090a2da237" providerId="ADAL" clId="{B47B330E-67D7-47E6-A6C8-686253D34652}" dt="2026-01-29T10:15:18.873" v="15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1-29T10:15:18.873" v="15" actId="1076"/>
          <ac:picMkLst>
            <pc:docMk/>
            <pc:sldMk cId="3826585799" sldId="551"/>
            <ac:picMk id="6" creationId="{A28BCDBF-2771-95DB-2810-3BDE95FF0E85}"/>
          </ac:picMkLst>
        </pc:picChg>
      </pc:sldChg>
      <pc:sldChg chg="addSp modSp add mod">
        <pc:chgData name="Dieter Beaven" userId="9bbdb69f-69d0-4759-aa9b-5c090a2da237" providerId="ADAL" clId="{B47B330E-67D7-47E6-A6C8-686253D34652}" dt="2026-01-29T10:15:58.635" v="21" actId="1035"/>
        <pc:sldMkLst>
          <pc:docMk/>
          <pc:sldMk cId="420715231" sldId="553"/>
        </pc:sldMkLst>
        <pc:picChg chg="add mod">
          <ac:chgData name="Dieter Beaven" userId="9bbdb69f-69d0-4759-aa9b-5c090a2da237" providerId="ADAL" clId="{B47B330E-67D7-47E6-A6C8-686253D34652}" dt="2026-01-29T10:15:58.635" v="21" actId="1035"/>
          <ac:picMkLst>
            <pc:docMk/>
            <pc:sldMk cId="420715231" sldId="553"/>
            <ac:picMk id="6" creationId="{A8B2EF14-698D-1B0C-8D82-6D603BB0126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2" Type="http://schemas.openxmlformats.org/officeDocument/2006/relationships/image" Target="../media/image104.png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/>
            </a:br>
            <a:r>
              <a:rPr lang="en-GB"/>
              <a:t>Addition Formulae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Addition Formulae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36712"/>
                <a:ext cx="5917784" cy="3907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Addition Formulae allow us to deal with a </a:t>
                </a:r>
                <a:r>
                  <a:rPr lang="en-GB" b="1" u="sng" dirty="0"/>
                  <a:t>sum or difference of angles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func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func>
                      <m:r>
                        <a:rPr lang="en-GB" b="1" i="0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𝐀</m:t>
                          </m:r>
                        </m:e>
                      </m:func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𝐁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func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</m:d>
                        </m:e>
                      </m:func>
                      <m:r>
                        <a:rPr lang="en-GB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</m:func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</m:func>
                        </m:num>
                        <m:den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𝐁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dirty="0"/>
                </a:br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5917784" cy="3907801"/>
              </a:xfrm>
              <a:prstGeom prst="rect">
                <a:avLst/>
              </a:prstGeom>
              <a:blipFill>
                <a:blip r:embed="rId2"/>
                <a:stretch>
                  <a:fillRect l="-824" t="-7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334059" y="5210355"/>
                <a:ext cx="3168352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Do I need to memorise these?</a:t>
                </a:r>
              </a:p>
              <a:p>
                <a:r>
                  <a:rPr lang="en-GB" sz="1600" dirty="0"/>
                  <a:t>They’re all technically in the formula booklet, but you REALLY want to eventually memorise these (particularly 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600" dirty="0"/>
                  <a:t> ones).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059" y="5210355"/>
                <a:ext cx="3168352" cy="1323439"/>
              </a:xfrm>
              <a:prstGeom prst="rect">
                <a:avLst/>
              </a:prstGeom>
              <a:blipFill>
                <a:blip r:embed="rId3"/>
                <a:stretch>
                  <a:fillRect l="-763" t="-452" b="-40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732240" y="990823"/>
            <a:ext cx="201622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How to memorise: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796136" y="1628800"/>
            <a:ext cx="936104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652120" y="1628800"/>
            <a:ext cx="1080120" cy="10081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32240" y="1484784"/>
            <a:ext cx="2016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First notice that for all of these the first thing on the RHS is the same as the first thing on the LHS!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5508104" y="1628800"/>
            <a:ext cx="1224136" cy="20162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01929" y="3048514"/>
            <a:ext cx="26260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sin, the operator in the middle is the same as on the LHS.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cos, it’s the opposite.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tan, it’s the same in the numerator, opposite in the denominator.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2370" y="5275998"/>
            <a:ext cx="2842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sin, we mix sin and 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cos, we keep the cos’s and sin’s together.</a:t>
            </a:r>
          </a:p>
        </p:txBody>
      </p:sp>
    </p:spTree>
    <p:extLst>
      <p:ext uri="{BB962C8B-B14F-4D97-AF65-F5344CB8AC3E}">
        <p14:creationId xmlns:p14="http://schemas.microsoft.com/office/powerpoint/2010/main" val="4068802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Common Student Error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3439" y="1186871"/>
                <a:ext cx="8136904" cy="194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Why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not just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?</a:t>
                </a:r>
              </a:p>
              <a:p>
                <a:endParaRPr lang="en-GB" sz="2400" dirty="0"/>
              </a:p>
              <a:p>
                <a:r>
                  <a:rPr lang="en-GB" sz="2400" b="1" dirty="0"/>
                  <a:t>Because </a:t>
                </a:r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</a:rPr>
                      <m:t>𝒔𝒊𝒏</m:t>
                    </m:r>
                  </m:oMath>
                </a14:m>
                <a:r>
                  <a:rPr lang="en-GB" sz="2400" b="1" dirty="0"/>
                  <a:t> is a </a:t>
                </a:r>
                <a:r>
                  <a:rPr lang="en-GB" sz="2400" b="1" u="sng" dirty="0"/>
                  <a:t>function</a:t>
                </a:r>
                <a:r>
                  <a:rPr lang="en-GB" sz="2400" b="1" dirty="0"/>
                  <a:t>, not a quantity that can be expanded out like this. It’s a bit like 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24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GB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GB" sz="2400" b="1" dirty="0"/>
                  <a:t>.</a:t>
                </a:r>
              </a:p>
              <a:p>
                <a:r>
                  <a:rPr lang="en-GB" sz="2400" b="1" dirty="0"/>
                  <a:t>We can easily disprove it with a counterexample.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39" y="1186871"/>
                <a:ext cx="8136904" cy="1947328"/>
              </a:xfrm>
              <a:prstGeom prst="rect">
                <a:avLst/>
              </a:prstGeom>
              <a:blipFill>
                <a:blip r:embed="rId2"/>
                <a:stretch>
                  <a:fillRect l="-1199" t="-2508" r="-1649" b="-62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503439" y="1984635"/>
            <a:ext cx="8136904" cy="11563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72173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Addition Formulae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36712"/>
                <a:ext cx="6120680" cy="36287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Now can you reproduce them without peeking at your notes?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n-GB" b="1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𝒔𝒊𝒏</m:t>
                          </m:r>
                        </m:fName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m:rPr>
                          <m:nor/>
                        </m:rPr>
                        <a:rPr lang="en-GB" b="1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func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func>
                        </m:den>
                      </m:f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d>
                            <m:d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>
                          <a:latin typeface="Cambria Math" panose="02040503050406030204" pitchFamily="18" charset="0"/>
                        </a:rPr>
                        <m:t>≡</m:t>
                      </m:r>
                      <m:f>
                        <m:f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func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func>
                        </m:num>
                        <m:den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func>
                          <m:func>
                            <m:func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𝒕𝒂𝒏</m:t>
                              </m:r>
                            </m:fName>
                            <m:e>
                              <m:r>
                                <a:rPr lang="en-GB" b="1" i="1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br>
                  <a:rPr lang="en-GB" dirty="0"/>
                </a:br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6120680" cy="3628750"/>
              </a:xfrm>
              <a:prstGeom prst="rect">
                <a:avLst/>
              </a:prstGeom>
              <a:blipFill rotWithShape="0">
                <a:blip r:embed="rId2"/>
                <a:stretch>
                  <a:fillRect l="-797" t="-8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732240" y="990823"/>
            <a:ext cx="2016224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How to memorise: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2240" y="1484784"/>
            <a:ext cx="2016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6"/>
                </a:solidFill>
              </a:rPr>
              <a:t>First notice that for all of these the first thing on the RHS is the same as the first thing on the LHS!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01929" y="3048514"/>
            <a:ext cx="26260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sin, the operator in the middle is the same as on the LHS.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cos, it’s the opposite.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tan, it’s the same in the numerator, opposite in the denominator.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2370" y="5275998"/>
            <a:ext cx="26260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sin, we mix sin and 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6"/>
                </a:solidFill>
              </a:rPr>
              <a:t>For cos, we keep the cos’s and sin’s together.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93106" y="1336227"/>
            <a:ext cx="2714998" cy="364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93106" y="1700808"/>
            <a:ext cx="2714998" cy="364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93106" y="2156734"/>
            <a:ext cx="2714998" cy="364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93106" y="2521315"/>
            <a:ext cx="2714998" cy="36458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93106" y="3044296"/>
            <a:ext cx="2714998" cy="67273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93106" y="3717032"/>
            <a:ext cx="2714998" cy="7321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7740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/>
                    <a:t>Proof of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≡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a14:m>
                  <a:endParaRPr lang="en-GB" sz="3200" dirty="0"/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t="-12245" b="-316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691680" y="5229200"/>
            <a:ext cx="60486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1691680" y="2255044"/>
            <a:ext cx="2199283" cy="29741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1691680" y="2499360"/>
            <a:ext cx="4244300" cy="27298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2313542" y="4836405"/>
            <a:ext cx="113349" cy="418641"/>
          </a:xfrm>
          <a:custGeom>
            <a:avLst/>
            <a:gdLst>
              <a:gd name="connsiteX0" fmla="*/ 0 w 113349"/>
              <a:gd name="connsiteY0" fmla="*/ 0 h 418641"/>
              <a:gd name="connsiteX1" fmla="*/ 77118 w 113349"/>
              <a:gd name="connsiteY1" fmla="*/ 110168 h 418641"/>
              <a:gd name="connsiteX2" fmla="*/ 110169 w 113349"/>
              <a:gd name="connsiteY2" fmla="*/ 286438 h 418641"/>
              <a:gd name="connsiteX3" fmla="*/ 110169 w 113349"/>
              <a:gd name="connsiteY3" fmla="*/ 418641 h 418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49" h="418641">
                <a:moveTo>
                  <a:pt x="0" y="0"/>
                </a:moveTo>
                <a:cubicBezTo>
                  <a:pt x="29378" y="31214"/>
                  <a:pt x="58757" y="62428"/>
                  <a:pt x="77118" y="110168"/>
                </a:cubicBezTo>
                <a:cubicBezTo>
                  <a:pt x="95480" y="157908"/>
                  <a:pt x="104661" y="235026"/>
                  <a:pt x="110169" y="286438"/>
                </a:cubicBezTo>
                <a:cubicBezTo>
                  <a:pt x="115678" y="337850"/>
                  <a:pt x="112923" y="378245"/>
                  <a:pt x="110169" y="41864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15"/>
          <p:cNvSpPr/>
          <p:nvPr/>
        </p:nvSpPr>
        <p:spPr>
          <a:xfrm>
            <a:off x="2225407" y="4505899"/>
            <a:ext cx="210544" cy="253388"/>
          </a:xfrm>
          <a:custGeom>
            <a:avLst/>
            <a:gdLst>
              <a:gd name="connsiteX0" fmla="*/ 0 w 210544"/>
              <a:gd name="connsiteY0" fmla="*/ 0 h 253388"/>
              <a:gd name="connsiteX1" fmla="*/ 121186 w 210544"/>
              <a:gd name="connsiteY1" fmla="*/ 99152 h 253388"/>
              <a:gd name="connsiteX2" fmla="*/ 198304 w 210544"/>
              <a:gd name="connsiteY2" fmla="*/ 220337 h 253388"/>
              <a:gd name="connsiteX3" fmla="*/ 209321 w 210544"/>
              <a:gd name="connsiteY3" fmla="*/ 253388 h 253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544" h="253388">
                <a:moveTo>
                  <a:pt x="0" y="0"/>
                </a:moveTo>
                <a:cubicBezTo>
                  <a:pt x="44067" y="31214"/>
                  <a:pt x="88135" y="62429"/>
                  <a:pt x="121186" y="99152"/>
                </a:cubicBezTo>
                <a:cubicBezTo>
                  <a:pt x="154237" y="135875"/>
                  <a:pt x="183615" y="194631"/>
                  <a:pt x="198304" y="220337"/>
                </a:cubicBezTo>
                <a:cubicBezTo>
                  <a:pt x="212993" y="246043"/>
                  <a:pt x="211157" y="249715"/>
                  <a:pt x="209321" y="253388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71921" y="4321232"/>
                <a:ext cx="369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921" y="4321232"/>
                <a:ext cx="369113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370216" y="4791145"/>
                <a:ext cx="369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216" y="4791145"/>
                <a:ext cx="369113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626146" y="3134397"/>
                <a:ext cx="3467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146" y="3134397"/>
                <a:ext cx="346790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/>
          <p:cNvSpPr txBox="1"/>
          <p:nvPr/>
        </p:nvSpPr>
        <p:spPr>
          <a:xfrm>
            <a:off x="206497" y="634105"/>
            <a:ext cx="4248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(Not needed for exam)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73742" y="1200301"/>
                <a:ext cx="2304256" cy="255454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1:</a:t>
                </a:r>
                <a:r>
                  <a:rPr lang="en-GB" sz="1600" dirty="0"/>
                  <a:t> Suppose we had a line of length 1 projected an angle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above the horizontal.</a:t>
                </a:r>
              </a:p>
              <a:p>
                <a:r>
                  <a:rPr lang="en-GB" sz="1600" dirty="0"/>
                  <a:t>Then the length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</m:oMath>
                </a14:m>
                <a:endParaRPr lang="en-GB" sz="1600" dirty="0"/>
              </a:p>
              <a:p>
                <a:r>
                  <a:rPr lang="en-GB" sz="1600" dirty="0"/>
                  <a:t>It would seem sensible to try and find this same length in terms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600" dirty="0"/>
                  <a:t> individually.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42" y="1200301"/>
                <a:ext cx="2304256" cy="255454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95384" y="5166792"/>
                <a:ext cx="3691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384" y="5166792"/>
                <a:ext cx="369113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/>
          <p:cNvGrpSpPr/>
          <p:nvPr/>
        </p:nvGrpSpPr>
        <p:grpSpPr>
          <a:xfrm>
            <a:off x="3695817" y="1880167"/>
            <a:ext cx="463155" cy="3751416"/>
            <a:chOff x="3695817" y="1880167"/>
            <a:chExt cx="463155" cy="37514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3695817" y="5262251"/>
                  <a:ext cx="3691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5817" y="5262251"/>
                  <a:ext cx="369113" cy="369332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3706540" y="1880167"/>
                  <a:ext cx="3691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06540" y="1880167"/>
                  <a:ext cx="369113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8"/>
            <p:cNvCxnSpPr>
              <a:stCxn id="23" idx="0"/>
            </p:cNvCxnSpPr>
            <p:nvPr/>
          </p:nvCxnSpPr>
          <p:spPr>
            <a:xfrm flipV="1">
              <a:off x="3880374" y="2255044"/>
              <a:ext cx="3445" cy="3007207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 rot="16200000">
                  <a:off x="3253832" y="3731760"/>
                  <a:ext cx="150250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14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GB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GB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GB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GB" sz="14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GB" sz="1400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253832" y="3731760"/>
                  <a:ext cx="1502503" cy="307777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r="-8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TextBox 33"/>
          <p:cNvSpPr txBox="1"/>
          <p:nvPr/>
        </p:nvSpPr>
        <p:spPr>
          <a:xfrm>
            <a:off x="4237898" y="833006"/>
            <a:ext cx="2304256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/>
              <a:t>2: </a:t>
            </a:r>
            <a:r>
              <a:rPr lang="en-GB" sz="1600" dirty="0"/>
              <a:t>We can achieve this by forming two right-angled triangles.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3891097" y="2249499"/>
            <a:ext cx="693603" cy="2983513"/>
            <a:chOff x="3891097" y="2249499"/>
            <a:chExt cx="693603" cy="2983513"/>
          </a:xfrm>
        </p:grpSpPr>
        <p:cxnSp>
          <p:nvCxnSpPr>
            <p:cNvPr id="36" name="Straight Connector 35"/>
            <p:cNvCxnSpPr>
              <a:stCxn id="24" idx="2"/>
            </p:cNvCxnSpPr>
            <p:nvPr/>
          </p:nvCxnSpPr>
          <p:spPr>
            <a:xfrm>
              <a:off x="3891097" y="2249499"/>
              <a:ext cx="693603" cy="11287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4583017" y="3382178"/>
              <a:ext cx="0" cy="18508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Rectangle 41"/>
            <p:cNvSpPr/>
            <p:nvPr/>
          </p:nvSpPr>
          <p:spPr>
            <a:xfrm rot="19637654">
              <a:off x="4412926" y="3281362"/>
              <a:ext cx="144016" cy="144016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4438793" y="5085123"/>
              <a:ext cx="144016" cy="144016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3890963" y="2247900"/>
            <a:ext cx="754021" cy="1128714"/>
            <a:chOff x="3890963" y="2247900"/>
            <a:chExt cx="754021" cy="11287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4275871" y="2662039"/>
                  <a:ext cx="3691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5871" y="2662039"/>
                  <a:ext cx="369113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Straight Connector 49"/>
            <p:cNvCxnSpPr/>
            <p:nvPr/>
          </p:nvCxnSpPr>
          <p:spPr>
            <a:xfrm flipV="1">
              <a:off x="4581525" y="2247900"/>
              <a:ext cx="4763" cy="11287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flipH="1" flipV="1">
              <a:off x="3890963" y="2247900"/>
              <a:ext cx="700087" cy="47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Rectangle 58"/>
            <p:cNvSpPr/>
            <p:nvPr/>
          </p:nvSpPr>
          <p:spPr>
            <a:xfrm>
              <a:off x="4438047" y="2252653"/>
              <a:ext cx="144016" cy="144016"/>
            </a:xfrm>
            <a:prstGeom prst="rect">
              <a:avLst/>
            </a:prstGeom>
            <a:ln w="952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4381500" y="2957693"/>
              <a:ext cx="200025" cy="52207"/>
            </a:xfrm>
            <a:custGeom>
              <a:avLst/>
              <a:gdLst>
                <a:gd name="connsiteX0" fmla="*/ 0 w 200025"/>
                <a:gd name="connsiteY0" fmla="*/ 52207 h 52207"/>
                <a:gd name="connsiteX1" fmla="*/ 104775 w 200025"/>
                <a:gd name="connsiteY1" fmla="*/ 4582 h 52207"/>
                <a:gd name="connsiteX2" fmla="*/ 200025 w 200025"/>
                <a:gd name="connsiteY2" fmla="*/ 4582 h 52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0025" h="52207">
                  <a:moveTo>
                    <a:pt x="0" y="52207"/>
                  </a:moveTo>
                  <a:cubicBezTo>
                    <a:pt x="35719" y="32363"/>
                    <a:pt x="71438" y="12519"/>
                    <a:pt x="104775" y="4582"/>
                  </a:cubicBezTo>
                  <a:cubicBezTo>
                    <a:pt x="138112" y="-3355"/>
                    <a:pt x="169068" y="613"/>
                    <a:pt x="200025" y="4582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6676975" y="818771"/>
            <a:ext cx="2304256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/>
              <a:t>3: </a:t>
            </a:r>
            <a:r>
              <a:rPr lang="en-GB" sz="1600" dirty="0"/>
              <a:t>Then we’re looking for the combined length of these two lines.</a:t>
            </a:r>
          </a:p>
        </p:txBody>
      </p:sp>
      <p:cxnSp>
        <p:nvCxnSpPr>
          <p:cNvPr id="64" name="Straight Connector 63"/>
          <p:cNvCxnSpPr/>
          <p:nvPr/>
        </p:nvCxnSpPr>
        <p:spPr>
          <a:xfrm>
            <a:off x="4581525" y="3367088"/>
            <a:ext cx="2382" cy="186213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576762" y="2243113"/>
            <a:ext cx="9526" cy="1128737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 rot="19565511">
                <a:off x="2812768" y="3876568"/>
                <a:ext cx="9537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65511">
                <a:off x="2812768" y="3876568"/>
                <a:ext cx="953726" cy="33855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 rot="3564541">
                <a:off x="3658690" y="2629611"/>
                <a:ext cx="9537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564541">
                <a:off x="3658690" y="2629611"/>
                <a:ext cx="953726" cy="338554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6676975" y="2073481"/>
            <a:ext cx="2304256" cy="584775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/>
              <a:t>4: </a:t>
            </a:r>
            <a:r>
              <a:rPr lang="en-GB" sz="1600" dirty="0"/>
              <a:t>We can get the lengths of the top triangle…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 rot="16200000">
                <a:off x="4274734" y="4169883"/>
                <a:ext cx="9537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74734" y="4169883"/>
                <a:ext cx="953726" cy="338554"/>
              </a:xfrm>
              <a:prstGeom prst="rect">
                <a:avLst/>
              </a:prstGeom>
              <a:blipFill rotWithShape="0">
                <a:blip r:embed="rId14"/>
                <a:stretch>
                  <a:fillRect t="-12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 rot="16200000">
                <a:off x="4239153" y="2581885"/>
                <a:ext cx="95372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func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239153" y="2581885"/>
                <a:ext cx="953726" cy="338554"/>
              </a:xfrm>
              <a:prstGeom prst="rect">
                <a:avLst/>
              </a:prstGeom>
              <a:blipFill rotWithShape="0">
                <a:blip r:embed="rId15"/>
                <a:stretch>
                  <a:fillRect t="-165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TextBox 78"/>
          <p:cNvSpPr txBox="1"/>
          <p:nvPr/>
        </p:nvSpPr>
        <p:spPr>
          <a:xfrm>
            <a:off x="6689411" y="2843399"/>
            <a:ext cx="2304256" cy="830997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/>
              <a:t>5: </a:t>
            </a:r>
            <a:r>
              <a:rPr lang="en-GB" sz="1600" dirty="0"/>
              <a:t>Which in turn allows us to find the green and blue lengths.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6660232" y="3898055"/>
                <a:ext cx="2304256" cy="830997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6: </a:t>
                </a:r>
                <a:r>
                  <a:rPr lang="en-GB" sz="1600" dirty="0"/>
                  <a:t>Hence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</m:oMath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□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3898055"/>
                <a:ext cx="2304256" cy="83099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710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1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1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4" grpId="0" animBg="1"/>
      <p:bldP spid="62" grpId="0" animBg="1"/>
      <p:bldP spid="74" grpId="0"/>
      <p:bldP spid="75" grpId="0"/>
      <p:bldP spid="76" grpId="0" animBg="1"/>
      <p:bldP spid="77" grpId="0"/>
      <p:bldP spid="78" grpId="0"/>
      <p:bldP spid="79" grpId="0" animBg="1"/>
      <p:bldP spid="8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Proof of other identities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908720"/>
                <a:ext cx="8352928" cy="3990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Can you think how to use our geometrically proven result </a:t>
                </a:r>
                <a:endParaRPr lang="en-GB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</m:oMath>
                </a14:m>
                <a:r>
                  <a:rPr lang="en-GB" dirty="0"/>
                  <a:t> to prove the identity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?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          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           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  <a:p>
                <a:endParaRPr lang="en-GB" dirty="0"/>
              </a:p>
              <a:p>
                <a:r>
                  <a:rPr lang="en-GB" dirty="0"/>
                  <a:t>What about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? (Hint: what links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𝑠𝑖𝑛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dirty="0"/>
                  <a:t>?)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</m:num>
                                    <m:den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𝑨</m:t>
                                  </m:r>
                                </m:e>
                              </m:d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𝑩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</m:num>
                                <m:den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         =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352928" cy="3990964"/>
              </a:xfrm>
              <a:prstGeom prst="rect">
                <a:avLst/>
              </a:prstGeom>
              <a:blipFill rotWithShape="0">
                <a:blip r:embed="rId2"/>
                <a:stretch>
                  <a:fillRect l="-584" t="-7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419872" y="2132856"/>
            <a:ext cx="3600400" cy="50405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72" y="1700808"/>
            <a:ext cx="3600400" cy="43204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1760" y="4077073"/>
            <a:ext cx="5112568" cy="7200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2987824" y="3428999"/>
            <a:ext cx="4536504" cy="6402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29655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Proof of other identities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B278345-CB3F-4FC4-9F4F-C5D800899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49921"/>
            <a:ext cx="6621463" cy="11389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A741A1-2D86-476E-881E-8A2CF1966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773589"/>
            <a:ext cx="6000750" cy="18097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078B96-A3E8-4F10-B4F2-9E1BE114CA53}"/>
              </a:ext>
            </a:extLst>
          </p:cNvPr>
          <p:cNvSpPr txBox="1"/>
          <p:nvPr/>
        </p:nvSpPr>
        <p:spPr>
          <a:xfrm>
            <a:off x="323528" y="780589"/>
            <a:ext cx="2448272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Jan 2012 Q8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471C8D-A5E8-44F0-9044-ED6604D3F0A9}"/>
                  </a:ext>
                </a:extLst>
              </p:cNvPr>
              <p:cNvSpPr txBox="1"/>
              <p:nvPr/>
            </p:nvSpPr>
            <p:spPr>
              <a:xfrm>
                <a:off x="5972046" y="4869160"/>
                <a:ext cx="1945890" cy="95410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important thing is that you explicit show the division of each term by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𝑐𝑜𝑠𝐴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func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471C8D-A5E8-44F0-9044-ED6604D3F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2046" y="4869160"/>
                <a:ext cx="1945890" cy="954107"/>
              </a:xfrm>
              <a:prstGeom prst="rect">
                <a:avLst/>
              </a:prstGeom>
              <a:blipFill>
                <a:blip r:embed="rId4"/>
                <a:stretch>
                  <a:fillRect l="-310" b="-4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59FC70-02FF-4DC7-AEFF-B94786A04FBF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4427984" y="3789040"/>
            <a:ext cx="1544062" cy="1557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3528" y="2420888"/>
            <a:ext cx="8208912" cy="36004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0798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99592" y="906977"/>
                <a:ext cx="7527460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Given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</m:oMath>
                </a14:m>
                <a:r>
                  <a:rPr lang="en-GB" dirty="0"/>
                  <a:t> express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in terms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906977"/>
                <a:ext cx="7527460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27014" y="1422930"/>
                <a:ext cx="7289402" cy="23220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Using your formulae: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We need to get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</m:oMath>
                </a14:m>
                <a:r>
                  <a:rPr lang="en-GB" b="1" dirty="0"/>
                  <a:t> and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𝐭𝐚𝐧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func>
                  </m:oMath>
                </a14:m>
                <a:r>
                  <a:rPr lang="en-GB" b="1" dirty="0"/>
                  <a:t> in there. Dividing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func>
                      <m:func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b="1" i="0" smtClean="0">
                            <a:latin typeface="Cambria Math" panose="02040503050406030204" pitchFamily="18" charset="0"/>
                          </a:rPr>
                          <m:t>𝐜𝐨𝐬</m:t>
                        </m:r>
                      </m:fName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func>
                  </m:oMath>
                </a14:m>
                <a:r>
                  <a:rPr lang="en-GB" b="1" dirty="0"/>
                  <a:t> would seem like a sensible step: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Rearranging: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func>
                        </m:num>
                        <m:den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func>
                            <m:func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fName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7014" y="1422930"/>
                <a:ext cx="7289402" cy="2322046"/>
              </a:xfrm>
              <a:prstGeom prst="rect">
                <a:avLst/>
              </a:prstGeom>
              <a:blipFill>
                <a:blip r:embed="rId3"/>
                <a:stretch>
                  <a:fillRect l="-669" t="-13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67544" y="889322"/>
            <a:ext cx="432048" cy="386987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592" y="1268760"/>
            <a:ext cx="7527460" cy="24366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4255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7.1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49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triangle and a triangle&#10;&#10;AI-generated content may be incorrect.">
            <a:extLst>
              <a:ext uri="{FF2B5EF4-FFF2-40B4-BE49-F238E27FC236}">
                <a16:creationId xmlns:a16="http://schemas.microsoft.com/office/drawing/2014/main" id="{FB370C38-C4A8-3287-42D2-1CBE0F560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052736"/>
            <a:ext cx="686752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8EFFB73A-D817-981C-B322-AFF4D5580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980728"/>
            <a:ext cx="66389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A28BCDBF-2771-95DB-2810-3BDE95FF0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908720"/>
            <a:ext cx="66770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A138-7C50-37B7-B152-6AC1ADDA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0C89901-84FE-06AA-A666-741B57335DF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C5ACE13-AE97-D8D2-3732-169286E3C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A978E671-AB71-422B-7E06-787F24C19A3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a triangle and a triangle&#10;&#10;AI-generated content may be incorrect.">
            <a:extLst>
              <a:ext uri="{FF2B5EF4-FFF2-40B4-BE49-F238E27FC236}">
                <a16:creationId xmlns:a16="http://schemas.microsoft.com/office/drawing/2014/main" id="{A8B2EF14-698D-1B0C-8D82-6D603BB0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0728"/>
            <a:ext cx="7019925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5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D2BE9C6-FE19-D5F4-642B-1F2A5C701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72" y="641176"/>
            <a:ext cx="904875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EE82544-5992-388C-68C0-E0F66F606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42962"/>
            <a:ext cx="489585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61756</TotalTime>
  <Words>763</Words>
  <Application>Microsoft Office PowerPoint</Application>
  <PresentationFormat>On-screen Show (4:3)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 Math</vt:lpstr>
      <vt:lpstr>Office Theme</vt:lpstr>
      <vt:lpstr>P2 Chapter 7: Trigonometric Equations  Addition Formulae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2026-01-29T10:17:48Z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