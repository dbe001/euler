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547" r:id="rId5"/>
    <p:sldId id="553" r:id="rId6"/>
    <p:sldId id="548" r:id="rId7"/>
    <p:sldId id="554" r:id="rId8"/>
    <p:sldId id="549" r:id="rId9"/>
    <p:sldId id="565" r:id="rId10"/>
    <p:sldId id="543" r:id="rId11"/>
    <p:sldId id="550" r:id="rId12"/>
    <p:sldId id="551" r:id="rId13"/>
    <p:sldId id="545" r:id="rId14"/>
    <p:sldId id="552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modSld">
      <pc:chgData name="Dieter Beaven" userId="9bbdb69f-69d0-4759-aa9b-5c090a2da237" providerId="ADAL" clId="{B47B330E-67D7-47E6-A6C8-686253D34652}" dt="2026-01-29T10:42:48.253" v="23" actId="20577"/>
      <pc:docMkLst>
        <pc:docMk/>
      </pc:docMkLst>
      <pc:sldChg chg="addSp modSp mod">
        <pc:chgData name="Dieter Beaven" userId="9bbdb69f-69d0-4759-aa9b-5c090a2da237" providerId="ADAL" clId="{B47B330E-67D7-47E6-A6C8-686253D34652}" dt="2026-01-29T10:40:58.193" v="19" actId="1076"/>
        <pc:sldMkLst>
          <pc:docMk/>
          <pc:sldMk cId="3896053727" sldId="543"/>
        </pc:sldMkLst>
        <pc:picChg chg="add mod">
          <ac:chgData name="Dieter Beaven" userId="9bbdb69f-69d0-4759-aa9b-5c090a2da237" providerId="ADAL" clId="{B47B330E-67D7-47E6-A6C8-686253D34652}" dt="2026-01-29T10:40:58.193" v="19" actId="1076"/>
          <ac:picMkLst>
            <pc:docMk/>
            <pc:sldMk cId="3896053727" sldId="543"/>
            <ac:picMk id="6" creationId="{48B7380F-5126-3E51-D5B5-915F768BACCC}"/>
          </ac:picMkLst>
        </pc:picChg>
      </pc:sldChg>
      <pc:sldChg chg="modSp mod">
        <pc:chgData name="Dieter Beaven" userId="9bbdb69f-69d0-4759-aa9b-5c090a2da237" providerId="ADAL" clId="{B47B330E-67D7-47E6-A6C8-686253D34652}" dt="2026-01-29T10:42:48.253" v="23" actId="20577"/>
        <pc:sldMkLst>
          <pc:docMk/>
          <pc:sldMk cId="1830310584" sldId="548"/>
        </pc:sldMkLst>
        <pc:spChg chg="mod">
          <ac:chgData name="Dieter Beaven" userId="9bbdb69f-69d0-4759-aa9b-5c090a2da237" providerId="ADAL" clId="{B47B330E-67D7-47E6-A6C8-686253D34652}" dt="2026-01-29T10:42:48.253" v="23" actId="20577"/>
          <ac:spMkLst>
            <pc:docMk/>
            <pc:sldMk cId="1830310584" sldId="548"/>
            <ac:spMk id="7" creationId="{6307E849-9955-42B9-A5CB-215B45AA04B7}"/>
          </ac:spMkLst>
        </pc:spChg>
      </pc:sldChg>
      <pc:sldChg chg="addSp modSp mod">
        <pc:chgData name="Dieter Beaven" userId="9bbdb69f-69d0-4759-aa9b-5c090a2da237" providerId="ADAL" clId="{B47B330E-67D7-47E6-A6C8-686253D34652}" dt="2026-01-29T10:40:50.896" v="17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47B330E-67D7-47E6-A6C8-686253D34652}" dt="2026-01-29T10:40:50.896" v="17" actId="1076"/>
          <ac:picMkLst>
            <pc:docMk/>
            <pc:sldMk cId="4091202299" sldId="550"/>
            <ac:picMk id="6" creationId="{A4694CC0-504D-658A-2D41-DED678BB272A}"/>
          </ac:picMkLst>
        </pc:picChg>
      </pc:sldChg>
      <pc:sldChg chg="addSp modSp mod">
        <pc:chgData name="Dieter Beaven" userId="9bbdb69f-69d0-4759-aa9b-5c090a2da237" providerId="ADAL" clId="{B47B330E-67D7-47E6-A6C8-686253D34652}" dt="2026-01-29T10:40:48.267" v="16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1-29T10:40:48.267" v="16" actId="1076"/>
          <ac:picMkLst>
            <pc:docMk/>
            <pc:sldMk cId="3826585799" sldId="551"/>
            <ac:picMk id="6" creationId="{A7551585-3F52-D864-505A-B21C2155D3F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29/01/2026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496" y="2130425"/>
            <a:ext cx="9073008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7: </a:t>
            </a:r>
            <a:r>
              <a:rPr lang="en-GB" dirty="0">
                <a:solidFill>
                  <a:schemeClr val="accent5"/>
                </a:solidFill>
              </a:rPr>
              <a:t>Trigonometric Equations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Trigonometric Solutions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496B35D9-EBE8-4EE3-89DF-9071E04CCE04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85B66D88-ADF1-477A-8E39-6BF6E1E438E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Solving Trigonometric Equations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891B08E6-257F-4C4C-9000-4603784F3D83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DC1F0589-F9A1-42F9-8B37-54FA20D39E32}"/>
              </a:ext>
            </a:extLst>
          </p:cNvPr>
          <p:cNvSpPr txBox="1"/>
          <p:nvPr/>
        </p:nvSpPr>
        <p:spPr>
          <a:xfrm>
            <a:off x="379284" y="814410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This is effectively the same type of question you encountered in Chapter 6 and in Year 1, except you may need to use either the </a:t>
            </a:r>
            <a:r>
              <a:rPr lang="en-GB" b="1" dirty="0"/>
              <a:t>addition formulae or double angle formulae.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6DF987-EC10-444E-9EFA-80572E42A193}"/>
                  </a:ext>
                </a:extLst>
              </p:cNvPr>
              <p:cNvSpPr txBox="1"/>
              <p:nvPr/>
            </p:nvSpPr>
            <p:spPr>
              <a:xfrm>
                <a:off x="467543" y="1953023"/>
                <a:ext cx="7694653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Solve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3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+2=0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≤360°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E36DF987-EC10-444E-9EFA-80572E42A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3" y="1953023"/>
                <a:ext cx="7694653" cy="369332"/>
              </a:xfrm>
              <a:prstGeom prst="rect">
                <a:avLst/>
              </a:prstGeom>
              <a:blipFill>
                <a:blip r:embed="rId2"/>
                <a:stretch>
                  <a:fillRect b="-3529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5658B2-9900-43CE-B991-A7C47F1051A5}"/>
                  </a:ext>
                </a:extLst>
              </p:cNvPr>
              <p:cNvSpPr txBox="1"/>
              <p:nvPr/>
            </p:nvSpPr>
            <p:spPr>
              <a:xfrm>
                <a:off x="467544" y="2492896"/>
                <a:ext cx="5040560" cy="22747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GB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e>
                                <m:sup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+2=0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6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−1=0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func>
                            <m:func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GB" b="0" i="0" smtClean="0">
                                  <a:latin typeface="Cambria Math" panose="02040503050406030204" pitchFamily="18" charset="0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func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func>
                        <m:func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b="0" dirty="0"/>
              </a:p>
              <a:p>
                <a:pPr/>
                <a:br>
                  <a:rPr lang="en-GB" b="0" dirty="0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=109.5°, 250.5°  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=60°,300°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F5658B2-9900-43CE-B991-A7C47F105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2492896"/>
                <a:ext cx="5040560" cy="22747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C33C369-264F-4620-BCEE-805909CE7305}"/>
              </a:ext>
            </a:extLst>
          </p:cNvPr>
          <p:cNvCxnSpPr/>
          <p:nvPr/>
        </p:nvCxnSpPr>
        <p:spPr>
          <a:xfrm>
            <a:off x="2123728" y="4077072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33DE377-B0B9-4A28-B1D5-72BB6226DF8D}"/>
              </a:ext>
            </a:extLst>
          </p:cNvPr>
          <p:cNvCxnSpPr/>
          <p:nvPr/>
        </p:nvCxnSpPr>
        <p:spPr>
          <a:xfrm>
            <a:off x="3563888" y="4077072"/>
            <a:ext cx="0" cy="288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02616C-708D-4E0F-BF9E-69835C30724C}"/>
                  </a:ext>
                </a:extLst>
              </p:cNvPr>
              <p:cNvSpPr txBox="1"/>
              <p:nvPr/>
            </p:nvSpPr>
            <p:spPr>
              <a:xfrm>
                <a:off x="5298130" y="2590408"/>
                <a:ext cx="2864068" cy="1169551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Recall that we have a choice of double angle identities for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sz="1400" dirty="0"/>
                  <a:t>. This is clearly the most sensible choice as we end up with an equation just in terms of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𝑐𝑜𝑠</m:t>
                    </m:r>
                  </m:oMath>
                </a14:m>
                <a:r>
                  <a:rPr lang="en-GB" sz="14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202616C-708D-4E0F-BF9E-69835C307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8130" y="2590408"/>
                <a:ext cx="2864068" cy="1169551"/>
              </a:xfrm>
              <a:prstGeom prst="rect">
                <a:avLst/>
              </a:prstGeom>
              <a:blipFill>
                <a:blip r:embed="rId4"/>
                <a:stretch>
                  <a:fillRect l="-211" b="-306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F49F79E-33F5-47DA-93CE-5031407D7DDD}"/>
              </a:ext>
            </a:extLst>
          </p:cNvPr>
          <p:cNvCxnSpPr>
            <a:cxnSpLocks/>
          </p:cNvCxnSpPr>
          <p:nvPr/>
        </p:nvCxnSpPr>
        <p:spPr>
          <a:xfrm flipH="1" flipV="1">
            <a:off x="4694663" y="2720898"/>
            <a:ext cx="603467" cy="3102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5C2B04B-35B8-4498-9E92-099DF185F488}"/>
              </a:ext>
            </a:extLst>
          </p:cNvPr>
          <p:cNvSpPr/>
          <p:nvPr/>
        </p:nvSpPr>
        <p:spPr>
          <a:xfrm>
            <a:off x="468844" y="2322355"/>
            <a:ext cx="7693353" cy="25468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52874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DF9139B-28A2-4BA5-BF58-2D52D36A632F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00078A4-B265-4D58-9FB1-56707FA1ED6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Further Examples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329EFFE-70C0-4D2F-AEA9-530B99997FD0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95B064-4C29-4F4C-BB47-62DC8AA39EFB}"/>
                  </a:ext>
                </a:extLst>
              </p:cNvPr>
              <p:cNvSpPr txBox="1"/>
              <p:nvPr/>
            </p:nvSpPr>
            <p:spPr>
              <a:xfrm>
                <a:off x="181763" y="942175"/>
                <a:ext cx="4411590" cy="1100429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By noting that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/>
                      </a:rPr>
                      <m:t>3</m:t>
                    </m:r>
                    <m:r>
                      <a:rPr lang="en-GB" sz="1600" b="0" i="1" smtClean="0">
                        <a:latin typeface="Cambria Math"/>
                      </a:rPr>
                      <m:t>𝐴</m:t>
                    </m:r>
                    <m:r>
                      <a:rPr lang="en-GB" sz="1600" b="0" i="1" smtClean="0">
                        <a:latin typeface="Cambria Math"/>
                      </a:rPr>
                      <m:t>=2</m:t>
                    </m:r>
                    <m:r>
                      <a:rPr lang="en-GB" sz="1600" b="0" i="1" smtClean="0">
                        <a:latin typeface="Cambria Math"/>
                      </a:rPr>
                      <m:t>𝐴</m:t>
                    </m:r>
                    <m:r>
                      <a:rPr lang="en-GB" sz="1600" b="0" i="1" smtClean="0">
                        <a:latin typeface="Cambria Math"/>
                      </a:rPr>
                      <m:t>+</m:t>
                    </m:r>
                    <m:r>
                      <a:rPr lang="en-GB" sz="1600" b="0" i="1" smtClean="0">
                        <a:latin typeface="Cambria Math"/>
                      </a:rPr>
                      <m:t>𝐴</m:t>
                    </m:r>
                  </m:oMath>
                </a14:m>
                <a:r>
                  <a:rPr lang="en-GB" sz="1600" dirty="0"/>
                  <a:t>, :</a:t>
                </a:r>
              </a:p>
              <a:p>
                <a:pPr marL="342900" indent="-342900">
                  <a:buAutoNum type="alphaLcParenR"/>
                </a:pPr>
                <a:r>
                  <a:rPr lang="en-GB" sz="1600" b="0" dirty="0"/>
                  <a:t> Show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=3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−4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func>
                  </m:oMath>
                </a14:m>
                <a:r>
                  <a:rPr lang="en-GB" sz="1600" dirty="0"/>
                  <a:t>.</a:t>
                </a:r>
              </a:p>
              <a:p>
                <a:pPr marL="342900" indent="-342900">
                  <a:buAutoNum type="alphaLcParenR"/>
                </a:pPr>
                <a:r>
                  <a:rPr lang="en-GB" sz="1600" dirty="0"/>
                  <a:t> Hence or otherwise, solve,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600" dirty="0"/>
                  <a:t>, the equation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16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GB" sz="1600" b="0" i="0" smtClean="0"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−12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−2</m:t>
                    </m:r>
                    <m:rad>
                      <m:radPr>
                        <m:degHide m:val="on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95B064-4C29-4F4C-BB47-62DC8AA39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763" y="942175"/>
                <a:ext cx="4411590" cy="11004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7A05C0F-9486-4B3B-BC23-2DD5E6E80107}"/>
                  </a:ext>
                </a:extLst>
              </p:cNvPr>
              <p:cNvSpPr/>
              <p:nvPr/>
            </p:nvSpPr>
            <p:spPr>
              <a:xfrm>
                <a:off x="453544" y="2556004"/>
                <a:ext cx="3886532" cy="360714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>
                                  <a:latin typeface="Cambria Math"/>
                                </a:rPr>
                                <m:t>𝟐</m:t>
                              </m:r>
                              <m:r>
                                <a:rPr lang="en-GB" sz="1400" b="1" i="1">
                                  <a:latin typeface="Cambria Math"/>
                                </a:rPr>
                                <m:t>𝑨</m:t>
                              </m:r>
                              <m:r>
                                <a:rPr lang="en-GB" sz="1400" b="1" i="1">
                                  <a:latin typeface="Cambria Math"/>
                                </a:rPr>
                                <m:t>+</m:t>
                              </m:r>
                              <m:r>
                                <a:rPr lang="en-GB" sz="1400" b="1" i="1">
                                  <a:latin typeface="Cambria Math"/>
                                </a:rPr>
                                <m:t>𝑨</m:t>
                              </m:r>
                            </m:e>
                          </m:d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𝟐</m:t>
                          </m:r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r>
                        <a:rPr lang="en-GB" sz="1400" b="1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𝟐</m:t>
                          </m:r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/>
                        </a:rPr>
                        <m:t>=</m:t>
                      </m:r>
                      <m:r>
                        <a:rPr lang="en-GB" sz="1400" b="1" i="1">
                          <a:latin typeface="Cambria Math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𝐜𝐨𝐬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r>
                        <a:rPr lang="en-GB" sz="1400" b="1" i="1">
                          <a:latin typeface="Cambria Math"/>
                        </a:rPr>
                        <m:t>+</m:t>
                      </m:r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/>
                            </a:rPr>
                            <m:t>𝟏</m:t>
                          </m:r>
                          <m:r>
                            <a:rPr lang="en-GB" sz="1400" b="1" i="1">
                              <a:latin typeface="Cambria Math"/>
                            </a:rPr>
                            <m:t>−</m:t>
                          </m:r>
                          <m:r>
                            <a:rPr lang="en-GB" sz="1400" b="1" i="1">
                              <a:latin typeface="Cambria Math"/>
                            </a:rPr>
                            <m:t>𝟐</m:t>
                          </m:r>
                          <m:func>
                            <m:func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1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sz="14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b="1" i="1">
                                  <a:latin typeface="Cambria Math"/>
                                </a:rPr>
                                <m:t>𝑨</m:t>
                              </m:r>
                            </m:e>
                          </m:func>
                        </m:e>
                      </m:d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/>
                        </a:rPr>
                        <m:t>=</m:t>
                      </m:r>
                      <m:r>
                        <a:rPr lang="en-GB" sz="1400" b="1" i="1">
                          <a:latin typeface="Cambria Math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d>
                        <m:d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400" b="1" i="1">
                              <a:latin typeface="Cambria Math"/>
                            </a:rPr>
                            <m:t>𝟏</m:t>
                          </m:r>
                          <m:r>
                            <a:rPr lang="en-GB" sz="1400" b="1" i="1">
                              <a:latin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sSup>
                                <m:sSupPr>
                                  <m:ctrlPr>
                                    <a:rPr lang="en-GB" sz="1400" b="1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GB" sz="1400" b="1">
                                      <a:latin typeface="Cambria Math"/>
                                    </a:rPr>
                                    <m:t>𝐬𝐢𝐧</m:t>
                                  </m:r>
                                </m:e>
                                <m:sup>
                                  <m:r>
                                    <a:rPr lang="en-GB" sz="1400" b="1" i="1">
                                      <a:latin typeface="Cambria Math"/>
                                    </a:rPr>
                                    <m:t>𝟐</m:t>
                                  </m:r>
                                </m:sup>
                              </m:sSup>
                            </m:fName>
                            <m:e>
                              <m:r>
                                <a:rPr lang="en-GB" sz="1400" b="1" i="1">
                                  <a:latin typeface="Cambria Math"/>
                                </a:rPr>
                                <m:t>𝑨</m:t>
                              </m:r>
                            </m:e>
                          </m:func>
                        </m:e>
                      </m:d>
                      <m:r>
                        <a:rPr lang="en-GB" sz="1400" b="1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r>
                        <a:rPr lang="en-GB" sz="1400" b="1" i="1">
                          <a:latin typeface="Cambria Math"/>
                        </a:rPr>
                        <m:t>−</m:t>
                      </m:r>
                      <m:r>
                        <a:rPr lang="en-GB" sz="1400" b="1" i="1">
                          <a:latin typeface="Cambria Math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>
                                  <a:latin typeface="Cambria Math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sz="1400" b="1" i="1">
                                  <a:latin typeface="Cambria Math"/>
                                </a:rPr>
                                <m:t>𝟑</m:t>
                              </m:r>
                            </m:sup>
                          </m:sSup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/>
                        </a:rPr>
                        <m:t>=</m:t>
                      </m:r>
                      <m:r>
                        <a:rPr lang="en-GB" sz="1400" b="1" i="1">
                          <a:latin typeface="Cambria Math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r>
                        <a:rPr lang="en-GB" sz="1400" b="1" i="1">
                          <a:latin typeface="Cambria Math"/>
                        </a:rPr>
                        <m:t>−</m:t>
                      </m:r>
                      <m:r>
                        <a:rPr lang="en-GB" sz="1400" b="1" i="1">
                          <a:latin typeface="Cambria Math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>
                                  <a:latin typeface="Cambria Math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sz="1400" b="1" i="1">
                                  <a:latin typeface="Cambria Math"/>
                                </a:rPr>
                                <m:t>𝟑</m:t>
                              </m:r>
                            </m:sup>
                          </m:sSup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r>
                        <a:rPr lang="en-GB" sz="1400" b="1" i="1">
                          <a:latin typeface="Cambria Math"/>
                        </a:rPr>
                        <m:t>+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r>
                        <a:rPr lang="en-GB" sz="1400" b="1" i="1">
                          <a:latin typeface="Cambria Math"/>
                        </a:rPr>
                        <m:t>−</m:t>
                      </m:r>
                      <m:r>
                        <a:rPr lang="en-GB" sz="1400" b="1" i="1">
                          <a:latin typeface="Cambria Math"/>
                        </a:rPr>
                        <m:t>𝟐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>
                                  <a:latin typeface="Cambria Math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sz="1400" b="1" i="1">
                                  <a:latin typeface="Cambria Math"/>
                                </a:rPr>
                                <m:t>𝟑</m:t>
                              </m:r>
                            </m:sup>
                          </m:sSup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400" b="1" i="1">
                          <a:latin typeface="Cambria Math"/>
                        </a:rPr>
                        <m:t>=</m:t>
                      </m:r>
                      <m:r>
                        <a:rPr lang="en-GB" sz="1400" b="1" i="1">
                          <a:latin typeface="Cambria Math"/>
                        </a:rPr>
                        <m:t>𝟑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>
                              <a:latin typeface="Cambria Math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  <m:r>
                        <a:rPr lang="en-GB" sz="1400" b="1" i="1">
                          <a:latin typeface="Cambria Math"/>
                        </a:rPr>
                        <m:t>−</m:t>
                      </m:r>
                      <m:r>
                        <a:rPr lang="en-GB" sz="1400" b="1" i="1">
                          <a:latin typeface="Cambria Math"/>
                        </a:rPr>
                        <m:t>𝟒</m:t>
                      </m:r>
                      <m:func>
                        <m:funcPr>
                          <m:ctrlPr>
                            <a:rPr lang="en-GB" sz="1400" b="1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1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>
                                  <a:latin typeface="Cambria Math"/>
                                </a:rPr>
                                <m:t>𝐬𝐢𝐧</m:t>
                              </m:r>
                            </m:e>
                            <m:sup>
                              <m:r>
                                <a:rPr lang="en-GB" sz="1400" b="1" i="1">
                                  <a:latin typeface="Cambria Math"/>
                                </a:rPr>
                                <m:t>𝟑</m:t>
                              </m:r>
                            </m:sup>
                          </m:sSup>
                        </m:fName>
                        <m:e>
                          <m:r>
                            <a:rPr lang="en-GB" sz="1400" b="1" i="1">
                              <a:latin typeface="Cambria Math"/>
                            </a:rPr>
                            <m:t>𝑨</m:t>
                          </m:r>
                        </m:e>
                      </m:func>
                    </m:oMath>
                  </m:oMathPara>
                </a14:m>
                <a:endParaRPr lang="en-GB" sz="1400" dirty="0"/>
              </a:p>
              <a:p>
                <a:endParaRPr lang="en-GB" sz="1400" dirty="0"/>
              </a:p>
              <a:p>
                <a:r>
                  <a:rPr lang="en-GB" sz="1400" b="1" dirty="0"/>
                  <a:t>Note that </a:t>
                </a:r>
                <a14:m>
                  <m:oMath xmlns:m="http://schemas.openxmlformats.org/officeDocument/2006/math">
                    <m:r>
                      <a:rPr lang="en-GB" sz="1400" b="1" i="1">
                        <a:latin typeface="Cambria Math" panose="02040503050406030204" pitchFamily="18" charset="0"/>
                      </a:rPr>
                      <m:t>𝟏𝟔</m:t>
                    </m:r>
                    <m:func>
                      <m:func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p>
                          <m:sSupPr>
                            <m:ctrlPr>
                              <a:rPr lang="en-GB" sz="1400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𝒔𝒊𝒏</m:t>
                            </m:r>
                          </m:e>
                          <m:sup>
                            <m:r>
                              <a:rPr lang="en-GB" sz="1400" b="1" i="1">
                                <a:latin typeface="Cambria Math" panose="02040503050406030204" pitchFamily="18" charset="0"/>
                              </a:rPr>
                              <m:t>𝟑</m:t>
                            </m:r>
                          </m:sup>
                        </m:sSup>
                      </m:fName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  <m:r>
                      <a:rPr lang="en-GB" sz="1400" b="1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400" b="1" i="1">
                        <a:latin typeface="Cambria Math" panose="02040503050406030204" pitchFamily="18" charset="0"/>
                      </a:rPr>
                      <m:t>𝟏𝟐</m:t>
                    </m:r>
                    <m:func>
                      <m:funcPr>
                        <m:ctrlPr>
                          <a:rPr lang="en-GB" sz="14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𝒔𝒊𝒏</m:t>
                        </m:r>
                      </m:fName>
                      <m:e>
                        <m:r>
                          <a:rPr lang="en-GB" sz="1400" b="1" i="1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br>
                  <a:rPr lang="en-GB" sz="1400" b="1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d>
                      <m:d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func>
                          <m:func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GB" sz="1400" b="1" i="0" smtClean="0">
                                <a:latin typeface="Cambria Math" panose="02040503050406030204" pitchFamily="18" charset="0"/>
                              </a:rPr>
                              <m:t>𝐬𝐢𝐧</m:t>
                            </m:r>
                          </m:fName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func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𝟒</m:t>
                        </m:r>
                        <m:func>
                          <m:funcPr>
                            <m:ctrlP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sSup>
                              <m:sSupPr>
                                <m:ctrlP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GB" sz="1400" b="1" i="0" smtClean="0">
                                    <a:latin typeface="Cambria Math" panose="02040503050406030204" pitchFamily="18" charset="0"/>
                                  </a:rPr>
                                  <m:t>𝐬𝐢𝐧</m:t>
                                </m:r>
                              </m:e>
                              <m:sup>
                                <m:r>
                                  <a:rPr lang="en-GB" sz="1400" b="1" i="1" smtClean="0">
                                    <a:latin typeface="Cambria Math" panose="02040503050406030204" pitchFamily="18" charset="0"/>
                                  </a:rPr>
                                  <m:t>𝟑</m:t>
                                </m:r>
                              </m:sup>
                            </m:sSup>
                          </m:fName>
                          <m:e>
                            <m:r>
                              <a:rPr lang="en-GB" sz="1400" b="1" i="1" smtClean="0">
                                <a:latin typeface="Cambria Math" panose="02040503050406030204" pitchFamily="18" charset="0"/>
                              </a:rPr>
                              <m:t>𝑨</m:t>
                            </m:r>
                          </m:e>
                        </m:func>
                      </m:e>
                    </m:d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GB" sz="1400" b="1" i="1" smtClean="0">
                        <a:latin typeface="Cambria Math" panose="02040503050406030204" pitchFamily="18" charset="0"/>
                      </a:rPr>
                      <m:t>𝟒</m:t>
                    </m:r>
                    <m:func>
                      <m:funcPr>
                        <m:ctrlPr>
                          <a:rPr lang="en-GB" sz="1400" b="1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400" b="1" i="0" smtClean="0">
                            <a:latin typeface="Cambria Math" panose="02040503050406030204" pitchFamily="18" charset="0"/>
                          </a:rPr>
                          <m:t>𝐬𝐢𝐧</m:t>
                        </m:r>
                      </m:fName>
                      <m:e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  <m:r>
                          <a:rPr lang="en-GB" sz="1400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e>
                    </m:func>
                  </m:oMath>
                </a14:m>
                <a:r>
                  <a:rPr lang="en-GB" sz="1400" b="1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∴−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𝜽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𝟒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𝟓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𝟏𝟎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𝟏𝟏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𝟏𝟔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𝟏𝟕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𝝅</m:t>
                          </m:r>
                        </m:num>
                        <m:den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𝟗</m:t>
                          </m:r>
                        </m:den>
                      </m:f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67A05C0F-9486-4B3B-BC23-2DD5E6E8010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3544" y="2556004"/>
                <a:ext cx="3886532" cy="3607141"/>
              </a:xfrm>
              <a:prstGeom prst="rect">
                <a:avLst/>
              </a:prstGeom>
              <a:blipFill>
                <a:blip r:embed="rId3"/>
                <a:stretch>
                  <a:fillRect l="-470" b="-3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307E849-9955-42B9-A5CB-215B45AA04B7}"/>
              </a:ext>
            </a:extLst>
          </p:cNvPr>
          <p:cNvSpPr txBox="1"/>
          <p:nvPr/>
        </p:nvSpPr>
        <p:spPr>
          <a:xfrm>
            <a:off x="1912207" y="2022676"/>
            <a:ext cx="2514828" cy="43088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100" b="1"/>
              <a:t>Exam </a:t>
            </a:r>
            <a:r>
              <a:rPr lang="en-GB" sz="1100" b="1" dirty="0"/>
              <a:t>Note</a:t>
            </a:r>
            <a:r>
              <a:rPr lang="en-GB" sz="1100" dirty="0"/>
              <a:t>: A question pretty much just like this came up in an exam once.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FDAFB5B-8207-4091-BECF-507F49DC4F6C}"/>
              </a:ext>
            </a:extLst>
          </p:cNvPr>
          <p:cNvCxnSpPr>
            <a:stCxn id="7" idx="1"/>
          </p:cNvCxnSpPr>
          <p:nvPr/>
        </p:nvCxnSpPr>
        <p:spPr>
          <a:xfrm flipH="1" flipV="1">
            <a:off x="1561171" y="2040673"/>
            <a:ext cx="351036" cy="197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CFBE0CFA-B89E-46F1-B188-5B7DE036D108}"/>
              </a:ext>
            </a:extLst>
          </p:cNvPr>
          <p:cNvSpPr/>
          <p:nvPr/>
        </p:nvSpPr>
        <p:spPr>
          <a:xfrm>
            <a:off x="179513" y="2574631"/>
            <a:ext cx="3816424" cy="15024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539C2DA-5AB6-4189-BBDA-F40D86C8C402}"/>
              </a:ext>
            </a:extLst>
          </p:cNvPr>
          <p:cNvSpPr/>
          <p:nvPr/>
        </p:nvSpPr>
        <p:spPr>
          <a:xfrm>
            <a:off x="179513" y="4077072"/>
            <a:ext cx="3816424" cy="21550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AF30BA-E6B6-4662-8F63-4EFBE207C84C}"/>
                  </a:ext>
                </a:extLst>
              </p:cNvPr>
              <p:cNvSpPr txBox="1"/>
              <p:nvPr/>
            </p:nvSpPr>
            <p:spPr>
              <a:xfrm>
                <a:off x="4860031" y="955701"/>
                <a:ext cx="4191767" cy="608821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Solve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4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d>
                          <m:dPr>
                            <m:ctrlP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GB" sz="1600" b="0" i="1" smtClean="0">
                                <a:latin typeface="Cambria Math" panose="02040503050406030204" pitchFamily="18" charset="0"/>
                              </a:rPr>
                              <m:t>−30°</m:t>
                            </m:r>
                          </m:e>
                        </m:d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=8</m:t>
                    </m:r>
                    <m:rad>
                      <m:radPr>
                        <m:degHide m:val="on"/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sin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func>
                  </m:oMath>
                </a14:m>
                <a:r>
                  <a:rPr lang="en-GB" sz="1600" dirty="0"/>
                  <a:t>  in the range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&lt;360°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E3AF30BA-E6B6-4662-8F63-4EFBE207C8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0031" y="955701"/>
                <a:ext cx="4191767" cy="6088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163970-0B52-4A37-8FF6-98117730F666}"/>
                  </a:ext>
                </a:extLst>
              </p:cNvPr>
              <p:cNvSpPr txBox="1"/>
              <p:nvPr/>
            </p:nvSpPr>
            <p:spPr>
              <a:xfrm>
                <a:off x="4739269" y="1700808"/>
                <a:ext cx="4225220" cy="25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b="1" dirty="0"/>
                  <a:t>Your instinct should be to use the addition formulae first to break up the </a:t>
                </a:r>
                <a14:m>
                  <m:oMath xmlns:m="http://schemas.openxmlformats.org/officeDocument/2006/math">
                    <m:r>
                      <a:rPr lang="en-GB" sz="1600" b="1" i="1">
                        <a:latin typeface="Cambria Math" panose="02040503050406030204" pitchFamily="18" charset="0"/>
                      </a:rPr>
                      <m:t>𝟒</m:t>
                    </m:r>
                    <m:func>
                      <m:funcPr>
                        <m:ctrlPr>
                          <a:rPr lang="en-GB" sz="1600" b="1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GB" sz="1600" b="1" i="1">
                            <a:latin typeface="Cambria Math" panose="02040503050406030204" pitchFamily="18" charset="0"/>
                          </a:rPr>
                          <m:t>𝒄𝒐𝒔</m:t>
                        </m:r>
                      </m:fName>
                      <m:e>
                        <m:d>
                          <m:dPr>
                            <m:ctrlPr>
                              <a:rPr lang="en-GB" sz="1600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𝜽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𝟑𝟎</m:t>
                            </m:r>
                            <m:r>
                              <a:rPr lang="en-GB" sz="1600" b="1" i="1">
                                <a:latin typeface="Cambria Math" panose="02040503050406030204" pitchFamily="18" charset="0"/>
                              </a:rPr>
                              <m:t>°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1600" b="1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𝟒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𝟑𝟎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°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𝟖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ra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  <m:oMath xmlns:m="http://schemas.openxmlformats.org/officeDocument/2006/math"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𝟐</m:t>
                      </m:r>
                      <m:rad>
                        <m:radPr>
                          <m:degHide m:val="on"/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e>
                      </m:ra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e>
                          </m:rad>
                        </m:num>
                        <m:den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𝟖</m:t>
                          </m:r>
                          <m:rad>
                            <m:radPr>
                              <m:degHide m:val="on"/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</m:rad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unc>
                            <m:func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num>
                        <m:den>
                          <m:func>
                            <m:funcPr>
                              <m:ctrlP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GB" sz="1600" b="1" i="0" smtClean="0">
                                  <a:latin typeface="Cambria Math" panose="02040503050406030204" pitchFamily="18" charset="0"/>
                                </a:rPr>
                                <m:t>𝐜𝐨𝐬</m:t>
                              </m:r>
                            </m:fName>
                            <m:e>
                              <m:r>
                                <a:rPr lang="en-GB" sz="1600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</m:func>
                        </m:den>
                      </m:f>
                      <m:r>
                        <a:rPr lang="en-GB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600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sz="1600" b="1" i="1" smtClean="0">
                              <a:latin typeface="Cambria Math" panose="02040503050406030204" pitchFamily="18" charset="0"/>
                            </a:rPr>
                            <m:t>𝜽</m:t>
                          </m:r>
                        </m:e>
                      </m:func>
                    </m:oMath>
                  </m:oMathPara>
                </a14:m>
                <a:br>
                  <a:rPr lang="en-GB" sz="1600" b="1" dirty="0"/>
                </a:b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𝜽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°, 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𝟐𝟎𝟎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en-GB" sz="1600" b="1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D163970-0B52-4A37-8FF6-98117730F6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9269" y="1700808"/>
                <a:ext cx="4225220" cy="2515882"/>
              </a:xfrm>
              <a:prstGeom prst="rect">
                <a:avLst/>
              </a:prstGeom>
              <a:blipFill>
                <a:blip r:embed="rId5"/>
                <a:stretch>
                  <a:fillRect l="-720" t="-72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ectangle 13">
            <a:extLst>
              <a:ext uri="{FF2B5EF4-FFF2-40B4-BE49-F238E27FC236}">
                <a16:creationId xmlns:a16="http://schemas.microsoft.com/office/drawing/2014/main" id="{AEC82915-4B80-426E-BB2A-ADA1493B353A}"/>
              </a:ext>
            </a:extLst>
          </p:cNvPr>
          <p:cNvSpPr/>
          <p:nvPr/>
        </p:nvSpPr>
        <p:spPr>
          <a:xfrm>
            <a:off x="4838928" y="1552001"/>
            <a:ext cx="4212870" cy="266468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30310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DDBAA27-6CB4-40CB-A881-5151B0817313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F4CECA0B-F8EE-4462-BA49-0046DB999CA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947E230-4084-455A-BFB6-836A1B875A8F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2">
            <a:extLst>
              <a:ext uri="{FF2B5EF4-FFF2-40B4-BE49-F238E27FC236}">
                <a16:creationId xmlns:a16="http://schemas.microsoft.com/office/drawing/2014/main" id="{494CB498-1820-4021-A914-2D1DF13032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560" y="1155141"/>
            <a:ext cx="4922975" cy="272701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1F66D9-4123-48D2-9CE9-F1156370FFAE}"/>
              </a:ext>
            </a:extLst>
          </p:cNvPr>
          <p:cNvSpPr txBox="1"/>
          <p:nvPr/>
        </p:nvSpPr>
        <p:spPr>
          <a:xfrm>
            <a:off x="181382" y="785809"/>
            <a:ext cx="2520280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Edexcel C3 Jan 2013 Q6</a:t>
            </a:r>
          </a:p>
        </p:txBody>
      </p:sp>
      <p:pic>
        <p:nvPicPr>
          <p:cNvPr id="7" name="Picture 3">
            <a:extLst>
              <a:ext uri="{FF2B5EF4-FFF2-40B4-BE49-F238E27FC236}">
                <a16:creationId xmlns:a16="http://schemas.microsoft.com/office/drawing/2014/main" id="{C4B6AFCA-2C89-415A-A8E1-E9CF2BFD7A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4230" y="970475"/>
            <a:ext cx="3957242" cy="33817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AD741D0-3B8D-4C71-9215-A09AB2CE6821}"/>
              </a:ext>
            </a:extLst>
          </p:cNvPr>
          <p:cNvSpPr/>
          <p:nvPr/>
        </p:nvSpPr>
        <p:spPr>
          <a:xfrm>
            <a:off x="5104534" y="968277"/>
            <a:ext cx="3926937" cy="33839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302829-0893-4644-91C4-06B4005AA1F2}"/>
              </a:ext>
            </a:extLst>
          </p:cNvPr>
          <p:cNvSpPr txBox="1"/>
          <p:nvPr/>
        </p:nvSpPr>
        <p:spPr>
          <a:xfrm>
            <a:off x="117705" y="3948358"/>
            <a:ext cx="3384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If you finish that quickly…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23D57E-E00B-4B0D-82C5-A47AA46AED54}"/>
                  </a:ext>
                </a:extLst>
              </p:cNvPr>
              <p:cNvSpPr txBox="1"/>
              <p:nvPr/>
            </p:nvSpPr>
            <p:spPr>
              <a:xfrm>
                <a:off x="229218" y="4391370"/>
                <a:ext cx="7488832" cy="33855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[Textbook] Solve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2</m:t>
                    </m:r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func>
                      <m:func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600" b="0" i="0" smtClean="0">
                            <a:latin typeface="Cambria Math" panose="02040503050406030204" pitchFamily="18" charset="0"/>
                          </a:rPr>
                          <m:t>tan</m:t>
                        </m:r>
                      </m:fName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func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sz="1600" dirty="0"/>
                  <a:t>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&lt;2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lang="en-GB" sz="1600" dirty="0"/>
                  <a:t>, giving your answer to 2dp.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D23D57E-E00B-4B0D-82C5-A47AA46AED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18" y="4391370"/>
                <a:ext cx="7488832" cy="338554"/>
              </a:xfrm>
              <a:prstGeom prst="rect">
                <a:avLst/>
              </a:prstGeom>
              <a:blipFill>
                <a:blip r:embed="rId4"/>
                <a:stretch>
                  <a:fillRect b="-128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EB7806-EA37-49E3-A172-F99DA288ECE9}"/>
                  </a:ext>
                </a:extLst>
              </p:cNvPr>
              <p:cNvSpPr txBox="1"/>
              <p:nvPr/>
            </p:nvSpPr>
            <p:spPr>
              <a:xfrm>
                <a:off x="601359" y="4767848"/>
                <a:ext cx="2933578" cy="20746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d>
                        <m:d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func>
                                <m:func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GB" sz="1400" b="1" i="0" smtClean="0">
                                      <a:latin typeface="Cambria Math" panose="02040503050406030204" pitchFamily="18" charset="0"/>
                                    </a:rPr>
                                    <m:t>𝐭𝐚𝐧</m:t>
                                  </m:r>
                                </m:fName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func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unc>
                                <m:funcPr>
                                  <m:ctrlP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sSup>
                                    <m:sSupPr>
                                      <m:ctrlPr>
                                        <a:rPr lang="en-GB" sz="1400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400" b="1" i="0" smtClean="0">
                                          <a:latin typeface="Cambria Math" panose="02040503050406030204" pitchFamily="18" charset="0"/>
                                        </a:rPr>
                                        <m:t>𝐭𝐚𝐧</m:t>
                                      </m:r>
                                    </m:e>
                                    <m:sup>
                                      <m:r>
                                        <a:rPr lang="en-GB" sz="1400" b="1" i="1" smtClean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fName>
                                <m:e>
                                  <m:r>
                                    <a:rPr lang="en-GB" sz="1400" b="1" i="1" smtClean="0">
                                      <a:latin typeface="Cambria Math" panose="02040503050406030204" pitchFamily="18" charset="0"/>
                                    </a:rPr>
                                    <m:t>𝒚</m:t>
                                  </m:r>
                                </m:e>
                              </m:func>
                            </m:den>
                          </m:f>
                        </m:e>
                      </m:d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…</m:t>
                      </m:r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𝟕</m:t>
                      </m:r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p>
                            <m:sSup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400" b="1" i="0" smtClean="0">
                                  <a:latin typeface="Cambria Math" panose="02040503050406030204" pitchFamily="18" charset="0"/>
                                </a:rPr>
                                <m:t>𝐭𝐚𝐧</m:t>
                              </m:r>
                            </m:e>
                            <m:sup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  <m:oMath xmlns:m="http://schemas.openxmlformats.org/officeDocument/2006/math">
                      <m:func>
                        <m:funcPr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latin typeface="Cambria Math" panose="02040503050406030204" pitchFamily="18" charset="0"/>
                            </a:rPr>
                            <m:t>𝐭𝐚𝐧</m:t>
                          </m:r>
                        </m:fName>
                        <m:e>
                          <m:r>
                            <a:rPr lang="en-GB" sz="1400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</m:func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=±</m:t>
                      </m:r>
                      <m:rad>
                        <m:radPr>
                          <m:degHide m:val="on"/>
                          <m:ctrlPr>
                            <a:rPr lang="en-GB" sz="1400" b="1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num>
                            <m:den>
                              <m:r>
                                <a:rPr lang="en-GB" sz="1400" b="1" i="1" smtClean="0">
                                  <a:latin typeface="Cambria Math" panose="02040503050406030204" pitchFamily="18" charset="0"/>
                                </a:rPr>
                                <m:t>𝟕</m:t>
                              </m:r>
                            </m:den>
                          </m:f>
                        </m:e>
                      </m:rad>
                    </m:oMath>
                    <m:oMath xmlns:m="http://schemas.openxmlformats.org/officeDocument/2006/math"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𝟓𝟖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𝟓𝟔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𝟕𝟐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𝟓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1400" b="1" i="1" smtClean="0">
                          <a:latin typeface="Cambria Math" panose="02040503050406030204" pitchFamily="18" charset="0"/>
                        </a:rPr>
                        <m:t>𝟕𝟎</m:t>
                      </m:r>
                    </m:oMath>
                  </m:oMathPara>
                </a14:m>
                <a:endParaRPr lang="en-GB" sz="1400" b="1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FBEB7806-EA37-49E3-A172-F99DA288E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59" y="4767848"/>
                <a:ext cx="2933578" cy="207467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80E503-1474-4676-A3E9-D2B71D629B54}"/>
                  </a:ext>
                </a:extLst>
              </p:cNvPr>
              <p:cNvSpPr txBox="1"/>
              <p:nvPr/>
            </p:nvSpPr>
            <p:spPr>
              <a:xfrm>
                <a:off x="3534937" y="5733256"/>
                <a:ext cx="2514828" cy="43088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dirty="0"/>
                  <a:t>Forgetting the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GB" sz="1100" dirty="0"/>
                  <a:t> is an incredibly common source of lost marks.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2880E503-1474-4676-A3E9-D2B71D629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4937" y="5733256"/>
                <a:ext cx="2514828" cy="430887"/>
              </a:xfrm>
              <a:prstGeom prst="rect">
                <a:avLst/>
              </a:prstGeom>
              <a:blipFill>
                <a:blip r:embed="rId6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DCAFA67-0F25-4F0C-B299-F418959E6EFC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3021980" y="5948700"/>
            <a:ext cx="512957" cy="284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DA75A6E9-B13D-4853-AF97-F0F7A37C8303}"/>
              </a:ext>
            </a:extLst>
          </p:cNvPr>
          <p:cNvSpPr/>
          <p:nvPr/>
        </p:nvSpPr>
        <p:spPr>
          <a:xfrm>
            <a:off x="230024" y="4721397"/>
            <a:ext cx="7488026" cy="208589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3916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8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7.4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51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185C753-25D8-A7EF-5F38-8A60B77FF29F}"/>
              </a:ext>
            </a:extLst>
          </p:cNvPr>
          <p:cNvSpPr txBox="1"/>
          <p:nvPr/>
        </p:nvSpPr>
        <p:spPr>
          <a:xfrm>
            <a:off x="427354" y="1931144"/>
            <a:ext cx="1552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Extension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B97E9F-24A9-0C70-5AF5-2F911658D8AA}"/>
              </a:ext>
            </a:extLst>
          </p:cNvPr>
          <p:cNvSpPr txBox="1"/>
          <p:nvPr/>
        </p:nvSpPr>
        <p:spPr>
          <a:xfrm>
            <a:off x="414654" y="2262376"/>
            <a:ext cx="248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[AEA 2013 Q2]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54AE1C-C0CA-8C6C-F83B-FA453269DE25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55" y="4575959"/>
            <a:ext cx="4940801" cy="1747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24B3EBD-FACC-B8E6-1E88-66ABFB0C85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91" y="2689481"/>
            <a:ext cx="4238110" cy="15561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A34CEAA-A84E-B812-4D3A-13BB6D70F2CC}"/>
              </a:ext>
            </a:extLst>
          </p:cNvPr>
          <p:cNvSpPr/>
          <p:nvPr/>
        </p:nvSpPr>
        <p:spPr>
          <a:xfrm>
            <a:off x="135255" y="2719005"/>
            <a:ext cx="258445" cy="2545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D0AB202-7770-FE6E-2FDD-DECEA0EC3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889" y="2431885"/>
            <a:ext cx="4212967" cy="2153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55A5EE2-B499-8BF0-BE74-82BD8040C567}"/>
              </a:ext>
            </a:extLst>
          </p:cNvPr>
          <p:cNvSpPr/>
          <p:nvPr/>
        </p:nvSpPr>
        <p:spPr>
          <a:xfrm>
            <a:off x="4673601" y="2028307"/>
            <a:ext cx="258445" cy="254531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B7899D-226C-9CF3-1A88-EC4F2F6279A5}"/>
              </a:ext>
            </a:extLst>
          </p:cNvPr>
          <p:cNvSpPr txBox="1"/>
          <p:nvPr/>
        </p:nvSpPr>
        <p:spPr>
          <a:xfrm>
            <a:off x="4898685" y="1985669"/>
            <a:ext cx="248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[AEA 2009 Q3]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A09F898-30A4-988D-0C5C-E1E5777F1D06}"/>
              </a:ext>
            </a:extLst>
          </p:cNvPr>
          <p:cNvSpPr txBox="1"/>
          <p:nvPr/>
        </p:nvSpPr>
        <p:spPr>
          <a:xfrm>
            <a:off x="5792141" y="5007833"/>
            <a:ext cx="24884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(Solution on next slide)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A6FF1BD-7479-282F-132C-31A09663D5F7}"/>
              </a:ext>
            </a:extLst>
          </p:cNvPr>
          <p:cNvSpPr/>
          <p:nvPr/>
        </p:nvSpPr>
        <p:spPr>
          <a:xfrm>
            <a:off x="73843" y="4530568"/>
            <a:ext cx="4980757" cy="1922768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59022F46-5D25-4BC9-9C1A-ADA7F31B3C05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52811AD5-1EED-4D7E-AFA3-188FB69FF09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Solution to Extension Question 2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C5BDE4-536A-4DA3-8887-9EB09BD462D9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3083D058-9B7B-453C-83C8-B7167BED822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1268760"/>
            <a:ext cx="5392807" cy="5042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AF2512A-B674-4B32-AAC3-2D95D3D8DE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8" y="739303"/>
            <a:ext cx="3609751" cy="1845435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538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48B7380F-5126-3E51-D5B5-915F768B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836712"/>
            <a:ext cx="6762750" cy="575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A4694CC0-504D-658A-2D41-DED678BB2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71550"/>
            <a:ext cx="6800850" cy="491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math problem with equations&#10;&#10;AI-generated content may be incorrect.">
            <a:extLst>
              <a:ext uri="{FF2B5EF4-FFF2-40B4-BE49-F238E27FC236}">
                <a16:creationId xmlns:a16="http://schemas.microsoft.com/office/drawing/2014/main" id="{A7551585-3F52-D864-505A-B21C2155D3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980728"/>
            <a:ext cx="675322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F2DF2CD-B841-AC57-7EF4-AC4387658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5" y="836712"/>
            <a:ext cx="9039225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66428F7-6A8F-CF51-4CD9-FAC453B1E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764704"/>
            <a:ext cx="9144000" cy="3733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61751</TotalTime>
  <Words>552</Words>
  <Application>Microsoft Office PowerPoint</Application>
  <PresentationFormat>On-screen Show (4:3)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 Math</vt:lpstr>
      <vt:lpstr>Office Theme</vt:lpstr>
      <vt:lpstr>P2 Chapter 7: Trigonometric Equations  Trigonometric Solutions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2026-01-29T10:42:50Z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