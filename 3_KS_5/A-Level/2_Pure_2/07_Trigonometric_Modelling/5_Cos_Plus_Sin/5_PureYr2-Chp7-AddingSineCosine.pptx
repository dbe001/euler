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547" r:id="rId5"/>
    <p:sldId id="553" r:id="rId6"/>
    <p:sldId id="554" r:id="rId7"/>
    <p:sldId id="555" r:id="rId8"/>
    <p:sldId id="556" r:id="rId9"/>
    <p:sldId id="557" r:id="rId10"/>
    <p:sldId id="558" r:id="rId11"/>
    <p:sldId id="549" r:id="rId12"/>
    <p:sldId id="543" r:id="rId13"/>
    <p:sldId id="550" r:id="rId14"/>
    <p:sldId id="559" r:id="rId15"/>
    <p:sldId id="551" r:id="rId16"/>
    <p:sldId id="545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72688A-F8A9-4923-B3A0-A7267856512A}" v="1" dt="2026-02-02T13:37:22.2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518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B47B330E-67D7-47E6-A6C8-686253D34652}"/>
    <pc:docChg chg="undo custSel addSld modSld">
      <pc:chgData name="Dieter Beaven" userId="9bbdb69f-69d0-4759-aa9b-5c090a2da237" providerId="ADAL" clId="{B47B330E-67D7-47E6-A6C8-686253D34652}" dt="2026-02-02T13:39:03.751" v="21" actId="1076"/>
      <pc:docMkLst>
        <pc:docMk/>
      </pc:docMkLst>
      <pc:sldChg chg="addSp delSp modSp mod">
        <pc:chgData name="Dieter Beaven" userId="9bbdb69f-69d0-4759-aa9b-5c090a2da237" providerId="ADAL" clId="{B47B330E-67D7-47E6-A6C8-686253D34652}" dt="2026-02-02T13:37:19.119" v="7" actId="1076"/>
        <pc:sldMkLst>
          <pc:docMk/>
          <pc:sldMk cId="3896053727" sldId="543"/>
        </pc:sldMkLst>
        <pc:picChg chg="add del mod">
          <ac:chgData name="Dieter Beaven" userId="9bbdb69f-69d0-4759-aa9b-5c090a2da237" providerId="ADAL" clId="{B47B330E-67D7-47E6-A6C8-686253D34652}" dt="2026-02-02T13:36:54.371" v="3" actId="22"/>
          <ac:picMkLst>
            <pc:docMk/>
            <pc:sldMk cId="3896053727" sldId="543"/>
            <ac:picMk id="6" creationId="{04116173-3596-3DB7-56D3-06AF9EF63EC4}"/>
          </ac:picMkLst>
        </pc:picChg>
        <pc:picChg chg="add mod">
          <ac:chgData name="Dieter Beaven" userId="9bbdb69f-69d0-4759-aa9b-5c090a2da237" providerId="ADAL" clId="{B47B330E-67D7-47E6-A6C8-686253D34652}" dt="2026-02-02T13:37:19.119" v="7" actId="1076"/>
          <ac:picMkLst>
            <pc:docMk/>
            <pc:sldMk cId="3896053727" sldId="543"/>
            <ac:picMk id="8" creationId="{6F3BA926-85BF-7A51-8A3A-21BBF224990E}"/>
          </ac:picMkLst>
        </pc:picChg>
      </pc:sldChg>
      <pc:sldChg chg="addSp modSp mod">
        <pc:chgData name="Dieter Beaven" userId="9bbdb69f-69d0-4759-aa9b-5c090a2da237" providerId="ADAL" clId="{B47B330E-67D7-47E6-A6C8-686253D34652}" dt="2026-02-02T13:37:59.426" v="13" actId="1076"/>
        <pc:sldMkLst>
          <pc:docMk/>
          <pc:sldMk cId="4091202299" sldId="550"/>
        </pc:sldMkLst>
        <pc:picChg chg="add mod">
          <ac:chgData name="Dieter Beaven" userId="9bbdb69f-69d0-4759-aa9b-5c090a2da237" providerId="ADAL" clId="{B47B330E-67D7-47E6-A6C8-686253D34652}" dt="2026-02-02T13:37:59.426" v="13" actId="1076"/>
          <ac:picMkLst>
            <pc:docMk/>
            <pc:sldMk cId="4091202299" sldId="550"/>
            <ac:picMk id="6" creationId="{A6C69980-A9C8-61C9-454B-16E86B2DF10B}"/>
          </ac:picMkLst>
        </pc:picChg>
      </pc:sldChg>
      <pc:sldChg chg="addSp modSp mod">
        <pc:chgData name="Dieter Beaven" userId="9bbdb69f-69d0-4759-aa9b-5c090a2da237" providerId="ADAL" clId="{B47B330E-67D7-47E6-A6C8-686253D34652}" dt="2026-02-02T13:39:03.751" v="21" actId="1076"/>
        <pc:sldMkLst>
          <pc:docMk/>
          <pc:sldMk cId="3826585799" sldId="551"/>
        </pc:sldMkLst>
        <pc:picChg chg="add mod">
          <ac:chgData name="Dieter Beaven" userId="9bbdb69f-69d0-4759-aa9b-5c090a2da237" providerId="ADAL" clId="{B47B330E-67D7-47E6-A6C8-686253D34652}" dt="2026-02-02T13:39:03.751" v="21" actId="1076"/>
          <ac:picMkLst>
            <pc:docMk/>
            <pc:sldMk cId="3826585799" sldId="551"/>
            <ac:picMk id="6" creationId="{F8D97048-3799-A270-106E-4AD5690A0444}"/>
          </ac:picMkLst>
        </pc:picChg>
      </pc:sldChg>
      <pc:sldChg chg="addSp modSp add mod">
        <pc:chgData name="Dieter Beaven" userId="9bbdb69f-69d0-4759-aa9b-5c090a2da237" providerId="ADAL" clId="{B47B330E-67D7-47E6-A6C8-686253D34652}" dt="2026-02-02T13:38:28.460" v="17" actId="1076"/>
        <pc:sldMkLst>
          <pc:docMk/>
          <pc:sldMk cId="148057796" sldId="559"/>
        </pc:sldMkLst>
        <pc:picChg chg="add mod">
          <ac:chgData name="Dieter Beaven" userId="9bbdb69f-69d0-4759-aa9b-5c090a2da237" providerId="ADAL" clId="{B47B330E-67D7-47E6-A6C8-686253D34652}" dt="2026-02-02T13:38:28.460" v="17" actId="1076"/>
          <ac:picMkLst>
            <pc:docMk/>
            <pc:sldMk cId="148057796" sldId="559"/>
            <ac:picMk id="6" creationId="{9302031C-74F4-D74F-4147-457E8A9EE4D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0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1.png"/><Relationship Id="rId4" Type="http://schemas.openxmlformats.org/officeDocument/2006/relationships/image" Target="../media/image14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15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1.png"/><Relationship Id="rId4" Type="http://schemas.openxmlformats.org/officeDocument/2006/relationships/image" Target="../media/image15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496" y="2130425"/>
            <a:ext cx="9073008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7: </a:t>
            </a:r>
            <a:r>
              <a:rPr lang="en-GB" dirty="0">
                <a:solidFill>
                  <a:schemeClr val="accent5"/>
                </a:solidFill>
              </a:rPr>
              <a:t>Trigonometric Equations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Adding Sine and Cosine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84775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latin typeface="Cambria Math"/>
                          </a:rPr>
                          <m:t>𝑎</m:t>
                        </m:r>
                        <m:func>
                          <m:funcPr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3200" b="0" i="0" smtClean="0">
                                <a:latin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en-GB" sz="3200" b="0" i="1" smtClean="0">
                                <a:latin typeface="Cambria Math"/>
                              </a:rPr>
                              <m:t>𝜃</m:t>
                            </m:r>
                          </m:e>
                        </m:func>
                        <m:r>
                          <a:rPr lang="en-GB" sz="3200" b="0" i="1" smtClean="0">
                            <a:latin typeface="Cambria Math"/>
                          </a:rPr>
                          <m:t>+</m:t>
                        </m:r>
                        <m:r>
                          <a:rPr lang="en-GB" sz="3200" b="0" i="1" smtClean="0">
                            <a:latin typeface="Cambria Math"/>
                          </a:rPr>
                          <m:t>𝑏</m:t>
                        </m:r>
                        <m:func>
                          <m:funcPr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3200" b="0" i="0" smtClean="0">
                                <a:latin typeface="Cambria Math"/>
                              </a:rPr>
                              <m:t>cos</m:t>
                            </m:r>
                          </m:fName>
                          <m:e>
                            <m:r>
                              <a:rPr lang="en-GB" sz="3200" b="0" i="1" smtClean="0">
                                <a:latin typeface="Cambria Math"/>
                              </a:rPr>
                              <m:t>𝜃</m:t>
                            </m:r>
                          </m:e>
                        </m:func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84775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3528" y="764704"/>
                <a:ext cx="48245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Here’s a sketch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𝑦</m:t>
                    </m:r>
                    <m:r>
                      <a:rPr lang="en-GB" b="0" i="1" smtClean="0">
                        <a:latin typeface="Cambria Math"/>
                      </a:rPr>
                      <m:t>=3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</m:func>
                    <m:r>
                      <a:rPr lang="en-GB" b="0" i="1" smtClean="0">
                        <a:latin typeface="Cambria Math"/>
                      </a:rPr>
                      <m:t>+4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What do you notice?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764704"/>
                <a:ext cx="4824536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1011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988840"/>
            <a:ext cx="4824536" cy="3140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31431" y="5445224"/>
                <a:ext cx="828092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It’s a sin graph that seems to be translated on the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/>
                      </a:rPr>
                      <m:t>𝒙</m:t>
                    </m:r>
                  </m:oMath>
                </a14:m>
                <a:r>
                  <a:rPr lang="en-GB" b="1" dirty="0"/>
                  <a:t>-axis and stretched on the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/>
                      </a:rPr>
                      <m:t>𝒚</m:t>
                    </m:r>
                  </m:oMath>
                </a14:m>
                <a:r>
                  <a:rPr lang="en-GB" b="1" dirty="0"/>
                  <a:t> axis. </a:t>
                </a:r>
              </a:p>
              <a:p>
                <a:r>
                  <a:rPr lang="en-GB" b="1" dirty="0"/>
                  <a:t>This suggests we can represent it as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/>
                      </a:rPr>
                      <m:t>𝑹</m:t>
                    </m:r>
                    <m:r>
                      <a:rPr lang="en-GB" b="1" i="1" smtClean="0">
                        <a:latin typeface="Cambria Math"/>
                      </a:rPr>
                      <m:t> </m:t>
                    </m:r>
                    <m:r>
                      <a:rPr lang="en-GB" b="1" i="0" smtClean="0">
                        <a:latin typeface="Cambria Math"/>
                      </a:rPr>
                      <m:t>𝐬𝐢𝐧</m:t>
                    </m:r>
                    <m:r>
                      <a:rPr lang="en-GB" b="1" i="1" smtClean="0">
                        <a:latin typeface="Cambria Math"/>
                      </a:rPr>
                      <m:t>⁡(</m:t>
                    </m:r>
                    <m:r>
                      <a:rPr lang="en-GB" b="1" i="1" smtClean="0">
                        <a:latin typeface="Cambria Math"/>
                      </a:rPr>
                      <m:t>𝒙</m:t>
                    </m:r>
                    <m:r>
                      <a:rPr lang="en-GB" b="1" i="1" smtClean="0">
                        <a:latin typeface="Cambria Math"/>
                      </a:rPr>
                      <m:t>+</m:t>
                    </m:r>
                    <m:r>
                      <a:rPr lang="en-GB" b="1" i="1" smtClean="0">
                        <a:latin typeface="Cambria Math"/>
                      </a:rPr>
                      <m:t>𝜶</m:t>
                    </m:r>
                    <m:r>
                      <a:rPr lang="en-GB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GB" b="1" dirty="0"/>
                  <a:t>, where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GB" b="1" dirty="0"/>
                  <a:t> is the horizontal translation and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GB" b="1" dirty="0"/>
                  <a:t> the stretch on the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b="1" dirty="0"/>
                  <a:t>-axis.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31" y="5445224"/>
                <a:ext cx="8280920" cy="923330"/>
              </a:xfrm>
              <a:prstGeom prst="rect">
                <a:avLst/>
              </a:prstGeom>
              <a:blipFill>
                <a:blip r:embed="rId5"/>
                <a:stretch>
                  <a:fillRect l="-663" t="-3289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467543" y="5367032"/>
            <a:ext cx="8244807" cy="107971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57073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84775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3200" b="0" i="1" smtClean="0">
                            <a:latin typeface="Cambria Math"/>
                          </a:rPr>
                          <m:t>𝑎</m:t>
                        </m:r>
                        <m:func>
                          <m:funcPr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3200" b="0" i="0" smtClean="0">
                                <a:latin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en-GB" sz="3200" b="0" i="1" smtClean="0">
                                <a:latin typeface="Cambria Math"/>
                              </a:rPr>
                              <m:t>𝜃</m:t>
                            </m:r>
                          </m:e>
                        </m:func>
                        <m:r>
                          <a:rPr lang="en-GB" sz="3200" b="0" i="1" smtClean="0">
                            <a:latin typeface="Cambria Math"/>
                          </a:rPr>
                          <m:t>+</m:t>
                        </m:r>
                        <m:r>
                          <a:rPr lang="en-GB" sz="3200" b="0" i="1" smtClean="0">
                            <a:latin typeface="Cambria Math"/>
                          </a:rPr>
                          <m:t>𝑏</m:t>
                        </m:r>
                        <m:func>
                          <m:funcPr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32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sz="3200" b="0" i="1" smtClean="0">
                                <a:latin typeface="Cambria Math"/>
                              </a:rPr>
                              <m:t>𝜃</m:t>
                            </m:r>
                          </m:e>
                        </m:func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55576" y="764704"/>
                <a:ext cx="7488832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Put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3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</m:func>
                    <m:r>
                      <a:rPr lang="en-GB" b="0" i="1" smtClean="0">
                        <a:latin typeface="Cambria Math"/>
                      </a:rPr>
                      <m:t>+4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𝑅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GB" b="0" i="1" smtClean="0">
                                <a:latin typeface="Cambria Math"/>
                              </a:rPr>
                              <m:t>𝛼</m:t>
                            </m:r>
                          </m:e>
                        </m:d>
                      </m:e>
                    </m:func>
                  </m:oMath>
                </a14:m>
                <a:r>
                  <a:rPr lang="en-GB" dirty="0"/>
                  <a:t> giving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𝛼</m:t>
                    </m:r>
                  </m:oMath>
                </a14:m>
                <a:r>
                  <a:rPr lang="en-GB" dirty="0"/>
                  <a:t> in degrees to 1dp.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764704"/>
                <a:ext cx="7488832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19129" y="764704"/>
            <a:ext cx="390674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6216" y="1412776"/>
            <a:ext cx="2160240" cy="18158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b="1" dirty="0" err="1"/>
              <a:t>Fro</a:t>
            </a:r>
            <a:r>
              <a:rPr lang="en-GB" sz="1400" b="1" dirty="0"/>
              <a:t> Tip</a:t>
            </a:r>
            <a:r>
              <a:rPr lang="en-GB" sz="1400" dirty="0"/>
              <a:t>: I recommend you follow this procedure every time – I’ve tutored students who’ve been taught a ‘shortcut’ (usually skipping Step 1), and they more often than not make a mistake.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09090" y="1268760"/>
                <a:ext cx="5497694" cy="4681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latin typeface="+mj-lt"/>
                  </a:rPr>
                  <a:t>STEP 1</a:t>
                </a:r>
                <a:r>
                  <a:rPr lang="en-GB" b="0" dirty="0">
                    <a:latin typeface="+mj-lt"/>
                  </a:rPr>
                  <a:t>: Expanding: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𝑅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𝛼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r>
                        <a:rPr lang="en-GB" b="0" i="1" smtClean="0">
                          <a:latin typeface="Cambria Math"/>
                        </a:rPr>
                        <m:t>𝑅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𝛼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r>
                        <a:rPr lang="en-GB" b="0" i="1" smtClean="0">
                          <a:latin typeface="Cambria Math"/>
                        </a:rPr>
                        <m:t>𝑅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b="1" dirty="0"/>
                  <a:t>STEP 2</a:t>
                </a:r>
                <a:r>
                  <a:rPr lang="en-GB" dirty="0"/>
                  <a:t>: Comparing coefficients: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𝑅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𝛼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=3         </m:t>
                      </m:r>
                      <m:r>
                        <a:rPr lang="en-GB" b="0" i="1" smtClean="0">
                          <a:latin typeface="Cambria Math"/>
                        </a:rPr>
                        <m:t>𝑅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𝛼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b="1" dirty="0"/>
                  <a:t>STEP 3</a:t>
                </a:r>
                <a:r>
                  <a:rPr lang="en-GB" dirty="0"/>
                  <a:t>: Using the fact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/>
                              </a:rPr>
                              <m:t>sin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/>
                          </a:rPr>
                          <m:t>𝛼</m:t>
                        </m:r>
                      </m:e>
                    </m:func>
                    <m:r>
                      <a:rPr lang="en-GB" b="0" i="1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/>
                              </a:rPr>
                              <m:t>cos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/>
                          </a:rPr>
                          <m:t>𝛼</m:t>
                        </m:r>
                      </m:e>
                    </m:func>
                    <m:r>
                      <a:rPr lang="en-GB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𝑅</m:t>
                      </m:r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GB" b="0" i="1" smtClean="0"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b="1" dirty="0"/>
                  <a:t>STEP 4</a:t>
                </a:r>
                <a:r>
                  <a:rPr lang="en-GB" dirty="0"/>
                  <a:t>: Using the fact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/>
                          </a:rPr>
                          <m:t>𝑅</m:t>
                        </m:r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𝛼</m:t>
                            </m:r>
                          </m:e>
                        </m:func>
                      </m:num>
                      <m:den>
                        <m:r>
                          <a:rPr lang="en-GB" b="0" i="1" smtClean="0">
                            <a:latin typeface="Cambria Math"/>
                          </a:rPr>
                          <m:t>𝑅</m:t>
                        </m:r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/>
                              </a:rPr>
                              <m:t>cos</m:t>
                            </m:r>
                          </m:fName>
                          <m:e>
                            <m:r>
                              <a:rPr lang="en-GB" b="0" i="1" smtClean="0">
                                <a:latin typeface="Cambria Math"/>
                              </a:rPr>
                              <m:t>𝛼</m:t>
                            </m:r>
                          </m:e>
                        </m:func>
                      </m:den>
                    </m:f>
                    <m:r>
                      <a:rPr lang="en-GB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/>
                          </a:rPr>
                          <m:t>tan</m:t>
                        </m:r>
                      </m:fName>
                      <m:e>
                        <m:r>
                          <a:rPr lang="en-GB" b="0" i="1" smtClean="0">
                            <a:latin typeface="Cambria Math"/>
                          </a:rPr>
                          <m:t>𝛼</m:t>
                        </m:r>
                      </m:e>
                    </m:func>
                  </m:oMath>
                </a14:m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𝛼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𝛼</m:t>
                      </m:r>
                      <m:r>
                        <a:rPr lang="en-GB" b="0" i="1" smtClean="0">
                          <a:latin typeface="Cambria Math"/>
                        </a:rPr>
                        <m:t>=53.1°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b="1" dirty="0"/>
                  <a:t>STEP 5</a:t>
                </a:r>
                <a:r>
                  <a:rPr lang="en-GB" dirty="0"/>
                  <a:t>: Put values back into original expression.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3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+4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≡5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+53.1°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90" y="1268760"/>
                <a:ext cx="5497694" cy="4681731"/>
              </a:xfrm>
              <a:prstGeom prst="rect">
                <a:avLst/>
              </a:prstGeom>
              <a:blipFill rotWithShape="1">
                <a:blip r:embed="rId4"/>
                <a:stretch>
                  <a:fillRect l="-887" t="-6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1331640" y="1556792"/>
            <a:ext cx="4680520" cy="4320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1640" y="2420888"/>
            <a:ext cx="4680520" cy="4320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1640" y="3212976"/>
            <a:ext cx="4680520" cy="4320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31640" y="4276436"/>
            <a:ext cx="4680520" cy="7367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1640" y="5589240"/>
            <a:ext cx="4680520" cy="4320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039A4B-D1C1-4358-BD0D-9E9D11254A88}"/>
                  </a:ext>
                </a:extLst>
              </p:cNvPr>
              <p:cNvSpPr txBox="1"/>
              <p:nvPr/>
            </p:nvSpPr>
            <p:spPr>
              <a:xfrm>
                <a:off x="6516216" y="3548549"/>
                <a:ext cx="2160240" cy="165628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100" dirty="0"/>
                  <a:t>If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𝑅</m:t>
                    </m:r>
                    <m:func>
                      <m:func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1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=3</m:t>
                        </m:r>
                      </m:e>
                    </m:func>
                  </m:oMath>
                </a14:m>
                <a:r>
                  <a:rPr lang="en-GB" sz="1100" dirty="0"/>
                  <a:t> and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𝑅</m:t>
                    </m:r>
                    <m:func>
                      <m:func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1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=4</m:t>
                        </m:r>
                      </m:e>
                    </m:func>
                  </m:oMath>
                </a14:m>
                <a:r>
                  <a:rPr lang="en-GB" sz="1100" dirty="0"/>
                  <a:t>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1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func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1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1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GB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1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GB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</m:oMath>
                </a14:m>
                <a:r>
                  <a:rPr lang="en-GB" sz="1100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1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1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1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1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</m:e>
                      </m:d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GB" sz="1100" dirty="0"/>
              </a:p>
              <a:p>
                <a:r>
                  <a:rPr lang="en-GB" sz="1100" dirty="0"/>
                  <a:t>(You can write just the last line in exams)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039A4B-D1C1-4358-BD0D-9E9D11254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216" y="3548549"/>
                <a:ext cx="2160240" cy="1656287"/>
              </a:xfrm>
              <a:prstGeom prst="rect">
                <a:avLst/>
              </a:prstGeom>
              <a:blipFill>
                <a:blip r:embed="rId5"/>
                <a:stretch>
                  <a:fillRect b="-7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4049D73-455F-461D-B5EA-FBFA86AACF94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6084168" y="3140970"/>
            <a:ext cx="432048" cy="1235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310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47612" y="780093"/>
                <a:ext cx="6028644" cy="33855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Put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a:rPr lang="en-GB" sz="1600" b="0" i="1" smtClean="0">
                            <a:latin typeface="Cambria Math"/>
                          </a:rPr>
                          <m:t>𝑥</m:t>
                        </m:r>
                      </m:e>
                    </m:func>
                    <m:r>
                      <a:rPr lang="en-GB" sz="1600" b="0" i="1" smtClean="0">
                        <a:latin typeface="Cambria Math"/>
                      </a:rPr>
                      <m:t>+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sz="1600" b="0" i="1" smtClean="0">
                            <a:latin typeface="Cambria Math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1600" dirty="0"/>
                  <a:t> in the form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/>
                      </a:rPr>
                      <m:t>𝑅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en-GB" sz="1600" b="0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GB" sz="1600" b="0" i="1" smtClean="0">
                                <a:latin typeface="Cambria Math"/>
                              </a:rPr>
                              <m:t>𝛼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1600" dirty="0"/>
                  <a:t> giving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/>
                      </a:rPr>
                      <m:t>𝛼</m:t>
                    </m:r>
                  </m:oMath>
                </a14:m>
                <a:r>
                  <a:rPr lang="en-GB" sz="1600" dirty="0"/>
                  <a:t> in terms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/>
                      </a:rPr>
                      <m:t>𝜋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12" y="780093"/>
                <a:ext cx="6028644" cy="338554"/>
              </a:xfrm>
              <a:prstGeom prst="rect">
                <a:avLst/>
              </a:prstGeom>
              <a:blipFill rotWithShape="1">
                <a:blip r:embed="rId2"/>
                <a:stretch>
                  <a:fillRect b="-128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56938" y="780093"/>
            <a:ext cx="390674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56234" y="1268760"/>
                <a:ext cx="5497694" cy="2207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𝑅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𝛼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≡</m:t>
                      </m:r>
                      <m:r>
                        <a:rPr lang="en-GB" b="0" i="1" smtClean="0">
                          <a:latin typeface="Cambria Math"/>
                        </a:rPr>
                        <m:t>𝑅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𝛼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r>
                        <a:rPr lang="en-GB" b="0" i="1" smtClean="0">
                          <a:latin typeface="Cambria Math"/>
                        </a:rPr>
                        <m:t>𝑅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𝑅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𝛼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=1         </m:t>
                      </m:r>
                      <m:r>
                        <a:rPr lang="en-GB" b="0" i="1" smtClean="0">
                          <a:latin typeface="Cambria Math"/>
                        </a:rPr>
                        <m:t>𝑅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𝛼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𝑅</m:t>
                      </m:r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𝛼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𝛼</m:t>
                      </m:r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𝜋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≡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e>
                      </m:rad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234" y="1268760"/>
                <a:ext cx="5497694" cy="22077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82752" y="3717032"/>
                <a:ext cx="5993504" cy="36176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Put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a:rPr lang="en-GB" sz="1600" b="0" i="1" smtClean="0">
                            <a:latin typeface="Cambria Math"/>
                          </a:rPr>
                          <m:t>𝑥</m:t>
                        </m:r>
                      </m:e>
                    </m:func>
                    <m:r>
                      <a:rPr lang="en-GB" sz="1600" b="0" i="1" smtClean="0">
                        <a:latin typeface="Cambria Math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600" b="0" i="1" smtClean="0">
                            <a:latin typeface="Cambria Math"/>
                          </a:rPr>
                          <m:t>3</m:t>
                        </m:r>
                      </m:e>
                    </m:rad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sz="1600" b="0" i="1" smtClean="0">
                            <a:latin typeface="Cambria Math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1600" dirty="0"/>
                  <a:t> in the form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/>
                      </a:rPr>
                      <m:t>𝑅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en-GB" sz="1600" b="0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GB" sz="1600" b="0" i="1" smtClean="0">
                                <a:latin typeface="Cambria Math"/>
                              </a:rPr>
                              <m:t>𝛼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1600" dirty="0"/>
                  <a:t> giving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/>
                      </a:rPr>
                      <m:t>𝛼</m:t>
                    </m:r>
                  </m:oMath>
                </a14:m>
                <a:r>
                  <a:rPr lang="en-GB" sz="1600" dirty="0"/>
                  <a:t> in terms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/>
                      </a:rPr>
                      <m:t>𝜋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752" y="3717032"/>
                <a:ext cx="5993504" cy="361766"/>
              </a:xfrm>
              <a:prstGeom prst="rect">
                <a:avLst/>
              </a:prstGeom>
              <a:blipFill rotWithShape="1">
                <a:blip r:embed="rId4"/>
                <a:stretch>
                  <a:fillRect b="-1205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492078" y="3717032"/>
            <a:ext cx="390674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83616" y="4224714"/>
                <a:ext cx="5497694" cy="1900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𝑅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𝛼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≡</m:t>
                      </m:r>
                      <m:r>
                        <a:rPr lang="en-GB" b="0" i="1" smtClean="0">
                          <a:latin typeface="Cambria Math"/>
                        </a:rPr>
                        <m:t>𝑅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𝛼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−</m:t>
                      </m:r>
                      <m:r>
                        <a:rPr lang="en-GB" b="0" i="1" smtClean="0">
                          <a:latin typeface="Cambria Math"/>
                        </a:rPr>
                        <m:t>𝑅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func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𝑅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𝛼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=1         </m:t>
                      </m:r>
                      <m:r>
                        <a:rPr lang="en-GB" b="0" i="1" smtClean="0">
                          <a:latin typeface="Cambria Math"/>
                        </a:rPr>
                        <m:t>𝑅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𝛼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e>
                      </m:ra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𝑅</m:t>
                      </m:r>
                      <m:r>
                        <a:rPr lang="en-GB" b="0" i="1" smtClean="0"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tan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𝛼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e>
                      </m:rad>
                      <m:r>
                        <a:rPr lang="en-GB" b="0" i="1" smtClean="0">
                          <a:latin typeface="Cambria Math"/>
                        </a:rPr>
                        <m:t>   </m:t>
                      </m:r>
                      <m:r>
                        <a:rPr lang="en-GB" b="0" i="1" smtClean="0">
                          <a:latin typeface="Cambria Math"/>
                        </a:rPr>
                        <m:t>𝑠𝑜</m:t>
                      </m:r>
                      <m:r>
                        <a:rPr lang="en-GB" b="0" i="1" smtClean="0">
                          <a:latin typeface="Cambria Math"/>
                        </a:rPr>
                        <m:t>  </m:t>
                      </m:r>
                      <m:r>
                        <a:rPr lang="en-GB" b="0" i="1" smtClean="0">
                          <a:latin typeface="Cambria Math"/>
                        </a:rPr>
                        <m:t>𝛼</m:t>
                      </m:r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𝜋</m:t>
                          </m:r>
                        </m:num>
                        <m:den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𝑠𝑖𝑛𝑥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≡2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616" y="4224714"/>
                <a:ext cx="5497694" cy="19008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883616" y="4086364"/>
            <a:ext cx="5992640" cy="211928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3616" y="1268760"/>
            <a:ext cx="5992640" cy="211928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8779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3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Further 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47612" y="780093"/>
                <a:ext cx="6028644" cy="58477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Put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/>
                      </a:rPr>
                      <m:t>2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sz="1600" b="0" i="1" smtClean="0">
                            <a:latin typeface="Cambria Math"/>
                          </a:rPr>
                          <m:t>𝜃</m:t>
                        </m:r>
                      </m:e>
                    </m:func>
                    <m:r>
                      <a:rPr lang="en-GB" sz="1600" b="0" i="1" smtClean="0">
                        <a:latin typeface="Cambria Math"/>
                      </a:rPr>
                      <m:t>+5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a:rPr lang="en-GB" sz="1600" b="0" i="1" smtClean="0">
                            <a:latin typeface="Cambria Math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sz="1600" dirty="0"/>
                  <a:t> in the form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/>
                      </a:rPr>
                      <m:t>𝑅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/>
                              </a:rPr>
                              <m:t>𝜃</m:t>
                            </m:r>
                            <m:r>
                              <a:rPr lang="en-GB" sz="1600" b="0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GB" sz="1600" b="0" i="1" smtClean="0">
                                <a:latin typeface="Cambria Math"/>
                              </a:rPr>
                              <m:t>𝛼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1600" dirty="0"/>
                  <a:t> where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/>
                      </a:rPr>
                      <m:t>0&lt;</m:t>
                    </m:r>
                    <m:r>
                      <a:rPr lang="en-GB" sz="1600" b="0" i="1" smtClean="0">
                        <a:latin typeface="Cambria Math"/>
                      </a:rPr>
                      <m:t>𝛼</m:t>
                    </m:r>
                    <m:r>
                      <a:rPr lang="en-GB" sz="1600" b="0" i="1" smtClean="0">
                        <a:latin typeface="Cambria Math"/>
                      </a:rPr>
                      <m:t>&lt;90°</m:t>
                    </m:r>
                  </m:oMath>
                </a14:m>
                <a:endParaRPr lang="en-GB" sz="1600" dirty="0"/>
              </a:p>
              <a:p>
                <a:r>
                  <a:rPr lang="en-GB" sz="1600" dirty="0"/>
                  <a:t>Hence solve, for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/>
                      </a:rPr>
                      <m:t>0&lt;</m:t>
                    </m:r>
                    <m:r>
                      <a:rPr lang="en-GB" sz="1600" b="0" i="1" smtClean="0">
                        <a:latin typeface="Cambria Math"/>
                      </a:rPr>
                      <m:t>𝜃</m:t>
                    </m:r>
                    <m:r>
                      <a:rPr lang="en-GB" sz="1600" b="0" i="1" smtClean="0">
                        <a:latin typeface="Cambria Math"/>
                      </a:rPr>
                      <m:t>&lt;360</m:t>
                    </m:r>
                  </m:oMath>
                </a14:m>
                <a:r>
                  <a:rPr lang="en-GB" sz="1600" dirty="0"/>
                  <a:t>, the equation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/>
                      </a:rPr>
                      <m:t>2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sz="1600" b="0" i="1" smtClean="0">
                            <a:latin typeface="Cambria Math"/>
                          </a:rPr>
                          <m:t>𝜃</m:t>
                        </m:r>
                      </m:e>
                    </m:func>
                    <m:r>
                      <a:rPr lang="en-GB" sz="1600" b="0" i="1" smtClean="0">
                        <a:latin typeface="Cambria Math"/>
                      </a:rPr>
                      <m:t>+5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a:rPr lang="en-GB" sz="1600" b="0" i="1" smtClean="0">
                            <a:latin typeface="Cambria Math"/>
                          </a:rPr>
                          <m:t>𝜃</m:t>
                        </m:r>
                      </m:e>
                    </m:func>
                    <m:r>
                      <a:rPr lang="en-GB" sz="1600" b="0" i="1" smtClean="0">
                        <a:latin typeface="Cambria Math"/>
                      </a:rPr>
                      <m:t>=3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12" y="780093"/>
                <a:ext cx="6028644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467544" y="780093"/>
            <a:ext cx="380068" cy="58477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619672" y="1412776"/>
                <a:ext cx="4824536" cy="21148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2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+5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≡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/>
                            </a:rPr>
                            <m:t>29</m:t>
                          </m:r>
                        </m:e>
                      </m:rad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𝜃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−68.2°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br>
                  <a:rPr lang="en-GB" b="0" dirty="0"/>
                </a:br>
                <a:r>
                  <a:rPr lang="en-GB" b="0" dirty="0"/>
                  <a:t>Therefore: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/>
                            </a:rPr>
                            <m:t>29</m:t>
                          </m:r>
                        </m:e>
                      </m:rad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𝜃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−68.2°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=3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𝜃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−68.2°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29</m:t>
                              </m:r>
                            </m:e>
                          </m:rad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𝜃</m:t>
                      </m:r>
                      <m:r>
                        <a:rPr lang="en-GB" b="0" i="1" smtClean="0">
                          <a:latin typeface="Cambria Math"/>
                        </a:rPr>
                        <m:t>−68.2°=−56.1…°, 56.1…°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𝜃</m:t>
                      </m:r>
                      <m:r>
                        <a:rPr lang="en-GB" b="0" i="1" smtClean="0">
                          <a:latin typeface="Cambria Math"/>
                        </a:rPr>
                        <m:t>=12.1°, 124.3°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1412776"/>
                <a:ext cx="4824536" cy="2114874"/>
              </a:xfrm>
              <a:prstGeom prst="rect">
                <a:avLst/>
              </a:prstGeom>
              <a:blipFill rotWithShape="1">
                <a:blip r:embed="rId3"/>
                <a:stretch>
                  <a:fillRect l="-11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47612" y="3789040"/>
                <a:ext cx="6748724" cy="58477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(Without using calculus), find the maximum value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/>
                      </a:rPr>
                      <m:t>12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sz="1600" b="0" i="1" smtClean="0">
                            <a:latin typeface="Cambria Math"/>
                          </a:rPr>
                          <m:t>𝜃</m:t>
                        </m:r>
                      </m:e>
                    </m:func>
                    <m:r>
                      <a:rPr lang="en-GB" sz="1600" b="0" i="1" smtClean="0">
                        <a:latin typeface="Cambria Math"/>
                      </a:rPr>
                      <m:t>+5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a:rPr lang="en-GB" sz="1600" b="0" i="1" smtClean="0">
                            <a:latin typeface="Cambria Math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sz="1600" dirty="0"/>
                  <a:t>, and give the smallest positive value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/>
                      </a:rPr>
                      <m:t>𝜃</m:t>
                    </m:r>
                  </m:oMath>
                </a14:m>
                <a:r>
                  <a:rPr lang="en-GB" sz="1600" dirty="0"/>
                  <a:t> at which it arises.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612" y="3789040"/>
                <a:ext cx="6748724" cy="584775"/>
              </a:xfrm>
              <a:prstGeom prst="rect">
                <a:avLst/>
              </a:prstGeom>
              <a:blipFill rotWithShape="1">
                <a:blip r:embed="rId4"/>
                <a:stretch>
                  <a:fillRect b="-84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467544" y="3789040"/>
            <a:ext cx="380068" cy="58477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971600" y="4509120"/>
                <a:ext cx="6192688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Use either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𝑅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/>
                          </a:rPr>
                          <m:t>(</m:t>
                        </m:r>
                        <m:r>
                          <a:rPr lang="en-GB" b="0" i="1" smtClean="0">
                            <a:latin typeface="Cambria Math"/>
                          </a:rPr>
                          <m:t>𝜃</m:t>
                        </m:r>
                        <m:r>
                          <a:rPr lang="en-GB" b="0" i="1" smtClean="0">
                            <a:latin typeface="Cambria Math"/>
                          </a:rPr>
                          <m:t>+</m:t>
                        </m:r>
                        <m:r>
                          <a:rPr lang="en-GB" b="0" i="1" smtClean="0">
                            <a:latin typeface="Cambria Math"/>
                          </a:rPr>
                          <m:t>𝛼</m:t>
                        </m:r>
                        <m:r>
                          <a:rPr lang="en-GB" b="0" i="1" smtClean="0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𝑅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b="0" i="1" smtClean="0">
                            <a:latin typeface="Cambria Math"/>
                          </a:rPr>
                          <m:t>(</m:t>
                        </m:r>
                        <m:r>
                          <a:rPr lang="en-GB" b="0" i="1" smtClean="0">
                            <a:latin typeface="Cambria Math"/>
                          </a:rPr>
                          <m:t>𝜃</m:t>
                        </m:r>
                        <m:r>
                          <a:rPr lang="en-GB" b="0" i="1" smtClean="0">
                            <a:latin typeface="Cambria Math"/>
                          </a:rPr>
                          <m:t>−</m:t>
                        </m:r>
                        <m:r>
                          <a:rPr lang="en-GB" b="0" i="1" smtClean="0">
                            <a:latin typeface="Cambria Math"/>
                          </a:rPr>
                          <m:t>𝛼</m:t>
                        </m:r>
                      </m:e>
                    </m:func>
                    <m:r>
                      <a:rPr lang="en-GB" b="0" i="1" smtClean="0">
                        <a:latin typeface="Cambria Math"/>
                      </a:rPr>
                      <m:t>) </m:t>
                    </m:r>
                  </m:oMath>
                </a14:m>
                <a:r>
                  <a:rPr lang="en-GB" dirty="0"/>
                  <a:t>before that way the + sign in the middle matches up.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≡13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/>
                                </a:rPr>
                                <m:t>𝜃</m:t>
                              </m:r>
                              <m:r>
                                <a:rPr lang="en-GB" b="0" i="1" smtClean="0">
                                  <a:latin typeface="Cambria Math"/>
                                </a:rPr>
                                <m:t>−22.6°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𝑐𝑜𝑠</m:t>
                    </m:r>
                  </m:oMath>
                </a14:m>
                <a:r>
                  <a:rPr lang="en-GB" dirty="0"/>
                  <a:t> is at most 1,thus the expression has value at most 13.</a:t>
                </a:r>
              </a:p>
              <a:p>
                <a:r>
                  <a:rPr lang="en-GB" dirty="0"/>
                  <a:t>This occurs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𝜃</m:t>
                    </m:r>
                    <m:r>
                      <a:rPr lang="en-GB" b="0" i="1" smtClean="0">
                        <a:latin typeface="Cambria Math"/>
                      </a:rPr>
                      <m:t>−22.6=0</m:t>
                    </m:r>
                  </m:oMath>
                </a14:m>
                <a:r>
                  <a:rPr lang="en-GB" dirty="0"/>
                  <a:t> (as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GB" b="0" i="1" smtClean="0">
                            <a:latin typeface="Cambria Math"/>
                          </a:rPr>
                          <m:t>0</m:t>
                        </m:r>
                      </m:e>
                    </m:func>
                    <m:r>
                      <a:rPr lang="en-GB" b="0" i="1" smtClean="0">
                        <a:latin typeface="Cambria Math"/>
                      </a:rPr>
                      <m:t>=1</m:t>
                    </m:r>
                  </m:oMath>
                </a14:m>
                <a:r>
                  <a:rPr lang="en-GB" dirty="0"/>
                  <a:t>) thus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𝜃</m:t>
                    </m:r>
                    <m:r>
                      <a:rPr lang="en-GB" b="0" i="1" smtClean="0">
                        <a:latin typeface="Cambria Math"/>
                      </a:rPr>
                      <m:t>=22.6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4509120"/>
                <a:ext cx="6192688" cy="1754326"/>
              </a:xfrm>
              <a:prstGeom prst="rect">
                <a:avLst/>
              </a:prstGeom>
              <a:blipFill>
                <a:blip r:embed="rId5"/>
                <a:stretch>
                  <a:fillRect l="-787" t="-2091" b="-48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839922" y="4373815"/>
            <a:ext cx="6748724" cy="211928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7612" y="1364868"/>
            <a:ext cx="6748724" cy="211928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972" y="3273362"/>
            <a:ext cx="1944216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b="1" dirty="0" err="1"/>
              <a:t>Fro</a:t>
            </a:r>
            <a:r>
              <a:rPr lang="en-GB" sz="1600" b="1" dirty="0"/>
              <a:t> Tip</a:t>
            </a:r>
            <a:r>
              <a:rPr lang="en-GB" sz="1600" dirty="0"/>
              <a:t>: This is an exam favourite!</a:t>
            </a:r>
          </a:p>
        </p:txBody>
      </p:sp>
      <p:cxnSp>
        <p:nvCxnSpPr>
          <p:cNvPr id="7" name="Straight Arrow Connector 6"/>
          <p:cNvCxnSpPr>
            <a:stCxn id="12" idx="2"/>
          </p:cNvCxnSpPr>
          <p:nvPr/>
        </p:nvCxnSpPr>
        <p:spPr>
          <a:xfrm flipH="1">
            <a:off x="7740352" y="3858137"/>
            <a:ext cx="391728" cy="2232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265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 err="1"/>
                <a:t>Quickfire</a:t>
              </a:r>
              <a:r>
                <a:rPr lang="en-GB" sz="3200" dirty="0"/>
                <a:t> Maxima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95536" y="908720"/>
                <a:ext cx="75608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What is the maximum value of the expression and determine the smallest positive value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𝜃</m:t>
                    </m:r>
                  </m:oMath>
                </a14:m>
                <a:r>
                  <a:rPr lang="en-GB" dirty="0"/>
                  <a:t> (in degrees) at which it occurs.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908720"/>
                <a:ext cx="7560840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726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1403648" y="1916832"/>
              <a:ext cx="6096000" cy="2129028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Expression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Maximum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(Smallest) </a:t>
                          </a:r>
                          <a14:m>
                            <m:oMath xmlns:m="http://schemas.openxmlformats.org/officeDocument/2006/math">
                              <m:r>
                                <a:rPr lang="en-GB" smtClean="0">
                                  <a:latin typeface="Cambria Math"/>
                                </a:rPr>
                                <m:t>𝜽</m:t>
                              </m:r>
                            </m:oMath>
                          </a14:m>
                          <a:r>
                            <a:rPr lang="en-GB" dirty="0"/>
                            <a:t> at max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/>
                                  </a:rPr>
                                  <m:t>20</m:t>
                                </m:r>
                                <m:func>
                                  <m:func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smtClean="0">
                                        <a:latin typeface="Cambria Math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/>
                                  </a:rPr>
                                  <m:t>90°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/>
                                  </a:rPr>
                                  <m:t>5−10</m:t>
                                </m:r>
                                <m:func>
                                  <m:func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smtClean="0">
                                        <a:latin typeface="Cambria Math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𝜃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/>
                                  </a:rPr>
                                  <m:t>270°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/>
                                  </a:rPr>
                                  <m:t>3</m:t>
                                </m:r>
                                <m:func>
                                  <m:func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smtClean="0">
                                        <a:latin typeface="Cambria Math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GB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smtClean="0">
                                            <a:latin typeface="Cambria Math"/>
                                          </a:rPr>
                                          <m:t>𝜃</m:t>
                                        </m:r>
                                        <m:r>
                                          <a:rPr lang="en-GB" smtClean="0">
                                            <a:latin typeface="Cambria Math"/>
                                          </a:rPr>
                                          <m:t>+20°</m:t>
                                        </m:r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/>
                                  </a:rPr>
                                  <m:t>340°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10+3</m:t>
                                    </m:r>
                                    <m:func>
                                      <m:funcPr>
                                        <m:ctrlPr>
                                          <a:rPr lang="en-GB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GB" smtClean="0">
                                            <a:latin typeface="Cambria Math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GB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GB" smtClean="0">
                                                <a:latin typeface="Cambria Math"/>
                                              </a:rPr>
                                              <m:t>𝜃</m:t>
                                            </m:r>
                                            <m:r>
                                              <a:rPr lang="en-GB" smtClean="0">
                                                <a:latin typeface="Cambria Math"/>
                                              </a:rPr>
                                              <m:t>−30</m:t>
                                            </m:r>
                                          </m:e>
                                        </m:d>
                                      </m:e>
                                    </m:func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mtClean="0">
                                    <a:latin typeface="Cambria Math"/>
                                  </a:rPr>
                                  <m:t>300°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9555619"/>
                  </p:ext>
                </p:extLst>
              </p:nvPr>
            </p:nvGraphicFramePr>
            <p:xfrm>
              <a:off x="1403648" y="1916832"/>
              <a:ext cx="6096000" cy="2129028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32000"/>
                    <a:gridCol w="2032000"/>
                    <a:gridCol w="203200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 smtClean="0"/>
                            <a:t>Expression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 smtClean="0"/>
                            <a:t>Maximum</a:t>
                          </a: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300" t="-8197" r="-300" b="-47377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t="-108197" r="-200601" b="-373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701" t="-108197" r="-100000" b="-373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300" t="-108197" r="-300" b="-37377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t="-208197" r="-200601" b="-273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701" t="-208197" r="-100000" b="-273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300" t="-208197" r="-300" b="-27377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t="-308197" r="-200601" b="-173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701" t="-308197" r="-100000" b="-173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300" t="-308197" r="-300" b="-173770"/>
                          </a:stretch>
                        </a:blipFill>
                      </a:tcPr>
                    </a:tc>
                  </a:tr>
                  <a:tr h="6456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t="-234906" r="-2006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701" t="-234906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300" t="-234906" r="-3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Rectangle 6"/>
          <p:cNvSpPr/>
          <p:nvPr/>
        </p:nvSpPr>
        <p:spPr>
          <a:xfrm>
            <a:off x="3419871" y="2272144"/>
            <a:ext cx="2038819" cy="3582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8" name="Rectangle 7"/>
          <p:cNvSpPr/>
          <p:nvPr/>
        </p:nvSpPr>
        <p:spPr>
          <a:xfrm>
            <a:off x="5458690" y="2272144"/>
            <a:ext cx="2038819" cy="3582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3419871" y="2630369"/>
            <a:ext cx="2038819" cy="4083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58690" y="2630369"/>
            <a:ext cx="2038819" cy="4083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9871" y="3038765"/>
            <a:ext cx="2038819" cy="3694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8690" y="3038765"/>
            <a:ext cx="2038819" cy="3694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71" y="3408218"/>
            <a:ext cx="2038819" cy="6095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58690" y="3408218"/>
            <a:ext cx="2038819" cy="6095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07556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0B57BC9-5111-40DB-9C17-A114D734B02B}"/>
              </a:ext>
            </a:extLst>
          </p:cNvPr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p:sp>
          <p:nvSpPr>
            <p:cNvPr id="7" name="TextBox 32">
              <a:extLst>
                <a:ext uri="{FF2B5EF4-FFF2-40B4-BE49-F238E27FC236}">
                  <a16:creationId xmlns:a16="http://schemas.microsoft.com/office/drawing/2014/main" id="{A0C9BE09-B8C3-4F86-B301-CF97337E3482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Further Test Your Understanding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661B8D2-9076-4D26-B99B-BF681AF3B90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9" name="Picture 4">
            <a:extLst>
              <a:ext uri="{FF2B5EF4-FFF2-40B4-BE49-F238E27FC236}">
                <a16:creationId xmlns:a16="http://schemas.microsoft.com/office/drawing/2014/main" id="{24212105-411E-4704-A164-85F0255DF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942" y="1278052"/>
            <a:ext cx="5848898" cy="261399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5D02E1-4EB7-4CC9-9BFF-8392D8F90F0D}"/>
              </a:ext>
            </a:extLst>
          </p:cNvPr>
          <p:cNvSpPr txBox="1"/>
          <p:nvPr/>
        </p:nvSpPr>
        <p:spPr>
          <a:xfrm>
            <a:off x="395536" y="908720"/>
            <a:ext cx="308933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C3 Jan 2013 Q4</a:t>
            </a:r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46ABE91C-D990-43E1-8294-F4F7A24F9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5341" y="3879905"/>
            <a:ext cx="3324371" cy="2946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B838F0A-9FD6-4D12-999F-F5BEA9E1AED1}"/>
              </a:ext>
            </a:extLst>
          </p:cNvPr>
          <p:cNvSpPr/>
          <p:nvPr/>
        </p:nvSpPr>
        <p:spPr>
          <a:xfrm>
            <a:off x="5805376" y="3880884"/>
            <a:ext cx="3346343" cy="29593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6042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7.5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 52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 descr="A math problem with numbers and equations&#10;&#10;AI-generated content may be incorrect.">
            <a:extLst>
              <a:ext uri="{FF2B5EF4-FFF2-40B4-BE49-F238E27FC236}">
                <a16:creationId xmlns:a16="http://schemas.microsoft.com/office/drawing/2014/main" id="{6F3BA926-85BF-7A51-8A3A-21BBF2249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90" y="986576"/>
            <a:ext cx="783907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A6C69980-A9C8-61C9-454B-16E86B2DF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90" y="980728"/>
            <a:ext cx="7686675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64E3A-4621-CD01-BD76-08D382D66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4973C16-7AC9-F762-74E3-A2CC3401853A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8D540F9E-74F0-A78E-94BF-A10EC353ADB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A3AA61E-96E7-DF0C-6DEC-96D61D21800F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9302031C-74F4-D74F-4147-457E8A9EE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40" y="1052736"/>
            <a:ext cx="7724775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57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numbers and equations&#10;&#10;AI-generated content may be incorrect.">
            <a:extLst>
              <a:ext uri="{FF2B5EF4-FFF2-40B4-BE49-F238E27FC236}">
                <a16:creationId xmlns:a16="http://schemas.microsoft.com/office/drawing/2014/main" id="{F8D97048-3799-A270-106E-4AD5690A0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28" y="980728"/>
            <a:ext cx="792480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149A203-2A06-C09B-C996-FD3F7B56F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2906"/>
            <a:ext cx="9058275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61760</TotalTime>
  <Words>670</Words>
  <Application>Microsoft Office PowerPoint</Application>
  <PresentationFormat>On-screen Show (4:3)</PresentationFormat>
  <Paragraphs>103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 Math</vt:lpstr>
      <vt:lpstr>Office Theme</vt:lpstr>
      <vt:lpstr>P2 Chapter 7: Trigonometric Equations  Adding Sine and Cosine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2026-02-02T13:39:13Z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