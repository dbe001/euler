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547" r:id="rId5"/>
    <p:sldId id="565" r:id="rId6"/>
    <p:sldId id="566" r:id="rId7"/>
    <p:sldId id="567" r:id="rId8"/>
    <p:sldId id="569" r:id="rId9"/>
    <p:sldId id="549" r:id="rId10"/>
    <p:sldId id="543" r:id="rId11"/>
    <p:sldId id="550" r:id="rId12"/>
    <p:sldId id="551" r:id="rId13"/>
    <p:sldId id="572" r:id="rId14"/>
    <p:sldId id="545" r:id="rId15"/>
    <p:sldId id="552" r:id="rId16"/>
    <p:sldId id="570" r:id="rId17"/>
    <p:sldId id="5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70" d="100"/>
          <a:sy n="70" d="100"/>
        </p:scale>
        <p:origin x="1332" y="6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2C6039E-D0BB-4E5F-993B-FBBF68266147}"/>
    <pc:docChg chg="undo custSel modSld">
      <pc:chgData name="Dieter Beaven" userId="9bbdb69f-69d0-4759-aa9b-5c090a2da237" providerId="ADAL" clId="{32C6039E-D0BB-4E5F-993B-FBBF68266147}" dt="2026-02-09T13:50:27.347" v="5" actId="478"/>
      <pc:docMkLst>
        <pc:docMk/>
      </pc:docMkLst>
      <pc:sldChg chg="addSp delSp mod addAnim delAnim">
        <pc:chgData name="Dieter Beaven" userId="9bbdb69f-69d0-4759-aa9b-5c090a2da237" providerId="ADAL" clId="{32C6039E-D0BB-4E5F-993B-FBBF68266147}" dt="2026-02-09T13:50:27.347" v="5" actId="478"/>
        <pc:sldMkLst>
          <pc:docMk/>
          <pc:sldMk cId="3329003157" sldId="566"/>
        </pc:sldMkLst>
        <pc:spChg chg="add del">
          <ac:chgData name="Dieter Beaven" userId="9bbdb69f-69d0-4759-aa9b-5c090a2da237" providerId="ADAL" clId="{32C6039E-D0BB-4E5F-993B-FBBF68266147}" dt="2026-02-09T13:50:27.347" v="5" actId="478"/>
          <ac:spMkLst>
            <pc:docMk/>
            <pc:sldMk cId="3329003157" sldId="566"/>
            <ac:spMk id="20" creationId="{F83636E4-E28B-4319-9483-C332135D75B9}"/>
          </ac:spMkLst>
        </pc:spChg>
        <pc:spChg chg="add del">
          <ac:chgData name="Dieter Beaven" userId="9bbdb69f-69d0-4759-aa9b-5c090a2da237" providerId="ADAL" clId="{32C6039E-D0BB-4E5F-993B-FBBF68266147}" dt="2026-02-09T13:50:27.113" v="4" actId="478"/>
          <ac:spMkLst>
            <pc:docMk/>
            <pc:sldMk cId="3329003157" sldId="566"/>
            <ac:spMk id="21" creationId="{3D981AE4-0182-4AD4-9333-A210B2A18E7B}"/>
          </ac:spMkLst>
        </pc:spChg>
        <pc:spChg chg="add del">
          <ac:chgData name="Dieter Beaven" userId="9bbdb69f-69d0-4759-aa9b-5c090a2da237" providerId="ADAL" clId="{32C6039E-D0BB-4E5F-993B-FBBF68266147}" dt="2026-02-09T13:50:26.879" v="3" actId="478"/>
          <ac:spMkLst>
            <pc:docMk/>
            <pc:sldMk cId="3329003157" sldId="566"/>
            <ac:spMk id="22" creationId="{F125589B-78FC-4AFA-B0CE-2AFBBD7290D0}"/>
          </ac:spMkLst>
        </pc:spChg>
      </pc:sldChg>
    </pc:docChg>
  </pc:docChgLst>
  <pc:docChgLst>
    <pc:chgData name="Dieter Beaven" userId="9bbdb69f-69d0-4759-aa9b-5c090a2da237" providerId="ADAL" clId="{B47B330E-67D7-47E6-A6C8-686253D34652}"/>
    <pc:docChg chg="undo custSel addSld modSld">
      <pc:chgData name="Dieter Beaven" userId="9bbdb69f-69d0-4759-aa9b-5c090a2da237" providerId="ADAL" clId="{B47B330E-67D7-47E6-A6C8-686253D34652}" dt="2026-02-03T13:43:26.689" v="21" actId="1076"/>
      <pc:docMkLst>
        <pc:docMk/>
      </pc:docMkLst>
      <pc:sldChg chg="addSp modSp mod">
        <pc:chgData name="Dieter Beaven" userId="9bbdb69f-69d0-4759-aa9b-5c090a2da237" providerId="ADAL" clId="{B47B330E-67D7-47E6-A6C8-686253D34652}" dt="2026-02-03T13:41:27.597" v="4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2-03T13:41:27.597" v="4" actId="1076"/>
          <ac:picMkLst>
            <pc:docMk/>
            <pc:sldMk cId="3896053727" sldId="543"/>
            <ac:picMk id="6" creationId="{B120F160-AEB8-BD89-CB33-104A56266B2A}"/>
          </ac:picMkLst>
        </pc:picChg>
      </pc:sldChg>
      <pc:sldChg chg="addSp delSp modSp mod">
        <pc:chgData name="Dieter Beaven" userId="9bbdb69f-69d0-4759-aa9b-5c090a2da237" providerId="ADAL" clId="{B47B330E-67D7-47E6-A6C8-686253D34652}" dt="2026-02-03T13:42:31.474" v="13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2-03T13:42:31.474" v="13" actId="1076"/>
          <ac:picMkLst>
            <pc:docMk/>
            <pc:sldMk cId="4091202299" sldId="550"/>
            <ac:picMk id="8" creationId="{90F99474-0736-9CCF-22AF-5E70D5D67402}"/>
          </ac:picMkLst>
        </pc:picChg>
      </pc:sldChg>
      <pc:sldChg chg="addSp modSp mod">
        <pc:chgData name="Dieter Beaven" userId="9bbdb69f-69d0-4759-aa9b-5c090a2da237" providerId="ADAL" clId="{B47B330E-67D7-47E6-A6C8-686253D34652}" dt="2026-02-03T13:42:57.142" v="17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2-03T13:42:57.142" v="17" actId="1076"/>
          <ac:picMkLst>
            <pc:docMk/>
            <pc:sldMk cId="3826585799" sldId="551"/>
            <ac:picMk id="6" creationId="{07174438-9007-45EF-B3BC-E61C8251BC6D}"/>
          </ac:picMkLst>
        </pc:picChg>
      </pc:sldChg>
      <pc:sldChg chg="addSp modSp add mod">
        <pc:chgData name="Dieter Beaven" userId="9bbdb69f-69d0-4759-aa9b-5c090a2da237" providerId="ADAL" clId="{B47B330E-67D7-47E6-A6C8-686253D34652}" dt="2026-02-03T13:43:26.689" v="21" actId="1076"/>
        <pc:sldMkLst>
          <pc:docMk/>
          <pc:sldMk cId="3643603991" sldId="572"/>
        </pc:sldMkLst>
        <pc:picChg chg="add mod">
          <ac:chgData name="Dieter Beaven" userId="9bbdb69f-69d0-4759-aa9b-5c090a2da237" providerId="ADAL" clId="{B47B330E-67D7-47E6-A6C8-686253D34652}" dt="2026-02-03T13:43:26.689" v="21" actId="1076"/>
          <ac:picMkLst>
            <pc:docMk/>
            <pc:sldMk cId="3643603991" sldId="572"/>
            <ac:picMk id="6" creationId="{75807071-ACAE-38E8-F0CC-4166E41800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0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8: </a:t>
            </a:r>
            <a:r>
              <a:rPr lang="en-GB" dirty="0">
                <a:solidFill>
                  <a:schemeClr val="accent5"/>
                </a:solidFill>
              </a:rPr>
              <a:t>Parametric Equations</a:t>
            </a:r>
            <a:br>
              <a:rPr lang="en-GB" dirty="0"/>
            </a:br>
            <a:br>
              <a:rPr lang="en-GB"/>
            </a:br>
            <a:r>
              <a:rPr lang="en-GB"/>
              <a:t>Using Parameters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E79D884-080B-4633-BBAB-93CE63B9045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CBB9B9C-999A-4438-AE18-FFB77A9F1C5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What are they and what is the point?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46D7A9C-27AB-4D62-94C1-77AAF29D5BA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6AFB5-9740-433B-99C9-0E8925B8F679}"/>
                  </a:ext>
                </a:extLst>
              </p:cNvPr>
              <p:cNvSpPr txBox="1"/>
              <p:nvPr/>
            </p:nvSpPr>
            <p:spPr>
              <a:xfrm>
                <a:off x="4294810" y="1281110"/>
                <a:ext cx="417646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Typically, with two variables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we can relate the two by </a:t>
                </a:r>
                <a:r>
                  <a:rPr lang="en-GB" b="1" dirty="0"/>
                  <a:t>a single equation involving just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This is known as a </a:t>
                </a:r>
                <a:r>
                  <a:rPr lang="en-GB" b="1" u="sng" dirty="0"/>
                  <a:t>Cartesian equation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The line shows all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 which satisfy the Cartesian equation.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6AFB5-9740-433B-99C9-0E8925B8F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810" y="1281110"/>
                <a:ext cx="4176464" cy="2031325"/>
              </a:xfrm>
              <a:prstGeom prst="rect">
                <a:avLst/>
              </a:prstGeom>
              <a:blipFill>
                <a:blip r:embed="rId2"/>
                <a:stretch>
                  <a:fillRect l="-1314" t="-1502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0DD01A2-60F4-4AC6-91DD-19301B863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86" y="776722"/>
            <a:ext cx="2736304" cy="25069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7E0AEA-CDEF-4064-819C-2A5A4FD6DAA6}"/>
                  </a:ext>
                </a:extLst>
              </p:cNvPr>
              <p:cNvSpPr txBox="1"/>
              <p:nvPr/>
            </p:nvSpPr>
            <p:spPr>
              <a:xfrm>
                <a:off x="2391111" y="846915"/>
                <a:ext cx="20882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7E0AEA-CDEF-4064-819C-2A5A4FD6D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111" y="846915"/>
                <a:ext cx="2088232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976A85-FB7A-4907-9567-479CBAE275D5}"/>
              </a:ext>
            </a:extLst>
          </p:cNvPr>
          <p:cNvCxnSpPr/>
          <p:nvPr/>
        </p:nvCxnSpPr>
        <p:spPr>
          <a:xfrm>
            <a:off x="611560" y="3645024"/>
            <a:ext cx="75608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22744D0-50D0-4BAF-8ADA-024F1AA72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68" y="3721747"/>
            <a:ext cx="3867335" cy="28867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1151A6-E512-4FC4-9CD2-D7FD0DAD20C4}"/>
                  </a:ext>
                </a:extLst>
              </p:cNvPr>
              <p:cNvSpPr txBox="1"/>
              <p:nvPr/>
            </p:nvSpPr>
            <p:spPr>
              <a:xfrm>
                <a:off x="4200182" y="3829896"/>
                <a:ext cx="4793334" cy="2765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However, in Mechanics for example, we might want each of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values to be some function of time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/>
                  <a:t>, as per this example.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This would allow us to express the position of a particle at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GB" sz="1600" dirty="0"/>
                  <a:t> as the vector: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16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i="1" dirty="0"/>
              </a:p>
              <a:p>
                <a:r>
                  <a:rPr lang="en-GB" sz="1600" dirty="0"/>
                  <a:t>These are known as </a:t>
                </a:r>
                <a:r>
                  <a:rPr lang="en-GB" sz="1600" b="1" dirty="0"/>
                  <a:t>parametric equations</a:t>
                </a:r>
                <a:r>
                  <a:rPr lang="en-GB" sz="1600" dirty="0"/>
                  <a:t>, because </a:t>
                </a:r>
                <a:r>
                  <a:rPr lang="en-GB" sz="1600" b="1" dirty="0"/>
                  <a:t>each of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600" b="1" dirty="0"/>
                  <a:t> are defined in terms of some other variable, known as the parameter </a:t>
                </a:r>
                <a:r>
                  <a:rPr lang="en-GB" sz="1600" dirty="0"/>
                  <a:t>(in this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/>
                  <a:t>).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1151A6-E512-4FC4-9CD2-D7FD0DAD2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182" y="3829896"/>
                <a:ext cx="4793334" cy="2765372"/>
              </a:xfrm>
              <a:prstGeom prst="rect">
                <a:avLst/>
              </a:prstGeom>
              <a:blipFill>
                <a:blip r:embed="rId6"/>
                <a:stretch>
                  <a:fillRect l="-636" t="-6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B641E04-B632-4F5C-9546-290E41867A05}"/>
                  </a:ext>
                </a:extLst>
              </p:cNvPr>
              <p:cNvSpPr/>
              <p:nvPr/>
            </p:nvSpPr>
            <p:spPr>
              <a:xfrm>
                <a:off x="2068339" y="3868802"/>
                <a:ext cx="112941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1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1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i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B641E04-B632-4F5C-9546-290E41867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339" y="3868802"/>
                <a:ext cx="1129412" cy="584775"/>
              </a:xfrm>
              <a:prstGeom prst="rect">
                <a:avLst/>
              </a:prstGeom>
              <a:blipFill>
                <a:blip r:embed="rId7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28BA26-ECE5-4C7D-933A-95DD2D9B4261}"/>
              </a:ext>
            </a:extLst>
          </p:cNvPr>
          <p:cNvCxnSpPr/>
          <p:nvPr/>
        </p:nvCxnSpPr>
        <p:spPr>
          <a:xfrm flipH="1">
            <a:off x="3222702" y="4149080"/>
            <a:ext cx="977480" cy="7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725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760F21-3567-4D64-8D54-8D605EFF900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1CA6747-6149-4CCD-8D47-E08E8FCF8EC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Converting parametric to Cartesian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7B70CCD-E4C9-4680-B53C-6FAC3CC9E3A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F2BF24F-0959-4D60-9DA7-0C5F821E4D3A}"/>
              </a:ext>
            </a:extLst>
          </p:cNvPr>
          <p:cNvSpPr txBox="1"/>
          <p:nvPr/>
        </p:nvSpPr>
        <p:spPr>
          <a:xfrm>
            <a:off x="395536" y="836712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could we convert these parametric equations into a single Cartesian one?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2203C0-7821-43C4-9F82-00C18501A798}"/>
                  </a:ext>
                </a:extLst>
              </p:cNvPr>
              <p:cNvSpPr txBox="1"/>
              <p:nvPr/>
            </p:nvSpPr>
            <p:spPr>
              <a:xfrm>
                <a:off x="1923253" y="1234708"/>
                <a:ext cx="5184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−3&lt;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2203C0-7821-43C4-9F82-00C18501A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253" y="1234708"/>
                <a:ext cx="5184576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1047A9-D15C-408D-B178-3E37E3B1AE47}"/>
                  </a:ext>
                </a:extLst>
              </p:cNvPr>
              <p:cNvSpPr txBox="1"/>
              <p:nvPr/>
            </p:nvSpPr>
            <p:spPr>
              <a:xfrm>
                <a:off x="539552" y="1772816"/>
                <a:ext cx="6840760" cy="1395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Use substitution to eliminate the parameter.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1047A9-D15C-408D-B178-3E37E3B1A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72816"/>
                <a:ext cx="6840760" cy="1395895"/>
              </a:xfrm>
              <a:prstGeom prst="rect">
                <a:avLst/>
              </a:prstGeom>
              <a:blipFill>
                <a:blip r:embed="rId3"/>
                <a:stretch>
                  <a:fillRect l="-802" t="-26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A5C3ABE-0655-4E5C-A27A-BA7976B798FE}"/>
              </a:ext>
            </a:extLst>
          </p:cNvPr>
          <p:cNvSpPr txBox="1"/>
          <p:nvPr/>
        </p:nvSpPr>
        <p:spPr>
          <a:xfrm>
            <a:off x="544652" y="3614772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domain of the function?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EFD0C73-5C30-42E3-88A8-CF230C19C06E}"/>
                  </a:ext>
                </a:extLst>
              </p:cNvPr>
              <p:cNvSpPr/>
              <p:nvPr/>
            </p:nvSpPr>
            <p:spPr>
              <a:xfrm>
                <a:off x="656165" y="4058550"/>
                <a:ext cx="7350412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b="1" dirty="0">
                    <a:latin typeface="Wingdings" panose="05000000000000000000" pitchFamily="2" charset="2"/>
                  </a:rPr>
                  <a:t>!</a:t>
                </a:r>
                <a:r>
                  <a:rPr lang="en-GB" b="1" dirty="0"/>
                  <a:t> If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can be written as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b="1" dirty="0"/>
                  <a:t>, then the domain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GB" b="1" dirty="0"/>
                  <a:t> is the range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b="1" dirty="0"/>
                  <a:t>...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EFD0C73-5C30-42E3-88A8-CF230C19C0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65" y="4058550"/>
                <a:ext cx="7350412" cy="646331"/>
              </a:xfrm>
              <a:prstGeom prst="rect">
                <a:avLst/>
              </a:prstGeom>
              <a:blipFill>
                <a:blip r:embed="rId4"/>
                <a:stretch>
                  <a:fillRect l="-579" t="-4545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074DCF-E962-478C-88E3-0D1BE7755AAB}"/>
                  </a:ext>
                </a:extLst>
              </p:cNvPr>
              <p:cNvSpPr txBox="1"/>
              <p:nvPr/>
            </p:nvSpPr>
            <p:spPr>
              <a:xfrm>
                <a:off x="1036608" y="4951369"/>
                <a:ext cx="4536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−3&lt;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−6&lt;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&lt;6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074DCF-E962-478C-88E3-0D1BE7755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08" y="4951369"/>
                <a:ext cx="4536504" cy="369332"/>
              </a:xfrm>
              <a:prstGeom prst="rect">
                <a:avLst/>
              </a:prstGeom>
              <a:blipFill>
                <a:blip r:embed="rId5"/>
                <a:stretch>
                  <a:fillRect l="-1075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E025F3-FCEC-4615-B72C-C9B71B19800F}"/>
                  </a:ext>
                </a:extLst>
              </p:cNvPr>
              <p:cNvSpPr txBox="1"/>
              <p:nvPr/>
            </p:nvSpPr>
            <p:spPr>
              <a:xfrm>
                <a:off x="5400391" y="4884461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for each of the bounds.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E025F3-FCEC-4615-B72C-C9B71B198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391" y="4884461"/>
                <a:ext cx="1656184" cy="523220"/>
              </a:xfrm>
              <a:prstGeom prst="rect">
                <a:avLst/>
              </a:prstGeom>
              <a:blipFill>
                <a:blip r:embed="rId6"/>
                <a:stretch>
                  <a:fillRect l="-1103" t="-1163" r="-1838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DABBBB-8056-4B92-A398-4D5A04DC2350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4549698" y="5118410"/>
            <a:ext cx="850693" cy="27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9A9FCAC-1C0B-4646-BBFB-5839086E15D9}"/>
                  </a:ext>
                </a:extLst>
              </p:cNvPr>
              <p:cNvSpPr/>
              <p:nvPr/>
            </p:nvSpPr>
            <p:spPr>
              <a:xfrm>
                <a:off x="656164" y="5567205"/>
                <a:ext cx="7350411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b="1" dirty="0">
                    <a:latin typeface="Wingdings" panose="05000000000000000000" pitchFamily="2" charset="2"/>
                  </a:rPr>
                  <a:t>!</a:t>
                </a:r>
                <a:r>
                  <a:rPr lang="en-GB" b="1" dirty="0"/>
                  <a:t> and the range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GB" b="1" dirty="0"/>
                  <a:t> is the range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9A9FCAC-1C0B-4646-BBFB-5839086E15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64" y="5567205"/>
                <a:ext cx="7350411" cy="369332"/>
              </a:xfrm>
              <a:prstGeom prst="rect">
                <a:avLst/>
              </a:prstGeom>
              <a:blipFill>
                <a:blip r:embed="rId7"/>
                <a:stretch>
                  <a:fillRect l="-579" t="-6154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2DB1D2-D818-40C5-86F1-4DB7D0F2E171}"/>
                  </a:ext>
                </a:extLst>
              </p:cNvPr>
              <p:cNvSpPr txBox="1"/>
              <p:nvPr/>
            </p:nvSpPr>
            <p:spPr>
              <a:xfrm>
                <a:off x="1036608" y="6123372"/>
                <a:ext cx="4536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−3&lt;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&lt;9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2DB1D2-D818-40C5-86F1-4DB7D0F2E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08" y="6123372"/>
                <a:ext cx="4536504" cy="369332"/>
              </a:xfrm>
              <a:prstGeom prst="rect">
                <a:avLst/>
              </a:prstGeom>
              <a:blipFill>
                <a:blip r:embed="rId8"/>
                <a:stretch>
                  <a:fillRect l="-1075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2E43DD-4FC5-421E-B936-4FA035894855}"/>
                  </a:ext>
                </a:extLst>
              </p:cNvPr>
              <p:cNvSpPr txBox="1"/>
              <p:nvPr/>
            </p:nvSpPr>
            <p:spPr>
              <a:xfrm>
                <a:off x="4549697" y="6112219"/>
                <a:ext cx="379127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one is harder.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However, the minimum value is clearly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2E43DD-4FC5-421E-B936-4FA035894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697" y="6112219"/>
                <a:ext cx="3791271" cy="523220"/>
              </a:xfrm>
              <a:prstGeom prst="rect">
                <a:avLst/>
              </a:prstGeom>
              <a:blipFill>
                <a:blip r:embed="rId9"/>
                <a:stretch>
                  <a:fillRect l="-482" t="-1176" b="-1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D0864D-21A4-4B1A-951B-89DD22C89DB4}"/>
              </a:ext>
            </a:extLst>
          </p:cNvPr>
          <p:cNvCxnSpPr>
            <a:cxnSpLocks/>
          </p:cNvCxnSpPr>
          <p:nvPr/>
        </p:nvCxnSpPr>
        <p:spPr>
          <a:xfrm flipH="1" flipV="1">
            <a:off x="4226315" y="6279263"/>
            <a:ext cx="312232" cy="43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83636E4-E28B-4319-9483-C332135D75B9}"/>
              </a:ext>
            </a:extLst>
          </p:cNvPr>
          <p:cNvSpPr/>
          <p:nvPr/>
        </p:nvSpPr>
        <p:spPr>
          <a:xfrm>
            <a:off x="592649" y="1733734"/>
            <a:ext cx="7804219" cy="15670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981AE4-0182-4AD4-9333-A210B2A18E7B}"/>
              </a:ext>
            </a:extLst>
          </p:cNvPr>
          <p:cNvSpPr/>
          <p:nvPr/>
        </p:nvSpPr>
        <p:spPr>
          <a:xfrm>
            <a:off x="647588" y="4702224"/>
            <a:ext cx="7358988" cy="7066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25589B-78FC-4AFA-B0CE-2AFBBD7290D0}"/>
              </a:ext>
            </a:extLst>
          </p:cNvPr>
          <p:cNvSpPr/>
          <p:nvPr/>
        </p:nvSpPr>
        <p:spPr>
          <a:xfrm>
            <a:off x="647588" y="5936537"/>
            <a:ext cx="7358988" cy="7066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2900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C88D254-AA31-45B3-94E1-BD0026BBAAA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4CD0637-7861-4D54-97C0-3B7EDB14951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Further Example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FCD73B9-2845-4C06-8664-FF8A9356F5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6342BF-8B05-496E-8659-EB879651E5FF}"/>
                  </a:ext>
                </a:extLst>
              </p:cNvPr>
              <p:cNvSpPr txBox="1"/>
              <p:nvPr/>
            </p:nvSpPr>
            <p:spPr>
              <a:xfrm>
                <a:off x="395536" y="836712"/>
                <a:ext cx="7776864" cy="172534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A curve has the parameter equations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&gt;−2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a) Find a Cartesian equation of the curve of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a constant to be found.</a:t>
                </a:r>
              </a:p>
              <a:p>
                <a:r>
                  <a:rPr lang="en-GB" dirty="0"/>
                  <a:t>b) Write down the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6342BF-8B05-496E-8659-EB879651E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7776864" cy="17253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508612-C24E-47DD-81B6-1AA98405E046}"/>
                  </a:ext>
                </a:extLst>
              </p:cNvPr>
              <p:cNvSpPr txBox="1"/>
              <p:nvPr/>
            </p:nvSpPr>
            <p:spPr>
              <a:xfrm>
                <a:off x="539552" y="2780928"/>
                <a:ext cx="7272808" cy="3342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−3+5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GB" dirty="0"/>
                  <a:t>,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−2+3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increases,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increases, 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</a:t>
                </a:r>
              </a:p>
              <a:p>
                <a:endParaRPr lang="en-GB" dirty="0"/>
              </a:p>
              <a:p>
                <a:r>
                  <a:rPr lang="en-GB" dirty="0"/>
                  <a:t>b)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=−2,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−2+5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increases,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den>
                    </m:f>
                  </m:oMath>
                </a14:m>
                <a:r>
                  <a:rPr lang="en-GB" dirty="0"/>
                  <a:t> decreases, 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508612-C24E-47DD-81B6-1AA98405E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780928"/>
                <a:ext cx="7272808" cy="3342069"/>
              </a:xfrm>
              <a:prstGeom prst="rect">
                <a:avLst/>
              </a:prstGeom>
              <a:blipFill>
                <a:blip r:embed="rId3"/>
                <a:stretch>
                  <a:fillRect l="-754" b="-3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38225-F418-4417-A88E-0FA9CE0F7C07}"/>
                  </a:ext>
                </a:extLst>
              </p:cNvPr>
              <p:cNvSpPr txBox="1"/>
              <p:nvPr/>
            </p:nvSpPr>
            <p:spPr>
              <a:xfrm>
                <a:off x="6233285" y="3008455"/>
                <a:ext cx="2304256" cy="16004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 common strategy for domain/range questions is to consider what happens are the boundary value (in this case -2), then since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&gt;−2</m:t>
                    </m:r>
                  </m:oMath>
                </a14:m>
                <a:r>
                  <a:rPr lang="en-GB" sz="1400" dirty="0"/>
                  <a:t>, consider what happens as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increases.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38225-F418-4417-A88E-0FA9CE0F7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285" y="3008455"/>
                <a:ext cx="2304256" cy="1600438"/>
              </a:xfrm>
              <a:prstGeom prst="rect">
                <a:avLst/>
              </a:prstGeom>
              <a:blipFill>
                <a:blip r:embed="rId4"/>
                <a:stretch>
                  <a:fillRect l="-262" b="-22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C46DF8-E06B-4119-9EDF-20BADB35D4C7}"/>
              </a:ext>
            </a:extLst>
          </p:cNvPr>
          <p:cNvCxnSpPr/>
          <p:nvPr/>
        </p:nvCxnSpPr>
        <p:spPr>
          <a:xfrm flipH="1">
            <a:off x="5868144" y="378904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518B172-6BA7-4971-8216-E2D6E98EECD8}"/>
              </a:ext>
            </a:extLst>
          </p:cNvPr>
          <p:cNvSpPr/>
          <p:nvPr/>
        </p:nvSpPr>
        <p:spPr>
          <a:xfrm>
            <a:off x="427337" y="2707144"/>
            <a:ext cx="5224783" cy="2378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09A065-9003-4CEA-9CD2-72D55FE56B82}"/>
              </a:ext>
            </a:extLst>
          </p:cNvPr>
          <p:cNvSpPr/>
          <p:nvPr/>
        </p:nvSpPr>
        <p:spPr>
          <a:xfrm>
            <a:off x="427688" y="5085184"/>
            <a:ext cx="5224783" cy="122560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257421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CF32ADF-F5F2-4395-A9AA-2596FBBA145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5D8850F-5F0F-4637-9F31-B5AA98078A3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1B39F54-6CB8-447F-8C05-3ADD4A2AD77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8147B993-4B5B-4EEF-9D7B-FB3729E82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86871"/>
            <a:ext cx="4486275" cy="10477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206B90-F569-4870-9DBB-E830CC38A85C}"/>
              </a:ext>
            </a:extLst>
          </p:cNvPr>
          <p:cNvSpPr txBox="1"/>
          <p:nvPr/>
        </p:nvSpPr>
        <p:spPr>
          <a:xfrm>
            <a:off x="262160" y="825056"/>
            <a:ext cx="243763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Jan 2008 Q7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63308B6-0D60-4F23-8088-7333CFD87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060" y="904624"/>
            <a:ext cx="4104455" cy="113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78FF34E-EE4A-4CFB-ADB7-4B2979ABB9EA}"/>
              </a:ext>
            </a:extLst>
          </p:cNvPr>
          <p:cNvSpPr/>
          <p:nvPr/>
        </p:nvSpPr>
        <p:spPr>
          <a:xfrm>
            <a:off x="4961061" y="869322"/>
            <a:ext cx="4101454" cy="12962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CA89966-E9F3-4B4A-8184-F1E0079ED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89" y="3356992"/>
            <a:ext cx="6416996" cy="136815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CAC0C0-79D1-4CC5-98C6-5E219D9A7B74}"/>
              </a:ext>
            </a:extLst>
          </p:cNvPr>
          <p:cNvSpPr txBox="1"/>
          <p:nvPr/>
        </p:nvSpPr>
        <p:spPr>
          <a:xfrm>
            <a:off x="257048" y="2987660"/>
            <a:ext cx="2226719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Jan 2011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9EA36B-4A3D-4EB5-95DB-DCAF43B07375}"/>
                  </a:ext>
                </a:extLst>
              </p:cNvPr>
              <p:cNvSpPr txBox="1"/>
              <p:nvPr/>
            </p:nvSpPr>
            <p:spPr>
              <a:xfrm>
                <a:off x="6892737" y="3172326"/>
                <a:ext cx="197728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𝑡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𝑦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−2</m:t>
                      </m:r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/>
                        </a:rPr>
                        <m:t>    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9EA36B-4A3D-4EB5-95DB-DCAF43B07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737" y="3172326"/>
                <a:ext cx="1977283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138548A8-BC93-467D-B672-D4D916B8279B}"/>
              </a:ext>
            </a:extLst>
          </p:cNvPr>
          <p:cNvSpPr/>
          <p:nvPr/>
        </p:nvSpPr>
        <p:spPr>
          <a:xfrm>
            <a:off x="6874478" y="3078363"/>
            <a:ext cx="2245918" cy="13808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0142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8.1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60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solving with equations&#10;&#10;AI-generated content may be incorrect.">
            <a:extLst>
              <a:ext uri="{FF2B5EF4-FFF2-40B4-BE49-F238E27FC236}">
                <a16:creationId xmlns:a16="http://schemas.microsoft.com/office/drawing/2014/main" id="{B120F160-AEB8-BD89-CB33-104A56266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15" y="692696"/>
            <a:ext cx="67532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90F99474-0736-9CCF-22AF-5E70D5D67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90" y="764704"/>
            <a:ext cx="6772275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and equations&#10;&#10;AI-generated content may be incorrect.">
            <a:extLst>
              <a:ext uri="{FF2B5EF4-FFF2-40B4-BE49-F238E27FC236}">
                <a16:creationId xmlns:a16="http://schemas.microsoft.com/office/drawing/2014/main" id="{07174438-9007-45EF-B3BC-E61C8251B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40" y="836712"/>
            <a:ext cx="688657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D708-AAFA-19E8-E78D-172640DB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1180560-BDCF-6058-1D5B-2974171EBE2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79FC459-F0DE-4C35-0E1A-0DCEFBCF9FF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4AE9DF-A4DF-5774-639C-0A232CCD7F0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75807071-ACAE-38E8-F0CC-4166E418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75489"/>
            <a:ext cx="47434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0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DB59076-07AA-6B7E-B3D8-26817D021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19162"/>
            <a:ext cx="40386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FF166D0-F241-12D9-C42E-B84F739A1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65" y="764704"/>
            <a:ext cx="73247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69495-F247-E9E4-ADD4-29973AE0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5FC5F9D-9E31-2F29-BB0C-95DCDE904414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2289408-CC98-4266-B3D3-6CC9E82E9E8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8B47431-B1A4-DAAD-4406-6D3EF060BA3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E26CD29-AC31-FDCB-3502-1AB3A4B93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383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2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11C2E-3511-78D5-BD0D-D0C3B4B5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8CE5C37-A391-8568-8B92-883B79903D24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97B93FC-0802-D3E9-FD21-35D22AE0E6ED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32D82FB-87E3-7073-B7B4-0F41021CEE0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E157A60-0FC1-1DB4-19AE-B239198C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439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25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61759</TotalTime>
  <Words>562</Words>
  <Application>Microsoft Office PowerPoint</Application>
  <PresentationFormat>On-screen Show (4:3)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Wingdings</vt:lpstr>
      <vt:lpstr>Office Theme</vt:lpstr>
      <vt:lpstr>P2 Chapter 8: Parametric Equations  Using Parameters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2026-02-09T13:50:28Z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