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577" r:id="rId6"/>
    <p:sldId id="578" r:id="rId7"/>
    <p:sldId id="579" r:id="rId8"/>
    <p:sldId id="549" r:id="rId9"/>
    <p:sldId id="543" r:id="rId10"/>
    <p:sldId id="550" r:id="rId11"/>
    <p:sldId id="551" r:id="rId12"/>
    <p:sldId id="580" r:id="rId13"/>
    <p:sldId id="545" r:id="rId14"/>
    <p:sldId id="5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33718-0F1C-44EB-97AC-106BD04E3921}" v="1" dt="2026-02-03T13:54:07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2-03T13:55:50.675" v="32" actId="1036"/>
      <pc:docMkLst>
        <pc:docMk/>
      </pc:docMkLst>
      <pc:sldChg chg="addSp delSp modSp mod">
        <pc:chgData name="Dieter Beaven" userId="9bbdb69f-69d0-4759-aa9b-5c090a2da237" providerId="ADAL" clId="{B47B330E-67D7-47E6-A6C8-686253D34652}" dt="2026-02-03T13:53:54.324" v="21" actId="1035"/>
        <pc:sldMkLst>
          <pc:docMk/>
          <pc:sldMk cId="3896053727" sldId="543"/>
        </pc:sldMkLst>
        <pc:picChg chg="add del mod">
          <ac:chgData name="Dieter Beaven" userId="9bbdb69f-69d0-4759-aa9b-5c090a2da237" providerId="ADAL" clId="{B47B330E-67D7-47E6-A6C8-686253D34652}" dt="2026-02-03T13:52:16.177" v="3" actId="478"/>
          <ac:picMkLst>
            <pc:docMk/>
            <pc:sldMk cId="3896053727" sldId="543"/>
            <ac:picMk id="6" creationId="{99F2F57D-6521-CFEB-BBD9-83369A5842D5}"/>
          </ac:picMkLst>
        </pc:picChg>
        <pc:picChg chg="add mod">
          <ac:chgData name="Dieter Beaven" userId="9bbdb69f-69d0-4759-aa9b-5c090a2da237" providerId="ADAL" clId="{B47B330E-67D7-47E6-A6C8-686253D34652}" dt="2026-02-03T13:53:54.324" v="21" actId="1035"/>
          <ac:picMkLst>
            <pc:docMk/>
            <pc:sldMk cId="3896053727" sldId="543"/>
            <ac:picMk id="8" creationId="{2378D851-36EF-8DF1-273B-C2D4EBAC459B}"/>
          </ac:picMkLst>
        </pc:picChg>
      </pc:sldChg>
      <pc:sldChg chg="addSp modSp mod">
        <pc:chgData name="Dieter Beaven" userId="9bbdb69f-69d0-4759-aa9b-5c090a2da237" providerId="ADAL" clId="{B47B330E-67D7-47E6-A6C8-686253D34652}" dt="2026-02-03T13:53:19.296" v="11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2-03T13:53:19.296" v="11" actId="1076"/>
          <ac:picMkLst>
            <pc:docMk/>
            <pc:sldMk cId="4091202299" sldId="550"/>
            <ac:picMk id="6" creationId="{2EC9C645-9FBF-CB2F-D288-70E77F7F7159}"/>
          </ac:picMkLst>
        </pc:picChg>
      </pc:sldChg>
      <pc:sldChg chg="addSp modSp mod">
        <pc:chgData name="Dieter Beaven" userId="9bbdb69f-69d0-4759-aa9b-5c090a2da237" providerId="ADAL" clId="{B47B330E-67D7-47E6-A6C8-686253D34652}" dt="2026-02-03T13:55:50.675" v="32" actId="103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3T13:55:50.675" v="32" actId="1036"/>
          <ac:picMkLst>
            <pc:docMk/>
            <pc:sldMk cId="3826585799" sldId="551"/>
            <ac:picMk id="6" creationId="{97CBE991-9B72-BFC3-3665-2D62762AC253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13:55:48.259" v="31" actId="1076"/>
        <pc:sldMkLst>
          <pc:docMk/>
          <pc:sldMk cId="1534943975" sldId="580"/>
        </pc:sldMkLst>
        <pc:picChg chg="add mod">
          <ac:chgData name="Dieter Beaven" userId="9bbdb69f-69d0-4759-aa9b-5c090a2da237" providerId="ADAL" clId="{B47B330E-67D7-47E6-A6C8-686253D34652}" dt="2026-02-03T13:55:48.259" v="31" actId="1076"/>
          <ac:picMkLst>
            <pc:docMk/>
            <pc:sldMk cId="1534943975" sldId="580"/>
            <ac:picMk id="6" creationId="{3B394C03-2C0D-6326-19BD-75231C7E33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6.png"/><Relationship Id="rId10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7.png"/><Relationship Id="rId7" Type="http://schemas.openxmlformats.org/officeDocument/2006/relationships/image" Target="../media/image7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81.png"/><Relationship Id="rId5" Type="http://schemas.openxmlformats.org/officeDocument/2006/relationships/image" Target="../media/image65.png"/><Relationship Id="rId10" Type="http://schemas.openxmlformats.org/officeDocument/2006/relationships/image" Target="../media/image80.png"/><Relationship Id="rId4" Type="http://schemas.openxmlformats.org/officeDocument/2006/relationships/image" Target="../media/image78.png"/><Relationship Id="rId9" Type="http://schemas.openxmlformats.org/officeDocument/2006/relationships/image" Target="../media/image7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8: </a:t>
            </a:r>
            <a:r>
              <a:rPr lang="en-GB" dirty="0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Points of Intersection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140406-0921-4874-9637-E63EF5823E2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6A81D4E-5CE5-4F03-A533-EB4A3D09F2B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Points of Intersection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B4D8BC6-9095-4395-ACB8-C660048B6CD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DA7413-CFB8-48F9-87C2-DFF564B731B8}"/>
                  </a:ext>
                </a:extLst>
              </p:cNvPr>
              <p:cNvSpPr txBox="1"/>
              <p:nvPr/>
            </p:nvSpPr>
            <p:spPr>
              <a:xfrm>
                <a:off x="395536" y="908720"/>
                <a:ext cx="75608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can find where a parametric curve crosses a particular axis or where curves cross each other. </a:t>
                </a:r>
              </a:p>
              <a:p>
                <a:r>
                  <a:rPr lang="en-GB" b="1" dirty="0"/>
                  <a:t>The key is to first find the value of the parameter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DA7413-CFB8-48F9-87C2-DFF564B7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8720"/>
                <a:ext cx="7560840" cy="923330"/>
              </a:xfrm>
              <a:prstGeom prst="rect">
                <a:avLst/>
              </a:prstGeom>
              <a:blipFill>
                <a:blip r:embed="rId2"/>
                <a:stretch>
                  <a:fillRect l="-726" t="-3289" r="-645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B613B8-3CD2-4B1F-8E9A-3215C40F57C4}"/>
                  </a:ext>
                </a:extLst>
              </p:cNvPr>
              <p:cNvSpPr txBox="1"/>
              <p:nvPr/>
            </p:nvSpPr>
            <p:spPr>
              <a:xfrm>
                <a:off x="547936" y="2052340"/>
                <a:ext cx="4532064" cy="18158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diagram shows a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with parametric equations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, 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GB" sz="1600" dirty="0"/>
                  <a:t>,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a non-zero constant. Given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−4,0</m:t>
                        </m:r>
                      </m:e>
                    </m:d>
                  </m:oMath>
                </a14:m>
                <a:r>
                  <a:rPr lang="en-GB" sz="1600" dirty="0"/>
                  <a:t>,</a:t>
                </a:r>
              </a:p>
              <a:p>
                <a:r>
                  <a:rPr lang="en-GB" sz="1600" dirty="0"/>
                  <a:t>a) find the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b) find the coordinates of the points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where the curve crosses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B613B8-3CD2-4B1F-8E9A-3215C40F5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36" y="2052340"/>
                <a:ext cx="4532064" cy="1815882"/>
              </a:xfrm>
              <a:prstGeom prst="rect">
                <a:avLst/>
              </a:prstGeom>
              <a:blipFill>
                <a:blip r:embed="rId3"/>
                <a:stretch>
                  <a:fillRect r="-77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00485C-81AE-4536-ADF3-CCD3CF0370A8}"/>
              </a:ext>
            </a:extLst>
          </p:cNvPr>
          <p:cNvCxnSpPr>
            <a:cxnSpLocks/>
          </p:cNvCxnSpPr>
          <p:nvPr/>
        </p:nvCxnSpPr>
        <p:spPr>
          <a:xfrm flipV="1">
            <a:off x="7201061" y="1568425"/>
            <a:ext cx="0" cy="2453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7B3DBC-868B-459B-AD00-6D9E62856ED6}"/>
              </a:ext>
            </a:extLst>
          </p:cNvPr>
          <p:cNvCxnSpPr>
            <a:cxnSpLocks/>
          </p:cNvCxnSpPr>
          <p:nvPr/>
        </p:nvCxnSpPr>
        <p:spPr>
          <a:xfrm>
            <a:off x="5716637" y="2912368"/>
            <a:ext cx="2952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DD14DF-673C-4161-835E-24609F47974E}"/>
                  </a:ext>
                </a:extLst>
              </p:cNvPr>
              <p:cNvSpPr txBox="1"/>
              <p:nvPr/>
            </p:nvSpPr>
            <p:spPr>
              <a:xfrm>
                <a:off x="8596313" y="2735411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DD14DF-673C-4161-835E-24609F479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313" y="2735411"/>
                <a:ext cx="3300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D3A140-E844-433C-B58D-B116F0067034}"/>
                  </a:ext>
                </a:extLst>
              </p:cNvPr>
              <p:cNvSpPr txBox="1"/>
              <p:nvPr/>
            </p:nvSpPr>
            <p:spPr>
              <a:xfrm>
                <a:off x="7030309" y="1275645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D3A140-E844-433C-B58D-B116F0067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309" y="1275645"/>
                <a:ext cx="33004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0E3E0B1-8EB5-4764-9D81-5D9EC16BE659}"/>
              </a:ext>
            </a:extLst>
          </p:cNvPr>
          <p:cNvSpPr/>
          <p:nvPr/>
        </p:nvSpPr>
        <p:spPr>
          <a:xfrm>
            <a:off x="6038850" y="2282825"/>
            <a:ext cx="1323975" cy="1828800"/>
          </a:xfrm>
          <a:custGeom>
            <a:avLst/>
            <a:gdLst>
              <a:gd name="connsiteX0" fmla="*/ 0 w 1323975"/>
              <a:gd name="connsiteY0" fmla="*/ 0 h 1828800"/>
              <a:gd name="connsiteX1" fmla="*/ 371475 w 1323975"/>
              <a:gd name="connsiteY1" fmla="*/ 638175 h 1828800"/>
              <a:gd name="connsiteX2" fmla="*/ 819150 w 1323975"/>
              <a:gd name="connsiteY2" fmla="*/ 1047750 h 1828800"/>
              <a:gd name="connsiteX3" fmla="*/ 1171575 w 1323975"/>
              <a:gd name="connsiteY3" fmla="*/ 1190625 h 1828800"/>
              <a:gd name="connsiteX4" fmla="*/ 1323975 w 1323975"/>
              <a:gd name="connsiteY4" fmla="*/ 1276350 h 1828800"/>
              <a:gd name="connsiteX5" fmla="*/ 1171575 w 1323975"/>
              <a:gd name="connsiteY5" fmla="*/ 1562100 h 1828800"/>
              <a:gd name="connsiteX6" fmla="*/ 914400 w 1323975"/>
              <a:gd name="connsiteY6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3975" h="1828800">
                <a:moveTo>
                  <a:pt x="0" y="0"/>
                </a:moveTo>
                <a:cubicBezTo>
                  <a:pt x="117475" y="231775"/>
                  <a:pt x="234950" y="463550"/>
                  <a:pt x="371475" y="638175"/>
                </a:cubicBezTo>
                <a:cubicBezTo>
                  <a:pt x="508000" y="812800"/>
                  <a:pt x="685800" y="955675"/>
                  <a:pt x="819150" y="1047750"/>
                </a:cubicBezTo>
                <a:cubicBezTo>
                  <a:pt x="952500" y="1139825"/>
                  <a:pt x="1087438" y="1152525"/>
                  <a:pt x="1171575" y="1190625"/>
                </a:cubicBezTo>
                <a:cubicBezTo>
                  <a:pt x="1255713" y="1228725"/>
                  <a:pt x="1323975" y="1214438"/>
                  <a:pt x="1323975" y="1276350"/>
                </a:cubicBezTo>
                <a:cubicBezTo>
                  <a:pt x="1323975" y="1338262"/>
                  <a:pt x="1239837" y="1470025"/>
                  <a:pt x="1171575" y="1562100"/>
                </a:cubicBezTo>
                <a:cubicBezTo>
                  <a:pt x="1103313" y="1654175"/>
                  <a:pt x="1008856" y="1741487"/>
                  <a:pt x="914400" y="182880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21F880-29DF-4D89-B11C-872BB8486B17}"/>
                  </a:ext>
                </a:extLst>
              </p:cNvPr>
              <p:cNvSpPr txBox="1"/>
              <p:nvPr/>
            </p:nvSpPr>
            <p:spPr>
              <a:xfrm>
                <a:off x="6019800" y="2144117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21F880-29DF-4D89-B11C-872BB8486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144117"/>
                <a:ext cx="33004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62BA9A-F0D9-4258-B1E9-1DFB3D183391}"/>
                  </a:ext>
                </a:extLst>
              </p:cNvPr>
              <p:cNvSpPr txBox="1"/>
              <p:nvPr/>
            </p:nvSpPr>
            <p:spPr>
              <a:xfrm>
                <a:off x="6089887" y="2861928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62BA9A-F0D9-4258-B1E9-1DFB3D183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887" y="2861928"/>
                <a:ext cx="330044" cy="307777"/>
              </a:xfrm>
              <a:prstGeom prst="rect">
                <a:avLst/>
              </a:prstGeom>
              <a:blipFill>
                <a:blip r:embed="rId7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506A21-363E-402F-A681-4835BA977C18}"/>
                  </a:ext>
                </a:extLst>
              </p:cNvPr>
              <p:cNvSpPr txBox="1"/>
              <p:nvPr/>
            </p:nvSpPr>
            <p:spPr>
              <a:xfrm>
                <a:off x="6928167" y="3363318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506A21-363E-402F-A681-4835BA97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167" y="3363318"/>
                <a:ext cx="3300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A350E5-64B4-41F6-AACC-282F76C193E6}"/>
                  </a:ext>
                </a:extLst>
              </p:cNvPr>
              <p:cNvSpPr txBox="1"/>
              <p:nvPr/>
            </p:nvSpPr>
            <p:spPr>
              <a:xfrm>
                <a:off x="6920388" y="3689083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A350E5-64B4-41F6-AACC-282F76C19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88" y="3689083"/>
                <a:ext cx="33004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44CCBE-B479-4E40-9ADD-AD6931EB53F8}"/>
                  </a:ext>
                </a:extLst>
              </p:cNvPr>
              <p:cNvSpPr txBox="1"/>
              <p:nvPr/>
            </p:nvSpPr>
            <p:spPr>
              <a:xfrm>
                <a:off x="6957601" y="2889299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44CCBE-B479-4E40-9ADD-AD6931EB5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601" y="2889299"/>
                <a:ext cx="33004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AD8B73-F5AB-4893-95EB-22FAE34B50A5}"/>
                  </a:ext>
                </a:extLst>
              </p:cNvPr>
              <p:cNvSpPr txBox="1"/>
              <p:nvPr/>
            </p:nvSpPr>
            <p:spPr>
              <a:xfrm>
                <a:off x="560884" y="4212580"/>
                <a:ext cx="3600400" cy="199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From equation (2), because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+8=0    →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Substituting into (1):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−4=4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AD8B73-F5AB-4893-95EB-22FAE34B5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84" y="4212580"/>
                <a:ext cx="3600400" cy="1995931"/>
              </a:xfrm>
              <a:prstGeom prst="rect">
                <a:avLst/>
              </a:prstGeom>
              <a:blipFill>
                <a:blip r:embed="rId11"/>
                <a:stretch>
                  <a:fillRect l="-1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95713D-2100-4071-91F1-D44A43A5841E}"/>
                  </a:ext>
                </a:extLst>
              </p:cNvPr>
              <p:cNvSpPr txBox="1"/>
              <p:nvPr/>
            </p:nvSpPr>
            <p:spPr>
              <a:xfrm>
                <a:off x="4569083" y="4192965"/>
                <a:ext cx="4498717" cy="2569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=−4  →(0,−4)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=−8   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0,−8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95713D-2100-4071-91F1-D44A43A58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83" y="4192965"/>
                <a:ext cx="4498717" cy="2569550"/>
              </a:xfrm>
              <a:prstGeom prst="rect">
                <a:avLst/>
              </a:prstGeom>
              <a:blipFill>
                <a:blip r:embed="rId12"/>
                <a:stretch>
                  <a:fillRect l="-1220" t="-1425" b="-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54BF505F-2ED2-4EB4-B4D8-587EDDBB3039}"/>
              </a:ext>
            </a:extLst>
          </p:cNvPr>
          <p:cNvSpPr/>
          <p:nvPr/>
        </p:nvSpPr>
        <p:spPr>
          <a:xfrm>
            <a:off x="297755" y="4275444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2522F6-4277-4853-978D-2223E883B861}"/>
              </a:ext>
            </a:extLst>
          </p:cNvPr>
          <p:cNvSpPr/>
          <p:nvPr/>
        </p:nvSpPr>
        <p:spPr>
          <a:xfrm>
            <a:off x="4214272" y="4275444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987837-E766-403A-88C4-246B9D531C0C}"/>
              </a:ext>
            </a:extLst>
          </p:cNvPr>
          <p:cNvSpPr/>
          <p:nvPr/>
        </p:nvSpPr>
        <p:spPr>
          <a:xfrm>
            <a:off x="476250" y="4275444"/>
            <a:ext cx="3447678" cy="21778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6BCE7D-909C-45B5-AB19-65D1865B2AEE}"/>
              </a:ext>
            </a:extLst>
          </p:cNvPr>
          <p:cNvSpPr/>
          <p:nvPr/>
        </p:nvSpPr>
        <p:spPr>
          <a:xfrm>
            <a:off x="4392766" y="4285540"/>
            <a:ext cx="4598833" cy="24327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2599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5ED705-F67B-4759-B5F6-1DE6AF25BF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03FA4AF-6555-4B63-AA86-216B4EF9BAE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Points of Intersection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994A973-2CEF-4C12-9AEA-238818AE0E8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3E1D5E-E71C-4D90-97D6-4A6521EC0AE9}"/>
                  </a:ext>
                </a:extLst>
              </p:cNvPr>
              <p:cNvSpPr txBox="1"/>
              <p:nvPr/>
            </p:nvSpPr>
            <p:spPr>
              <a:xfrm>
                <a:off x="420936" y="883940"/>
                <a:ext cx="78213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A curve is given parametrically by the equations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+4=0</m:t>
                    </m:r>
                  </m:oMath>
                </a14:m>
                <a:r>
                  <a:rPr lang="en-GB" dirty="0"/>
                  <a:t> meets the curve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 Find the coordinates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3E1D5E-E71C-4D90-97D6-4A6521EC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36" y="883940"/>
                <a:ext cx="7821364" cy="646331"/>
              </a:xfrm>
              <a:prstGeom prst="rect">
                <a:avLst/>
              </a:prstGeom>
              <a:blipFill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4A80F4-7602-40A4-B447-77C080B9018F}"/>
              </a:ext>
            </a:extLst>
          </p:cNvPr>
          <p:cNvSpPr txBox="1"/>
          <p:nvPr/>
        </p:nvSpPr>
        <p:spPr>
          <a:xfrm>
            <a:off x="6012284" y="1658516"/>
            <a:ext cx="291467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Whenever you want to solve a Cartesian equation and pair of parametric equations simultaneously, substitute the parametric equations into the Cartesian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4236B-3FCD-45B9-8F93-DA4E1A72A0FE}"/>
                  </a:ext>
                </a:extLst>
              </p:cNvPr>
              <p:cNvSpPr txBox="1"/>
              <p:nvPr/>
            </p:nvSpPr>
            <p:spPr>
              <a:xfrm>
                <a:off x="571449" y="1539376"/>
                <a:ext cx="518457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 ∴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(4,−8)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4236B-3FCD-45B9-8F93-DA4E1A72A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49" y="1539376"/>
                <a:ext cx="5184576" cy="1754326"/>
              </a:xfrm>
              <a:prstGeom prst="rect">
                <a:avLst/>
              </a:prstGeom>
              <a:blipFill>
                <a:blip r:embed="rId3"/>
                <a:stretch>
                  <a:fillRect b="-2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034DB3-886A-4034-B95B-C36086EBE723}"/>
                  </a:ext>
                </a:extLst>
              </p:cNvPr>
              <p:cNvSpPr txBox="1"/>
              <p:nvPr/>
            </p:nvSpPr>
            <p:spPr>
              <a:xfrm>
                <a:off x="349931" y="3343344"/>
                <a:ext cx="7821364" cy="14504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diagram shows a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with parametric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a) Find the point where the curve intersects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Find the coordinates of the points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where the curve cuts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034DB3-886A-4034-B95B-C36086EB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1" y="3343344"/>
                <a:ext cx="7821364" cy="1450462"/>
              </a:xfrm>
              <a:prstGeom prst="rect">
                <a:avLst/>
              </a:prstGeom>
              <a:blipFill>
                <a:blip r:embed="rId4"/>
                <a:stretch>
                  <a:fillRect b="-37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84CC45-CA1B-4509-B372-49C669F4ABFD}"/>
              </a:ext>
            </a:extLst>
          </p:cNvPr>
          <p:cNvCxnSpPr>
            <a:cxnSpLocks/>
          </p:cNvCxnSpPr>
          <p:nvPr/>
        </p:nvCxnSpPr>
        <p:spPr>
          <a:xfrm flipH="1" flipV="1">
            <a:off x="7418040" y="5340822"/>
            <a:ext cx="1935" cy="1485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8A9FFD-BAA0-49A1-BAAB-F62D5B2DA1D0}"/>
              </a:ext>
            </a:extLst>
          </p:cNvPr>
          <p:cNvCxnSpPr>
            <a:cxnSpLocks/>
          </p:cNvCxnSpPr>
          <p:nvPr/>
        </p:nvCxnSpPr>
        <p:spPr>
          <a:xfrm>
            <a:off x="5933616" y="6684764"/>
            <a:ext cx="2952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C6285A-AAED-4602-8ECF-BB4AF8EEC609}"/>
                  </a:ext>
                </a:extLst>
              </p:cNvPr>
              <p:cNvSpPr txBox="1"/>
              <p:nvPr/>
            </p:nvSpPr>
            <p:spPr>
              <a:xfrm>
                <a:off x="8813292" y="6507807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C6285A-AAED-4602-8ECF-BB4AF8EEC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292" y="6507807"/>
                <a:ext cx="33004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06233E-EAE2-4E0E-94DD-558CC2FE787B}"/>
                  </a:ext>
                </a:extLst>
              </p:cNvPr>
              <p:cNvSpPr txBox="1"/>
              <p:nvPr/>
            </p:nvSpPr>
            <p:spPr>
              <a:xfrm>
                <a:off x="7247288" y="5048041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06233E-EAE2-4E0E-94DD-558CC2FE7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288" y="5048041"/>
                <a:ext cx="33004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F7DB6A-385D-4F24-A0CC-8136BFD37102}"/>
              </a:ext>
            </a:extLst>
          </p:cNvPr>
          <p:cNvSpPr/>
          <p:nvPr/>
        </p:nvSpPr>
        <p:spPr>
          <a:xfrm>
            <a:off x="6819900" y="5257800"/>
            <a:ext cx="1346456" cy="1423553"/>
          </a:xfrm>
          <a:custGeom>
            <a:avLst/>
            <a:gdLst>
              <a:gd name="connsiteX0" fmla="*/ 139700 w 1346456"/>
              <a:gd name="connsiteY0" fmla="*/ 0 h 1423553"/>
              <a:gd name="connsiteX1" fmla="*/ 114300 w 1346456"/>
              <a:gd name="connsiteY1" fmla="*/ 685800 h 1423553"/>
              <a:gd name="connsiteX2" fmla="*/ 1346200 w 1346456"/>
              <a:gd name="connsiteY2" fmla="*/ 1409700 h 1423553"/>
              <a:gd name="connsiteX3" fmla="*/ 0 w 1346456"/>
              <a:gd name="connsiteY3" fmla="*/ 1092200 h 142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6456" h="1423553">
                <a:moveTo>
                  <a:pt x="139700" y="0"/>
                </a:moveTo>
                <a:cubicBezTo>
                  <a:pt x="26458" y="225425"/>
                  <a:pt x="-86783" y="450850"/>
                  <a:pt x="114300" y="685800"/>
                </a:cubicBezTo>
                <a:cubicBezTo>
                  <a:pt x="315383" y="920750"/>
                  <a:pt x="1365250" y="1341967"/>
                  <a:pt x="1346200" y="1409700"/>
                </a:cubicBezTo>
                <a:cubicBezTo>
                  <a:pt x="1327150" y="1477433"/>
                  <a:pt x="663575" y="1284816"/>
                  <a:pt x="0" y="10922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531AF4-F7DE-4F93-995C-99990F9DAD2C}"/>
                  </a:ext>
                </a:extLst>
              </p:cNvPr>
              <p:cNvSpPr txBox="1"/>
              <p:nvPr/>
            </p:nvSpPr>
            <p:spPr>
              <a:xfrm>
                <a:off x="7188664" y="5987493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531AF4-F7DE-4F93-995C-99990F9DA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664" y="5987493"/>
                <a:ext cx="33004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51954B-FE7E-4113-9921-9653AF00F938}"/>
                  </a:ext>
                </a:extLst>
              </p:cNvPr>
              <p:cNvSpPr txBox="1"/>
              <p:nvPr/>
            </p:nvSpPr>
            <p:spPr>
              <a:xfrm>
                <a:off x="7176535" y="6268473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51954B-FE7E-4113-9921-9653AF00F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35" y="6268473"/>
                <a:ext cx="3300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20698D-E149-47C3-9B4D-267BA5EA9478}"/>
                  </a:ext>
                </a:extLst>
              </p:cNvPr>
              <p:cNvSpPr txBox="1"/>
              <p:nvPr/>
            </p:nvSpPr>
            <p:spPr>
              <a:xfrm>
                <a:off x="7175445" y="6607681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20698D-E149-47C3-9B4D-267BA5EA9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45" y="6607681"/>
                <a:ext cx="33004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4A9FCE-8217-49AC-A423-E87E062A3343}"/>
                  </a:ext>
                </a:extLst>
              </p:cNvPr>
              <p:cNvSpPr txBox="1"/>
              <p:nvPr/>
            </p:nvSpPr>
            <p:spPr>
              <a:xfrm>
                <a:off x="512242" y="4830454"/>
                <a:ext cx="3145358" cy="166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→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br>
                  <a:rPr lang="en-GB" sz="1400" b="0" dirty="0"/>
                </a:br>
                <a:endParaRPr lang="en-GB" sz="1400" b="0" dirty="0"/>
              </a:p>
              <a:p>
                <a:r>
                  <a:rPr lang="en-GB" sz="1400" dirty="0"/>
                  <a:t>(But reject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400" dirty="0"/>
                  <a:t> as outside domain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)</a:t>
                </a:r>
              </a:p>
              <a:p>
                <a:r>
                  <a:rPr lang="en-GB" sz="1400" b="0" dirty="0"/>
                  <a:t>If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400" dirty="0"/>
                  <a:t>,   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4A9FCE-8217-49AC-A423-E87E062A3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42" y="4830454"/>
                <a:ext cx="3145358" cy="1663340"/>
              </a:xfrm>
              <a:prstGeom prst="rect">
                <a:avLst/>
              </a:prstGeom>
              <a:blipFill>
                <a:blip r:embed="rId10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EC30C3-7BBA-4499-903C-91DD8D9DCF6A}"/>
                  </a:ext>
                </a:extLst>
              </p:cNvPr>
              <p:cNvSpPr txBox="1"/>
              <p:nvPr/>
            </p:nvSpPr>
            <p:spPr>
              <a:xfrm>
                <a:off x="4061859" y="4811404"/>
                <a:ext cx="2624691" cy="2074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00" dirty="0"/>
                  <a:t>When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3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3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3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3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3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3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1300" dirty="0"/>
              </a:p>
              <a:p>
                <a:r>
                  <a:rPr lang="en-GB" sz="1300" dirty="0"/>
                  <a:t>Since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GB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300" dirty="0"/>
                  <a:t>,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𝑜𝑟</m:t>
                    </m:r>
                    <m:f>
                      <m:fPr>
                        <m:ctrlPr>
                          <a:rPr lang="en-GB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3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 →  </m:t>
                      </m:r>
                      <m:d>
                        <m:d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144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3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d>
                        <m:dPr>
                          <m:ctrlPr>
                            <a:rPr lang="en-GB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3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121</m:t>
                              </m:r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144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3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EC30C3-7BBA-4499-903C-91DD8D9DC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859" y="4811404"/>
                <a:ext cx="2624691" cy="2074414"/>
              </a:xfrm>
              <a:prstGeom prst="rect">
                <a:avLst/>
              </a:prstGeom>
              <a:blipFill>
                <a:blip r:embed="rId11"/>
                <a:stretch>
                  <a:fillRect l="-232" t="-2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59DF8B1A-9FD0-43BC-B177-A6E13A47C5EA}"/>
              </a:ext>
            </a:extLst>
          </p:cNvPr>
          <p:cNvSpPr/>
          <p:nvPr/>
        </p:nvSpPr>
        <p:spPr>
          <a:xfrm>
            <a:off x="285055" y="4899922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2AA92E-C857-4499-9F7C-15B6925C1A23}"/>
              </a:ext>
            </a:extLst>
          </p:cNvPr>
          <p:cNvSpPr/>
          <p:nvPr/>
        </p:nvSpPr>
        <p:spPr>
          <a:xfrm>
            <a:off x="3814936" y="4898546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1D2D08-8693-410E-9CAD-F6E16778563B}"/>
              </a:ext>
            </a:extLst>
          </p:cNvPr>
          <p:cNvSpPr/>
          <p:nvPr/>
        </p:nvSpPr>
        <p:spPr>
          <a:xfrm>
            <a:off x="463550" y="4898547"/>
            <a:ext cx="3181029" cy="17828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7A87E7-896B-45A4-9BD9-B4FA778BA833}"/>
              </a:ext>
            </a:extLst>
          </p:cNvPr>
          <p:cNvSpPr/>
          <p:nvPr/>
        </p:nvSpPr>
        <p:spPr>
          <a:xfrm>
            <a:off x="3998707" y="4898546"/>
            <a:ext cx="5059568" cy="19170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878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733424"/>
            <a:ext cx="6795911" cy="593593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13370" y="864705"/>
            <a:ext cx="158417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Jan 2013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75884" y="3501008"/>
                <a:ext cx="2232248" cy="153824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GB" sz="16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0=1−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𝑡</m:t>
                      </m:r>
                      <m:r>
                        <a:rPr lang="en-GB" sz="16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𝑦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−1=3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884" y="3501008"/>
                <a:ext cx="2232248" cy="1538242"/>
              </a:xfrm>
              <a:prstGeom prst="rect">
                <a:avLst/>
              </a:prstGeom>
              <a:blipFill rotWithShape="1">
                <a:blip r:embed="rId3"/>
                <a:stretch>
                  <a:fillRect l="-1081" t="-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03414" y="5289645"/>
                <a:ext cx="2232248" cy="12920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𝑦</m:t>
                    </m:r>
                    <m:r>
                      <a:rPr lang="en-GB" sz="16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GB" sz="16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−1=0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𝑡</m:t>
                      </m:r>
                      <m:r>
                        <a:rPr lang="en-GB" sz="1600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414" y="5289645"/>
                <a:ext cx="2232248" cy="1292020"/>
              </a:xfrm>
              <a:prstGeom prst="rect">
                <a:avLst/>
              </a:prstGeom>
              <a:blipFill rotWithShape="1">
                <a:blip r:embed="rId4"/>
                <a:stretch>
                  <a:fillRect l="-809" t="-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881548" y="3501008"/>
            <a:ext cx="2254113" cy="1538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a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414" y="5289645"/>
            <a:ext cx="2240585" cy="12920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b ?</a:t>
            </a:r>
          </a:p>
        </p:txBody>
      </p:sp>
    </p:spTree>
    <p:extLst>
      <p:ext uri="{BB962C8B-B14F-4D97-AF65-F5344CB8AC3E}">
        <p14:creationId xmlns:p14="http://schemas.microsoft.com/office/powerpoint/2010/main" val="350753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8.4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63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2378D851-36EF-8DF1-273B-C2D4EBAC4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836712"/>
            <a:ext cx="653415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2EC9C645-9FBF-CB2F-D288-70E77F7F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28" y="764704"/>
            <a:ext cx="67056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solving&#10;&#10;AI-generated content may be incorrect.">
            <a:extLst>
              <a:ext uri="{FF2B5EF4-FFF2-40B4-BE49-F238E27FC236}">
                <a16:creationId xmlns:a16="http://schemas.microsoft.com/office/drawing/2014/main" id="{97CBE991-9B72-BFC3-3665-2D62762AC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52264"/>
            <a:ext cx="6858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7AF5-D8C8-06EE-0084-82AE8DE2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57C3A6-A9F2-49FA-9B83-CB01BB57D8C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509755B-826D-67DF-3840-0A47F873122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25E58E-BB23-ADBD-48E0-645A6376E05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&#10;&#10;AI-generated content may be incorrect.">
            <a:extLst>
              <a:ext uri="{FF2B5EF4-FFF2-40B4-BE49-F238E27FC236}">
                <a16:creationId xmlns:a16="http://schemas.microsoft.com/office/drawing/2014/main" id="{3B394C03-2C0D-6326-19BD-75231C7E3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5" y="836712"/>
            <a:ext cx="69437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4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32B2760-606F-FAD1-F962-634100818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755"/>
            <a:ext cx="9144000" cy="517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BC188FB-646C-666A-5B25-15C9E04E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" y="1196752"/>
            <a:ext cx="39814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61753</TotalTime>
  <Words>583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8: Parametric Equations  Points of Intersection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2026-02-03T13:55:56Z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