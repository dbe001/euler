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547" r:id="rId5"/>
    <p:sldId id="568" r:id="rId6"/>
    <p:sldId id="570" r:id="rId7"/>
    <p:sldId id="549" r:id="rId8"/>
    <p:sldId id="543" r:id="rId9"/>
    <p:sldId id="550" r:id="rId10"/>
    <p:sldId id="551" r:id="rId11"/>
    <p:sldId id="54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518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B47B330E-67D7-47E6-A6C8-686253D34652}"/>
    <pc:docChg chg="modSld">
      <pc:chgData name="Dieter Beaven" userId="9bbdb69f-69d0-4759-aa9b-5c090a2da237" providerId="ADAL" clId="{B47B330E-67D7-47E6-A6C8-686253D34652}" dt="2026-02-03T13:47:02.927" v="15" actId="1035"/>
      <pc:docMkLst>
        <pc:docMk/>
      </pc:docMkLst>
      <pc:sldChg chg="addSp modSp mod">
        <pc:chgData name="Dieter Beaven" userId="9bbdb69f-69d0-4759-aa9b-5c090a2da237" providerId="ADAL" clId="{B47B330E-67D7-47E6-A6C8-686253D34652}" dt="2026-02-03T13:45:47.011" v="8" actId="1076"/>
        <pc:sldMkLst>
          <pc:docMk/>
          <pc:sldMk cId="3896053727" sldId="543"/>
        </pc:sldMkLst>
        <pc:picChg chg="add mod">
          <ac:chgData name="Dieter Beaven" userId="9bbdb69f-69d0-4759-aa9b-5c090a2da237" providerId="ADAL" clId="{B47B330E-67D7-47E6-A6C8-686253D34652}" dt="2026-02-03T13:45:47.011" v="8" actId="1076"/>
          <ac:picMkLst>
            <pc:docMk/>
            <pc:sldMk cId="3896053727" sldId="543"/>
            <ac:picMk id="6" creationId="{47352FEF-52BD-E3BB-3A38-1CC58CB65B61}"/>
          </ac:picMkLst>
        </pc:picChg>
      </pc:sldChg>
      <pc:sldChg chg="addSp modSp mod">
        <pc:chgData name="Dieter Beaven" userId="9bbdb69f-69d0-4759-aa9b-5c090a2da237" providerId="ADAL" clId="{B47B330E-67D7-47E6-A6C8-686253D34652}" dt="2026-02-03T13:45:54.389" v="10" actId="1036"/>
        <pc:sldMkLst>
          <pc:docMk/>
          <pc:sldMk cId="4091202299" sldId="550"/>
        </pc:sldMkLst>
        <pc:picChg chg="add mod">
          <ac:chgData name="Dieter Beaven" userId="9bbdb69f-69d0-4759-aa9b-5c090a2da237" providerId="ADAL" clId="{B47B330E-67D7-47E6-A6C8-686253D34652}" dt="2026-02-03T13:45:54.389" v="10" actId="1036"/>
          <ac:picMkLst>
            <pc:docMk/>
            <pc:sldMk cId="4091202299" sldId="550"/>
            <ac:picMk id="6" creationId="{4FA380F4-0A5B-DC1F-E856-6B8046E05A27}"/>
          </ac:picMkLst>
        </pc:picChg>
      </pc:sldChg>
      <pc:sldChg chg="addSp modSp mod">
        <pc:chgData name="Dieter Beaven" userId="9bbdb69f-69d0-4759-aa9b-5c090a2da237" providerId="ADAL" clId="{B47B330E-67D7-47E6-A6C8-686253D34652}" dt="2026-02-03T13:47:02.927" v="15" actId="1035"/>
        <pc:sldMkLst>
          <pc:docMk/>
          <pc:sldMk cId="3826585799" sldId="551"/>
        </pc:sldMkLst>
        <pc:picChg chg="add mod">
          <ac:chgData name="Dieter Beaven" userId="9bbdb69f-69d0-4759-aa9b-5c090a2da237" providerId="ADAL" clId="{B47B330E-67D7-47E6-A6C8-686253D34652}" dt="2026-02-03T13:47:02.927" v="15" actId="1035"/>
          <ac:picMkLst>
            <pc:docMk/>
            <pc:sldMk cId="3826585799" sldId="551"/>
            <ac:picMk id="6" creationId="{E15150AC-113C-7BB7-5766-A4D48FCD371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8: </a:t>
            </a:r>
            <a:r>
              <a:rPr lang="en-GB" dirty="0">
                <a:solidFill>
                  <a:schemeClr val="accent5"/>
                </a:solidFill>
              </a:rPr>
              <a:t>Parametric Equations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Angular Parameters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1AEBE62-792D-4AA2-AA31-DADB2EC51006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2284780E-2CE8-4651-9024-8178B7B4680A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Using Trig Identities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68BF623-27AB-4DE6-BA00-5599AD52D64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B17843-3407-4505-9176-5C3B48D750DA}"/>
                  </a:ext>
                </a:extLst>
              </p:cNvPr>
              <p:cNvSpPr txBox="1"/>
              <p:nvPr/>
            </p:nvSpPr>
            <p:spPr>
              <a:xfrm>
                <a:off x="321108" y="749232"/>
                <a:ext cx="770485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It’s often helpful to use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≡1</m:t>
                    </m:r>
                  </m:oMath>
                </a14:m>
                <a:r>
                  <a:rPr lang="en-GB" dirty="0"/>
                  <a:t> 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1+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≡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</m:oMath>
                </a14:m>
                <a:r>
                  <a:rPr lang="en-GB" dirty="0"/>
                  <a:t> to turn parametric equations into a single Cartesian one.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B17843-3407-4505-9176-5C3B48D75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08" y="749232"/>
                <a:ext cx="7704856" cy="646331"/>
              </a:xfrm>
              <a:prstGeom prst="rect">
                <a:avLst/>
              </a:prstGeom>
              <a:blipFill>
                <a:blip r:embed="rId2"/>
                <a:stretch>
                  <a:fillRect l="-712" t="-5660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7F99F8-68B2-4CA8-A447-B5DB4956F127}"/>
                  </a:ext>
                </a:extLst>
              </p:cNvPr>
              <p:cNvSpPr txBox="1"/>
              <p:nvPr/>
            </p:nvSpPr>
            <p:spPr>
              <a:xfrm>
                <a:off x="340602" y="1514339"/>
                <a:ext cx="3867166" cy="132343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A curve has the parametric sequences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GB" sz="1600" dirty="0"/>
                  <a:t>,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GB" sz="1600" dirty="0"/>
                  <a:t>,  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Find a Cartesian equation for the curve.</a:t>
                </a:r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Hence sketch the curve.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7F99F8-68B2-4CA8-A447-B5DB4956F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602" y="1514339"/>
                <a:ext cx="3867166" cy="1323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44B777F-FA41-4A0E-8FAB-89DD82AF7380}"/>
                  </a:ext>
                </a:extLst>
              </p:cNvPr>
              <p:cNvSpPr txBox="1"/>
              <p:nvPr/>
            </p:nvSpPr>
            <p:spPr>
              <a:xfrm>
                <a:off x="237487" y="3057613"/>
                <a:ext cx="354711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≡1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44B777F-FA41-4A0E-8FAB-89DD82AF7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87" y="3057613"/>
                <a:ext cx="3547113" cy="646331"/>
              </a:xfrm>
              <a:prstGeom prst="rect">
                <a:avLst/>
              </a:prstGeom>
              <a:blipFill>
                <a:blip r:embed="rId4"/>
                <a:stretch>
                  <a:fillRect b="-28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B7E14B3-C289-4269-9DE8-8D6AD9075A29}"/>
              </a:ext>
            </a:extLst>
          </p:cNvPr>
          <p:cNvCxnSpPr/>
          <p:nvPr/>
        </p:nvCxnSpPr>
        <p:spPr>
          <a:xfrm>
            <a:off x="960587" y="4913644"/>
            <a:ext cx="25202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E27897C-CACF-45DB-A0AE-72DB076DA988}"/>
              </a:ext>
            </a:extLst>
          </p:cNvPr>
          <p:cNvCxnSpPr>
            <a:cxnSpLocks/>
          </p:cNvCxnSpPr>
          <p:nvPr/>
        </p:nvCxnSpPr>
        <p:spPr>
          <a:xfrm flipV="1">
            <a:off x="1698045" y="4051014"/>
            <a:ext cx="0" cy="2160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1F7CDC-9B25-4956-90F4-30949B59B12B}"/>
                  </a:ext>
                </a:extLst>
              </p:cNvPr>
              <p:cNvSpPr txBox="1"/>
              <p:nvPr/>
            </p:nvSpPr>
            <p:spPr>
              <a:xfrm>
                <a:off x="3448969" y="4703926"/>
                <a:ext cx="2914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1F7CDC-9B25-4956-90F4-30949B59B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8969" y="4703926"/>
                <a:ext cx="29140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762C9F7-0F05-4654-BD5B-4A8199D17ED3}"/>
                  </a:ext>
                </a:extLst>
              </p:cNvPr>
              <p:cNvSpPr txBox="1"/>
              <p:nvPr/>
            </p:nvSpPr>
            <p:spPr>
              <a:xfrm>
                <a:off x="1531077" y="3723260"/>
                <a:ext cx="2640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762C9F7-0F05-4654-BD5B-4A8199D17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077" y="3723260"/>
                <a:ext cx="264053" cy="369332"/>
              </a:xfrm>
              <a:prstGeom prst="rect">
                <a:avLst/>
              </a:prstGeom>
              <a:blipFill>
                <a:blip r:embed="rId6"/>
                <a:stretch>
                  <a:fillRect r="-16279"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7A9DE795-60FC-4CF8-ACA2-2E9559B0065D}"/>
              </a:ext>
            </a:extLst>
          </p:cNvPr>
          <p:cNvSpPr/>
          <p:nvPr/>
        </p:nvSpPr>
        <p:spPr>
          <a:xfrm>
            <a:off x="2193889" y="5349579"/>
            <a:ext cx="864096" cy="82977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417CD9E-23FB-4800-8A74-212A9D8BF984}"/>
                  </a:ext>
                </a:extLst>
              </p:cNvPr>
              <p:cNvSpPr txBox="1"/>
              <p:nvPr/>
            </p:nvSpPr>
            <p:spPr>
              <a:xfrm>
                <a:off x="2380666" y="5518961"/>
                <a:ext cx="77566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(2,−3)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417CD9E-23FB-4800-8A74-212A9D8BF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0666" y="5518961"/>
                <a:ext cx="775663" cy="261610"/>
              </a:xfrm>
              <a:prstGeom prst="rect">
                <a:avLst/>
              </a:prstGeom>
              <a:blipFill>
                <a:blip r:embed="rId7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F6EA6FFF-378B-419F-A8E2-7E7D8A9DF547}"/>
              </a:ext>
            </a:extLst>
          </p:cNvPr>
          <p:cNvSpPr/>
          <p:nvPr/>
        </p:nvSpPr>
        <p:spPr>
          <a:xfrm>
            <a:off x="2608238" y="5764659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0006DB1-9962-4C46-B494-49CF683EDA6C}"/>
              </a:ext>
            </a:extLst>
          </p:cNvPr>
          <p:cNvCxnSpPr/>
          <p:nvPr/>
        </p:nvCxnSpPr>
        <p:spPr>
          <a:xfrm>
            <a:off x="2640806" y="5845175"/>
            <a:ext cx="116682" cy="273844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17F897A-62DE-4223-8D06-22C134E52B54}"/>
                  </a:ext>
                </a:extLst>
              </p:cNvPr>
              <p:cNvSpPr txBox="1"/>
              <p:nvPr/>
            </p:nvSpPr>
            <p:spPr>
              <a:xfrm>
                <a:off x="2464324" y="5868394"/>
                <a:ext cx="22648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17F897A-62DE-4223-8D06-22C134E52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324" y="5868394"/>
                <a:ext cx="226489" cy="2616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80B97A6-994B-4E7C-BFCF-CD6F05166241}"/>
                  </a:ext>
                </a:extLst>
              </p:cNvPr>
              <p:cNvSpPr txBox="1"/>
              <p:nvPr/>
            </p:nvSpPr>
            <p:spPr>
              <a:xfrm>
                <a:off x="4571428" y="1573004"/>
                <a:ext cx="4177036" cy="198810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A curve is defined by the parametric equations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,   −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Find a Cartesian equation of the curve in the form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,   −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1600" dirty="0"/>
                  <a:t>, stating the value of the constant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Write down the range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80B97A6-994B-4E7C-BFCF-CD6F05166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428" y="1573004"/>
                <a:ext cx="4177036" cy="198810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C086FAA-F1E4-4A9A-9023-A4FD23454FEC}"/>
                  </a:ext>
                </a:extLst>
              </p:cNvPr>
              <p:cNvSpPr txBox="1"/>
              <p:nvPr/>
            </p:nvSpPr>
            <p:spPr>
              <a:xfrm>
                <a:off x="4507839" y="3588372"/>
                <a:ext cx="4472469" cy="33278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</m:e>
                      </m:rad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ad>
                        <m:radPr>
                          <m:degHide m:val="on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GB" sz="1600" b="0" dirty="0"/>
              </a:p>
              <a:p>
                <a:endParaRPr lang="en-GB" sz="1600" dirty="0"/>
              </a:p>
              <a:p>
                <a:r>
                  <a:rPr lang="en-GB" sz="1600" b="0" dirty="0"/>
                  <a:t>When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1600" b="0" dirty="0"/>
                  <a:t>, </a:t>
                </a:r>
                <a:br>
                  <a:rPr lang="en-GB" sz="1600" b="0" dirty="0"/>
                </a:b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GB" sz="1600" b="0" dirty="0"/>
                  <a:t>.</a:t>
                </a:r>
              </a:p>
              <a:p>
                <a:r>
                  <a:rPr lang="en-GB" sz="1600" dirty="0"/>
                  <a:t>When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GB" sz="16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1600" b="0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1600" b="0" dirty="0"/>
                  <a:t> varies between -1 and 1 when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1600" b="0" dirty="0"/>
                  <a:t>, therefore range is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−1≤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GB" sz="1600" b="0" dirty="0"/>
                  <a:t>.</a:t>
                </a:r>
                <a:br>
                  <a:rPr lang="en-GB" sz="1600" b="0" dirty="0"/>
                </a:br>
                <a:endParaRPr lang="en-GB" sz="1600" b="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C086FAA-F1E4-4A9A-9023-A4FD23454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839" y="3588372"/>
                <a:ext cx="4472469" cy="3327834"/>
              </a:xfrm>
              <a:prstGeom prst="rect">
                <a:avLst/>
              </a:prstGeom>
              <a:blipFill>
                <a:blip r:embed="rId10"/>
                <a:stretch>
                  <a:fillRect l="-681" r="-9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4CDDA73-976F-437E-BC97-BC7225B93461}"/>
                  </a:ext>
                </a:extLst>
              </p:cNvPr>
              <p:cNvSpPr txBox="1"/>
              <p:nvPr/>
            </p:nvSpPr>
            <p:spPr>
              <a:xfrm>
                <a:off x="7184876" y="3694444"/>
                <a:ext cx="1869788" cy="175432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If we have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2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</m:oMath>
                </a14:m>
                <a:r>
                  <a:rPr lang="en-GB" sz="1200" dirty="0"/>
                  <a:t>, we need to turn in into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2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</m:oMath>
                </a14:m>
                <a:r>
                  <a:rPr lang="en-GB" sz="1200" dirty="0"/>
                  <a:t> so that we can replace it with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 dirty="0"/>
                  <a:t>. It’s quite common to have to interchange between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2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</m:oMath>
                </a14:m>
                <a:r>
                  <a:rPr lang="en-GB" sz="1200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2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</m:oMath>
                </a14:m>
                <a:r>
                  <a:rPr lang="en-GB" sz="1200" dirty="0"/>
                  <a:t> in this way. You may find it helpful to write out the identity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2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2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GB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func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1200" dirty="0"/>
                  <a:t> first.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4CDDA73-976F-437E-BC97-BC7225B93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4876" y="3694444"/>
                <a:ext cx="1869788" cy="1754326"/>
              </a:xfrm>
              <a:prstGeom prst="rect">
                <a:avLst/>
              </a:prstGeom>
              <a:blipFill>
                <a:blip r:embed="rId11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BBF45B6-2938-4BCB-ABD6-370765E03AA4}"/>
              </a:ext>
            </a:extLst>
          </p:cNvPr>
          <p:cNvCxnSpPr>
            <a:cxnSpLocks/>
          </p:cNvCxnSpPr>
          <p:nvPr/>
        </p:nvCxnSpPr>
        <p:spPr>
          <a:xfrm flipH="1" flipV="1">
            <a:off x="6515100" y="4114800"/>
            <a:ext cx="649188" cy="466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39A9A56B-B05C-49F8-BECD-DDB08C11D433}"/>
              </a:ext>
            </a:extLst>
          </p:cNvPr>
          <p:cNvSpPr/>
          <p:nvPr/>
        </p:nvSpPr>
        <p:spPr>
          <a:xfrm>
            <a:off x="4298255" y="3684894"/>
            <a:ext cx="178495" cy="20398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BAD6A84-EB9E-42ED-8BEC-4AB18EF43185}"/>
              </a:ext>
            </a:extLst>
          </p:cNvPr>
          <p:cNvSpPr/>
          <p:nvPr/>
        </p:nvSpPr>
        <p:spPr>
          <a:xfrm>
            <a:off x="4312541" y="6039293"/>
            <a:ext cx="178495" cy="20398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6E6111-301F-4523-BE7E-DFA9731F6A88}"/>
              </a:ext>
            </a:extLst>
          </p:cNvPr>
          <p:cNvSpPr/>
          <p:nvPr/>
        </p:nvSpPr>
        <p:spPr>
          <a:xfrm>
            <a:off x="321108" y="2846696"/>
            <a:ext cx="3886660" cy="389467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AEF233-044F-4844-8BE4-480ECAFD2871}"/>
              </a:ext>
            </a:extLst>
          </p:cNvPr>
          <p:cNvSpPr/>
          <p:nvPr/>
        </p:nvSpPr>
        <p:spPr>
          <a:xfrm>
            <a:off x="4491036" y="3684894"/>
            <a:ext cx="4563627" cy="23012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3F269CF-C6EE-4B38-8329-107BFA174F98}"/>
              </a:ext>
            </a:extLst>
          </p:cNvPr>
          <p:cNvSpPr/>
          <p:nvPr/>
        </p:nvSpPr>
        <p:spPr>
          <a:xfrm>
            <a:off x="4500799" y="6039293"/>
            <a:ext cx="4563627" cy="69479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7398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51A4850-2DA8-4B3A-BB56-F3BDBE318D93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415C1580-B103-47C5-BEE3-A1A6B01A3B1A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Test Your Understanding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D22DA91-C78A-42C2-B44E-E0A94E377AD8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2">
            <a:extLst>
              <a:ext uri="{FF2B5EF4-FFF2-40B4-BE49-F238E27FC236}">
                <a16:creationId xmlns:a16="http://schemas.microsoft.com/office/drawing/2014/main" id="{DFC00E2E-0066-4282-8C1C-BEDE4B5E5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67" y="1112174"/>
            <a:ext cx="6743700" cy="22098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34120C-5FA5-46B6-835E-A129C161FC2D}"/>
              </a:ext>
            </a:extLst>
          </p:cNvPr>
          <p:cNvSpPr txBox="1"/>
          <p:nvPr/>
        </p:nvSpPr>
        <p:spPr>
          <a:xfrm>
            <a:off x="105708" y="750263"/>
            <a:ext cx="1584176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C4 June 2013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D8E83F-A3D7-49BD-8E97-B0E9397502C7}"/>
                  </a:ext>
                </a:extLst>
              </p:cNvPr>
              <p:cNvSpPr txBox="1"/>
              <p:nvPr/>
            </p:nvSpPr>
            <p:spPr>
              <a:xfrm>
                <a:off x="6855552" y="934929"/>
                <a:ext cx="2245918" cy="221233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/>
                            </a:rPr>
                            <m:t>𝑡</m:t>
                          </m:r>
                        </m:e>
                      </m:func>
                      <m:r>
                        <a:rPr lang="en-GB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/>
                            </a:rPr>
                            <m:t>𝑥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𝑦</m:t>
                      </m:r>
                      <m:r>
                        <a:rPr lang="en-GB" sz="1600" b="0" i="1" smtClean="0">
                          <a:latin typeface="Cambria Math"/>
                        </a:rPr>
                        <m:t>=1−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/>
                            </a:rPr>
                            <m:t>1−2</m:t>
                          </m:r>
                          <m:func>
                            <m:func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600" b="0" i="0" smtClean="0">
                                      <a:latin typeface="Cambria Math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GB" sz="16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sz="16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=2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600" b="0" i="0" smtClean="0">
                                  <a:latin typeface="Cambria Math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1600" b="0" i="1" smtClean="0">
                              <a:latin typeface="Cambria Math"/>
                            </a:rPr>
                            <m:t>𝑡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=2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b="0" i="1" smtClean="0">
                                      <a:latin typeface="Cambria Math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GB" sz="1600" b="0" i="1" smtClean="0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16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16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/>
                        </a:rPr>
                        <m:t>𝑘</m:t>
                      </m:r>
                      <m:r>
                        <a:rPr lang="en-GB" sz="1600" b="0" i="1" smtClean="0"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D8E83F-A3D7-49BD-8E97-B0E939750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5552" y="934929"/>
                <a:ext cx="2245918" cy="22123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F06CD75A-5F0A-45FA-8100-E4B39764712E}"/>
              </a:ext>
            </a:extLst>
          </p:cNvPr>
          <p:cNvSpPr/>
          <p:nvPr/>
        </p:nvSpPr>
        <p:spPr>
          <a:xfrm>
            <a:off x="6854408" y="934929"/>
            <a:ext cx="2247062" cy="221233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7BCD15-6308-45AF-BF3B-39A426DC10CD}"/>
              </a:ext>
            </a:extLst>
          </p:cNvPr>
          <p:cNvSpPr txBox="1"/>
          <p:nvPr/>
        </p:nvSpPr>
        <p:spPr>
          <a:xfrm>
            <a:off x="4097422" y="750263"/>
            <a:ext cx="2295052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which double angle formula would be best here?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2A216C1-1302-4967-AEAC-ABA847CB5E97}"/>
              </a:ext>
            </a:extLst>
          </p:cNvPr>
          <p:cNvCxnSpPr>
            <a:stCxn id="9" idx="2"/>
          </p:cNvCxnSpPr>
          <p:nvPr/>
        </p:nvCxnSpPr>
        <p:spPr>
          <a:xfrm flipH="1">
            <a:off x="4745494" y="1273483"/>
            <a:ext cx="499454" cy="27597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C6B910C-8BD8-4A96-800B-88D27F7FB7C6}"/>
                  </a:ext>
                </a:extLst>
              </p:cNvPr>
              <p:cNvSpPr txBox="1"/>
              <p:nvPr/>
            </p:nvSpPr>
            <p:spPr>
              <a:xfrm>
                <a:off x="251520" y="3654884"/>
                <a:ext cx="8280920" cy="132343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A curve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has parametric equations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cot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+2,   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𝑐𝑜𝑠𝑒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−2,   0&lt;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GB" sz="1600" dirty="0"/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Find the equation of the curve in the form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600" dirty="0"/>
                  <a:t> and state the domain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for which the curve is defined.</a:t>
                </a:r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Hence, sketch the curve.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C6B910C-8BD8-4A96-800B-88D27F7FB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3654884"/>
                <a:ext cx="8280920" cy="13234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AC4BAC-E370-44E2-87DB-D087D51128F5}"/>
                  </a:ext>
                </a:extLst>
              </p:cNvPr>
              <p:cNvSpPr txBox="1"/>
              <p:nvPr/>
            </p:nvSpPr>
            <p:spPr>
              <a:xfrm>
                <a:off x="497976" y="5048446"/>
                <a:ext cx="4116555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1+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600" b="0" i="0" smtClean="0">
                                  <a:latin typeface="Cambria Math" panose="02040503050406030204" pitchFamily="18" charset="0"/>
                                </a:rPr>
                                <m:t>cot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𝑐𝑜𝑠𝑒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∴1+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As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sz="1600" dirty="0"/>
                  <a:t> varies between 0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sz="1600" dirty="0"/>
                  <a:t>,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cot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func>
                  </m:oMath>
                </a14:m>
                <a:r>
                  <a:rPr lang="en-GB" sz="1600" dirty="0"/>
                  <a:t> varies over all real numbers (sketch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𝑐𝑜𝑡</m:t>
                    </m:r>
                  </m:oMath>
                </a14:m>
                <a:r>
                  <a:rPr lang="en-GB" sz="1600" dirty="0"/>
                  <a:t> to see this). Therefore the domain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600" dirty="0"/>
                  <a:t> is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AC4BAC-E370-44E2-87DB-D087D5112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976" y="5048446"/>
                <a:ext cx="4116555" cy="1569660"/>
              </a:xfrm>
              <a:prstGeom prst="rect">
                <a:avLst/>
              </a:prstGeom>
              <a:blipFill>
                <a:blip r:embed="rId5"/>
                <a:stretch>
                  <a:fillRect l="-889" b="-38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6EB63A5-615C-49AF-86AA-7B73334AA2CA}"/>
              </a:ext>
            </a:extLst>
          </p:cNvPr>
          <p:cNvCxnSpPr/>
          <p:nvPr/>
        </p:nvCxnSpPr>
        <p:spPr>
          <a:xfrm>
            <a:off x="5372596" y="6148288"/>
            <a:ext cx="1944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259FCBF-4066-4038-9967-CEA9A4E499C4}"/>
              </a:ext>
            </a:extLst>
          </p:cNvPr>
          <p:cNvCxnSpPr>
            <a:cxnSpLocks/>
          </p:cNvCxnSpPr>
          <p:nvPr/>
        </p:nvCxnSpPr>
        <p:spPr>
          <a:xfrm flipV="1">
            <a:off x="6275634" y="5307052"/>
            <a:ext cx="0" cy="1460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FF75687-09C3-4F2C-9B72-B869323BAD94}"/>
                  </a:ext>
                </a:extLst>
              </p:cNvPr>
              <p:cNvSpPr txBox="1"/>
              <p:nvPr/>
            </p:nvSpPr>
            <p:spPr>
              <a:xfrm>
                <a:off x="7227912" y="5955630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FF75687-09C3-4F2C-9B72-B869323BA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7912" y="5955630"/>
                <a:ext cx="36004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AA99571-DAEE-49DB-B249-1B7EA6AAE08B}"/>
                  </a:ext>
                </a:extLst>
              </p:cNvPr>
              <p:cNvSpPr txBox="1"/>
              <p:nvPr/>
            </p:nvSpPr>
            <p:spPr>
              <a:xfrm>
                <a:off x="6020668" y="5045829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AA99571-DAEE-49DB-B249-1B7EA6AAE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668" y="5045829"/>
                <a:ext cx="360040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4F8FE91-5C38-42BB-9965-FF729BDCC1BF}"/>
              </a:ext>
            </a:extLst>
          </p:cNvPr>
          <p:cNvSpPr/>
          <p:nvPr/>
        </p:nvSpPr>
        <p:spPr>
          <a:xfrm>
            <a:off x="6076950" y="5384800"/>
            <a:ext cx="1181100" cy="1009676"/>
          </a:xfrm>
          <a:custGeom>
            <a:avLst/>
            <a:gdLst>
              <a:gd name="connsiteX0" fmla="*/ 0 w 1181100"/>
              <a:gd name="connsiteY0" fmla="*/ 0 h 1009676"/>
              <a:gd name="connsiteX1" fmla="*/ 635000 w 1181100"/>
              <a:gd name="connsiteY1" fmla="*/ 1009650 h 1009676"/>
              <a:gd name="connsiteX2" fmla="*/ 1181100 w 1181100"/>
              <a:gd name="connsiteY2" fmla="*/ 25400 h 1009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81100" h="1009676">
                <a:moveTo>
                  <a:pt x="0" y="0"/>
                </a:moveTo>
                <a:cubicBezTo>
                  <a:pt x="219075" y="502708"/>
                  <a:pt x="438150" y="1005417"/>
                  <a:pt x="635000" y="1009650"/>
                </a:cubicBezTo>
                <a:cubicBezTo>
                  <a:pt x="831850" y="1013883"/>
                  <a:pt x="1006475" y="519641"/>
                  <a:pt x="1181100" y="25400"/>
                </a:cubicBezTo>
              </a:path>
            </a:pathLst>
          </a:cu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C8BDAC7-6F54-49A7-B429-ED1CC4C9AF90}"/>
                  </a:ext>
                </a:extLst>
              </p:cNvPr>
              <p:cNvSpPr txBox="1"/>
              <p:nvPr/>
            </p:nvSpPr>
            <p:spPr>
              <a:xfrm>
                <a:off x="6078513" y="5717284"/>
                <a:ext cx="1984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C8BDAC7-6F54-49A7-B429-ED1CC4C9A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8513" y="5717284"/>
                <a:ext cx="198462" cy="261610"/>
              </a:xfrm>
              <a:prstGeom prst="rect">
                <a:avLst/>
              </a:prstGeom>
              <a:blipFill>
                <a:blip r:embed="rId8"/>
                <a:stretch>
                  <a:fillRect r="-90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8F71FE3-660B-4CFB-A21D-ADD43C8208C1}"/>
                  </a:ext>
                </a:extLst>
              </p:cNvPr>
              <p:cNvSpPr txBox="1"/>
              <p:nvPr/>
            </p:nvSpPr>
            <p:spPr>
              <a:xfrm>
                <a:off x="6281477" y="6107658"/>
                <a:ext cx="1984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8F71FE3-660B-4CFB-A21D-ADD43C820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1477" y="6107658"/>
                <a:ext cx="198462" cy="261610"/>
              </a:xfrm>
              <a:prstGeom prst="rect">
                <a:avLst/>
              </a:prstGeom>
              <a:blipFill>
                <a:blip r:embed="rId9"/>
                <a:stretch>
                  <a:fillRect r="-90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F6E010F-01DD-41A0-9516-A72C3F2A9B9D}"/>
                  </a:ext>
                </a:extLst>
              </p:cNvPr>
              <p:cNvSpPr txBox="1"/>
              <p:nvPr/>
            </p:nvSpPr>
            <p:spPr>
              <a:xfrm>
                <a:off x="6857541" y="6107658"/>
                <a:ext cx="1984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F6E010F-01DD-41A0-9516-A72C3F2A9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541" y="6107658"/>
                <a:ext cx="198462" cy="261610"/>
              </a:xfrm>
              <a:prstGeom prst="rect">
                <a:avLst/>
              </a:prstGeom>
              <a:blipFill>
                <a:blip r:embed="rId8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5DDFFE56-FACA-4338-8AE4-2F6AF8BE0F73}"/>
              </a:ext>
            </a:extLst>
          </p:cNvPr>
          <p:cNvSpPr/>
          <p:nvPr/>
        </p:nvSpPr>
        <p:spPr>
          <a:xfrm>
            <a:off x="487358" y="5045829"/>
            <a:ext cx="4007895" cy="172213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C76BA9-299F-4B1D-8C90-6A0BA39B12E2}"/>
              </a:ext>
            </a:extLst>
          </p:cNvPr>
          <p:cNvSpPr/>
          <p:nvPr/>
        </p:nvSpPr>
        <p:spPr>
          <a:xfrm>
            <a:off x="4484167" y="5045829"/>
            <a:ext cx="4007895" cy="172213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b</a:t>
            </a:r>
          </a:p>
        </p:txBody>
      </p:sp>
    </p:spTree>
    <p:extLst>
      <p:ext uri="{BB962C8B-B14F-4D97-AF65-F5344CB8AC3E}">
        <p14:creationId xmlns:p14="http://schemas.microsoft.com/office/powerpoint/2010/main" val="432791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8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8.2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/>
              <a:t>Page 61</a:t>
            </a:r>
            <a:endParaRPr lang="en-GB" sz="2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3">
            <a:extLst>
              <a:ext uri="{FF2B5EF4-FFF2-40B4-BE49-F238E27FC236}">
                <a16:creationId xmlns:a16="http://schemas.microsoft.com/office/drawing/2014/main" id="{26E5C0E2-53DA-0B4C-10FB-8F2C9F3B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972" y="3096573"/>
            <a:ext cx="7296150" cy="111442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2648C9-8074-3FA8-698F-6A1919D9B94B}"/>
              </a:ext>
            </a:extLst>
          </p:cNvPr>
          <p:cNvSpPr txBox="1"/>
          <p:nvPr/>
        </p:nvSpPr>
        <p:spPr>
          <a:xfrm>
            <a:off x="213972" y="2705987"/>
            <a:ext cx="1808216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C4 June 2012 Q6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51BE26-17D1-E2C3-3960-63D35267D59E}"/>
                  </a:ext>
                </a:extLst>
              </p:cNvPr>
              <p:cNvSpPr txBox="1"/>
              <p:nvPr/>
            </p:nvSpPr>
            <p:spPr>
              <a:xfrm>
                <a:off x="6486683" y="2600437"/>
                <a:ext cx="2592288" cy="113152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/>
                        </a:rPr>
                        <m:t>𝑥</m:t>
                      </m:r>
                      <m:r>
                        <a:rPr lang="en-GB" sz="1400" b="0" i="1" smtClean="0">
                          <a:latin typeface="Cambria Math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3</m:t>
                          </m:r>
                        </m:e>
                      </m:rad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𝑡</m:t>
                          </m:r>
                        </m:e>
                      </m:func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𝑡</m:t>
                          </m:r>
                        </m:e>
                      </m:func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1400" b="0" i="1" smtClean="0">
                          <a:latin typeface="Cambria Math"/>
                        </a:rPr>
                        <m:t>=12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 smtClean="0">
                                  <a:latin typeface="Cambria Math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𝑡</m:t>
                          </m:r>
                        </m:e>
                      </m:func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 smtClean="0">
                                  <a:latin typeface="Cambria Math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𝑡</m:t>
                          </m:r>
                        </m:e>
                      </m:func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1400" b="0" i="1" smtClean="0">
                          <a:latin typeface="Cambria Math"/>
                        </a:rPr>
                        <m:t>=12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1400" b="0" i="0" smtClean="0">
                                      <a:latin typeface="Cambria Math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sz="14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sz="14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</m:func>
                        </m:e>
                      </m:d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 smtClean="0">
                                  <a:latin typeface="Cambria Math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1400" b="0" i="1" smtClean="0">
                              <a:latin typeface="Cambria Math"/>
                            </a:rPr>
                            <m:t>𝑡</m:t>
                          </m:r>
                        </m:e>
                      </m:func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b="0" i="1" smtClean="0">
                          <a:latin typeface="Cambria Math"/>
                        </a:rPr>
                        <m:t>=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12</m:t>
                      </m:r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51BE26-17D1-E2C3-3960-63D35267D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683" y="2600437"/>
                <a:ext cx="2592288" cy="11315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A4C3961C-494A-6A71-971E-4F8B77CC4CD5}"/>
              </a:ext>
            </a:extLst>
          </p:cNvPr>
          <p:cNvSpPr/>
          <p:nvPr/>
        </p:nvSpPr>
        <p:spPr>
          <a:xfrm>
            <a:off x="6482081" y="2600438"/>
            <a:ext cx="2601491" cy="113152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A16509-4B0E-2D87-687E-74AEDEAA8FFB}"/>
              </a:ext>
            </a:extLst>
          </p:cNvPr>
          <p:cNvSpPr txBox="1"/>
          <p:nvPr/>
        </p:nvSpPr>
        <p:spPr>
          <a:xfrm>
            <a:off x="235802" y="2147187"/>
            <a:ext cx="2866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Further Exam Practice</a:t>
            </a:r>
          </a:p>
        </p:txBody>
      </p: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47352FEF-52BD-E3BB-3A38-1CC58CB65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203" y="836712"/>
            <a:ext cx="6648450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4FA380F4-0A5B-DC1F-E856-6B8046E05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253" y="871686"/>
            <a:ext cx="6610350" cy="558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screenshot of a math test&#10;&#10;AI-generated content may be incorrect.">
            <a:extLst>
              <a:ext uri="{FF2B5EF4-FFF2-40B4-BE49-F238E27FC236}">
                <a16:creationId xmlns:a16="http://schemas.microsoft.com/office/drawing/2014/main" id="{E15150AC-113C-7BB7-5766-A4D48FCD3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340" y="836712"/>
            <a:ext cx="6734175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6C7EB74-98DC-9043-1240-C07E494E7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58" y="696307"/>
            <a:ext cx="8523484" cy="611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61752</TotalTime>
  <Words>507</Words>
  <Application>Microsoft Office PowerPoint</Application>
  <PresentationFormat>On-screen Show (4:3)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 Math</vt:lpstr>
      <vt:lpstr>Office Theme</vt:lpstr>
      <vt:lpstr>P2 Chapter 8: Parametric Equations  Angular Parameters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2026-02-03T13:47:08Z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