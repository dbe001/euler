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9"/>
  </p:notesMasterIdLst>
  <p:sldIdLst>
    <p:sldId id="717" r:id="rId5"/>
    <p:sldId id="725" r:id="rId6"/>
    <p:sldId id="575" r:id="rId7"/>
    <p:sldId id="576" r:id="rId8"/>
    <p:sldId id="524" r:id="rId9"/>
    <p:sldId id="525" r:id="rId10"/>
    <p:sldId id="577" r:id="rId11"/>
    <p:sldId id="533" r:id="rId12"/>
    <p:sldId id="721" r:id="rId13"/>
    <p:sldId id="718" r:id="rId14"/>
    <p:sldId id="722" r:id="rId15"/>
    <p:sldId id="723" r:id="rId16"/>
    <p:sldId id="724" r:id="rId17"/>
    <p:sldId id="720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F34905-0B9C-422A-BD20-415ED51E2E0E}" v="6" dt="2026-03-12T13:51:28.5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990" autoAdjust="0"/>
    <p:restoredTop sz="88534" autoAdjust="0"/>
  </p:normalViewPr>
  <p:slideViewPr>
    <p:cSldViewPr>
      <p:cViewPr varScale="1">
        <p:scale>
          <a:sx n="112" d="100"/>
          <a:sy n="112" d="100"/>
        </p:scale>
        <p:origin x="1680" y="108"/>
      </p:cViewPr>
      <p:guideLst>
        <p:guide orient="horz" pos="2160"/>
        <p:guide pos="2880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eter Beaven" userId="9bbdb69f-69d0-4759-aa9b-5c090a2da237" providerId="ADAL" clId="{2D8212FC-6CF0-4EAC-9F59-B520D2D2E3F2}"/>
    <pc:docChg chg="addSld delSld modSld">
      <pc:chgData name="Dieter Beaven" userId="9bbdb69f-69d0-4759-aa9b-5c090a2da237" providerId="ADAL" clId="{2D8212FC-6CF0-4EAC-9F59-B520D2D2E3F2}" dt="2026-03-10T10:47:13.905" v="38" actId="6549"/>
      <pc:docMkLst>
        <pc:docMk/>
      </pc:docMkLst>
      <pc:sldChg chg="add">
        <pc:chgData name="Dieter Beaven" userId="9bbdb69f-69d0-4759-aa9b-5c090a2da237" providerId="ADAL" clId="{2D8212FC-6CF0-4EAC-9F59-B520D2D2E3F2}" dt="2026-03-10T10:46:41.815" v="20"/>
        <pc:sldMkLst>
          <pc:docMk/>
          <pc:sldMk cId="2975142694" sldId="524"/>
        </pc:sldMkLst>
      </pc:sldChg>
      <pc:sldChg chg="add">
        <pc:chgData name="Dieter Beaven" userId="9bbdb69f-69d0-4759-aa9b-5c090a2da237" providerId="ADAL" clId="{2D8212FC-6CF0-4EAC-9F59-B520D2D2E3F2}" dt="2026-03-10T10:46:41.815" v="20"/>
        <pc:sldMkLst>
          <pc:docMk/>
          <pc:sldMk cId="1326247051" sldId="525"/>
        </pc:sldMkLst>
      </pc:sldChg>
      <pc:sldChg chg="add">
        <pc:chgData name="Dieter Beaven" userId="9bbdb69f-69d0-4759-aa9b-5c090a2da237" providerId="ADAL" clId="{2D8212FC-6CF0-4EAC-9F59-B520D2D2E3F2}" dt="2026-03-10T10:46:41.815" v="20"/>
        <pc:sldMkLst>
          <pc:docMk/>
          <pc:sldMk cId="3677744923" sldId="574"/>
        </pc:sldMkLst>
      </pc:sldChg>
      <pc:sldChg chg="add">
        <pc:chgData name="Dieter Beaven" userId="9bbdb69f-69d0-4759-aa9b-5c090a2da237" providerId="ADAL" clId="{2D8212FC-6CF0-4EAC-9F59-B520D2D2E3F2}" dt="2026-03-10T10:46:41.815" v="20"/>
        <pc:sldMkLst>
          <pc:docMk/>
          <pc:sldMk cId="968162001" sldId="575"/>
        </pc:sldMkLst>
      </pc:sldChg>
      <pc:sldChg chg="add">
        <pc:chgData name="Dieter Beaven" userId="9bbdb69f-69d0-4759-aa9b-5c090a2da237" providerId="ADAL" clId="{2D8212FC-6CF0-4EAC-9F59-B520D2D2E3F2}" dt="2026-03-10T10:46:41.815" v="20"/>
        <pc:sldMkLst>
          <pc:docMk/>
          <pc:sldMk cId="1099690928" sldId="576"/>
        </pc:sldMkLst>
      </pc:sldChg>
      <pc:sldChg chg="modSp add mod">
        <pc:chgData name="Dieter Beaven" userId="9bbdb69f-69d0-4759-aa9b-5c090a2da237" providerId="ADAL" clId="{2D8212FC-6CF0-4EAC-9F59-B520D2D2E3F2}" dt="2026-03-10T10:47:13.905" v="38" actId="6549"/>
        <pc:sldMkLst>
          <pc:docMk/>
          <pc:sldMk cId="2949823501" sldId="577"/>
        </pc:sldMkLst>
        <pc:spChg chg="mod">
          <ac:chgData name="Dieter Beaven" userId="9bbdb69f-69d0-4759-aa9b-5c090a2da237" providerId="ADAL" clId="{2D8212FC-6CF0-4EAC-9F59-B520D2D2E3F2}" dt="2026-03-10T10:46:52.221" v="24" actId="20577"/>
          <ac:spMkLst>
            <pc:docMk/>
            <pc:sldMk cId="2949823501" sldId="577"/>
            <ac:spMk id="3" creationId="{00000000-0000-0000-0000-000000000000}"/>
          </ac:spMkLst>
        </pc:spChg>
        <pc:spChg chg="mod">
          <ac:chgData name="Dieter Beaven" userId="9bbdb69f-69d0-4759-aa9b-5c090a2da237" providerId="ADAL" clId="{2D8212FC-6CF0-4EAC-9F59-B520D2D2E3F2}" dt="2026-03-10T10:47:13.905" v="38" actId="6549"/>
          <ac:spMkLst>
            <pc:docMk/>
            <pc:sldMk cId="2949823501" sldId="577"/>
            <ac:spMk id="28" creationId="{AB409FA8-34C4-4FDD-966B-EFA5D58ECFF6}"/>
          </ac:spMkLst>
        </pc:spChg>
      </pc:sldChg>
      <pc:sldChg chg="modSp mod">
        <pc:chgData name="Dieter Beaven" userId="9bbdb69f-69d0-4759-aa9b-5c090a2da237" providerId="ADAL" clId="{2D8212FC-6CF0-4EAC-9F59-B520D2D2E3F2}" dt="2026-03-10T10:46:15.376" v="19" actId="20577"/>
        <pc:sldMkLst>
          <pc:docMk/>
          <pc:sldMk cId="938785864" sldId="717"/>
        </pc:sldMkLst>
        <pc:spChg chg="mod">
          <ac:chgData name="Dieter Beaven" userId="9bbdb69f-69d0-4759-aa9b-5c090a2da237" providerId="ADAL" clId="{2D8212FC-6CF0-4EAC-9F59-B520D2D2E3F2}" dt="2026-03-10T10:46:15.376" v="19" actId="20577"/>
          <ac:spMkLst>
            <pc:docMk/>
            <pc:sldMk cId="938785864" sldId="717"/>
            <ac:spMk id="2" creationId="{00000000-0000-0000-0000-000000000000}"/>
          </ac:spMkLst>
        </pc:spChg>
      </pc:sldChg>
    </pc:docChg>
  </pc:docChgLst>
  <pc:docChgLst>
    <pc:chgData name="Dieter Beaven" userId="9bbdb69f-69d0-4759-aa9b-5c090a2da237" providerId="ADAL" clId="{B47B330E-67D7-47E6-A6C8-686253D34652}"/>
    <pc:docChg chg="custSel addSld delSld modSld sldOrd">
      <pc:chgData name="Dieter Beaven" userId="9bbdb69f-69d0-4759-aa9b-5c090a2da237" providerId="ADAL" clId="{B47B330E-67D7-47E6-A6C8-686253D34652}" dt="2026-03-12T13:51:33.351" v="65" actId="47"/>
      <pc:docMkLst>
        <pc:docMk/>
      </pc:docMkLst>
      <pc:sldChg chg="addSp modSp mod">
        <pc:chgData name="Dieter Beaven" userId="9bbdb69f-69d0-4759-aa9b-5c090a2da237" providerId="ADAL" clId="{B47B330E-67D7-47E6-A6C8-686253D34652}" dt="2026-03-10T13:50:45.736" v="29" actId="1035"/>
        <pc:sldMkLst>
          <pc:docMk/>
          <pc:sldMk cId="173887519" sldId="533"/>
        </pc:sldMkLst>
        <pc:picChg chg="add mod">
          <ac:chgData name="Dieter Beaven" userId="9bbdb69f-69d0-4759-aa9b-5c090a2da237" providerId="ADAL" clId="{B47B330E-67D7-47E6-A6C8-686253D34652}" dt="2026-03-10T13:50:45.736" v="29" actId="1035"/>
          <ac:picMkLst>
            <pc:docMk/>
            <pc:sldMk cId="173887519" sldId="533"/>
            <ac:picMk id="6" creationId="{17570A54-FF54-E20E-F652-1477B4354B18}"/>
          </ac:picMkLst>
        </pc:picChg>
      </pc:sldChg>
      <pc:sldChg chg="del">
        <pc:chgData name="Dieter Beaven" userId="9bbdb69f-69d0-4759-aa9b-5c090a2da237" providerId="ADAL" clId="{B47B330E-67D7-47E6-A6C8-686253D34652}" dt="2026-03-12T13:51:33.351" v="65" actId="47"/>
        <pc:sldMkLst>
          <pc:docMk/>
          <pc:sldMk cId="3677744923" sldId="574"/>
        </pc:sldMkLst>
      </pc:sldChg>
      <pc:sldChg chg="addSp delSp modSp mod ord">
        <pc:chgData name="Dieter Beaven" userId="9bbdb69f-69d0-4759-aa9b-5c090a2da237" providerId="ADAL" clId="{B47B330E-67D7-47E6-A6C8-686253D34652}" dt="2026-03-10T13:51:17.113" v="33" actId="1076"/>
        <pc:sldMkLst>
          <pc:docMk/>
          <pc:sldMk cId="3902928920" sldId="718"/>
        </pc:sldMkLst>
        <pc:picChg chg="add mod">
          <ac:chgData name="Dieter Beaven" userId="9bbdb69f-69d0-4759-aa9b-5c090a2da237" providerId="ADAL" clId="{B47B330E-67D7-47E6-A6C8-686253D34652}" dt="2026-03-10T13:51:17.113" v="33" actId="1076"/>
          <ac:picMkLst>
            <pc:docMk/>
            <pc:sldMk cId="3902928920" sldId="718"/>
            <ac:picMk id="8" creationId="{99A2CB5D-F679-6335-8277-035A440F47BA}"/>
          </ac:picMkLst>
        </pc:picChg>
      </pc:sldChg>
      <pc:sldChg chg="addSp delSp modSp mod">
        <pc:chgData name="Dieter Beaven" userId="9bbdb69f-69d0-4759-aa9b-5c090a2da237" providerId="ADAL" clId="{B47B330E-67D7-47E6-A6C8-686253D34652}" dt="2026-03-12T13:49:13.452" v="61" actId="478"/>
        <pc:sldMkLst>
          <pc:docMk/>
          <pc:sldMk cId="2398901012" sldId="720"/>
        </pc:sldMkLst>
        <pc:picChg chg="add mod">
          <ac:chgData name="Dieter Beaven" userId="9bbdb69f-69d0-4759-aa9b-5c090a2da237" providerId="ADAL" clId="{B47B330E-67D7-47E6-A6C8-686253D34652}" dt="2026-03-12T13:49:01.599" v="57" actId="1076"/>
          <ac:picMkLst>
            <pc:docMk/>
            <pc:sldMk cId="2398901012" sldId="720"/>
            <ac:picMk id="6" creationId="{681882F2-EC45-8CA7-7B14-4A498D627A99}"/>
          </ac:picMkLst>
        </pc:picChg>
        <pc:picChg chg="add del mod">
          <ac:chgData name="Dieter Beaven" userId="9bbdb69f-69d0-4759-aa9b-5c090a2da237" providerId="ADAL" clId="{B47B330E-67D7-47E6-A6C8-686253D34652}" dt="2026-03-12T13:49:13.452" v="61" actId="478"/>
          <ac:picMkLst>
            <pc:docMk/>
            <pc:sldMk cId="2398901012" sldId="720"/>
            <ac:picMk id="8" creationId="{3E86DF52-B19F-D2AE-1410-BEBDEC7A7220}"/>
          </ac:picMkLst>
        </pc:picChg>
      </pc:sldChg>
      <pc:sldChg chg="addSp modSp add mod">
        <pc:chgData name="Dieter Beaven" userId="9bbdb69f-69d0-4759-aa9b-5c090a2da237" providerId="ADAL" clId="{B47B330E-67D7-47E6-A6C8-686253D34652}" dt="2026-03-10T13:52:54.667" v="49" actId="1076"/>
        <pc:sldMkLst>
          <pc:docMk/>
          <pc:sldMk cId="4279591711" sldId="721"/>
        </pc:sldMkLst>
        <pc:picChg chg="add mod">
          <ac:chgData name="Dieter Beaven" userId="9bbdb69f-69d0-4759-aa9b-5c090a2da237" providerId="ADAL" clId="{B47B330E-67D7-47E6-A6C8-686253D34652}" dt="2026-03-10T13:52:54.667" v="49" actId="1076"/>
          <ac:picMkLst>
            <pc:docMk/>
            <pc:sldMk cId="4279591711" sldId="721"/>
            <ac:picMk id="6" creationId="{9F55AA26-B91E-28B5-30E1-28DBFAB4252A}"/>
          </ac:picMkLst>
        </pc:picChg>
      </pc:sldChg>
      <pc:sldChg chg="addSp modSp add mod">
        <pc:chgData name="Dieter Beaven" userId="9bbdb69f-69d0-4759-aa9b-5c090a2da237" providerId="ADAL" clId="{B47B330E-67D7-47E6-A6C8-686253D34652}" dt="2026-03-10T13:52:09.932" v="43" actId="1037"/>
        <pc:sldMkLst>
          <pc:docMk/>
          <pc:sldMk cId="3168208350" sldId="722"/>
        </pc:sldMkLst>
        <pc:picChg chg="add mod">
          <ac:chgData name="Dieter Beaven" userId="9bbdb69f-69d0-4759-aa9b-5c090a2da237" providerId="ADAL" clId="{B47B330E-67D7-47E6-A6C8-686253D34652}" dt="2026-03-10T13:52:09.932" v="43" actId="1037"/>
          <ac:picMkLst>
            <pc:docMk/>
            <pc:sldMk cId="3168208350" sldId="722"/>
            <ac:picMk id="6" creationId="{2C44BAFA-44DD-D903-30A6-409A23560C39}"/>
          </ac:picMkLst>
        </pc:picChg>
      </pc:sldChg>
      <pc:sldChg chg="addSp modSp add mod">
        <pc:chgData name="Dieter Beaven" userId="9bbdb69f-69d0-4759-aa9b-5c090a2da237" providerId="ADAL" clId="{B47B330E-67D7-47E6-A6C8-686253D34652}" dt="2026-03-10T13:52:43.786" v="47" actId="1076"/>
        <pc:sldMkLst>
          <pc:docMk/>
          <pc:sldMk cId="4145915212" sldId="723"/>
        </pc:sldMkLst>
        <pc:picChg chg="add mod">
          <ac:chgData name="Dieter Beaven" userId="9bbdb69f-69d0-4759-aa9b-5c090a2da237" providerId="ADAL" clId="{B47B330E-67D7-47E6-A6C8-686253D34652}" dt="2026-03-10T13:52:43.786" v="47" actId="1076"/>
          <ac:picMkLst>
            <pc:docMk/>
            <pc:sldMk cId="4145915212" sldId="723"/>
            <ac:picMk id="6" creationId="{0524628F-5364-8558-382C-978B0E7957F1}"/>
          </ac:picMkLst>
        </pc:picChg>
      </pc:sldChg>
      <pc:sldChg chg="addSp modSp add mod">
        <pc:chgData name="Dieter Beaven" userId="9bbdb69f-69d0-4759-aa9b-5c090a2da237" providerId="ADAL" clId="{B47B330E-67D7-47E6-A6C8-686253D34652}" dt="2026-03-10T13:53:41.614" v="53" actId="1076"/>
        <pc:sldMkLst>
          <pc:docMk/>
          <pc:sldMk cId="3423845913" sldId="724"/>
        </pc:sldMkLst>
        <pc:picChg chg="add mod">
          <ac:chgData name="Dieter Beaven" userId="9bbdb69f-69d0-4759-aa9b-5c090a2da237" providerId="ADAL" clId="{B47B330E-67D7-47E6-A6C8-686253D34652}" dt="2026-03-10T13:53:41.614" v="53" actId="1076"/>
          <ac:picMkLst>
            <pc:docMk/>
            <pc:sldMk cId="3423845913" sldId="724"/>
            <ac:picMk id="6" creationId="{2BE0C6EA-1240-74CF-15EC-5C2B117B4494}"/>
          </ac:picMkLst>
        </pc:picChg>
      </pc:sldChg>
      <pc:sldChg chg="addSp modSp add mod modAnim">
        <pc:chgData name="Dieter Beaven" userId="9bbdb69f-69d0-4759-aa9b-5c090a2da237" providerId="ADAL" clId="{B47B330E-67D7-47E6-A6C8-686253D34652}" dt="2026-03-12T13:51:31.027" v="64" actId="1076"/>
        <pc:sldMkLst>
          <pc:docMk/>
          <pc:sldMk cId="2155264198" sldId="725"/>
        </pc:sldMkLst>
        <pc:spChg chg="add mod">
          <ac:chgData name="Dieter Beaven" userId="9bbdb69f-69d0-4759-aa9b-5c090a2da237" providerId="ADAL" clId="{B47B330E-67D7-47E6-A6C8-686253D34652}" dt="2026-03-12T13:51:31.027" v="64" actId="1076"/>
          <ac:spMkLst>
            <pc:docMk/>
            <pc:sldMk cId="2155264198" sldId="725"/>
            <ac:spMk id="8" creationId="{5FB85D02-8865-1269-1906-B6B3F9AA9FC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87F4A-DD11-41AF-8B76-F2E5B6202836}" type="datetimeFigureOut">
              <a:rPr lang="en-GB" smtClean="0"/>
              <a:pPr/>
              <a:t>12/03/2026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F2399-CD51-4C4C-BC34-03B9F40F9CF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745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12/03/2026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1611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12/03/2026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5171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12/03/2026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2520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12/03/2026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6172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12/03/2026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0052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12/03/2026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8912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12/03/2026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336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12/03/2026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7128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12/03/2026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6496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12/03/2026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3399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12/03/2026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2211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FE4D-3339-4F90-AB07-DAB31D79E32A}" type="datetimeFigureOut">
              <a:rPr lang="en-GB" smtClean="0"/>
              <a:pPr/>
              <a:t>12/03/2026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674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5.png"/><Relationship Id="rId3" Type="http://schemas.openxmlformats.org/officeDocument/2006/relationships/image" Target="../media/image150.png"/><Relationship Id="rId7" Type="http://schemas.openxmlformats.org/officeDocument/2006/relationships/image" Target="../media/image164.png"/><Relationship Id="rId2" Type="http://schemas.openxmlformats.org/officeDocument/2006/relationships/image" Target="../media/image1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0.png"/><Relationship Id="rId5" Type="http://schemas.openxmlformats.org/officeDocument/2006/relationships/image" Target="../media/image158.png"/><Relationship Id="rId4" Type="http://schemas.openxmlformats.org/officeDocument/2006/relationships/image" Target="../media/image156.png"/><Relationship Id="rId9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image" Target="../media/image14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2.png"/><Relationship Id="rId4" Type="http://schemas.openxmlformats.org/officeDocument/2006/relationships/image" Target="../media/image17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1.png"/><Relationship Id="rId3" Type="http://schemas.openxmlformats.org/officeDocument/2006/relationships/image" Target="../media/image1220.png"/><Relationship Id="rId7" Type="http://schemas.openxmlformats.org/officeDocument/2006/relationships/image" Target="../media/image180.png"/><Relationship Id="rId2" Type="http://schemas.openxmlformats.org/officeDocument/2006/relationships/image" Target="../media/image17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9.png"/><Relationship Id="rId5" Type="http://schemas.openxmlformats.org/officeDocument/2006/relationships/image" Target="../media/image178.png"/><Relationship Id="rId4" Type="http://schemas.openxmlformats.org/officeDocument/2006/relationships/image" Target="../media/image17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1520" y="2130425"/>
            <a:ext cx="8640960" cy="3026767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92D050"/>
                </a:solidFill>
              </a:rPr>
              <a:t>P2 Chapter 11: </a:t>
            </a:r>
            <a:r>
              <a:rPr lang="en-GB" dirty="0">
                <a:solidFill>
                  <a:schemeClr val="accent5"/>
                </a:solidFill>
              </a:rPr>
              <a:t>Integration</a:t>
            </a:r>
            <a:br>
              <a:rPr lang="en-GB" dirty="0"/>
            </a:br>
            <a:br>
              <a:rPr lang="en-GB" dirty="0"/>
            </a:br>
            <a:r>
              <a:rPr lang="en-GB" dirty="0"/>
              <a:t>The Trapezium Rule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762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8785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Arrow Connector 3"/>
          <p:cNvCxnSpPr/>
          <p:nvPr/>
        </p:nvCxnSpPr>
        <p:spPr>
          <a:xfrm flipV="1">
            <a:off x="510853" y="1108445"/>
            <a:ext cx="0" cy="4824536"/>
          </a:xfrm>
          <a:prstGeom prst="straightConnector1">
            <a:avLst/>
          </a:prstGeom>
          <a:ln>
            <a:tailEnd type="arrow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>
            <a:off x="510853" y="5932981"/>
            <a:ext cx="5328592" cy="0"/>
          </a:xfrm>
          <a:prstGeom prst="straightConnector1">
            <a:avLst/>
          </a:prstGeom>
          <a:ln>
            <a:tailEnd type="arrow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Freeform 5"/>
          <p:cNvSpPr/>
          <p:nvPr/>
        </p:nvSpPr>
        <p:spPr>
          <a:xfrm>
            <a:off x="-267766" y="1664104"/>
            <a:ext cx="5772647" cy="2129624"/>
          </a:xfrm>
          <a:custGeom>
            <a:avLst/>
            <a:gdLst>
              <a:gd name="connsiteX0" fmla="*/ 0 w 5772647"/>
              <a:gd name="connsiteY0" fmla="*/ 2075290 h 2129624"/>
              <a:gd name="connsiteX1" fmla="*/ 1590261 w 5772647"/>
              <a:gd name="connsiteY1" fmla="*/ 2011680 h 2129624"/>
              <a:gd name="connsiteX2" fmla="*/ 3784821 w 5772647"/>
              <a:gd name="connsiteY2" fmla="*/ 1367624 h 2129624"/>
              <a:gd name="connsiteX3" fmla="*/ 5287618 w 5772647"/>
              <a:gd name="connsiteY3" fmla="*/ 524786 h 2129624"/>
              <a:gd name="connsiteX4" fmla="*/ 5772647 w 5772647"/>
              <a:gd name="connsiteY4" fmla="*/ 0 h 21296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72647" h="2129624">
                <a:moveTo>
                  <a:pt x="0" y="2075290"/>
                </a:moveTo>
                <a:cubicBezTo>
                  <a:pt x="479729" y="2102457"/>
                  <a:pt x="959458" y="2129624"/>
                  <a:pt x="1590261" y="2011680"/>
                </a:cubicBezTo>
                <a:cubicBezTo>
                  <a:pt x="2221065" y="1893736"/>
                  <a:pt x="3168595" y="1615440"/>
                  <a:pt x="3784821" y="1367624"/>
                </a:cubicBezTo>
                <a:cubicBezTo>
                  <a:pt x="4401047" y="1119808"/>
                  <a:pt x="4956314" y="752723"/>
                  <a:pt x="5287618" y="524786"/>
                </a:cubicBezTo>
                <a:cubicBezTo>
                  <a:pt x="5618922" y="296849"/>
                  <a:pt x="5695784" y="148424"/>
                  <a:pt x="5772647" y="0"/>
                </a:cubicBezTo>
              </a:path>
            </a:pathLst>
          </a:cu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1518965" y="3700733"/>
            <a:ext cx="3570" cy="2205919"/>
          </a:xfrm>
          <a:prstGeom prst="line">
            <a:avLst/>
          </a:prstGeom>
          <a:ln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4903341" y="2332581"/>
            <a:ext cx="3570" cy="3574071"/>
          </a:xfrm>
          <a:prstGeom prst="line">
            <a:avLst/>
          </a:prstGeom>
          <a:ln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21" name="Group 20"/>
          <p:cNvGrpSpPr/>
          <p:nvPr/>
        </p:nvGrpSpPr>
        <p:grpSpPr>
          <a:xfrm>
            <a:off x="1302941" y="1900533"/>
            <a:ext cx="3744416" cy="4473788"/>
            <a:chOff x="2699792" y="1484784"/>
            <a:chExt cx="3744416" cy="4473788"/>
          </a:xfrm>
        </p:grpSpPr>
        <p:sp>
          <p:nvSpPr>
            <p:cNvPr id="11" name="Freeform 10"/>
            <p:cNvSpPr/>
            <p:nvPr/>
          </p:nvSpPr>
          <p:spPr>
            <a:xfrm>
              <a:off x="2929267" y="2908645"/>
              <a:ext cx="1125897" cy="2625463"/>
            </a:xfrm>
            <a:custGeom>
              <a:avLst/>
              <a:gdLst>
                <a:gd name="connsiteX0" fmla="*/ 0 w 1121134"/>
                <a:gd name="connsiteY0" fmla="*/ 2584174 h 2592125"/>
                <a:gd name="connsiteX1" fmla="*/ 1121134 w 1121134"/>
                <a:gd name="connsiteY1" fmla="*/ 2592125 h 2592125"/>
                <a:gd name="connsiteX2" fmla="*/ 1097280 w 1121134"/>
                <a:gd name="connsiteY2" fmla="*/ 0 h 2592125"/>
                <a:gd name="connsiteX3" fmla="*/ 0 w 1121134"/>
                <a:gd name="connsiteY3" fmla="*/ 294198 h 2592125"/>
                <a:gd name="connsiteX4" fmla="*/ 0 w 1121134"/>
                <a:gd name="connsiteY4" fmla="*/ 2584174 h 2592125"/>
                <a:gd name="connsiteX0" fmla="*/ 4763 w 1125897"/>
                <a:gd name="connsiteY0" fmla="*/ 2584174 h 2592125"/>
                <a:gd name="connsiteX1" fmla="*/ 1125897 w 1125897"/>
                <a:gd name="connsiteY1" fmla="*/ 2592125 h 2592125"/>
                <a:gd name="connsiteX2" fmla="*/ 1102043 w 1125897"/>
                <a:gd name="connsiteY2" fmla="*/ 0 h 2592125"/>
                <a:gd name="connsiteX3" fmla="*/ 0 w 1125897"/>
                <a:gd name="connsiteY3" fmla="*/ 284673 h 2592125"/>
                <a:gd name="connsiteX4" fmla="*/ 4763 w 1125897"/>
                <a:gd name="connsiteY4" fmla="*/ 2584174 h 2592125"/>
                <a:gd name="connsiteX0" fmla="*/ 4763 w 1149668"/>
                <a:gd name="connsiteY0" fmla="*/ 2631799 h 2639750"/>
                <a:gd name="connsiteX1" fmla="*/ 1125897 w 1149668"/>
                <a:gd name="connsiteY1" fmla="*/ 2639750 h 2639750"/>
                <a:gd name="connsiteX2" fmla="*/ 1149668 w 1149668"/>
                <a:gd name="connsiteY2" fmla="*/ 0 h 2639750"/>
                <a:gd name="connsiteX3" fmla="*/ 0 w 1149668"/>
                <a:gd name="connsiteY3" fmla="*/ 332298 h 2639750"/>
                <a:gd name="connsiteX4" fmla="*/ 4763 w 1149668"/>
                <a:gd name="connsiteY4" fmla="*/ 2631799 h 2639750"/>
                <a:gd name="connsiteX0" fmla="*/ 4763 w 1125897"/>
                <a:gd name="connsiteY0" fmla="*/ 2617512 h 2625463"/>
                <a:gd name="connsiteX1" fmla="*/ 1125897 w 1125897"/>
                <a:gd name="connsiteY1" fmla="*/ 2625463 h 2625463"/>
                <a:gd name="connsiteX2" fmla="*/ 1125856 w 1125897"/>
                <a:gd name="connsiteY2" fmla="*/ 0 h 2625463"/>
                <a:gd name="connsiteX3" fmla="*/ 0 w 1125897"/>
                <a:gd name="connsiteY3" fmla="*/ 318011 h 2625463"/>
                <a:gd name="connsiteX4" fmla="*/ 4763 w 1125897"/>
                <a:gd name="connsiteY4" fmla="*/ 2617512 h 26254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897" h="2625463">
                  <a:moveTo>
                    <a:pt x="4763" y="2617512"/>
                  </a:moveTo>
                  <a:lnTo>
                    <a:pt x="1125897" y="2625463"/>
                  </a:lnTo>
                  <a:cubicBezTo>
                    <a:pt x="1125883" y="1750309"/>
                    <a:pt x="1125870" y="875154"/>
                    <a:pt x="1125856" y="0"/>
                  </a:cubicBezTo>
                  <a:lnTo>
                    <a:pt x="0" y="318011"/>
                  </a:lnTo>
                  <a:cubicBezTo>
                    <a:pt x="1588" y="1084511"/>
                    <a:pt x="3175" y="1851012"/>
                    <a:pt x="4763" y="2617512"/>
                  </a:cubicBezTo>
                  <a:close/>
                </a:path>
              </a:pathLst>
            </a:custGeom>
            <a:solidFill>
              <a:srgbClr val="FFFF00">
                <a:alpha val="59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Freeform 11"/>
            <p:cNvSpPr/>
            <p:nvPr/>
          </p:nvSpPr>
          <p:spPr>
            <a:xfrm>
              <a:off x="4062611" y="2492896"/>
              <a:ext cx="1169273" cy="3039413"/>
            </a:xfrm>
            <a:custGeom>
              <a:avLst/>
              <a:gdLst>
                <a:gd name="connsiteX0" fmla="*/ 0 w 1121134"/>
                <a:gd name="connsiteY0" fmla="*/ 2584174 h 2592125"/>
                <a:gd name="connsiteX1" fmla="*/ 1121134 w 1121134"/>
                <a:gd name="connsiteY1" fmla="*/ 2592125 h 2592125"/>
                <a:gd name="connsiteX2" fmla="*/ 1097280 w 1121134"/>
                <a:gd name="connsiteY2" fmla="*/ 0 h 2592125"/>
                <a:gd name="connsiteX3" fmla="*/ 0 w 1121134"/>
                <a:gd name="connsiteY3" fmla="*/ 294198 h 2592125"/>
                <a:gd name="connsiteX4" fmla="*/ 0 w 1121134"/>
                <a:gd name="connsiteY4" fmla="*/ 2584174 h 2592125"/>
                <a:gd name="connsiteX0" fmla="*/ 72008 w 1193142"/>
                <a:gd name="connsiteY0" fmla="*/ 2584174 h 2592125"/>
                <a:gd name="connsiteX1" fmla="*/ 1193142 w 1193142"/>
                <a:gd name="connsiteY1" fmla="*/ 2592125 h 2592125"/>
                <a:gd name="connsiteX2" fmla="*/ 1169288 w 1193142"/>
                <a:gd name="connsiteY2" fmla="*/ 0 h 2592125"/>
                <a:gd name="connsiteX3" fmla="*/ 0 w 1193142"/>
                <a:gd name="connsiteY3" fmla="*/ 0 h 2592125"/>
                <a:gd name="connsiteX4" fmla="*/ 72008 w 1193142"/>
                <a:gd name="connsiteY4" fmla="*/ 2584174 h 2592125"/>
                <a:gd name="connsiteX0" fmla="*/ 72008 w 1193142"/>
                <a:gd name="connsiteY0" fmla="*/ 3016222 h 3024173"/>
                <a:gd name="connsiteX1" fmla="*/ 1193142 w 1193142"/>
                <a:gd name="connsiteY1" fmla="*/ 3024173 h 3024173"/>
                <a:gd name="connsiteX2" fmla="*/ 1152128 w 1193142"/>
                <a:gd name="connsiteY2" fmla="*/ 0 h 3024173"/>
                <a:gd name="connsiteX3" fmla="*/ 0 w 1193142"/>
                <a:gd name="connsiteY3" fmla="*/ 432048 h 3024173"/>
                <a:gd name="connsiteX4" fmla="*/ 72008 w 1193142"/>
                <a:gd name="connsiteY4" fmla="*/ 3016222 h 3024173"/>
                <a:gd name="connsiteX0" fmla="*/ 5333 w 1126467"/>
                <a:gd name="connsiteY0" fmla="*/ 3016222 h 3024173"/>
                <a:gd name="connsiteX1" fmla="*/ 1126467 w 1126467"/>
                <a:gd name="connsiteY1" fmla="*/ 3024173 h 3024173"/>
                <a:gd name="connsiteX2" fmla="*/ 1085453 w 1126467"/>
                <a:gd name="connsiteY2" fmla="*/ 0 h 3024173"/>
                <a:gd name="connsiteX3" fmla="*/ 0 w 1126467"/>
                <a:gd name="connsiteY3" fmla="*/ 422523 h 3024173"/>
                <a:gd name="connsiteX4" fmla="*/ 5333 w 1126467"/>
                <a:gd name="connsiteY4" fmla="*/ 3016222 h 3024173"/>
                <a:gd name="connsiteX0" fmla="*/ 14858 w 1126467"/>
                <a:gd name="connsiteY0" fmla="*/ 3016222 h 3024173"/>
                <a:gd name="connsiteX1" fmla="*/ 1126467 w 1126467"/>
                <a:gd name="connsiteY1" fmla="*/ 3024173 h 3024173"/>
                <a:gd name="connsiteX2" fmla="*/ 1085453 w 1126467"/>
                <a:gd name="connsiteY2" fmla="*/ 0 h 3024173"/>
                <a:gd name="connsiteX3" fmla="*/ 0 w 1126467"/>
                <a:gd name="connsiteY3" fmla="*/ 422523 h 3024173"/>
                <a:gd name="connsiteX4" fmla="*/ 14858 w 1126467"/>
                <a:gd name="connsiteY4" fmla="*/ 3016222 h 3024173"/>
                <a:gd name="connsiteX0" fmla="*/ 14858 w 1169273"/>
                <a:gd name="connsiteY0" fmla="*/ 3016222 h 3024173"/>
                <a:gd name="connsiteX1" fmla="*/ 1126467 w 1169273"/>
                <a:gd name="connsiteY1" fmla="*/ 3024173 h 3024173"/>
                <a:gd name="connsiteX2" fmla="*/ 1169273 w 1169273"/>
                <a:gd name="connsiteY2" fmla="*/ 0 h 3024173"/>
                <a:gd name="connsiteX3" fmla="*/ 0 w 1169273"/>
                <a:gd name="connsiteY3" fmla="*/ 422523 h 3024173"/>
                <a:gd name="connsiteX4" fmla="*/ 14858 w 1169273"/>
                <a:gd name="connsiteY4" fmla="*/ 3016222 h 3024173"/>
                <a:gd name="connsiteX0" fmla="*/ 14858 w 1169273"/>
                <a:gd name="connsiteY0" fmla="*/ 3016222 h 3039413"/>
                <a:gd name="connsiteX1" fmla="*/ 1164567 w 1169273"/>
                <a:gd name="connsiteY1" fmla="*/ 3039413 h 3039413"/>
                <a:gd name="connsiteX2" fmla="*/ 1169273 w 1169273"/>
                <a:gd name="connsiteY2" fmla="*/ 0 h 3039413"/>
                <a:gd name="connsiteX3" fmla="*/ 0 w 1169273"/>
                <a:gd name="connsiteY3" fmla="*/ 422523 h 3039413"/>
                <a:gd name="connsiteX4" fmla="*/ 14858 w 1169273"/>
                <a:gd name="connsiteY4" fmla="*/ 3016222 h 3039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9273" h="3039413">
                  <a:moveTo>
                    <a:pt x="14858" y="3016222"/>
                  </a:moveTo>
                  <a:lnTo>
                    <a:pt x="1164567" y="3039413"/>
                  </a:lnTo>
                  <a:cubicBezTo>
                    <a:pt x="1166136" y="2026275"/>
                    <a:pt x="1167704" y="1013138"/>
                    <a:pt x="1169273" y="0"/>
                  </a:cubicBezTo>
                  <a:lnTo>
                    <a:pt x="0" y="422523"/>
                  </a:lnTo>
                  <a:cubicBezTo>
                    <a:pt x="1778" y="1287089"/>
                    <a:pt x="13080" y="2151656"/>
                    <a:pt x="14858" y="3016222"/>
                  </a:cubicBezTo>
                  <a:close/>
                </a:path>
              </a:pathLst>
            </a:custGeom>
            <a:solidFill>
              <a:srgbClr val="FFFF00">
                <a:alpha val="59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Freeform 12"/>
            <p:cNvSpPr/>
            <p:nvPr/>
          </p:nvSpPr>
          <p:spPr>
            <a:xfrm>
              <a:off x="5220072" y="1844824"/>
              <a:ext cx="1121134" cy="3672245"/>
            </a:xfrm>
            <a:custGeom>
              <a:avLst/>
              <a:gdLst>
                <a:gd name="connsiteX0" fmla="*/ 0 w 1121134"/>
                <a:gd name="connsiteY0" fmla="*/ 2584174 h 2592125"/>
                <a:gd name="connsiteX1" fmla="*/ 1121134 w 1121134"/>
                <a:gd name="connsiteY1" fmla="*/ 2592125 h 2592125"/>
                <a:gd name="connsiteX2" fmla="*/ 1097280 w 1121134"/>
                <a:gd name="connsiteY2" fmla="*/ 0 h 2592125"/>
                <a:gd name="connsiteX3" fmla="*/ 0 w 1121134"/>
                <a:gd name="connsiteY3" fmla="*/ 294198 h 2592125"/>
                <a:gd name="connsiteX4" fmla="*/ 0 w 1121134"/>
                <a:gd name="connsiteY4" fmla="*/ 2584174 h 2592125"/>
                <a:gd name="connsiteX0" fmla="*/ 72008 w 1193142"/>
                <a:gd name="connsiteY0" fmla="*/ 2584174 h 2592125"/>
                <a:gd name="connsiteX1" fmla="*/ 1193142 w 1193142"/>
                <a:gd name="connsiteY1" fmla="*/ 2592125 h 2592125"/>
                <a:gd name="connsiteX2" fmla="*/ 1169288 w 1193142"/>
                <a:gd name="connsiteY2" fmla="*/ 0 h 2592125"/>
                <a:gd name="connsiteX3" fmla="*/ 0 w 1193142"/>
                <a:gd name="connsiteY3" fmla="*/ 0 h 2592125"/>
                <a:gd name="connsiteX4" fmla="*/ 72008 w 1193142"/>
                <a:gd name="connsiteY4" fmla="*/ 2584174 h 2592125"/>
                <a:gd name="connsiteX0" fmla="*/ 72008 w 1193142"/>
                <a:gd name="connsiteY0" fmla="*/ 3016222 h 3024173"/>
                <a:gd name="connsiteX1" fmla="*/ 1193142 w 1193142"/>
                <a:gd name="connsiteY1" fmla="*/ 3024173 h 3024173"/>
                <a:gd name="connsiteX2" fmla="*/ 1152128 w 1193142"/>
                <a:gd name="connsiteY2" fmla="*/ 0 h 3024173"/>
                <a:gd name="connsiteX3" fmla="*/ 0 w 1193142"/>
                <a:gd name="connsiteY3" fmla="*/ 432048 h 3024173"/>
                <a:gd name="connsiteX4" fmla="*/ 72008 w 1193142"/>
                <a:gd name="connsiteY4" fmla="*/ 3016222 h 3024173"/>
                <a:gd name="connsiteX0" fmla="*/ 72008 w 1193142"/>
                <a:gd name="connsiteY0" fmla="*/ 3016222 h 3024173"/>
                <a:gd name="connsiteX1" fmla="*/ 1193142 w 1193142"/>
                <a:gd name="connsiteY1" fmla="*/ 3024173 h 3024173"/>
                <a:gd name="connsiteX2" fmla="*/ 1152128 w 1193142"/>
                <a:gd name="connsiteY2" fmla="*/ 0 h 3024173"/>
                <a:gd name="connsiteX3" fmla="*/ 0 w 1193142"/>
                <a:gd name="connsiteY3" fmla="*/ 0 h 3024173"/>
                <a:gd name="connsiteX4" fmla="*/ 72008 w 1193142"/>
                <a:gd name="connsiteY4" fmla="*/ 3016222 h 3024173"/>
                <a:gd name="connsiteX0" fmla="*/ 72008 w 1193142"/>
                <a:gd name="connsiteY0" fmla="*/ 3664294 h 3672245"/>
                <a:gd name="connsiteX1" fmla="*/ 1193142 w 1193142"/>
                <a:gd name="connsiteY1" fmla="*/ 3672245 h 3672245"/>
                <a:gd name="connsiteX2" fmla="*/ 1152128 w 1193142"/>
                <a:gd name="connsiteY2" fmla="*/ 0 h 3672245"/>
                <a:gd name="connsiteX3" fmla="*/ 0 w 1193142"/>
                <a:gd name="connsiteY3" fmla="*/ 648072 h 3672245"/>
                <a:gd name="connsiteX4" fmla="*/ 72008 w 1193142"/>
                <a:gd name="connsiteY4" fmla="*/ 3664294 h 3672245"/>
                <a:gd name="connsiteX0" fmla="*/ 0 w 1121134"/>
                <a:gd name="connsiteY0" fmla="*/ 3664294 h 3672245"/>
                <a:gd name="connsiteX1" fmla="*/ 1121134 w 1121134"/>
                <a:gd name="connsiteY1" fmla="*/ 3672245 h 3672245"/>
                <a:gd name="connsiteX2" fmla="*/ 1080120 w 1121134"/>
                <a:gd name="connsiteY2" fmla="*/ 0 h 3672245"/>
                <a:gd name="connsiteX3" fmla="*/ 11812 w 1121134"/>
                <a:gd name="connsiteY3" fmla="*/ 640452 h 3672245"/>
                <a:gd name="connsiteX4" fmla="*/ 0 w 1121134"/>
                <a:gd name="connsiteY4" fmla="*/ 3664294 h 3672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1134" h="3672245">
                  <a:moveTo>
                    <a:pt x="0" y="3664294"/>
                  </a:moveTo>
                  <a:lnTo>
                    <a:pt x="1121134" y="3672245"/>
                  </a:lnTo>
                  <a:lnTo>
                    <a:pt x="1080120" y="0"/>
                  </a:lnTo>
                  <a:lnTo>
                    <a:pt x="11812" y="640452"/>
                  </a:lnTo>
                  <a:cubicBezTo>
                    <a:pt x="7875" y="1648399"/>
                    <a:pt x="3937" y="2656347"/>
                    <a:pt x="0" y="3664294"/>
                  </a:cubicBezTo>
                  <a:close/>
                </a:path>
              </a:pathLst>
            </a:custGeom>
            <a:solidFill>
              <a:srgbClr val="FFFF00">
                <a:alpha val="59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/>
                <p:cNvSpPr txBox="1"/>
                <p:nvPr/>
              </p:nvSpPr>
              <p:spPr>
                <a:xfrm>
                  <a:off x="2699792" y="2780928"/>
                  <a:ext cx="43204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GB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𝑦</m:t>
                        </m:r>
                        <m:r>
                          <a:rPr kumimoji="0" lang="en-GB" sz="1800" b="0" i="1" u="none" strike="noStrike" kern="1200" cap="none" spc="0" normalizeH="0" baseline="-2500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</m:t>
                        </m:r>
                      </m:oMath>
                    </m:oMathPara>
                  </a14:m>
                  <a:endParaRPr kumimoji="0" lang="en-GB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4" name="TextBox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99792" y="2780928"/>
                  <a:ext cx="432048" cy="369332"/>
                </a:xfrm>
                <a:prstGeom prst="rect">
                  <a:avLst/>
                </a:prstGeom>
                <a:blipFill>
                  <a:blip r:embed="rId2"/>
                  <a:stretch>
                    <a:fillRect b="-8197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/>
                <p:cNvSpPr txBox="1"/>
                <p:nvPr/>
              </p:nvSpPr>
              <p:spPr>
                <a:xfrm>
                  <a:off x="3779912" y="2492896"/>
                  <a:ext cx="43204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GB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𝑦</m:t>
                        </m:r>
                        <m:r>
                          <a:rPr kumimoji="0" lang="en-GB" sz="1800" b="0" i="1" u="none" strike="noStrike" kern="1200" cap="none" spc="0" normalizeH="0" baseline="-2500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oMath>
                    </m:oMathPara>
                  </a14:m>
                  <a:endParaRPr kumimoji="0" lang="en-GB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5" name="Text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79912" y="2492896"/>
                  <a:ext cx="432048" cy="369332"/>
                </a:xfrm>
                <a:prstGeom prst="rect">
                  <a:avLst/>
                </a:prstGeom>
                <a:blipFill>
                  <a:blip r:embed="rId3"/>
                  <a:stretch>
                    <a:fillRect b="-8197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/>
                <p:cNvSpPr txBox="1"/>
                <p:nvPr/>
              </p:nvSpPr>
              <p:spPr>
                <a:xfrm>
                  <a:off x="4932040" y="2060848"/>
                  <a:ext cx="43204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GB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𝑦</m:t>
                        </m:r>
                        <m:r>
                          <a:rPr kumimoji="0" lang="en-GB" sz="1800" b="0" i="1" u="none" strike="noStrike" kern="1200" cap="none" spc="0" normalizeH="0" baseline="-2500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oMath>
                    </m:oMathPara>
                  </a14:m>
                  <a:endParaRPr kumimoji="0" lang="en-GB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6" name="TextBox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32040" y="2060848"/>
                  <a:ext cx="432048" cy="369332"/>
                </a:xfrm>
                <a:prstGeom prst="rect">
                  <a:avLst/>
                </a:prstGeom>
                <a:blipFill>
                  <a:blip r:embed="rId4"/>
                  <a:stretch>
                    <a:fillRect b="-8197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/>
                <p:cNvSpPr txBox="1"/>
                <p:nvPr/>
              </p:nvSpPr>
              <p:spPr>
                <a:xfrm>
                  <a:off x="6012160" y="1484784"/>
                  <a:ext cx="43204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GB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𝑦</m:t>
                        </m:r>
                        <m:r>
                          <a:rPr kumimoji="0" lang="en-GB" sz="1800" b="0" i="1" u="none" strike="noStrike" kern="1200" cap="none" spc="0" normalizeH="0" baseline="-2500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3</m:t>
                        </m:r>
                      </m:oMath>
                    </m:oMathPara>
                  </a14:m>
                  <a:endParaRPr kumimoji="0" lang="en-GB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7" name="TextBox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12160" y="1484784"/>
                  <a:ext cx="432048" cy="369332"/>
                </a:xfrm>
                <a:prstGeom prst="rect">
                  <a:avLst/>
                </a:prstGeom>
                <a:blipFill>
                  <a:blip r:embed="rId5"/>
                  <a:stretch>
                    <a:fillRect b="-8333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/>
                <p:cNvSpPr txBox="1"/>
                <p:nvPr/>
              </p:nvSpPr>
              <p:spPr>
                <a:xfrm>
                  <a:off x="3275856" y="5589240"/>
                  <a:ext cx="43204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GB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h</m:t>
                        </m:r>
                      </m:oMath>
                    </m:oMathPara>
                  </a14:m>
                  <a:endParaRPr kumimoji="0" lang="en-GB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8" name="TextBox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75856" y="5589240"/>
                  <a:ext cx="432048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/>
                <p:cNvSpPr txBox="1"/>
                <p:nvPr/>
              </p:nvSpPr>
              <p:spPr>
                <a:xfrm>
                  <a:off x="4427984" y="5589240"/>
                  <a:ext cx="43204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GB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h</m:t>
                        </m:r>
                      </m:oMath>
                    </m:oMathPara>
                  </a14:m>
                  <a:endParaRPr kumimoji="0" lang="en-GB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9" name="TextBox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7984" y="5589240"/>
                  <a:ext cx="432048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/>
                <p:cNvSpPr txBox="1"/>
                <p:nvPr/>
              </p:nvSpPr>
              <p:spPr>
                <a:xfrm>
                  <a:off x="5580112" y="5589240"/>
                  <a:ext cx="43204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GB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h</m:t>
                        </m:r>
                      </m:oMath>
                    </m:oMathPara>
                  </a14:m>
                  <a:endParaRPr kumimoji="0" lang="en-GB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20" name="TextBox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80112" y="5589240"/>
                  <a:ext cx="432048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2" name="Group 2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2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Skill #10: Trapezium Rule</a:t>
              </a:r>
            </a:p>
          </p:txBody>
        </p:sp>
        <p:cxnSp>
          <p:nvCxnSpPr>
            <p:cNvPr id="24" name="Straight Connector 2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2" name="TextBox 1"/>
          <p:cNvSpPr txBox="1"/>
          <p:nvPr/>
        </p:nvSpPr>
        <p:spPr>
          <a:xfrm>
            <a:off x="6210659" y="805282"/>
            <a:ext cx="2656894" cy="2862322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Sometimes finding the exact area under the graph via integration is difficult. Students who have taken GCSE Maths may be familiar with the idea of </a:t>
            </a: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approximating the area under a graph by dividing it into trapeziums of equal width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4944355" y="3931661"/>
                <a:ext cx="4247703" cy="9596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GB" sz="1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𝑨𝒓𝒆𝒂</m:t>
                      </m:r>
                      <m:r>
                        <a:rPr kumimoji="0" lang="en-GB" sz="1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n-GB" sz="1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GB" sz="1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𝟏</m:t>
                          </m:r>
                        </m:num>
                        <m:den>
                          <m:r>
                            <a:rPr kumimoji="0" lang="en-GB" sz="1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𝟐</m:t>
                          </m:r>
                        </m:den>
                      </m:f>
                      <m:r>
                        <a:rPr kumimoji="0" lang="en-GB" sz="1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𝒉</m:t>
                      </m:r>
                      <m:d>
                        <m:dPr>
                          <m:ctrlPr>
                            <a:rPr kumimoji="0" lang="en-GB" sz="1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GB" sz="14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GB" sz="14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𝒚</m:t>
                              </m:r>
                            </m:e>
                            <m:sub>
                              <m:r>
                                <a:rPr kumimoji="0" lang="en-GB" sz="14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𝟎</m:t>
                              </m:r>
                            </m:sub>
                          </m:sSub>
                          <m:r>
                            <a:rPr kumimoji="0" lang="en-GB" sz="1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+</m:t>
                          </m:r>
                          <m:sSub>
                            <m:sSubPr>
                              <m:ctrlPr>
                                <a:rPr kumimoji="0" lang="en-GB" sz="14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GB" sz="14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𝒚</m:t>
                              </m:r>
                            </m:e>
                            <m:sub>
                              <m:r>
                                <a:rPr kumimoji="0" lang="en-GB" sz="14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  <m:r>
                        <a:rPr kumimoji="0" lang="en-GB" sz="1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+</m:t>
                      </m:r>
                      <m:f>
                        <m:fPr>
                          <m:ctrlPr>
                            <a:rPr kumimoji="0" lang="en-GB" sz="1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GB" sz="1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𝟏</m:t>
                          </m:r>
                        </m:num>
                        <m:den>
                          <m:r>
                            <a:rPr kumimoji="0" lang="en-GB" sz="1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𝟐</m:t>
                          </m:r>
                        </m:den>
                      </m:f>
                      <m:r>
                        <a:rPr kumimoji="0" lang="en-GB" sz="14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𝒉</m:t>
                      </m:r>
                      <m:d>
                        <m:dPr>
                          <m:ctrlPr>
                            <a:rPr kumimoji="0" lang="en-GB" sz="1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GB" sz="14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GB" sz="14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𝒚</m:t>
                              </m:r>
                            </m:e>
                            <m:sub>
                              <m:r>
                                <a:rPr kumimoji="0" lang="en-GB" sz="14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𝟏</m:t>
                              </m:r>
                            </m:sub>
                          </m:sSub>
                          <m:r>
                            <a:rPr kumimoji="0" lang="en-GB" sz="1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+</m:t>
                          </m:r>
                          <m:sSub>
                            <m:sSubPr>
                              <m:ctrlPr>
                                <a:rPr kumimoji="0" lang="en-GB" sz="14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GB" sz="14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𝒚</m:t>
                              </m:r>
                            </m:e>
                            <m:sub>
                              <m:r>
                                <a:rPr kumimoji="0" lang="en-GB" sz="14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𝟐</m:t>
                              </m:r>
                            </m:sub>
                          </m:sSub>
                        </m:e>
                      </m:d>
                      <m:r>
                        <a:rPr kumimoji="0" lang="en-GB" sz="1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+</m:t>
                      </m:r>
                      <m:f>
                        <m:fPr>
                          <m:ctrlPr>
                            <a:rPr kumimoji="0" lang="en-GB" sz="1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GB" sz="1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𝟏</m:t>
                          </m:r>
                        </m:num>
                        <m:den>
                          <m:r>
                            <a:rPr kumimoji="0" lang="en-GB" sz="1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𝟐</m:t>
                          </m:r>
                        </m:den>
                      </m:f>
                      <m:r>
                        <a:rPr kumimoji="0" lang="en-GB" sz="14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𝒉</m:t>
                      </m:r>
                      <m:d>
                        <m:dPr>
                          <m:ctrlPr>
                            <a:rPr kumimoji="0" lang="en-GB" sz="1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GB" sz="14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GB" sz="14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𝒚</m:t>
                              </m:r>
                            </m:e>
                            <m:sub>
                              <m:r>
                                <a:rPr kumimoji="0" lang="en-GB" sz="14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𝟐</m:t>
                              </m:r>
                            </m:sub>
                          </m:sSub>
                          <m:r>
                            <a:rPr kumimoji="0" lang="en-GB" sz="1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+</m:t>
                          </m:r>
                          <m:sSub>
                            <m:sSubPr>
                              <m:ctrlPr>
                                <a:rPr kumimoji="0" lang="en-GB" sz="14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GB" sz="14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𝒚</m:t>
                              </m:r>
                            </m:e>
                            <m:sub>
                              <m:r>
                                <a:rPr kumimoji="0" lang="en-GB" sz="14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𝟑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br>
                  <a:rPr kumimoji="0" lang="en-GB" sz="14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+mn-ea"/>
                    <a:cs typeface="+mn-cs"/>
                  </a:rPr>
                </a:br>
                <a:endParaRPr kumimoji="0" lang="en-GB" sz="14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            </a:t>
                </a:r>
                <a14:m>
                  <m:oMath xmlns:m="http://schemas.openxmlformats.org/officeDocument/2006/math">
                    <m:r>
                      <a:rPr kumimoji="0" lang="en-GB" sz="14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f>
                      <m:fPr>
                        <m:ctrlPr>
                          <a:rPr kumimoji="0" lang="en-GB" sz="1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GB" sz="1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𝟏</m:t>
                        </m:r>
                      </m:num>
                      <m:den>
                        <m:r>
                          <a:rPr kumimoji="0" lang="en-GB" sz="1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𝟐</m:t>
                        </m:r>
                      </m:den>
                    </m:f>
                    <m:r>
                      <a:rPr kumimoji="0" lang="en-GB" sz="14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𝒉</m:t>
                    </m:r>
                    <m:d>
                      <m:dPr>
                        <m:ctrlPr>
                          <a:rPr kumimoji="0" lang="en-GB" sz="1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en-GB" sz="14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GB" sz="14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𝒚</m:t>
                            </m:r>
                          </m:e>
                          <m:sub>
                            <m:r>
                              <a:rPr kumimoji="0" lang="en-GB" sz="14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𝟎</m:t>
                            </m:r>
                            <m:r>
                              <a:rPr kumimoji="0" lang="en-GB" sz="14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  </m:t>
                            </m:r>
                          </m:sub>
                        </m:sSub>
                        <m:r>
                          <a:rPr kumimoji="0" lang="en-GB" sz="1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      </m:t>
                        </m:r>
                        <m:r>
                          <a:rPr kumimoji="0" lang="en-GB" sz="1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+</m:t>
                        </m:r>
                        <m:r>
                          <a:rPr kumimoji="0" lang="en-GB" sz="1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𝟐</m:t>
                        </m:r>
                        <m:d>
                          <m:dPr>
                            <m:ctrlPr>
                              <a:rPr kumimoji="0" lang="en-GB" sz="14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0" lang="en-GB" sz="14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en-GB" sz="14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𝒚</m:t>
                                </m:r>
                              </m:e>
                              <m:sub>
                                <m:r>
                                  <a:rPr kumimoji="0" lang="en-GB" sz="14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𝟏</m:t>
                                </m:r>
                              </m:sub>
                            </m:sSub>
                            <m:r>
                              <a:rPr kumimoji="0" lang="en-GB" sz="14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kumimoji="0" lang="en-GB" sz="14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en-GB" sz="14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𝒚</m:t>
                                </m:r>
                              </m:e>
                              <m:sub>
                                <m:r>
                                  <a:rPr kumimoji="0" lang="en-GB" sz="14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𝟐</m:t>
                                </m:r>
                              </m:sub>
                            </m:sSub>
                          </m:e>
                        </m:d>
                        <m:r>
                          <a:rPr kumimoji="0" lang="en-GB" sz="1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               </m:t>
                        </m:r>
                        <m:r>
                          <a:rPr kumimoji="0" lang="en-GB" sz="1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+</m:t>
                        </m:r>
                        <m:sSub>
                          <m:sSubPr>
                            <m:ctrlPr>
                              <a:rPr kumimoji="0" lang="en-GB" sz="14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GB" sz="14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𝒚</m:t>
                            </m:r>
                          </m:e>
                          <m:sub>
                            <m:r>
                              <a:rPr kumimoji="0" lang="en-GB" sz="14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𝟑</m:t>
                            </m:r>
                          </m:sub>
                        </m:sSub>
                      </m:e>
                    </m:d>
                    <m:r>
                      <a:rPr kumimoji="0" lang="en-GB" sz="14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</m:oMath>
                </a14:m>
                <a:endParaRPr kumimoji="0" lang="en-GB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4355" y="3931661"/>
                <a:ext cx="4247703" cy="95968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5FB85D02-8865-1269-1906-B6B3F9AA9FCB}"/>
              </a:ext>
            </a:extLst>
          </p:cNvPr>
          <p:cNvSpPr/>
          <p:nvPr/>
        </p:nvSpPr>
        <p:spPr>
          <a:xfrm>
            <a:off x="5526147" y="3947267"/>
            <a:ext cx="3575594" cy="9851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155264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  <p:bldLst>
      <p:bldP spid="3" grpId="0"/>
      <p:bldP spid="8" grpId="0" animBg="1"/>
      <p:bldP spid="8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Trapezium Rule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467544" y="677887"/>
            <a:ext cx="52565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 general: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ingdings" panose="05000000000000000000" pitchFamily="2" charset="2"/>
                <a:ea typeface="+mn-ea"/>
                <a:cs typeface="+mn-cs"/>
              </a:rPr>
              <a:t>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899592" y="1484784"/>
                <a:ext cx="7344816" cy="9300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kumimoji="0" lang="en-GB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0" lang="en-GB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𝑎</m:t>
                          </m:r>
                        </m:sub>
                        <m:sup>
                          <m:r>
                            <a:rPr kumimoji="0" lang="en-GB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𝑏</m:t>
                          </m:r>
                        </m:sup>
                        <m:e>
                          <m:r>
                            <a:rPr kumimoji="0" lang="en-GB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𝑦</m:t>
                          </m:r>
                        </m:e>
                      </m:nary>
                      <m:r>
                        <a:rPr kumimoji="0" lang="en-GB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𝑑𝑥</m:t>
                      </m:r>
                      <m:r>
                        <a:rPr kumimoji="0" lang="en-GB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≈</m:t>
                      </m:r>
                      <m:f>
                        <m:fPr>
                          <m:ctrlPr>
                            <a:rPr kumimoji="0" lang="en-GB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GB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h</m:t>
                          </m:r>
                        </m:num>
                        <m:den>
                          <m:r>
                            <a:rPr kumimoji="0" lang="en-GB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kumimoji="0" lang="en-GB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GB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GB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𝑦</m:t>
                              </m:r>
                            </m:e>
                            <m:sub>
                              <m:r>
                                <a:rPr kumimoji="0" lang="en-GB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0</m:t>
                              </m:r>
                            </m:sub>
                          </m:sSub>
                          <m:r>
                            <a:rPr kumimoji="0" lang="en-GB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+2</m:t>
                          </m:r>
                          <m:d>
                            <m:dPr>
                              <m:ctrlPr>
                                <a:rPr kumimoji="0" lang="en-GB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0" lang="en-GB" sz="24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GB" sz="24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kumimoji="0" lang="en-GB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+…+</m:t>
                              </m:r>
                              <m:sSub>
                                <m:sSubPr>
                                  <m:ctrlPr>
                                    <a:rPr kumimoji="0" lang="en-GB" sz="24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GB" sz="24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kumimoji="0" lang="en-GB" sz="24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  <m:t>𝑛</m:t>
                                  </m:r>
                                  <m:r>
                                    <a:rPr kumimoji="0" lang="en-GB" sz="24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</m:d>
                          <m:r>
                            <a:rPr kumimoji="0" lang="en-GB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+</m:t>
                          </m:r>
                          <m:sSub>
                            <m:sSubPr>
                              <m:ctrlPr>
                                <a:rPr kumimoji="0" lang="en-GB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GB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𝑦</m:t>
                              </m:r>
                            </m:e>
                            <m:sub>
                              <m:r>
                                <a:rPr kumimoji="0" lang="en-GB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592" y="1484784"/>
                <a:ext cx="7344816" cy="93006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3815916" y="954886"/>
            <a:ext cx="3816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width of each trapezium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 flipH="1">
            <a:off x="3419872" y="1324218"/>
            <a:ext cx="792088" cy="2160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39552" y="2822972"/>
            <a:ext cx="1800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Area under curve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67172" y="3192304"/>
            <a:ext cx="1800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is approximately</a:t>
            </a:r>
          </a:p>
        </p:txBody>
      </p:sp>
      <p:cxnSp>
        <p:nvCxnSpPr>
          <p:cNvPr id="12" name="Straight Arrow Connector 11"/>
          <p:cNvCxnSpPr/>
          <p:nvPr/>
        </p:nvCxnSpPr>
        <p:spPr>
          <a:xfrm flipV="1">
            <a:off x="2051720" y="2414847"/>
            <a:ext cx="215452" cy="48478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V="1">
            <a:off x="3059832" y="2204864"/>
            <a:ext cx="0" cy="987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8" name="Table 17"/>
              <p:cNvGraphicFramePr>
                <a:graphicFrameLocks noGrp="1"/>
              </p:cNvGraphicFramePr>
              <p:nvPr/>
            </p:nvGraphicFramePr>
            <p:xfrm>
              <a:off x="1406898" y="4869160"/>
              <a:ext cx="6096000" cy="741680"/>
            </p:xfrm>
            <a:graphic>
              <a:graphicData uri="http://schemas.openxmlformats.org/drawingml/2006/table">
                <a:tbl>
                  <a:tblPr firstCol="1" bandRow="1">
                    <a:tableStyleId>{073A0DAA-6AF3-43AB-8588-CEC1D06C72B9}</a:tableStyleId>
                  </a:tblPr>
                  <a:tblGrid>
                    <a:gridCol w="1016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1.5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2.5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2.25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6.25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9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8" name="Table 1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10471091"/>
                  </p:ext>
                </p:extLst>
              </p:nvPr>
            </p:nvGraphicFramePr>
            <p:xfrm>
              <a:off x="1406898" y="4869160"/>
              <a:ext cx="6096000" cy="741680"/>
            </p:xfrm>
            <a:graphic>
              <a:graphicData uri="http://schemas.openxmlformats.org/drawingml/2006/table">
                <a:tbl>
                  <a:tblPr firstCol="1" bandRow="1">
                    <a:tableStyleId>{073A0DAA-6AF3-43AB-8588-CEC1D06C72B9}</a:tableStyleId>
                  </a:tblPr>
                  <a:tblGrid>
                    <a:gridCol w="1016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99" t="-8065" r="-500599" b="-1225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1.5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2.5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99" t="-109836" r="-500599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2.25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6.25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9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1393851" y="3882628"/>
                <a:ext cx="6189438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We’re approximating the region bounded between </a:t>
                </a:r>
                <a14:m>
                  <m:oMath xmlns:m="http://schemas.openxmlformats.org/officeDocument/2006/math">
                    <m:r>
                      <a:rPr kumimoji="0" lang="en-GB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𝑥</m:t>
                    </m:r>
                    <m:r>
                      <a:rPr kumimoji="0" lang="en-GB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=1</m:t>
                    </m:r>
                  </m:oMath>
                </a14:m>
                <a:r>
                  <a:rPr kumimoji="0" lang="en-GB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, </a:t>
                </a:r>
                <a14:m>
                  <m:oMath xmlns:m="http://schemas.openxmlformats.org/officeDocument/2006/math">
                    <m:r>
                      <a:rPr kumimoji="0" lang="en-GB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𝑥</m:t>
                    </m:r>
                    <m:r>
                      <a:rPr kumimoji="0" lang="en-GB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=3</m:t>
                    </m:r>
                  </m:oMath>
                </a14:m>
                <a:r>
                  <a:rPr kumimoji="0" lang="en-GB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, the x-axis  the curve </a:t>
                </a:r>
                <a14:m>
                  <m:oMath xmlns:m="http://schemas.openxmlformats.org/officeDocument/2006/math">
                    <m:r>
                      <a:rPr kumimoji="0" lang="en-GB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𝑦</m:t>
                    </m:r>
                    <m:r>
                      <a:rPr kumimoji="0" lang="en-GB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=</m:t>
                    </m:r>
                    <m:sSup>
                      <m:sSupPr>
                        <m:ctrlPr>
                          <a:rPr kumimoji="0" lang="en-GB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GB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𝑥</m:t>
                        </m:r>
                      </m:e>
                      <m:sup>
                        <m:r>
                          <a:rPr kumimoji="0" lang="en-GB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0" lang="en-GB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, using 4 strips.</a:t>
                </a:r>
                <a:endParaRPr kumimoji="0" lang="en-GB" sz="2000" b="0" i="0" u="none" strike="noStrike" kern="1200" cap="none" spc="0" normalizeH="0" baseline="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3851" y="3882628"/>
                <a:ext cx="6189438" cy="707886"/>
              </a:xfrm>
              <a:prstGeom prst="rect">
                <a:avLst/>
              </a:prstGeom>
              <a:blipFill>
                <a:blip r:embed="rId4"/>
                <a:stretch>
                  <a:fillRect l="-1084" t="-5172" r="-1281" b="-1465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Connector 22"/>
          <p:cNvCxnSpPr/>
          <p:nvPr/>
        </p:nvCxnSpPr>
        <p:spPr>
          <a:xfrm>
            <a:off x="0" y="3789040"/>
            <a:ext cx="9144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30313" y="3946733"/>
            <a:ext cx="1080120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C448625-10F5-4CBE-A4C0-92A490803122}"/>
                  </a:ext>
                </a:extLst>
              </p:cNvPr>
              <p:cNvSpPr txBox="1"/>
              <p:nvPr/>
            </p:nvSpPr>
            <p:spPr>
              <a:xfrm>
                <a:off x="1285775" y="5828704"/>
                <a:ext cx="5550743" cy="8935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GB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h</m:t>
                      </m:r>
                      <m:r>
                        <a:rPr kumimoji="0" lang="en-GB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=0.5</m:t>
                      </m:r>
                    </m:oMath>
                    <m:oMath xmlns:m="http://schemas.openxmlformats.org/officeDocument/2006/math">
                      <m:r>
                        <a:rPr kumimoji="0" lang="en-GB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𝐴𝑟𝑒𝑎</m:t>
                      </m:r>
                      <m:r>
                        <a:rPr kumimoji="0" lang="en-GB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≈</m:t>
                      </m:r>
                      <m:f>
                        <m:fPr>
                          <m:ctrlPr>
                            <a:rPr kumimoji="0" lang="en-GB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GB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0.5</m:t>
                          </m:r>
                        </m:num>
                        <m:den>
                          <m:r>
                            <a:rPr kumimoji="0" lang="en-GB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kumimoji="0" lang="en-GB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GB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1+2</m:t>
                          </m:r>
                          <m:d>
                            <m:dPr>
                              <m:ctrlPr>
                                <a:rPr kumimoji="0" lang="en-GB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GB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2.25+4+6.25</m:t>
                              </m:r>
                            </m:e>
                          </m:d>
                          <m:r>
                            <a:rPr kumimoji="0" lang="en-GB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+9</m:t>
                          </m:r>
                        </m:e>
                      </m:d>
                      <m:r>
                        <a:rPr kumimoji="0" lang="en-GB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=8.75</m:t>
                      </m:r>
                    </m:oMath>
                  </m:oMathPara>
                </a14:m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C448625-10F5-4CBE-A4C0-92A4908031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5775" y="5828704"/>
                <a:ext cx="5550743" cy="89351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ectangle 24"/>
          <p:cNvSpPr/>
          <p:nvPr/>
        </p:nvSpPr>
        <p:spPr>
          <a:xfrm>
            <a:off x="2116832" y="5765204"/>
            <a:ext cx="715268" cy="36889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89472" y="6133504"/>
            <a:ext cx="4076427" cy="55939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?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91622F6-C795-4AF2-B16C-819F5A3693A8}"/>
              </a:ext>
            </a:extLst>
          </p:cNvPr>
          <p:cNvSpPr/>
          <p:nvPr/>
        </p:nvSpPr>
        <p:spPr>
          <a:xfrm>
            <a:off x="2413360" y="5231967"/>
            <a:ext cx="5089538" cy="36889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?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A81BEA2-D3CC-4656-B372-4639BB7A70A4}"/>
              </a:ext>
            </a:extLst>
          </p:cNvPr>
          <p:cNvSpPr/>
          <p:nvPr/>
        </p:nvSpPr>
        <p:spPr>
          <a:xfrm>
            <a:off x="2418668" y="4863071"/>
            <a:ext cx="5089538" cy="36889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B69A344-4DD2-4C59-9BB6-E91C9E568D56}"/>
              </a:ext>
            </a:extLst>
          </p:cNvPr>
          <p:cNvSpPr txBox="1"/>
          <p:nvPr/>
        </p:nvSpPr>
        <p:spPr>
          <a:xfrm>
            <a:off x="7632340" y="4590514"/>
            <a:ext cx="143546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Dividing a gap of 2 into 4 strips means each strip will be width 0.5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7340B50-BF23-4A3A-AF42-897571311ADB}"/>
              </a:ext>
            </a:extLst>
          </p:cNvPr>
          <p:cNvCxnSpPr/>
          <p:nvPr/>
        </p:nvCxnSpPr>
        <p:spPr>
          <a:xfrm flipH="1">
            <a:off x="7277100" y="4653136"/>
            <a:ext cx="349932" cy="1284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8162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</p:childTnLst>
        </p:cTn>
      </p:par>
    </p:tnLst>
    <p:bldLst>
      <p:bldP spid="25" grpId="0" animBg="1"/>
      <p:bldP spid="21" grpId="0" animBg="1"/>
      <p:bldP spid="22" grpId="0" animBg="1"/>
      <p:bldP spid="26" grpId="0" animBg="1"/>
      <p:bldP spid="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836712"/>
            <a:ext cx="8380900" cy="55446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251520" y="2344093"/>
                <a:ext cx="8784976" cy="292388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3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Fro</a:t>
                </a:r>
                <a:r>
                  <a:rPr kumimoji="0" lang="en-GB" sz="13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Tip</a:t>
                </a:r>
                <a:r>
                  <a:rPr kumimoji="0" lang="en-GB" sz="13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: You can generate table with Casio </a:t>
                </a:r>
                <a:r>
                  <a:rPr kumimoji="0" lang="en-GB" sz="13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calcs</a:t>
                </a:r>
                <a:r>
                  <a:rPr kumimoji="0" lang="en-GB" sz="13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. </a:t>
                </a:r>
                <a14:m>
                  <m:oMath xmlns:m="http://schemas.openxmlformats.org/officeDocument/2006/math">
                    <m:r>
                      <a:rPr kumimoji="0" lang="en-GB" sz="13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𝑀𝑜𝑑𝑒</m:t>
                    </m:r>
                    <m:r>
                      <a:rPr kumimoji="0" lang="en-GB" sz="13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→3 (</m:t>
                    </m:r>
                    <m:r>
                      <a:rPr kumimoji="0" lang="en-GB" sz="13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𝑇𝑎𝑏𝑙𝑒</m:t>
                    </m:r>
                    <m:r>
                      <a:rPr kumimoji="0" lang="en-GB" sz="13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)</m:t>
                    </m:r>
                  </m:oMath>
                </a14:m>
                <a:r>
                  <a:rPr kumimoji="0" lang="en-GB" sz="13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. Use ‘Alpha’ button to key in X within the function. Press =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2344093"/>
                <a:ext cx="8784976" cy="292388"/>
              </a:xfrm>
              <a:prstGeom prst="rect">
                <a:avLst/>
              </a:prstGeom>
              <a:blipFill>
                <a:blip r:embed="rId3"/>
                <a:stretch>
                  <a:fillRect b="-1372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5406504" y="3090168"/>
            <a:ext cx="864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0.8571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3045" y="3090168"/>
            <a:ext cx="1067755" cy="44043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07504" y="6237312"/>
                <a:ext cx="8928992" cy="6109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GB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𝑨𝒓𝒆𝒂</m:t>
                      </m:r>
                      <m:r>
                        <a:rPr kumimoji="0" lang="en-GB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≈</m:t>
                      </m:r>
                      <m:f>
                        <m:fPr>
                          <m:ctrlPr>
                            <a:rPr kumimoji="0" lang="en-GB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GB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𝟎</m:t>
                          </m:r>
                          <m:r>
                            <a:rPr kumimoji="0" lang="en-GB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.</m:t>
                          </m:r>
                          <m:r>
                            <a:rPr kumimoji="0" lang="en-GB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𝟏</m:t>
                          </m:r>
                        </m:num>
                        <m:den>
                          <m:r>
                            <a:rPr kumimoji="0" lang="en-GB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𝟐</m:t>
                          </m:r>
                        </m:den>
                      </m:f>
                      <m:d>
                        <m:dPr>
                          <m:ctrlPr>
                            <a:rPr kumimoji="0" lang="en-GB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GB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𝟎</m:t>
                          </m:r>
                          <m:r>
                            <a:rPr kumimoji="0" lang="en-GB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.</m:t>
                          </m:r>
                          <m:r>
                            <a:rPr kumimoji="0" lang="en-GB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𝟕𝟎𝟕𝟏</m:t>
                          </m:r>
                          <m:r>
                            <a:rPr kumimoji="0" lang="en-GB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+</m:t>
                          </m:r>
                          <m:r>
                            <a:rPr kumimoji="0" lang="en-GB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𝟐</m:t>
                          </m:r>
                          <m:d>
                            <m:dPr>
                              <m:ctrlPr>
                                <a:rPr kumimoji="0" lang="en-GB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GB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𝟎</m:t>
                              </m:r>
                              <m:r>
                                <a:rPr kumimoji="0" lang="en-GB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.</m:t>
                              </m:r>
                              <m:r>
                                <a:rPr kumimoji="0" lang="en-GB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𝟕𝟓𝟗𝟏</m:t>
                              </m:r>
                              <m:r>
                                <a:rPr kumimoji="0" lang="en-GB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+</m:t>
                              </m:r>
                              <m:r>
                                <a:rPr kumimoji="0" lang="en-GB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𝟎</m:t>
                              </m:r>
                              <m:r>
                                <a:rPr kumimoji="0" lang="en-GB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.</m:t>
                              </m:r>
                              <m:r>
                                <a:rPr kumimoji="0" lang="en-GB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𝟖𝟎𝟗𝟎</m:t>
                              </m:r>
                              <m:r>
                                <a:rPr kumimoji="0" lang="en-GB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+</m:t>
                              </m:r>
                              <m:r>
                                <a:rPr kumimoji="0" lang="en-GB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𝟎</m:t>
                              </m:r>
                              <m:r>
                                <a:rPr kumimoji="0" lang="en-GB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.</m:t>
                              </m:r>
                              <m:r>
                                <a:rPr kumimoji="0" lang="en-GB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𝟖𝟓𝟕𝟏</m:t>
                              </m:r>
                              <m:r>
                                <a:rPr kumimoji="0" lang="en-GB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+</m:t>
                              </m:r>
                              <m:r>
                                <a:rPr kumimoji="0" lang="en-GB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𝟎</m:t>
                              </m:r>
                              <m:r>
                                <a:rPr kumimoji="0" lang="en-GB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.</m:t>
                              </m:r>
                              <m:r>
                                <a:rPr kumimoji="0" lang="en-GB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𝟗𝟎𝟑𝟕</m:t>
                              </m:r>
                            </m:e>
                          </m:d>
                          <m:r>
                            <a:rPr kumimoji="0" lang="en-GB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+</m:t>
                          </m:r>
                          <m:r>
                            <a:rPr kumimoji="0" lang="en-GB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𝟎</m:t>
                          </m:r>
                          <m:r>
                            <a:rPr kumimoji="0" lang="en-GB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.</m:t>
                          </m:r>
                          <m:r>
                            <a:rPr kumimoji="0" lang="en-GB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𝟗𝟒𝟖𝟕</m:t>
                          </m:r>
                        </m:e>
                      </m:d>
                      <m:r>
                        <a:rPr kumimoji="0" lang="en-GB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GB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𝟎</m:t>
                      </m:r>
                      <m:r>
                        <a:rPr kumimoji="0" lang="en-GB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.</m:t>
                      </m:r>
                      <m:r>
                        <a:rPr kumimoji="0" lang="en-GB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𝟒𝟏𝟔</m:t>
                      </m:r>
                    </m:oMath>
                  </m:oMathPara>
                </a14:m>
                <a:endParaRPr kumimoji="0" lang="en-GB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6237312"/>
                <a:ext cx="8928992" cy="61093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/>
          <p:nvPr/>
        </p:nvSpPr>
        <p:spPr>
          <a:xfrm>
            <a:off x="1043608" y="6237312"/>
            <a:ext cx="7992888" cy="61093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?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9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Trapezium Rule</a:t>
              </a:r>
            </a:p>
          </p:txBody>
        </p:sp>
        <p:cxnSp>
          <p:nvCxnSpPr>
            <p:cNvPr id="10" name="Straight Connector 9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6" name="TextBox 5"/>
          <p:cNvSpPr txBox="1"/>
          <p:nvPr/>
        </p:nvSpPr>
        <p:spPr>
          <a:xfrm>
            <a:off x="200968" y="803990"/>
            <a:ext cx="2821632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Edexcel C2 May 2013 (R) Q2</a:t>
            </a:r>
          </a:p>
        </p:txBody>
      </p:sp>
    </p:spTree>
    <p:extLst>
      <p:ext uri="{BB962C8B-B14F-4D97-AF65-F5344CB8AC3E}">
        <p14:creationId xmlns:p14="http://schemas.microsoft.com/office/powerpoint/2010/main" val="1099690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4000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Further Example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742876" y="1603781"/>
                <a:ext cx="7951588" cy="1810176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Given </a:t>
                </a:r>
                <a14:m>
                  <m:oMath xmlns:m="http://schemas.openxmlformats.org/officeDocument/2006/math">
                    <m:r>
                      <a:rPr kumimoji="0" lang="en-GB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𝐼</m:t>
                    </m:r>
                    <m:r>
                      <a:rPr kumimoji="0" lang="en-GB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nary>
                      <m:naryPr>
                        <m:ctrlPr>
                          <a:rPr kumimoji="0" lang="en-GB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naryPr>
                      <m:sub>
                        <m:r>
                          <a:rPr kumimoji="0" lang="en-GB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</m:t>
                        </m:r>
                      </m:sub>
                      <m:sup>
                        <m:f>
                          <m:fPr>
                            <m:ctrlPr>
                              <a:rPr kumimoji="0" lang="en-GB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fPr>
                          <m:num>
                            <m:r>
                              <a:rPr kumimoji="0" lang="en-GB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𝜋</m:t>
                            </m:r>
                          </m:num>
                          <m:den>
                            <m:r>
                              <a:rPr kumimoji="0" lang="en-GB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3</m:t>
                            </m:r>
                          </m:den>
                        </m:f>
                      </m:sup>
                      <m:e>
                        <m:func>
                          <m:funcPr>
                            <m:ctrlPr>
                              <a:rPr kumimoji="0" lang="en-GB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0" lang="en-GB" sz="2000" b="0" i="0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sec</m:t>
                            </m:r>
                          </m:fName>
                          <m:e>
                            <m:r>
                              <a:rPr kumimoji="0" lang="en-GB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𝑥</m:t>
                            </m:r>
                          </m:e>
                        </m:func>
                        <m:r>
                          <a:rPr kumimoji="0" lang="en-GB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 </m:t>
                        </m:r>
                        <m:r>
                          <a:rPr kumimoji="0" lang="en-GB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𝑑𝑥</m:t>
                        </m:r>
                      </m:e>
                    </m:nary>
                  </m:oMath>
                </a14:m>
                <a:endParaRPr kumimoji="0" lang="en-GB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  <a:p>
                <a:pPr marL="457200" marR="0" lvl="0" indent="-4572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AutoNum type="alphaLcParenR"/>
                  <a:tabLst/>
                  <a:defRPr/>
                </a:pPr>
                <a:r>
                  <a:rPr kumimoji="0" lang="en-GB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Find the exact value of </a:t>
                </a:r>
                <a14:m>
                  <m:oMath xmlns:m="http://schemas.openxmlformats.org/officeDocument/2006/math">
                    <m:r>
                      <a:rPr kumimoji="0" lang="en-GB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𝐼</m:t>
                    </m:r>
                  </m:oMath>
                </a14:m>
                <a:r>
                  <a:rPr kumimoji="0" lang="en-GB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.</a:t>
                </a:r>
              </a:p>
              <a:p>
                <a:pPr marL="457200" marR="0" lvl="0" indent="-4572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AutoNum type="alphaLcParenR"/>
                  <a:tabLst/>
                  <a:defRPr/>
                </a:pPr>
                <a:r>
                  <a:rPr kumimoji="0" lang="en-GB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Use the trapezium rule with two strips to estimate </a:t>
                </a:r>
                <a14:m>
                  <m:oMath xmlns:m="http://schemas.openxmlformats.org/officeDocument/2006/math">
                    <m:r>
                      <a:rPr kumimoji="0" lang="en-GB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𝐼</m:t>
                    </m:r>
                  </m:oMath>
                </a14:m>
                <a:r>
                  <a:rPr kumimoji="0" lang="en-GB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.</a:t>
                </a:r>
              </a:p>
              <a:p>
                <a:pPr marL="457200" marR="0" lvl="0" indent="-4572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AutoNum type="alphaLcParenR"/>
                  <a:tabLst/>
                  <a:defRPr/>
                </a:pPr>
                <a:r>
                  <a:rPr kumimoji="0" lang="en-GB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Use the trapezium rule with four strips to find a second estimate of </a:t>
                </a:r>
                <a14:m>
                  <m:oMath xmlns:m="http://schemas.openxmlformats.org/officeDocument/2006/math">
                    <m:r>
                      <a:rPr kumimoji="0" lang="en-GB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𝐼</m:t>
                    </m:r>
                  </m:oMath>
                </a14:m>
                <a:r>
                  <a:rPr kumimoji="0" lang="en-GB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.</a:t>
                </a:r>
              </a:p>
              <a:p>
                <a:pPr marL="457200" marR="0" lvl="0" indent="-4572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AutoNum type="alphaLcParenR"/>
                  <a:tabLst/>
                  <a:defRPr/>
                </a:pPr>
                <a:r>
                  <a:rPr kumimoji="0" lang="en-GB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Find the percentage error in using each estimate.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876" y="1603781"/>
                <a:ext cx="7951588" cy="1810176"/>
              </a:xfrm>
              <a:prstGeom prst="rect">
                <a:avLst/>
              </a:prstGeom>
              <a:blipFill>
                <a:blip r:embed="rId2"/>
                <a:stretch>
                  <a:fillRect b="-615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/>
          <p:nvPr/>
        </p:nvSpPr>
        <p:spPr>
          <a:xfrm>
            <a:off x="310828" y="1591949"/>
            <a:ext cx="432048" cy="1822008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0" y="565531"/>
                <a:ext cx="9144000" cy="493533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Trapezium Rule: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kumimoji="0" lang="en-GB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naryPr>
                      <m:sub>
                        <m:r>
                          <a:rPr kumimoji="0" lang="en-GB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𝑎</m:t>
                        </m:r>
                      </m:sub>
                      <m:sup>
                        <m:r>
                          <a:rPr kumimoji="0" lang="en-GB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𝑏</m:t>
                        </m:r>
                      </m:sup>
                      <m:e>
                        <m:r>
                          <a:rPr kumimoji="0" lang="en-GB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𝑦</m:t>
                        </m:r>
                        <m:r>
                          <a:rPr kumimoji="0" lang="en-GB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 </m:t>
                        </m:r>
                        <m:r>
                          <a:rPr kumimoji="0" lang="en-GB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𝑑𝑥</m:t>
                        </m:r>
                      </m:e>
                    </m:nary>
                    <m:r>
                      <a:rPr kumimoji="0" lang="en-GB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≈</m:t>
                    </m:r>
                    <m:f>
                      <m:fPr>
                        <m:ctrlPr>
                          <a:rPr kumimoji="0" lang="en-GB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GB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num>
                      <m:den>
                        <m:r>
                          <a:rPr kumimoji="0" lang="en-GB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den>
                    </m:f>
                    <m:r>
                      <a:rPr kumimoji="0" lang="en-GB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h</m:t>
                    </m:r>
                    <m:d>
                      <m:dPr>
                        <m:begChr m:val="["/>
                        <m:endChr m:val="]"/>
                        <m:ctrlPr>
                          <a:rPr kumimoji="0" lang="en-GB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en-GB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white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GB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white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𝑦</m:t>
                            </m:r>
                          </m:e>
                          <m:sub>
                            <m:r>
                              <a:rPr kumimoji="0" lang="en-GB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white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0</m:t>
                            </m:r>
                          </m:sub>
                        </m:sSub>
                        <m:r>
                          <a:rPr kumimoji="0" lang="en-GB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+2</m:t>
                        </m:r>
                        <m:d>
                          <m:dPr>
                            <m:ctrlPr>
                              <a:rPr kumimoji="0" lang="en-GB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white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0" lang="en-GB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white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en-GB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white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kumimoji="0" lang="en-GB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white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kumimoji="0" lang="en-GB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white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+…+</m:t>
                            </m:r>
                            <m:sSub>
                              <m:sSubPr>
                                <m:ctrlPr>
                                  <a:rPr kumimoji="0" lang="en-GB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white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en-GB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white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kumimoji="0" lang="en-GB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white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𝑛</m:t>
                                </m:r>
                                <m:r>
                                  <a:rPr kumimoji="0" lang="en-GB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white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−1</m:t>
                                </m:r>
                              </m:sub>
                            </m:sSub>
                          </m:e>
                        </m:d>
                        <m:r>
                          <a:rPr kumimoji="0" lang="en-GB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+</m:t>
                        </m:r>
                        <m:sSub>
                          <m:sSubPr>
                            <m:ctrlPr>
                              <a:rPr kumimoji="0" lang="en-GB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white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GB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white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𝑦</m:t>
                            </m:r>
                          </m:e>
                          <m:sub>
                            <m:r>
                              <a:rPr kumimoji="0" lang="en-GB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white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565531"/>
                <a:ext cx="9144000" cy="493533"/>
              </a:xfrm>
              <a:prstGeom prst="rect">
                <a:avLst/>
              </a:prstGeom>
              <a:blipFill rotWithShape="0">
                <a:blip r:embed="rId3"/>
                <a:stretch>
                  <a:fillRect t="-91765" b="-14705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692200" y="3545581"/>
                <a:ext cx="2736304" cy="8928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GB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𝐼</m:t>
                      </m:r>
                      <m:r>
                        <a:rPr kumimoji="0" lang="en-GB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sSubSup>
                        <m:sSubSupPr>
                          <m:ctrlPr>
                            <a:rPr kumimoji="0" lang="en-GB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kumimoji="0" lang="en-GB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kumimoji="0" lang="en-GB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kumimoji="0" lang="en-GB" sz="1800" b="0" i="0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ln</m:t>
                                  </m:r>
                                </m:fName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kumimoji="0" lang="en-GB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func>
                                        <m:funcPr>
                                          <m:ctrlPr>
                                            <a:rPr kumimoji="0" lang="en-GB" sz="18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m:rPr>
                                              <m:sty m:val="p"/>
                                            </m:rPr>
                                            <a:rPr kumimoji="0" lang="en-GB" sz="1800" b="0" i="0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sec</m:t>
                                          </m:r>
                                        </m:fName>
                                        <m:e>
                                          <m:r>
                                            <a:rPr kumimoji="0" lang="en-GB" sz="18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𝑥</m:t>
                                          </m:r>
                                        </m:e>
                                      </m:func>
                                      <m:r>
                                        <a:rPr kumimoji="0" lang="en-GB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+</m:t>
                                      </m:r>
                                      <m:func>
                                        <m:funcPr>
                                          <m:ctrlPr>
                                            <a:rPr kumimoji="0" lang="en-GB" sz="18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m:rPr>
                                              <m:sty m:val="p"/>
                                            </m:rPr>
                                            <a:rPr kumimoji="0" lang="en-GB" sz="1800" b="0" i="0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tan</m:t>
                                          </m:r>
                                        </m:fName>
                                        <m:e>
                                          <m:r>
                                            <a:rPr kumimoji="0" lang="en-GB" sz="18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𝑥</m:t>
                                          </m:r>
                                        </m:e>
                                      </m:func>
                                    </m:e>
                                  </m:d>
                                </m:e>
                              </m:func>
                            </m:e>
                          </m:d>
                        </m:e>
                        <m:sub>
                          <m:r>
                            <a:rPr kumimoji="0" lang="en-GB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0</m:t>
                          </m:r>
                        </m:sub>
                        <m:sup>
                          <m:f>
                            <m:fPr>
                              <m:ctrlPr>
                                <a:rPr kumimoji="0" lang="en-GB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fPr>
                            <m:num>
                              <m:r>
                                <a:rPr kumimoji="0" lang="en-GB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𝜋</m:t>
                              </m:r>
                            </m:num>
                            <m:den>
                              <m:r>
                                <a:rPr kumimoji="0" lang="en-GB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3</m:t>
                              </m:r>
                            </m:den>
                          </m:f>
                        </m:sup>
                      </m:sSubSup>
                    </m:oMath>
                    <m:oMath xmlns:m="http://schemas.openxmlformats.org/officeDocument/2006/math">
                      <m:r>
                        <a:rPr kumimoji="0" lang="en-GB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unc>
                        <m:funcPr>
                          <m:ctrlPr>
                            <a:rPr kumimoji="0" lang="en-GB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0" lang="en-GB" sz="18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kumimoji="0" lang="en-GB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GB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2+</m:t>
                              </m:r>
                              <m:rad>
                                <m:radPr>
                                  <m:degHide m:val="on"/>
                                  <m:ctrlPr>
                                    <a:rPr kumimoji="0" lang="en-GB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kumimoji="0" lang="en-GB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3</m:t>
                                  </m:r>
                                </m:e>
                              </m:rad>
                            </m:e>
                          </m:d>
                        </m:e>
                      </m:func>
                    </m:oMath>
                  </m:oMathPara>
                </a14:m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200" y="3545581"/>
                <a:ext cx="2736304" cy="89287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/>
              <p:cNvGraphicFramePr>
                <a:graphicFrameLocks noGrp="1"/>
              </p:cNvGraphicFramePr>
              <p:nvPr/>
            </p:nvGraphicFramePr>
            <p:xfrm>
              <a:off x="1379029" y="4540078"/>
              <a:ext cx="1896046" cy="93014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45582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7423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79089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75094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GB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num>
                                  <m:den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num>
                                  <m:den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oMath>
                            </m:oMathPara>
                          </a14:m>
                          <a:endParaRPr lang="en-GB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1.155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17498684"/>
                  </p:ext>
                </p:extLst>
              </p:nvPr>
            </p:nvGraphicFramePr>
            <p:xfrm>
              <a:off x="1379029" y="4540078"/>
              <a:ext cx="1896046" cy="93014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45582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7423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79089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75094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55930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333" t="-1075" r="-318667" b="-688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68889" t="-1075" r="-431111" b="-688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93077" t="-1075" r="-49231" b="-688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404839" t="-1075" r="-3226" b="-6881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333" t="-154098" r="-318667" b="-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68889" t="-154098" r="-431111" b="-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93077" t="-154098" r="-49231" b="-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404839" t="-154098" r="-3226" b="-49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682080" y="5524279"/>
                <a:ext cx="3698676" cy="6127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GB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𝐼</m:t>
                      </m:r>
                      <m:r>
                        <a:rPr kumimoji="0" lang="en-GB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≈</m:t>
                      </m:r>
                      <m:f>
                        <m:fPr>
                          <m:ctrlPr>
                            <a:rPr kumimoji="0" lang="en-GB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GB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num>
                        <m:den>
                          <m:r>
                            <a:rPr kumimoji="0" lang="en-GB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den>
                      </m:f>
                      <m:f>
                        <m:fPr>
                          <m:ctrlPr>
                            <a:rPr kumimoji="0" lang="en-GB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GB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𝜋</m:t>
                          </m:r>
                        </m:num>
                        <m:den>
                          <m:r>
                            <a:rPr kumimoji="0" lang="en-GB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6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kumimoji="0" lang="en-GB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GB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1+2</m:t>
                          </m:r>
                          <m:d>
                            <m:dPr>
                              <m:ctrlPr>
                                <a:rPr kumimoji="0" lang="en-GB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GB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1.155</m:t>
                              </m:r>
                            </m:e>
                          </m:d>
                          <m:r>
                            <a:rPr kumimoji="0" lang="en-GB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+2</m:t>
                          </m:r>
                        </m:e>
                      </m:d>
                      <m:r>
                        <a:rPr kumimoji="0" lang="en-GB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=1.39</m:t>
                      </m:r>
                    </m:oMath>
                  </m:oMathPara>
                </a14:m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080" y="5524279"/>
                <a:ext cx="3698676" cy="6127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/>
              <p:cNvGraphicFramePr>
                <a:graphicFrameLocks noGrp="1"/>
              </p:cNvGraphicFramePr>
              <p:nvPr/>
            </p:nvGraphicFramePr>
            <p:xfrm>
              <a:off x="4822588" y="3986080"/>
              <a:ext cx="3871876" cy="93014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0927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8855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79089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79089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790892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501373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GB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num>
                                  <m:den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num>
                                  <m:den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num>
                                  <m:den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num>
                                  <m:den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oMath>
                            </m:oMathPara>
                          </a14:m>
                          <a:endParaRPr lang="en-GB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1.035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1.155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1.414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10255312"/>
                  </p:ext>
                </p:extLst>
              </p:nvPr>
            </p:nvGraphicFramePr>
            <p:xfrm>
              <a:off x="4822588" y="3986080"/>
              <a:ext cx="3871876" cy="93014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0927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8855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79089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79089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790892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501373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55930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1000" t="-1075" r="-538000" b="-688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157813" t="-1075" r="-740625" b="-688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126923" t="-1075" r="-264615" b="-688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226923" t="-1075" r="-164615" b="-688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326923" t="-1075" r="-64615" b="-688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676829" t="-1075" r="-2439" b="-6881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1000" t="-154098" r="-538000" b="-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157813" t="-154098" r="-740625" b="-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126923" t="-154098" r="-264615" b="-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226923" t="-154098" r="-164615" b="-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326923" t="-154098" r="-64615" b="-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676829" t="-154098" r="-2439" b="-49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4127252" y="4961228"/>
                <a:ext cx="5004048" cy="5533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GB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𝐼</m:t>
                      </m:r>
                      <m:r>
                        <a:rPr kumimoji="0" lang="en-GB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≈</m:t>
                      </m:r>
                      <m:f>
                        <m:fPr>
                          <m:ctrlPr>
                            <a:rPr kumimoji="0" lang="en-GB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GB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num>
                        <m:den>
                          <m:r>
                            <a:rPr kumimoji="0" lang="en-GB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den>
                      </m:f>
                      <m:f>
                        <m:fPr>
                          <m:ctrlPr>
                            <a:rPr kumimoji="0" lang="en-GB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GB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𝜋</m:t>
                          </m:r>
                        </m:num>
                        <m:den>
                          <m:r>
                            <a:rPr kumimoji="0" lang="en-GB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12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kumimoji="0" lang="en-GB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GB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1+2</m:t>
                          </m:r>
                          <m:d>
                            <m:dPr>
                              <m:ctrlPr>
                                <a:rPr kumimoji="0" lang="en-GB" sz="1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GB" sz="1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1.035+1.155+1.414</m:t>
                              </m:r>
                            </m:e>
                          </m:d>
                          <m:r>
                            <a:rPr kumimoji="0" lang="en-GB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+2</m:t>
                          </m:r>
                        </m:e>
                      </m:d>
                      <m:r>
                        <a:rPr kumimoji="0" lang="en-GB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=1.34</m:t>
                      </m:r>
                    </m:oMath>
                  </m:oMathPara>
                </a14:m>
                <a:endParaRPr kumimoji="0" lang="en-GB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7252" y="4961228"/>
                <a:ext cx="5004048" cy="55335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5351388" y="5635794"/>
            <a:ext cx="2736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Error is 5.6% and 1.5%.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8668" y="3605280"/>
            <a:ext cx="288032" cy="28803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668" y="4483362"/>
            <a:ext cx="288032" cy="28803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41180" y="3956397"/>
            <a:ext cx="288032" cy="28803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76006" y="5686629"/>
            <a:ext cx="288032" cy="28803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6700" y="3605280"/>
            <a:ext cx="2691804" cy="83317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9308" y="4483362"/>
            <a:ext cx="3492400" cy="166343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29212" y="3948568"/>
            <a:ext cx="4694584" cy="166343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64038" y="5686629"/>
            <a:ext cx="4059758" cy="61848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975142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4000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Test Your Understanding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DBCB640B-4C8E-421B-A7AC-1CEEED5CE5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764704"/>
            <a:ext cx="5241545" cy="609329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C30B5C4-7AC1-4D31-BA1D-29793B5773CF}"/>
              </a:ext>
            </a:extLst>
          </p:cNvPr>
          <p:cNvSpPr txBox="1"/>
          <p:nvPr/>
        </p:nvSpPr>
        <p:spPr>
          <a:xfrm>
            <a:off x="175568" y="702390"/>
            <a:ext cx="1804144" cy="64633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Edexcel C4 June 2014(R) Q2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B6C2534-E6D6-49C8-AE5D-7206E69372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9415" y="752004"/>
            <a:ext cx="4634367" cy="88629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BF57C1F-7494-4272-BE19-34F87B899D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0656" y="1702277"/>
            <a:ext cx="3562730" cy="153622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682B6F1F-8DAC-42D6-8D4E-220AF6E425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6064" y="3221856"/>
            <a:ext cx="3171825" cy="350520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84713D86-A4D9-4EE8-A6C5-C0583F48712A}"/>
              </a:ext>
            </a:extLst>
          </p:cNvPr>
          <p:cNvSpPr/>
          <p:nvPr/>
        </p:nvSpPr>
        <p:spPr>
          <a:xfrm>
            <a:off x="4902300" y="671580"/>
            <a:ext cx="4203600" cy="99212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?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70DBA3C-2D12-490A-AF51-84CF682FF275}"/>
              </a:ext>
            </a:extLst>
          </p:cNvPr>
          <p:cNvSpPr/>
          <p:nvPr/>
        </p:nvSpPr>
        <p:spPr>
          <a:xfrm>
            <a:off x="5386526" y="1681976"/>
            <a:ext cx="3719374" cy="1539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?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DED1863-BD07-4CCA-B9A1-AB7C3673F542}"/>
              </a:ext>
            </a:extLst>
          </p:cNvPr>
          <p:cNvSpPr/>
          <p:nvPr/>
        </p:nvSpPr>
        <p:spPr>
          <a:xfrm>
            <a:off x="6228184" y="3218198"/>
            <a:ext cx="2877716" cy="3508857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326247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4000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Exercise 11.9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AB409FA8-34C4-4FDD-966B-EFA5D58ECFF6}"/>
              </a:ext>
            </a:extLst>
          </p:cNvPr>
          <p:cNvSpPr txBox="1"/>
          <p:nvPr/>
        </p:nvSpPr>
        <p:spPr>
          <a:xfrm>
            <a:off x="395536" y="725840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Pearson Pure Mathematics </a:t>
            </a:r>
            <a:r>
              <a:rPr kumimoji="0" lang="en-GB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Year 2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Pages 9</a:t>
            </a:r>
            <a:r>
              <a:rPr lang="en-GB" sz="2400" dirty="0">
                <a:solidFill>
                  <a:prstClr val="black"/>
                </a:solidFill>
                <a:latin typeface="Calibri"/>
              </a:rPr>
              <a:t>8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-100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7B3D4EB-D2A9-4BCC-B402-8AAEDE7CB1A1}"/>
              </a:ext>
            </a:extLst>
          </p:cNvPr>
          <p:cNvCxnSpPr/>
          <p:nvPr/>
        </p:nvCxnSpPr>
        <p:spPr>
          <a:xfrm>
            <a:off x="0" y="1739717"/>
            <a:ext cx="9144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98235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 descr="A graph of a function with a curve&#10;&#10;AI-generated content may be incorrect.">
            <a:extLst>
              <a:ext uri="{FF2B5EF4-FFF2-40B4-BE49-F238E27FC236}">
                <a16:creationId xmlns:a16="http://schemas.microsoft.com/office/drawing/2014/main" id="{17570A54-FF54-E20E-F652-1477B4354B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615" y="692696"/>
            <a:ext cx="7667625" cy="561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875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B14B00-D64B-CB22-F9D9-7405574D4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C183018-0584-70AA-6C28-8DEE7FC4CF71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0690DD9A-03F2-D4BA-3140-80D2F0ECDA75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E1209C30-B6AE-E25A-6523-07265532B87F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 descr="A math problem with a diagram&#10;&#10;AI-generated content may be incorrect.">
            <a:extLst>
              <a:ext uri="{FF2B5EF4-FFF2-40B4-BE49-F238E27FC236}">
                <a16:creationId xmlns:a16="http://schemas.microsoft.com/office/drawing/2014/main" id="{9F55AA26-B91E-28B5-30E1-28DBFAB425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458" y="692696"/>
            <a:ext cx="7237084" cy="5966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95917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8" name="Picture 7" descr="A math problem with numbers and equations&#10;&#10;AI-generated content may be incorrect.">
            <a:extLst>
              <a:ext uri="{FF2B5EF4-FFF2-40B4-BE49-F238E27FC236}">
                <a16:creationId xmlns:a16="http://schemas.microsoft.com/office/drawing/2014/main" id="{99A2CB5D-F679-6335-8277-035A440F47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715" y="980728"/>
            <a:ext cx="7591425" cy="409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9289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52605-DD98-E408-5B3A-252108DC8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379B8A2C-F363-8309-9C3F-515C42B1C842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054E1654-89F0-60F3-0F69-0228CE50CD0E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13EFB95C-6E27-928B-7BFF-244B8CB001CA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 descr="A math problem with numbers and lines&#10;&#10;AI-generated content may be incorrect.">
            <a:extLst>
              <a:ext uri="{FF2B5EF4-FFF2-40B4-BE49-F238E27FC236}">
                <a16:creationId xmlns:a16="http://schemas.microsoft.com/office/drawing/2014/main" id="{2C44BAFA-44DD-D903-30A6-409A23560C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908720"/>
            <a:ext cx="7620000" cy="337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2083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0C4905-8B9E-DDFD-FD41-901EDDBA8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0566E67-9C24-9448-F396-DC76768EF11E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753B32A2-860F-1EEF-8B0E-6E6D3F58B407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C12E8A63-D16B-96D6-462F-ADC24A2AB7FF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 descr="A math problem with numbers and equations&#10;&#10;AI-generated content may be incorrect.">
            <a:extLst>
              <a:ext uri="{FF2B5EF4-FFF2-40B4-BE49-F238E27FC236}">
                <a16:creationId xmlns:a16="http://schemas.microsoft.com/office/drawing/2014/main" id="{0524628F-5364-8558-382C-978B0E7957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278" y="836712"/>
            <a:ext cx="7734300" cy="4029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59152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3701A-E7BD-68C1-66BB-7054BBC21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0A3E272-C5E2-2440-C17D-2C610432C1DB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55FDF68D-5B8E-704F-485A-FA4A7EC42EC0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2BDFDE40-8D12-CDD2-8696-FD5D0F16B576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 descr="A table of values with numbers and a mathematical equation&#10;&#10;AI-generated content may be incorrect.">
            <a:extLst>
              <a:ext uri="{FF2B5EF4-FFF2-40B4-BE49-F238E27FC236}">
                <a16:creationId xmlns:a16="http://schemas.microsoft.com/office/drawing/2014/main" id="{2BE0C6EA-1240-74CF-15EC-5C2B117B44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478" y="764704"/>
            <a:ext cx="7581900" cy="3171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38459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C500B5-B570-B107-9B4F-8E9FF851B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B3FEC8F-895D-BDE0-15AB-8D4CE6895487}"/>
              </a:ext>
            </a:extLst>
          </p:cNvPr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F90FA4E8-4B7E-AC18-C6BB-1CFF17B45D19}"/>
                </a:ext>
              </a:extLst>
            </p:cNvPr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</a:t>
              </a:r>
              <a:r>
                <a:rPr lang="en-GB" sz="3200" dirty="0">
                  <a:latin typeface="+mj-lt"/>
                </a:rPr>
                <a:t> Answers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02D48786-6F2D-EAE3-232E-79D37785557E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 descr="A close-up of a math problem&#10;&#10;AI-generated content may be incorrect.">
            <a:extLst>
              <a:ext uri="{FF2B5EF4-FFF2-40B4-BE49-F238E27FC236}">
                <a16:creationId xmlns:a16="http://schemas.microsoft.com/office/drawing/2014/main" id="{681882F2-EC45-8CA7-7B14-4A498D627A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52736"/>
            <a:ext cx="9144000" cy="3232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9010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145CED0C8C3544A5BCCC2783BB773D" ma:contentTypeVersion="18" ma:contentTypeDescription="Create a new document." ma:contentTypeScope="" ma:versionID="071d80e8befb16289be70b0ed95d7a13">
  <xsd:schema xmlns:xsd="http://www.w3.org/2001/XMLSchema" xmlns:xs="http://www.w3.org/2001/XMLSchema" xmlns:p="http://schemas.microsoft.com/office/2006/metadata/properties" xmlns:ns2="faa1ecaf-a1aa-4fc9-8c75-2805352e1f65" xmlns:ns3="f9cd3b9a-9a6c-485a-81b7-4082693b5161" targetNamespace="http://schemas.microsoft.com/office/2006/metadata/properties" ma:root="true" ma:fieldsID="bfedc4b824bdcf7bc3afcdacf96d42fb" ns2:_="" ns3:_="">
    <xsd:import namespace="faa1ecaf-a1aa-4fc9-8c75-2805352e1f65"/>
    <xsd:import namespace="f9cd3b9a-9a6c-485a-81b7-4082693b516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a1ecaf-a1aa-4fc9-8c75-2805352e1f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MediaService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35c9266d-873e-4384-88ad-117b2e21bbb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cd3b9a-9a6c-485a-81b7-4082693b516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37dd2894-802d-4a2b-8969-adc31d00c97c}" ma:internalName="TaxCatchAll" ma:showField="CatchAllData" ma:web="f9cd3b9a-9a6c-485a-81b7-4082693b516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aa1ecaf-a1aa-4fc9-8c75-2805352e1f65">
      <Terms xmlns="http://schemas.microsoft.com/office/infopath/2007/PartnerControls"/>
    </lcf76f155ced4ddcb4097134ff3c332f>
    <TaxCatchAll xmlns="f9cd3b9a-9a6c-485a-81b7-4082693b5161" xsi:nil="true"/>
  </documentManagement>
</p:properties>
</file>

<file path=customXml/itemProps1.xml><?xml version="1.0" encoding="utf-8"?>
<ds:datastoreItem xmlns:ds="http://schemas.openxmlformats.org/officeDocument/2006/customXml" ds:itemID="{50663578-A72F-4CF5-86EB-49307922FA5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aa1ecaf-a1aa-4fc9-8c75-2805352e1f65"/>
    <ds:schemaRef ds:uri="f9cd3b9a-9a6c-485a-81b7-4082693b516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7A8A453-4F69-4ABD-93B0-CC23B8374D5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33B3424-125D-4609-84E5-4A3F753A602C}">
  <ds:schemaRefs>
    <ds:schemaRef ds:uri="http://schemas.microsoft.com/office/2006/metadata/properties"/>
    <ds:schemaRef ds:uri="http://schemas.microsoft.com/office/infopath/2007/PartnerControls"/>
    <ds:schemaRef ds:uri="faa1ecaf-a1aa-4fc9-8c75-2805352e1f65"/>
    <ds:schemaRef ds:uri="f9cd3b9a-9a6c-485a-81b7-4082693b5161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22517</TotalTime>
  <Words>378</Words>
  <Application>Microsoft Office PowerPoint</Application>
  <PresentationFormat>On-screen Show (4:3)</PresentationFormat>
  <Paragraphs>101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Cambria Math</vt:lpstr>
      <vt:lpstr>Wingdings</vt:lpstr>
      <vt:lpstr>Office Theme</vt:lpstr>
      <vt:lpstr>P2 Chapter 11: Integration  The Trapezium Rule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RM plc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Frost J</dc:creator>
  <cp:lastModifiedBy>Dieter Beaven</cp:lastModifiedBy>
  <cp:revision>836</cp:revision>
  <dcterms:created xsi:type="dcterms:W3CDTF">2013-02-28T07:36:55Z</dcterms:created>
  <dcterms:modified xsi:type="dcterms:W3CDTF">2026-03-12T13:51:40Z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0x010100E2145CED0C8C3544A5BCCC2783BB773D</vt:lpwstr>
  </property>
</Properties>
</file>