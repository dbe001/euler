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547" r:id="rId5"/>
    <p:sldId id="597" r:id="rId6"/>
    <p:sldId id="600" r:id="rId7"/>
    <p:sldId id="599" r:id="rId8"/>
    <p:sldId id="596" r:id="rId9"/>
    <p:sldId id="601" r:id="rId10"/>
    <p:sldId id="549" r:id="rId11"/>
    <p:sldId id="543" r:id="rId12"/>
    <p:sldId id="550" r:id="rId13"/>
    <p:sldId id="54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59374DB3-5EB3-468B-808D-6525BC127456}"/>
    <pc:docChg chg="addSld delSld modSld">
      <pc:chgData name="Dieter Beaven" userId="9bbdb69f-69d0-4759-aa9b-5c090a2da237" providerId="ADAL" clId="{59374DB3-5EB3-468B-808D-6525BC127456}" dt="2025-05-20T14:28:02.825" v="5" actId="47"/>
      <pc:docMkLst>
        <pc:docMk/>
      </pc:docMkLst>
      <pc:sldChg chg="addSp modSp mod modAnim">
        <pc:chgData name="Dieter Beaven" userId="9bbdb69f-69d0-4759-aa9b-5c090a2da237" providerId="ADAL" clId="{59374DB3-5EB3-468B-808D-6525BC127456}" dt="2025-05-20T14:27:54.172" v="4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59374DB3-5EB3-468B-808D-6525BC127456}" dt="2025-05-20T14:27:24.121" v="0"/>
        <pc:sldMkLst>
          <pc:docMk/>
          <pc:sldMk cId="103406131" sldId="596"/>
        </pc:sldMkLst>
      </pc:sldChg>
      <pc:sldChg chg="add">
        <pc:chgData name="Dieter Beaven" userId="9bbdb69f-69d0-4759-aa9b-5c090a2da237" providerId="ADAL" clId="{59374DB3-5EB3-468B-808D-6525BC127456}" dt="2025-05-20T14:27:24.121" v="0"/>
        <pc:sldMkLst>
          <pc:docMk/>
          <pc:sldMk cId="657203686" sldId="597"/>
        </pc:sldMkLst>
      </pc:sldChg>
      <pc:sldChg chg="add">
        <pc:chgData name="Dieter Beaven" userId="9bbdb69f-69d0-4759-aa9b-5c090a2da237" providerId="ADAL" clId="{59374DB3-5EB3-468B-808D-6525BC127456}" dt="2025-05-20T14:27:24.121" v="0"/>
        <pc:sldMkLst>
          <pc:docMk/>
          <pc:sldMk cId="477513847" sldId="599"/>
        </pc:sldMkLst>
      </pc:sldChg>
      <pc:sldChg chg="add">
        <pc:chgData name="Dieter Beaven" userId="9bbdb69f-69d0-4759-aa9b-5c090a2da237" providerId="ADAL" clId="{59374DB3-5EB3-468B-808D-6525BC127456}" dt="2025-05-20T14:27:24.121" v="0"/>
        <pc:sldMkLst>
          <pc:docMk/>
          <pc:sldMk cId="1948210332" sldId="600"/>
        </pc:sldMkLst>
      </pc:sldChg>
      <pc:sldChg chg="add">
        <pc:chgData name="Dieter Beaven" userId="9bbdb69f-69d0-4759-aa9b-5c090a2da237" providerId="ADAL" clId="{59374DB3-5EB3-468B-808D-6525BC127456}" dt="2025-05-20T14:27:24.121" v="0"/>
        <pc:sldMkLst>
          <pc:docMk/>
          <pc:sldMk cId="2425200227" sldId="601"/>
        </pc:sldMkLst>
      </pc:sldChg>
      <pc:sldChg chg="add del">
        <pc:chgData name="Dieter Beaven" userId="9bbdb69f-69d0-4759-aa9b-5c090a2da237" providerId="ADAL" clId="{59374DB3-5EB3-468B-808D-6525BC127456}" dt="2025-05-20T14:28:02.825" v="5" actId="47"/>
        <pc:sldMkLst>
          <pc:docMk/>
          <pc:sldMk cId="1459104051" sldId="602"/>
        </pc:sldMkLst>
      </pc:sldChg>
    </pc:docChg>
  </pc:docChgLst>
  <pc:docChgLst>
    <pc:chgData name="Dieter Beaven" userId="9bbdb69f-69d0-4759-aa9b-5c090a2da237" providerId="ADAL" clId="{6B05AD3C-41C7-4EFC-BCBD-BAEE45CFBFF1}"/>
    <pc:docChg chg="custSel delSld modSld">
      <pc:chgData name="Dieter Beaven" userId="9bbdb69f-69d0-4759-aa9b-5c090a2da237" providerId="ADAL" clId="{6B05AD3C-41C7-4EFC-BCBD-BAEE45CFBFF1}" dt="2025-08-27T10:32:04.379" v="6" actId="47"/>
      <pc:docMkLst>
        <pc:docMk/>
      </pc:docMkLst>
      <pc:sldChg chg="addSp delSp modSp mod">
        <pc:chgData name="Dieter Beaven" userId="9bbdb69f-69d0-4759-aa9b-5c090a2da237" providerId="ADAL" clId="{6B05AD3C-41C7-4EFC-BCBD-BAEE45CFBFF1}" dt="2025-08-27T10:31:04.872" v="3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6B05AD3C-41C7-4EFC-BCBD-BAEE45CFBFF1}" dt="2025-08-27T10:32:00.713" v="5" actId="1076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6B05AD3C-41C7-4EFC-BCBD-BAEE45CFBFF1}" dt="2025-08-27T10:32:04.379" v="6" actId="47"/>
        <pc:sldMkLst>
          <pc:docMk/>
          <pc:sldMk cId="3826585799" sldId="551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9D425F22-416C-4F44-A282-D7FAB5F5CE93}"/>
    <pc:docChg chg="modSld">
      <pc:chgData name="Dieter Beaven" userId="9bbdb69f-69d0-4759-aa9b-5c090a2da237" providerId="ADAL" clId="{9D425F22-416C-4F44-A282-D7FAB5F5CE93}" dt="2025-04-25T15:29:48.921" v="3" actId="20577"/>
      <pc:docMkLst>
        <pc:docMk/>
      </pc:docMkLst>
      <pc:sldChg chg="modSp mod">
        <pc:chgData name="Dieter Beaven" userId="9bbdb69f-69d0-4759-aa9b-5c090a2da237" providerId="ADAL" clId="{9D425F22-416C-4F44-A282-D7FAB5F5CE93}" dt="2025-04-25T15:29:45.609" v="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9D425F22-416C-4F44-A282-D7FAB5F5CE93}" dt="2025-04-25T15:29:48.921" v="3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AF4429DE-69D1-4CF8-841D-B9C26A2A5A21}"/>
    <pc:docChg chg="delSld modSld">
      <pc:chgData name="Dieter Beaven" userId="9bbdb69f-69d0-4759-aa9b-5c090a2da237" providerId="ADAL" clId="{AF4429DE-69D1-4CF8-841D-B9C26A2A5A21}" dt="2025-10-23T10:51:29.802" v="1" actId="47"/>
      <pc:docMkLst>
        <pc:docMk/>
      </pc:docMkLst>
      <pc:sldChg chg="addSp mod">
        <pc:chgData name="Dieter Beaven" userId="9bbdb69f-69d0-4759-aa9b-5c090a2da237" providerId="ADAL" clId="{AF4429DE-69D1-4CF8-841D-B9C26A2A5A21}" dt="2025-10-23T10:51:27.511" v="0" actId="22"/>
        <pc:sldMkLst>
          <pc:docMk/>
          <pc:sldMk cId="3458699803" sldId="545"/>
        </pc:sldMkLst>
        <pc:picChg chg="add">
          <ac:chgData name="Dieter Beaven" userId="9bbdb69f-69d0-4759-aa9b-5c090a2da237" providerId="ADAL" clId="{AF4429DE-69D1-4CF8-841D-B9C26A2A5A21}" dt="2025-10-23T10:51:27.511" v="0" actId="22"/>
          <ac:picMkLst>
            <pc:docMk/>
            <pc:sldMk cId="3458699803" sldId="545"/>
            <ac:picMk id="6" creationId="{52F1B798-E61F-9BB3-B80B-78DCB7605D31}"/>
          </ac:picMkLst>
        </pc:picChg>
      </pc:sldChg>
      <pc:sldChg chg="del">
        <pc:chgData name="Dieter Beaven" userId="9bbdb69f-69d0-4759-aa9b-5c090a2da237" providerId="ADAL" clId="{AF4429DE-69D1-4CF8-841D-B9C26A2A5A21}" dt="2025-10-23T10:51:29.802" v="1" actId="47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95AD2C3-895E-469A-ABEC-6A0C933707BF}"/>
    <pc:docChg chg="modSld">
      <pc:chgData name="Dieter Beaven" userId="9bbdb69f-69d0-4759-aa9b-5c090a2da237" providerId="ADAL" clId="{595AD2C3-895E-469A-ABEC-6A0C933707BF}" dt="2025-04-29T13:40:17.006" v="33" actId="20577"/>
      <pc:docMkLst>
        <pc:docMk/>
      </pc:docMkLst>
      <pc:sldChg chg="modSp mod">
        <pc:chgData name="Dieter Beaven" userId="9bbdb69f-69d0-4759-aa9b-5c090a2da237" providerId="ADAL" clId="{595AD2C3-895E-469A-ABEC-6A0C933707BF}" dt="2025-04-29T13:40:17.006" v="33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6AFE1CC8-B116-4724-A190-E7A57E7D399B}"/>
    <pc:docChg chg="modSld">
      <pc:chgData name="Dieter Beaven" userId="9bbdb69f-69d0-4759-aa9b-5c090a2da237" providerId="ADAL" clId="{6AFE1CC8-B116-4724-A190-E7A57E7D399B}" dt="2025-05-20T14:49:29.622" v="20" actId="6549"/>
      <pc:docMkLst>
        <pc:docMk/>
      </pc:docMkLst>
      <pc:sldChg chg="modSp mod">
        <pc:chgData name="Dieter Beaven" userId="9bbdb69f-69d0-4759-aa9b-5c090a2da237" providerId="ADAL" clId="{6AFE1CC8-B116-4724-A190-E7A57E7D399B}" dt="2025-05-20T14:49:06.660" v="16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6AFE1CC8-B116-4724-A190-E7A57E7D399B}" dt="2025-05-20T14:49:29.622" v="20" actId="6549"/>
        <pc:sldMkLst>
          <pc:docMk/>
          <pc:sldMk cId="3055658135" sldId="549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0.png"/><Relationship Id="rId4" Type="http://schemas.openxmlformats.org/officeDocument/2006/relationships/image" Target="../media/image39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10" Type="http://schemas.openxmlformats.org/officeDocument/2006/relationships/image" Target="../media/image590.png"/><Relationship Id="rId4" Type="http://schemas.openxmlformats.org/officeDocument/2006/relationships/image" Target="../media/image470.png"/><Relationship Id="rId9" Type="http://schemas.openxmlformats.org/officeDocument/2006/relationships/image" Target="../media/image58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0.png"/><Relationship Id="rId5" Type="http://schemas.openxmlformats.org/officeDocument/2006/relationships/image" Target="../media/image560.png"/><Relationship Id="rId4" Type="http://schemas.openxmlformats.org/officeDocument/2006/relationships/image" Target="../media/image5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3: </a:t>
            </a:r>
            <a:r>
              <a:rPr lang="en-GB" dirty="0">
                <a:solidFill>
                  <a:schemeClr val="accent5"/>
                </a:solidFill>
              </a:rPr>
              <a:t>Sequences and Series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Infinite Sums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Divergent vs Convergent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1484784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 + 2 + 4 + 8 + 16 +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528" y="692696"/>
            <a:ext cx="6552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What can you say about the sum of each series up to infinity?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2276872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 – 2 + 3 – 4 + 5 – 6 + 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536" y="3284984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 + 0.5 + 0.25 + 0.125 + ...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5536" y="4653136"/>
                <a:ext cx="4176464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653136"/>
                <a:ext cx="4176464" cy="101431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04048" y="1484784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</a:t>
            </a:r>
            <a:r>
              <a:rPr lang="en-GB" b="1" dirty="0"/>
              <a:t>divergent</a:t>
            </a:r>
            <a:r>
              <a:rPr lang="en-GB" dirty="0"/>
              <a:t> – the sum of the values tends towards infinity.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048" y="2204864"/>
            <a:ext cx="4032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</a:t>
            </a:r>
            <a:r>
              <a:rPr lang="en-GB" b="1" dirty="0"/>
              <a:t>divergent</a:t>
            </a:r>
            <a:r>
              <a:rPr lang="en-GB" dirty="0"/>
              <a:t> – the running total alternates either side of 0, but gradually gets further away from 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6056" y="3356992"/>
            <a:ext cx="33123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</a:t>
            </a:r>
            <a:r>
              <a:rPr lang="en-GB" b="1" dirty="0"/>
              <a:t>convergent</a:t>
            </a:r>
            <a:r>
              <a:rPr lang="en-GB" dirty="0"/>
              <a:t> – the sum of the values tends towards a fixed value, in this case 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4048" y="4653136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</a:t>
            </a:r>
            <a:r>
              <a:rPr lang="en-GB" b="1" dirty="0"/>
              <a:t>divergent</a:t>
            </a:r>
            <a:r>
              <a:rPr lang="en-GB" dirty="0"/>
              <a:t> . This is known as the Harmonic Series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23528" y="5733256"/>
                <a:ext cx="4464496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9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/>
                            </a:rPr>
                            <m:t>16</m:t>
                          </m:r>
                        </m:den>
                      </m:f>
                      <m:r>
                        <a:rPr lang="en-GB" sz="3200" b="0" i="1" smtClean="0">
                          <a:latin typeface="Cambria Math"/>
                        </a:rPr>
                        <m:t>+…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733256"/>
                <a:ext cx="4464496" cy="101431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04048" y="5661248"/>
                <a:ext cx="331236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is </a:t>
                </a:r>
                <a:r>
                  <a:rPr lang="en-GB" b="1" dirty="0"/>
                  <a:t>convergent</a:t>
                </a:r>
                <a:r>
                  <a:rPr lang="en-GB" dirty="0"/>
                  <a:t> . This is known as the Basel Problem, and the value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/>
                          </a:rPr>
                          <m:t>𝜋</m:t>
                        </m:r>
                      </m:e>
                      <m:sup>
                        <m:r>
                          <a:rPr lang="en-GB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/>
                      </a:rPr>
                      <m:t>/6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48" y="5661248"/>
                <a:ext cx="3312368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657" t="-3311" r="-1657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/>
          <p:cNvCxnSpPr/>
          <p:nvPr/>
        </p:nvCxnSpPr>
        <p:spPr>
          <a:xfrm flipH="1">
            <a:off x="0" y="4437112"/>
            <a:ext cx="9143782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218" y="1268760"/>
            <a:ext cx="9143782" cy="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9512" y="4221088"/>
            <a:ext cx="5400600" cy="3693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Definitely NOT in the A Level syllabus, and just for fun...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6056" y="1412776"/>
            <a:ext cx="3888432" cy="64807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6056" y="2203123"/>
            <a:ext cx="3888432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6056" y="3356992"/>
            <a:ext cx="3888432" cy="8213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6056" y="4621485"/>
            <a:ext cx="3888432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6056" y="5745851"/>
            <a:ext cx="3888432" cy="936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5720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0FBFDC24-D675-41F1-9BDE-C96A19D1985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31E434C-6957-4ABA-A52C-3B5DF3310A3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Sum to Infinity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50BA274-6055-48BC-AAC7-0AA8E39959B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DEEBDD4-601A-4987-B495-59C18571185D}"/>
              </a:ext>
            </a:extLst>
          </p:cNvPr>
          <p:cNvSpPr txBox="1"/>
          <p:nvPr/>
        </p:nvSpPr>
        <p:spPr>
          <a:xfrm>
            <a:off x="795586" y="789434"/>
            <a:ext cx="4536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 + 0.5 + 0.25 + 0.125 + 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51F91-0E19-4826-89BF-2E9B4BCCFF47}"/>
              </a:ext>
            </a:extLst>
          </p:cNvPr>
          <p:cNvSpPr txBox="1"/>
          <p:nvPr/>
        </p:nvSpPr>
        <p:spPr>
          <a:xfrm>
            <a:off x="795586" y="1656234"/>
            <a:ext cx="4176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1 + 2 + 4 + 8 + 16 + 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883A1-3AD9-440F-81EE-72297552CD7D}"/>
              </a:ext>
            </a:extLst>
          </p:cNvPr>
          <p:cNvSpPr txBox="1"/>
          <p:nvPr/>
        </p:nvSpPr>
        <p:spPr>
          <a:xfrm>
            <a:off x="6048350" y="818406"/>
            <a:ext cx="2952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Why did this infinite sum converge (to 2)…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4C90081-15D5-419A-A585-95D4B99BE9C9}"/>
              </a:ext>
            </a:extLst>
          </p:cNvPr>
          <p:cNvCxnSpPr>
            <a:endCxn id="5" idx="3"/>
          </p:cNvCxnSpPr>
          <p:nvPr/>
        </p:nvCxnSpPr>
        <p:spPr>
          <a:xfrm flipH="1" flipV="1">
            <a:off x="5359400" y="1016000"/>
            <a:ext cx="580752" cy="3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69BFBC6-7226-4A45-BB06-37C7768998E4}"/>
              </a:ext>
            </a:extLst>
          </p:cNvPr>
          <p:cNvSpPr txBox="1"/>
          <p:nvPr/>
        </p:nvSpPr>
        <p:spPr>
          <a:xfrm>
            <a:off x="6016054" y="1875030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…but this diverge to infinity?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BBE722-9C8A-40A5-BC8B-8974B1E14C9A}"/>
              </a:ext>
            </a:extLst>
          </p:cNvPr>
          <p:cNvCxnSpPr/>
          <p:nvPr/>
        </p:nvCxnSpPr>
        <p:spPr>
          <a:xfrm flipH="1" flipV="1">
            <a:off x="5332090" y="2021596"/>
            <a:ext cx="580752" cy="36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B19987-C018-407E-B46C-A885CE56DE9D}"/>
                  </a:ext>
                </a:extLst>
              </p:cNvPr>
              <p:cNvSpPr txBox="1"/>
              <p:nvPr/>
            </p:nvSpPr>
            <p:spPr>
              <a:xfrm>
                <a:off x="1200200" y="2535312"/>
                <a:ext cx="655291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infinite series will converge provided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 (which can be written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), because the terms will get smaller.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B19987-C018-407E-B46C-A885CE56D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200" y="2535312"/>
                <a:ext cx="6552914" cy="646331"/>
              </a:xfrm>
              <a:prstGeom prst="rect">
                <a:avLst/>
              </a:prstGeom>
              <a:blipFill>
                <a:blip r:embed="rId2"/>
                <a:stretch>
                  <a:fillRect l="-837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A2648B-ED90-4DA8-A093-6C5234F986A3}"/>
                  </a:ext>
                </a:extLst>
              </p:cNvPr>
              <p:cNvSpPr txBox="1"/>
              <p:nvPr/>
            </p:nvSpPr>
            <p:spPr>
              <a:xfrm>
                <a:off x="1183556" y="3501731"/>
                <a:ext cx="5256584" cy="11155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Provided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, what happens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GB" dirty="0"/>
                  <a:t>?</a:t>
                </a:r>
              </a:p>
              <a:p>
                <a:r>
                  <a:rPr lang="en-GB" b="1" dirty="0"/>
                  <a:t>For example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𝟏𝟎𝟎𝟎𝟎𝟎</m:t>
                        </m:r>
                      </m:sup>
                    </m:sSup>
                  </m:oMath>
                </a14:m>
                <a:r>
                  <a:rPr lang="en-GB" b="1" dirty="0"/>
                  <a:t> is very close to 0.</a:t>
                </a:r>
              </a:p>
              <a:p>
                <a:r>
                  <a:rPr lang="en-GB" b="1" dirty="0"/>
                  <a:t>We can see that as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→∞, </m:t>
                    </m:r>
                    <m:sSup>
                      <m:sSup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GB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2A2648B-ED90-4DA8-A093-6C5234F98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56" y="3501731"/>
                <a:ext cx="5256584" cy="1115562"/>
              </a:xfrm>
              <a:prstGeom prst="rect">
                <a:avLst/>
              </a:prstGeom>
              <a:blipFill>
                <a:blip r:embed="rId3"/>
                <a:stretch>
                  <a:fillRect l="-928" t="-2732" b="-8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538D2A-9559-4546-A799-6602FBDA4474}"/>
                  </a:ext>
                </a:extLst>
              </p:cNvPr>
              <p:cNvSpPr txBox="1"/>
              <p:nvPr/>
            </p:nvSpPr>
            <p:spPr>
              <a:xfrm>
                <a:off x="1194346" y="4737053"/>
                <a:ext cx="5256584" cy="7841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How therefore can we use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GB" dirty="0"/>
                  <a:t> formula to find the sum to infinity,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B538D2A-9559-4546-A799-6602FBDA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346" y="4737053"/>
                <a:ext cx="5256584" cy="784125"/>
              </a:xfrm>
              <a:prstGeom prst="rect">
                <a:avLst/>
              </a:prstGeom>
              <a:blipFill>
                <a:blip r:embed="rId4"/>
                <a:stretch>
                  <a:fillRect l="-1044" b="-116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195F6589-CA5C-46D4-A330-E2AA13BA2A7D}"/>
              </a:ext>
            </a:extLst>
          </p:cNvPr>
          <p:cNvSpPr/>
          <p:nvPr/>
        </p:nvSpPr>
        <p:spPr>
          <a:xfrm>
            <a:off x="923177" y="2660745"/>
            <a:ext cx="176014" cy="1993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5EF0D2-1797-471A-9517-4AD9AA6A7B2A}"/>
              </a:ext>
            </a:extLst>
          </p:cNvPr>
          <p:cNvSpPr/>
          <p:nvPr/>
        </p:nvSpPr>
        <p:spPr>
          <a:xfrm>
            <a:off x="923177" y="3645024"/>
            <a:ext cx="176014" cy="1993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6446D8-D596-4D7E-BCED-CDB1411AB529}"/>
              </a:ext>
            </a:extLst>
          </p:cNvPr>
          <p:cNvSpPr/>
          <p:nvPr/>
        </p:nvSpPr>
        <p:spPr>
          <a:xfrm>
            <a:off x="923177" y="4953069"/>
            <a:ext cx="176014" cy="19934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A8A880-1879-4847-A5B2-E14F200FC8CD}"/>
                  </a:ext>
                </a:extLst>
              </p:cNvPr>
              <p:cNvSpPr txBox="1"/>
              <p:nvPr/>
            </p:nvSpPr>
            <p:spPr>
              <a:xfrm>
                <a:off x="2057566" y="5594311"/>
                <a:ext cx="4948631" cy="109177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:r>
                  <a:rPr lang="en-GB" sz="2400" b="0" dirty="0">
                    <a:latin typeface="Wingdings" panose="05000000000000000000" pitchFamily="2" charset="2"/>
                  </a:rPr>
                  <a:t>!</a:t>
                </a:r>
                <a:r>
                  <a:rPr lang="en-GB" sz="2400" b="0" dirty="0"/>
                  <a:t> For a </a:t>
                </a:r>
                <a:r>
                  <a:rPr lang="en-GB" sz="2400" b="0" u="sng" dirty="0"/>
                  <a:t>convergent</a:t>
                </a:r>
                <a:r>
                  <a:rPr lang="en-GB" sz="2400" b="0" dirty="0"/>
                  <a:t> geometric series, </a:t>
                </a:r>
                <a:br>
                  <a:rPr lang="en-GB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/>
                            </a:rPr>
                            <m:t>1−</m:t>
                          </m:r>
                          <m:r>
                            <a:rPr lang="en-GB" sz="2400" b="0" i="1" smtClean="0">
                              <a:latin typeface="Cambria Math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0A8A880-1879-4847-A5B2-E14F200FC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566" y="5594311"/>
                <a:ext cx="4948631" cy="1091774"/>
              </a:xfrm>
              <a:prstGeom prst="rect">
                <a:avLst/>
              </a:prstGeom>
              <a:blipFill>
                <a:blip r:embed="rId5"/>
                <a:stretch>
                  <a:fillRect l="-1718" t="-3825" r="-4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DD49EE11-FC15-4BE8-B3C6-B67B0D994954}"/>
              </a:ext>
            </a:extLst>
          </p:cNvPr>
          <p:cNvSpPr/>
          <p:nvPr/>
        </p:nvSpPr>
        <p:spPr>
          <a:xfrm>
            <a:off x="1215256" y="3864992"/>
            <a:ext cx="4358230" cy="80860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98DCB0-E5A4-4108-9447-476A3A25B9A1}"/>
                  </a:ext>
                </a:extLst>
              </p:cNvPr>
              <p:cNvSpPr txBox="1"/>
              <p:nvPr/>
            </p:nvSpPr>
            <p:spPr>
              <a:xfrm>
                <a:off x="6742219" y="3275652"/>
                <a:ext cx="2295967" cy="101566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2000" b="0" dirty="0">
                    <a:latin typeface="Wingdings" panose="05000000000000000000" pitchFamily="2" charset="2"/>
                  </a:rPr>
                  <a:t>!</a:t>
                </a:r>
                <a:r>
                  <a:rPr lang="en-GB" sz="2000" b="0" dirty="0"/>
                  <a:t> A geometric series is convergent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98DCB0-E5A4-4108-9447-476A3A25B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219" y="3275652"/>
                <a:ext cx="2295967" cy="1015663"/>
              </a:xfrm>
              <a:prstGeom prst="rect">
                <a:avLst/>
              </a:prstGeom>
              <a:blipFill>
                <a:blip r:embed="rId6"/>
                <a:stretch>
                  <a:fillRect l="-2100" t="-2339" r="-1050" b="-81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821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19" grpId="1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Quickfire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1052736"/>
                <a:ext cx="2808312" cy="11330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1,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GB" sz="3600" b="0" i="1" smtClean="0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/>
                            </a:rPr>
                            <m:t>4</m:t>
                          </m:r>
                        </m:den>
                      </m:f>
                      <m:r>
                        <a:rPr lang="en-GB" sz="3600" b="0" i="1" smtClean="0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/>
                            </a:rPr>
                            <m:t>8</m:t>
                          </m:r>
                        </m:den>
                      </m:f>
                      <m:r>
                        <a:rPr lang="en-GB" sz="3600" b="0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2808312" cy="113306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707904" y="1169787"/>
                <a:ext cx="5112568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/>
                        </a:rPr>
                        <m:t>𝒂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latin typeface="Cambria Math"/>
                        </a:rPr>
                        <m:t>𝟏</m:t>
                      </m:r>
                      <m:r>
                        <a:rPr lang="en-GB" sz="2800" b="1" i="1" smtClean="0">
                          <a:latin typeface="Cambria Math"/>
                        </a:rPr>
                        <m:t>,     </m:t>
                      </m:r>
                      <m:r>
                        <a:rPr lang="en-GB" sz="2800" b="1" i="1" smtClean="0">
                          <a:latin typeface="Cambria Math"/>
                        </a:rPr>
                        <m:t>𝒓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𝟐</m:t>
                          </m:r>
                        </m:den>
                      </m:f>
                      <m:r>
                        <a:rPr lang="en-GB" sz="2800" b="1" i="1" smtClean="0">
                          <a:latin typeface="Cambria Math"/>
                        </a:rPr>
                        <m:t>         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169787"/>
                <a:ext cx="5112568" cy="89896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6237" y="2420888"/>
                <a:ext cx="32228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27,−9,3,−1,…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7" y="2420888"/>
                <a:ext cx="3222894" cy="64633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682550" y="2185803"/>
                <a:ext cx="5281938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/>
                        </a:rPr>
                        <m:t>𝒂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latin typeface="Cambria Math"/>
                        </a:rPr>
                        <m:t>𝟐𝟕</m:t>
                      </m:r>
                      <m:r>
                        <a:rPr lang="en-GB" sz="2800" b="1" i="1" smtClean="0">
                          <a:latin typeface="Cambria Math"/>
                        </a:rPr>
                        <m:t>,  </m:t>
                      </m:r>
                      <m:r>
                        <a:rPr lang="en-GB" sz="2800" b="1" i="1" smtClean="0">
                          <a:latin typeface="Cambria Math"/>
                        </a:rPr>
                        <m:t>𝒓</m:t>
                      </m:r>
                      <m:r>
                        <a:rPr lang="en-GB" sz="2800" b="1" i="1" smtClean="0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𝟑</m:t>
                          </m:r>
                        </m:den>
                      </m:f>
                      <m:r>
                        <a:rPr lang="en-GB" sz="2800" b="1" i="1" smtClean="0">
                          <a:latin typeface="Cambria Math"/>
                        </a:rPr>
                        <m:t>     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/>
                            </a:rPr>
                            <m:t>𝟖𝟏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2550" y="2185803"/>
                <a:ext cx="5281938" cy="90178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16237" y="3573016"/>
                <a:ext cx="32228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𝑝</m:t>
                      </m:r>
                      <m:r>
                        <a:rPr lang="en-GB" sz="3600" b="0" i="1" smtClean="0">
                          <a:latin typeface="Cambria Math"/>
                        </a:rPr>
                        <m:t>, 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,</m:t>
                      </m:r>
                      <m:sSup>
                        <m:sSup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b="0" i="1" smtClean="0">
                              <a:latin typeface="Cambria Math"/>
                            </a:rPr>
                            <m:t>𝑝</m:t>
                          </m:r>
                        </m:e>
                        <m:sup>
                          <m:r>
                            <a:rPr lang="en-GB" sz="3600" b="0" i="1" smtClean="0">
                              <a:latin typeface="Cambria Math"/>
                            </a:rPr>
                            <m:t>4</m:t>
                          </m:r>
                        </m:sup>
                      </m:sSup>
                      <m:r>
                        <a:rPr lang="en-GB" sz="3600" b="0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37" y="3573016"/>
                <a:ext cx="3222894" cy="64633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678177" y="3445288"/>
                <a:ext cx="5281938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/>
                        </a:rPr>
                        <m:t>𝒂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latin typeface="Cambria Math"/>
                        </a:rPr>
                        <m:t>𝒑</m:t>
                      </m:r>
                      <m:r>
                        <a:rPr lang="en-GB" sz="2800" b="1" i="1" smtClean="0">
                          <a:latin typeface="Cambria Math"/>
                        </a:rPr>
                        <m:t>,  </m:t>
                      </m:r>
                      <m:r>
                        <a:rPr lang="en-GB" sz="2800" b="1" i="1" smtClean="0">
                          <a:latin typeface="Cambria Math"/>
                        </a:rPr>
                        <m:t>𝒓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latin typeface="Cambria Math"/>
                        </a:rPr>
                        <m:t>𝒑</m:t>
                      </m:r>
                      <m:r>
                        <a:rPr lang="en-GB" sz="2800" b="1" i="1" smtClean="0">
                          <a:latin typeface="Cambria Math"/>
                        </a:rPr>
                        <m:t>     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/>
                            </a:rPr>
                            <m:t>𝒑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𝒑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177" y="3445288"/>
                <a:ext cx="5281938" cy="94416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11560" y="4219347"/>
                <a:ext cx="23762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/>
                        </a:rPr>
                        <m:t>𝑤h𝑒𝑟𝑒</m:t>
                      </m:r>
                      <m:r>
                        <a:rPr lang="en-GB" b="0" i="1" smtClean="0">
                          <a:latin typeface="Cambria Math"/>
                        </a:rPr>
                        <m:t> −1&lt;</m:t>
                      </m:r>
                      <m:r>
                        <a:rPr lang="en-GB" b="0" i="1" smtClean="0">
                          <a:latin typeface="Cambria Math"/>
                        </a:rPr>
                        <m:t>𝑝</m:t>
                      </m:r>
                      <m:r>
                        <a:rPr lang="en-GB" b="0" i="1" smtClean="0">
                          <a:latin typeface="Cambria Math"/>
                        </a:rPr>
                        <m:t>&lt;1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4219347"/>
                <a:ext cx="2376264" cy="369332"/>
              </a:xfrm>
              <a:prstGeom prst="rect">
                <a:avLst/>
              </a:prstGeom>
              <a:blipFill rotWithShape="1"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4571646" y="1367241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4208" y="1169787"/>
            <a:ext cx="576418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9032" y="2204648"/>
            <a:ext cx="576418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37943" y="2204648"/>
            <a:ext cx="576418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37943" y="1060309"/>
            <a:ext cx="576418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4368" y="3392541"/>
            <a:ext cx="936104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797" y="3438346"/>
            <a:ext cx="576418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4504" y="2336524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1646" y="3537073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3491880" y="587744"/>
            <a:ext cx="1" cy="6258873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43306" y="4905619"/>
                <a:ext cx="3222894" cy="12263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600" b="0" i="1" smtClean="0">
                          <a:latin typeface="Cambria Math"/>
                        </a:rPr>
                        <m:t>𝑝</m:t>
                      </m:r>
                      <m:r>
                        <a:rPr lang="en-GB" sz="3600" b="0" i="1" smtClean="0">
                          <a:latin typeface="Cambria Math"/>
                        </a:rPr>
                        <m:t>, 1,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GB" sz="3600" b="0" i="1" smtClean="0">
                              <a:latin typeface="Cambria Math"/>
                            </a:rPr>
                            <m:t>𝑝</m:t>
                          </m:r>
                        </m:den>
                      </m:f>
                      <m:r>
                        <a:rPr lang="en-GB" sz="3600" b="0" i="1" smtClean="0">
                          <a:latin typeface="Cambria Math"/>
                        </a:rPr>
                        <m:t>,</m:t>
                      </m:r>
                      <m:f>
                        <m:fPr>
                          <m:ctrlPr>
                            <a:rPr lang="en-GB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3600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GB" sz="36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sz="3600" b="0" i="1" smtClean="0">
                          <a:latin typeface="Cambria Math"/>
                        </a:rPr>
                        <m:t>,…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06" y="4905619"/>
                <a:ext cx="3222894" cy="122636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705246" y="4777891"/>
                <a:ext cx="5281938" cy="1040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1" i="1" smtClean="0">
                          <a:latin typeface="Cambria Math"/>
                        </a:rPr>
                        <m:t>𝒂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r>
                        <a:rPr lang="en-GB" sz="2800" b="1" i="1" smtClean="0">
                          <a:latin typeface="Cambria Math"/>
                        </a:rPr>
                        <m:t>𝒑</m:t>
                      </m:r>
                      <m:r>
                        <a:rPr lang="en-GB" sz="2800" b="1" i="1" smtClean="0">
                          <a:latin typeface="Cambria Math"/>
                        </a:rPr>
                        <m:t>,  </m:t>
                      </m:r>
                      <m:r>
                        <a:rPr lang="en-GB" sz="2800" b="1" i="1" smtClean="0">
                          <a:latin typeface="Cambria Math"/>
                        </a:rPr>
                        <m:t>𝒓</m:t>
                      </m:r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𝒑</m:t>
                          </m:r>
                        </m:den>
                      </m:f>
                      <m:r>
                        <a:rPr lang="en-GB" sz="2800" b="1" i="1" smtClean="0">
                          <a:latin typeface="Cambria Math"/>
                        </a:rPr>
                        <m:t>      </m:t>
                      </m:r>
                      <m:sSub>
                        <m:sSub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1" i="1" smtClean="0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GB" sz="28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800" b="1" i="1" smtClean="0">
                                  <a:latin typeface="Cambria Math"/>
                                </a:rPr>
                                <m:t>𝒑</m:t>
                              </m:r>
                            </m:e>
                            <m:sup>
                              <m:r>
                                <a:rPr lang="en-GB" sz="2800" b="1" i="1" smtClean="0">
                                  <a:latin typeface="Cambria Math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GB" sz="2800" b="1" i="1" smtClean="0">
                              <a:latin typeface="Cambria Math"/>
                            </a:rPr>
                            <m:t>𝒑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GB" sz="2800" b="1" i="1" smtClean="0">
                              <a:latin typeface="Cambria Math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GB" sz="2800" b="1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246" y="4777891"/>
                <a:ext cx="5281938" cy="1040541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/>
          <p:nvPr/>
        </p:nvSpPr>
        <p:spPr>
          <a:xfrm>
            <a:off x="7927372" y="4848679"/>
            <a:ext cx="936104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0662" y="4905619"/>
            <a:ext cx="576418" cy="8989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54483" y="4966923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7751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>
            <a:extLst>
              <a:ext uri="{FF2B5EF4-FFF2-40B4-BE49-F238E27FC236}">
                <a16:creationId xmlns:a16="http://schemas.microsoft.com/office/drawing/2014/main" id="{C4959A0A-F048-4809-889E-4ED272BC235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0A8F591E-E781-4B82-8A1D-B0A73B8A7B6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Further 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44C153B-DEE6-480A-AAA9-6894821CDEC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647942C-C8F3-4253-860C-1AD3A82FFD5A}"/>
              </a:ext>
            </a:extLst>
          </p:cNvPr>
          <p:cNvSpPr txBox="1"/>
          <p:nvPr/>
        </p:nvSpPr>
        <p:spPr>
          <a:xfrm>
            <a:off x="467544" y="908720"/>
            <a:ext cx="3888432" cy="1754326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[Textbook] The fourth term of a geometric series is 1.08 and the seventh term is 0.23328.</a:t>
            </a:r>
          </a:p>
          <a:p>
            <a:pPr marL="342900" indent="-342900">
              <a:buAutoNum type="alphaLcParenR"/>
            </a:pPr>
            <a:r>
              <a:rPr lang="en-GB" dirty="0"/>
              <a:t>Show that this series is convergent.</a:t>
            </a:r>
          </a:p>
          <a:p>
            <a:pPr marL="342900" indent="-342900">
              <a:buAutoNum type="alphaLcParenR"/>
            </a:pPr>
            <a:r>
              <a:rPr lang="en-GB" dirty="0"/>
              <a:t>Find the sum to infinity of this series.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592804-B652-466C-8772-21536782568E}"/>
                  </a:ext>
                </a:extLst>
              </p:cNvPr>
              <p:cNvSpPr txBox="1"/>
              <p:nvPr/>
            </p:nvSpPr>
            <p:spPr>
              <a:xfrm>
                <a:off x="451902" y="3074031"/>
                <a:ext cx="3989469" cy="2800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=1.08    →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=1.08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=0.23328   →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=0.23328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Dividing: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=0.216   ∴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series converges 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0.6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1.08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1.08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0.216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1−0.6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592804-B652-466C-8772-215367825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02" y="3074031"/>
                <a:ext cx="3989469" cy="2800703"/>
              </a:xfrm>
              <a:prstGeom prst="rect">
                <a:avLst/>
              </a:prstGeom>
              <a:blipFill>
                <a:blip r:embed="rId2"/>
                <a:stretch>
                  <a:fillRect l="-1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DD4278B-0AC5-49A7-9CE7-47E609CC135A}"/>
              </a:ext>
            </a:extLst>
          </p:cNvPr>
          <p:cNvSpPr/>
          <p:nvPr/>
        </p:nvSpPr>
        <p:spPr>
          <a:xfrm>
            <a:off x="406046" y="3036382"/>
            <a:ext cx="3949930" cy="1544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F4FB15-D552-4C8A-A0E8-5B8F00FC6698}"/>
              </a:ext>
            </a:extLst>
          </p:cNvPr>
          <p:cNvSpPr/>
          <p:nvPr/>
        </p:nvSpPr>
        <p:spPr>
          <a:xfrm>
            <a:off x="406046" y="4650870"/>
            <a:ext cx="3949930" cy="15447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ECC328-B52D-4F80-9A76-D0892ABEE32A}"/>
                  </a:ext>
                </a:extLst>
              </p:cNvPr>
              <p:cNvSpPr txBox="1"/>
              <p:nvPr/>
            </p:nvSpPr>
            <p:spPr>
              <a:xfrm>
                <a:off x="4860032" y="908720"/>
                <a:ext cx="3888432" cy="17543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For a geometric series with first term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 and common ratio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a) Find the possible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b) Given that all the terms in the series are positive, find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CECC328-B52D-4F80-9A76-D0892ABEE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2" y="908720"/>
                <a:ext cx="3888432" cy="1754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7A5F36-A0FF-44F9-A34A-52A90BE6D754}"/>
                  </a:ext>
                </a:extLst>
              </p:cNvPr>
              <p:cNvSpPr txBox="1"/>
              <p:nvPr/>
            </p:nvSpPr>
            <p:spPr>
              <a:xfrm>
                <a:off x="4755562" y="3781349"/>
                <a:ext cx="4186419" cy="27869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=15     →  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d>
                            <m: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=15    (1)</m:t>
                      </m:r>
                    </m:oMath>
                  </m:oMathPara>
                </a14:m>
                <a:endParaRPr lang="en-GB" sz="1600" b="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=16    →    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=16             (2)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Substituting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GB" sz="1600" dirty="0"/>
                  <a:t> for 16 in equation (1):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16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=15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Solving: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=±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r>
                  <a:rPr lang="en-GB" sz="1600" dirty="0"/>
                  <a:t>As terms positive,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1600" dirty="0"/>
                  <a:t>,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=16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7A5F36-A0FF-44F9-A34A-52A90BE6D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562" y="3781349"/>
                <a:ext cx="4186419" cy="2786917"/>
              </a:xfrm>
              <a:prstGeom prst="rect">
                <a:avLst/>
              </a:prstGeom>
              <a:blipFill>
                <a:blip r:embed="rId4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5FBAF-52DD-40D9-94B4-F56DE143C835}"/>
                  </a:ext>
                </a:extLst>
              </p:cNvPr>
              <p:cNvSpPr txBox="1"/>
              <p:nvPr/>
            </p:nvSpPr>
            <p:spPr>
              <a:xfrm>
                <a:off x="6490567" y="2808830"/>
                <a:ext cx="2417553" cy="73866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Fro Warning</a:t>
                </a:r>
                <a:r>
                  <a:rPr lang="en-GB" sz="1400" dirty="0"/>
                  <a:t>: The power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1400" dirty="0"/>
                  <a:t>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400" dirty="0"/>
                  <a:t> formula but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sz="1400" dirty="0"/>
                  <a:t>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400" dirty="0"/>
                  <a:t> formula.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5FBAF-52DD-40D9-94B4-F56DE143C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0567" y="2808830"/>
                <a:ext cx="2417553" cy="738664"/>
              </a:xfrm>
              <a:prstGeom prst="rect">
                <a:avLst/>
              </a:prstGeom>
              <a:blipFill>
                <a:blip r:embed="rId5"/>
                <a:stretch>
                  <a:fillRect l="-250" r="-2000" b="-56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536A1FC2-AF5D-4929-8A99-DCC9B11360D9}"/>
              </a:ext>
            </a:extLst>
          </p:cNvPr>
          <p:cNvSpPr/>
          <p:nvPr/>
        </p:nvSpPr>
        <p:spPr>
          <a:xfrm>
            <a:off x="4735325" y="3713712"/>
            <a:ext cx="4206656" cy="23075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DC97E4-04CE-487A-9DC6-3E620BC5BC4E}"/>
              </a:ext>
            </a:extLst>
          </p:cNvPr>
          <p:cNvSpPr/>
          <p:nvPr/>
        </p:nvSpPr>
        <p:spPr>
          <a:xfrm>
            <a:off x="4735325" y="6021287"/>
            <a:ext cx="4206656" cy="6146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103406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5" y="1700808"/>
            <a:ext cx="8783877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04551" y="863134"/>
            <a:ext cx="3303353" cy="46166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400" dirty="0"/>
              <a:t>Edexcel C2 May 2011 Q6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283968" y="2492896"/>
                <a:ext cx="1944216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𝒓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𝟑</m:t>
                          </m:r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𝟒</m:t>
                          </m:r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2492896"/>
                <a:ext cx="1944216" cy="61093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59875" y="3284984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𝒂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𝟐𝟓𝟔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875" y="3284984"/>
                <a:ext cx="1944216" cy="3693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17369" y="3911314"/>
                <a:ext cx="19442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smtClean="0"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GB" b="1" i="1" smtClean="0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𝟏𝟎𝟐𝟒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7369" y="3911314"/>
                <a:ext cx="1944216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210301" y="4869160"/>
                <a:ext cx="4536504" cy="190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𝟐𝟓𝟔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GB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GB" b="1" i="1" smtClean="0">
                                              <a:latin typeface="Cambria Math"/>
                                            </a:rPr>
                                            <m:t>𝟑</m:t>
                                          </m:r>
                                        </m:num>
                                        <m:den>
                                          <m:r>
                                            <a:rPr lang="en-GB" b="1" i="1" smtClean="0">
                                              <a:latin typeface="Cambria Math"/>
                                            </a:rPr>
                                            <m:t>𝟒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𝒏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𝟎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.</m:t>
                          </m:r>
                          <m:r>
                            <a:rPr lang="en-GB" b="1" i="1" smtClean="0">
                              <a:latin typeface="Cambria Math"/>
                            </a:rPr>
                            <m:t>𝟐𝟓</m:t>
                          </m:r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r>
                        <a:rPr lang="en-GB" b="1" i="1" smtClean="0">
                          <a:latin typeface="Cambria Math"/>
                        </a:rPr>
                        <m:t>𝟏𝟎𝟎𝟎</m:t>
                      </m:r>
                    </m:oMath>
                  </m:oMathPara>
                </a14:m>
                <a:endParaRPr lang="en-GB" b="1" dirty="0"/>
              </a:p>
              <a:p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/>
                        </a:rPr>
                        <m:t>𝒏</m:t>
                      </m:r>
                      <m:r>
                        <a:rPr lang="en-GB" b="1" i="1" smtClean="0">
                          <a:latin typeface="Cambria Math"/>
                        </a:rPr>
                        <m:t>&gt;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𝟔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/>
                                    </a:rPr>
                                    <m:t>𝟐𝟓𝟔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r>
                            <a:rPr lang="en-GB" b="1" i="1" smtClean="0">
                              <a:latin typeface="Cambria Math"/>
                            </a:rPr>
                            <m:t>𝒍𝒐𝒈</m:t>
                          </m:r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/>
                                </a:rPr>
                                <m:t>𝟎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.</m:t>
                              </m:r>
                              <m:r>
                                <a:rPr lang="en-GB" b="1" i="1" smtClean="0">
                                  <a:latin typeface="Cambria Math"/>
                                </a:rPr>
                                <m:t>𝟕𝟓</m:t>
                              </m:r>
                            </m:e>
                          </m:d>
                        </m:den>
                      </m:f>
                      <m:r>
                        <a:rPr lang="en-GB" b="1" i="1" smtClean="0">
                          <a:latin typeface="Cambria Math"/>
                        </a:rPr>
                        <m:t>        ⇒</m:t>
                      </m:r>
                      <m:r>
                        <a:rPr lang="en-GB" b="1" i="1" smtClean="0">
                          <a:latin typeface="Cambria Math"/>
                        </a:rPr>
                        <m:t>𝒏</m:t>
                      </m:r>
                      <m:r>
                        <a:rPr lang="en-GB" b="1" i="1" smtClean="0">
                          <a:latin typeface="Cambria Math"/>
                        </a:rPr>
                        <m:t>=</m:t>
                      </m:r>
                      <m:r>
                        <a:rPr lang="en-GB" b="1" i="1" smtClean="0">
                          <a:latin typeface="Cambria Math"/>
                        </a:rPr>
                        <m:t>𝟏𝟒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301" y="4869160"/>
                <a:ext cx="4536504" cy="190282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5289477" y="2402322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89477" y="3134339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2714" y="3835849"/>
            <a:ext cx="576418" cy="7015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7783" y="4868091"/>
            <a:ext cx="3576307" cy="19038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2520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3.5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22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177E47-3739-E797-21A9-01B7696314EC}"/>
              </a:ext>
            </a:extLst>
          </p:cNvPr>
          <p:cNvSpPr txBox="1"/>
          <p:nvPr/>
        </p:nvSpPr>
        <p:spPr>
          <a:xfrm>
            <a:off x="230808" y="1768793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14DCE2-A353-F256-2EF2-B04A2C57F6B8}"/>
                  </a:ext>
                </a:extLst>
              </p:cNvPr>
              <p:cNvSpPr txBox="1"/>
              <p:nvPr/>
            </p:nvSpPr>
            <p:spPr>
              <a:xfrm>
                <a:off x="438066" y="2157427"/>
                <a:ext cx="4203522" cy="2410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[MAT 2006 1H] How many solutions does the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2=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fName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have in the range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b="1" dirty="0"/>
                  <a:t>RHS is geometric series. </a:t>
                </a: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sz="1400" b="1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4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func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   →  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r>
                  <a:rPr lang="en-GB" sz="1400" b="1" dirty="0"/>
                  <a:t>By considering the graph of sin for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400" b="1" dirty="0"/>
                  <a:t>, this has 2 solutions.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B14DCE2-A353-F256-2EF2-B04A2C57F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66" y="2157427"/>
                <a:ext cx="4203522" cy="2410788"/>
              </a:xfrm>
              <a:prstGeom prst="rect">
                <a:avLst/>
              </a:prstGeom>
              <a:blipFill>
                <a:blip r:embed="rId2"/>
                <a:stretch>
                  <a:fillRect l="-435" t="-506" b="-17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78A2424-7559-B625-A597-0B6F96B3232D}"/>
              </a:ext>
            </a:extLst>
          </p:cNvPr>
          <p:cNvSpPr/>
          <p:nvPr/>
        </p:nvSpPr>
        <p:spPr>
          <a:xfrm>
            <a:off x="203197" y="2233818"/>
            <a:ext cx="216024" cy="2084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3513A2-72DE-97F5-8C8E-F5186D470387}"/>
                  </a:ext>
                </a:extLst>
              </p:cNvPr>
              <p:cNvSpPr txBox="1"/>
              <p:nvPr/>
            </p:nvSpPr>
            <p:spPr>
              <a:xfrm>
                <a:off x="5119538" y="1953459"/>
                <a:ext cx="3726749" cy="4611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[MAT 2003 1F] Two players take turns to throw a fair six-sided die until one of them scores a six. What is the probability that the first player to throw the die is the first to score a six?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𝒘𝒊𝒏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𝒔𝒕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𝒕𝒉𝒓𝒐𝒘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𝒘𝒊𝒏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𝒓𝒅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𝒕𝒉𝒓𝒐𝒘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𝒘𝒊𝒏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𝒕𝒉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𝒕𝒉𝒓𝒐𝒘</m:t>
                          </m:r>
                        </m:e>
                      </m:d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GB" sz="1600" b="1" i="1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GB" sz="1600" b="1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16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GB" sz="1600" b="1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GB" sz="1600" b="1" dirty="0"/>
              </a:p>
              <a:p>
                <a:r>
                  <a:rPr lang="en-GB" sz="1600" b="1" dirty="0"/>
                  <a:t>The total probability of the 1</a:t>
                </a:r>
                <a:r>
                  <a:rPr lang="en-GB" sz="1600" b="1" baseline="30000" dirty="0"/>
                  <a:t>st</a:t>
                </a:r>
                <a:r>
                  <a:rPr lang="en-GB" sz="1600" b="1" dirty="0"/>
                  <a:t> player winning is the sum of these up to infinity.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num>
                                <m:den>
                                  <m:r>
                                    <a:rPr lang="en-GB" sz="1600" b="1" i="1" smtClean="0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</m:den>
                      </m:f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𝟑𝟔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3513A2-72DE-97F5-8C8E-F5186D470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538" y="1953459"/>
                <a:ext cx="3726749" cy="4611327"/>
              </a:xfrm>
              <a:prstGeom prst="rect">
                <a:avLst/>
              </a:prstGeom>
              <a:blipFill>
                <a:blip r:embed="rId3"/>
                <a:stretch>
                  <a:fillRect l="-982" t="-396" r="-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9C59300-3420-52AB-327A-E9C7AC2BD41D}"/>
              </a:ext>
            </a:extLst>
          </p:cNvPr>
          <p:cNvSpPr/>
          <p:nvPr/>
        </p:nvSpPr>
        <p:spPr>
          <a:xfrm>
            <a:off x="4903514" y="2025396"/>
            <a:ext cx="216024" cy="2084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BBAE-D2DC-3847-6529-8E64879921EB}"/>
                  </a:ext>
                </a:extLst>
              </p:cNvPr>
              <p:cNvSpPr txBox="1"/>
              <p:nvPr/>
            </p:nvSpPr>
            <p:spPr>
              <a:xfrm>
                <a:off x="480960" y="4631929"/>
                <a:ext cx="3952817" cy="2118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[Frost] Determine the value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where: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400" dirty="0"/>
              </a:p>
              <a:p>
                <a:r>
                  <a:rPr lang="en-GB" sz="1100" dirty="0"/>
                  <a:t>(Hint: Use an approach similar to proof of geometric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1100" dirty="0"/>
                  <a:t> formula)</a:t>
                </a:r>
              </a:p>
              <a:p>
                <a:r>
                  <a:rPr lang="en-GB" sz="1100" b="1" dirty="0"/>
                  <a:t>Doubling: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sz="1200" b="1" dirty="0"/>
              </a:p>
              <a:p>
                <a:r>
                  <a:rPr lang="en-GB" sz="1200" b="1" dirty="0"/>
                  <a:t>Subtracting the two equations: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GB" sz="12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  <m:oMath xmlns:m="http://schemas.openxmlformats.org/officeDocument/2006/math"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2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GB" sz="1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F8BBAE-D2DC-3847-6529-8E6487992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960" y="4631929"/>
                <a:ext cx="3952817" cy="2118657"/>
              </a:xfrm>
              <a:prstGeom prst="rect">
                <a:avLst/>
              </a:prstGeom>
              <a:blipFill>
                <a:blip r:embed="rId4"/>
                <a:stretch>
                  <a:fillRect l="-463" t="-5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D140B064-D113-EE6A-68A5-1C47D7F124A7}"/>
              </a:ext>
            </a:extLst>
          </p:cNvPr>
          <p:cNvSpPr/>
          <p:nvPr/>
        </p:nvSpPr>
        <p:spPr>
          <a:xfrm>
            <a:off x="181031" y="4713862"/>
            <a:ext cx="216024" cy="20842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Wingdings" panose="05000000000000000000" pitchFamily="2" charset="2"/>
              </a:rPr>
              <a:t>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B5AF8A-604B-B543-2B2D-9353A7A85FB0}"/>
              </a:ext>
            </a:extLst>
          </p:cNvPr>
          <p:cNvSpPr/>
          <p:nvPr/>
        </p:nvSpPr>
        <p:spPr>
          <a:xfrm>
            <a:off x="481483" y="2981966"/>
            <a:ext cx="3925417" cy="152000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B3239A-1EA1-B5C7-58DF-E99A2D9499B5}"/>
              </a:ext>
            </a:extLst>
          </p:cNvPr>
          <p:cNvSpPr/>
          <p:nvPr/>
        </p:nvSpPr>
        <p:spPr>
          <a:xfrm>
            <a:off x="551718" y="5489500"/>
            <a:ext cx="3872015" cy="132387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C858A9-4F56-3560-FC5A-B3AABEB3B740}"/>
              </a:ext>
            </a:extLst>
          </p:cNvPr>
          <p:cNvSpPr/>
          <p:nvPr/>
        </p:nvSpPr>
        <p:spPr>
          <a:xfrm>
            <a:off x="5190297" y="3244339"/>
            <a:ext cx="3699704" cy="33658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5C1DCB7-CA38-F90A-6476-A0B480B0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03" y="619125"/>
            <a:ext cx="763905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716F20E-C7E4-644F-1EC8-E742A152B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53" y="908720"/>
            <a:ext cx="78295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2F1B798-E61F-9BB3-B80B-78DCB7605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" y="819150"/>
            <a:ext cx="9086850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61752</TotalTime>
  <Words>944</Words>
  <Application>Microsoft Office PowerPoint</Application>
  <PresentationFormat>On-screen Show (4:3)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Wingdings</vt:lpstr>
      <vt:lpstr>Office Theme</vt:lpstr>
      <vt:lpstr>P2 Chapter 3: Sequences and Series  Infinite Sums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2025-10-23T10:51:34Z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