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577" r:id="rId6"/>
    <p:sldId id="578" r:id="rId7"/>
    <p:sldId id="582" r:id="rId8"/>
    <p:sldId id="579" r:id="rId9"/>
    <p:sldId id="581" r:id="rId10"/>
    <p:sldId id="549" r:id="rId11"/>
    <p:sldId id="591" r:id="rId12"/>
    <p:sldId id="543" r:id="rId13"/>
    <p:sldId id="550" r:id="rId14"/>
    <p:sldId id="551" r:id="rId15"/>
    <p:sldId id="592" r:id="rId16"/>
    <p:sldId id="54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FE31F189-B49D-4402-9798-1CCF544FCDB2}"/>
    <pc:docChg chg="addSld delSld modSld">
      <pc:chgData name="Dieter Beaven" userId="9bbdb69f-69d0-4759-aa9b-5c090a2da237" providerId="ADAL" clId="{FE31F189-B49D-4402-9798-1CCF544FCDB2}" dt="2025-05-20T14:06:30.139" v="1" actId="47"/>
      <pc:docMkLst>
        <pc:docMk/>
      </pc:docMkLst>
      <pc:sldChg chg="del">
        <pc:chgData name="Dieter Beaven" userId="9bbdb69f-69d0-4759-aa9b-5c090a2da237" providerId="ADAL" clId="{FE31F189-B49D-4402-9798-1CCF544FCDB2}" dt="2025-05-20T14:06:30.139" v="1" actId="47"/>
        <pc:sldMkLst>
          <pc:docMk/>
          <pc:sldMk cId="2112586867" sldId="583"/>
        </pc:sldMkLst>
      </pc:sldChg>
      <pc:sldChg chg="add">
        <pc:chgData name="Dieter Beaven" userId="9bbdb69f-69d0-4759-aa9b-5c090a2da237" providerId="ADAL" clId="{FE31F189-B49D-4402-9798-1CCF544FCDB2}" dt="2025-05-20T14:06:22.476" v="0"/>
        <pc:sldMkLst>
          <pc:docMk/>
          <pc:sldMk cId="3425914098" sldId="591"/>
        </pc:sldMkLst>
      </pc:sldChg>
    </pc:docChg>
  </pc:docChgLst>
  <pc:docChgLst>
    <pc:chgData name="Dieter Beaven" userId="9bbdb69f-69d0-4759-aa9b-5c090a2da237" providerId="ADAL" clId="{2EB269B6-0116-471B-85F8-5C3FB4D1A795}"/>
    <pc:docChg chg="custSel addSld modSld">
      <pc:chgData name="Dieter Beaven" userId="9bbdb69f-69d0-4759-aa9b-5c090a2da237" providerId="ADAL" clId="{2EB269B6-0116-471B-85F8-5C3FB4D1A795}" dt="2025-08-27T10:23:13.641" v="11" actId="1076"/>
      <pc:docMkLst>
        <pc:docMk/>
      </pc:docMkLst>
      <pc:sldChg chg="addSp delSp mod">
        <pc:chgData name="Dieter Beaven" userId="9bbdb69f-69d0-4759-aa9b-5c090a2da237" providerId="ADAL" clId="{2EB269B6-0116-471B-85F8-5C3FB4D1A795}" dt="2025-08-27T10:22:26.580" v="7" actId="22"/>
        <pc:sldMkLst>
          <pc:docMk/>
          <pc:sldMk cId="3896053727" sldId="543"/>
        </pc:sldMkLst>
      </pc:sldChg>
      <pc:sldChg chg="addSp delSp modSp mod">
        <pc:chgData name="Dieter Beaven" userId="9bbdb69f-69d0-4759-aa9b-5c090a2da237" providerId="ADAL" clId="{2EB269B6-0116-471B-85F8-5C3FB4D1A795}" dt="2025-08-27T10:21:23.524" v="5" actId="22"/>
        <pc:sldMkLst>
          <pc:docMk/>
          <pc:sldMk cId="4091202299" sldId="550"/>
        </pc:sldMkLst>
      </pc:sldChg>
      <pc:sldChg chg="addSp mod">
        <pc:chgData name="Dieter Beaven" userId="9bbdb69f-69d0-4759-aa9b-5c090a2da237" providerId="ADAL" clId="{2EB269B6-0116-471B-85F8-5C3FB4D1A795}" dt="2025-08-27T10:20:23.684" v="3" actId="22"/>
        <pc:sldMkLst>
          <pc:docMk/>
          <pc:sldMk cId="3826585799" sldId="551"/>
        </pc:sldMkLst>
      </pc:sldChg>
      <pc:sldChg chg="addSp delSp modSp add mod">
        <pc:chgData name="Dieter Beaven" userId="9bbdb69f-69d0-4759-aa9b-5c090a2da237" providerId="ADAL" clId="{2EB269B6-0116-471B-85F8-5C3FB4D1A795}" dt="2025-08-27T10:23:13.641" v="11" actId="1076"/>
        <pc:sldMkLst>
          <pc:docMk/>
          <pc:sldMk cId="750577720" sldId="592"/>
        </pc:sldMkLst>
      </pc:sldChg>
    </pc:docChg>
  </pc:docChgLst>
  <pc:docChgLst>
    <pc:chgData name="Dieter Beaven" userId="9bbdb69f-69d0-4759-aa9b-5c090a2da237" providerId="ADAL" clId="{6B7FDF62-44DB-48FB-9DE9-EFE01BC94813}"/>
    <pc:docChg chg="addSld modSld">
      <pc:chgData name="Dieter Beaven" userId="9bbdb69f-69d0-4759-aa9b-5c090a2da237" providerId="ADAL" clId="{6B7FDF62-44DB-48FB-9DE9-EFE01BC94813}" dt="2025-05-20T14:05:40.390" v="37" actId="20577"/>
      <pc:docMkLst>
        <pc:docMk/>
      </pc:docMkLst>
      <pc:sldChg chg="modSp mod">
        <pc:chgData name="Dieter Beaven" userId="9bbdb69f-69d0-4759-aa9b-5c090a2da237" providerId="ADAL" clId="{6B7FDF62-44DB-48FB-9DE9-EFE01BC94813}" dt="2025-05-20T14:04:48.974" v="19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6B7FDF62-44DB-48FB-9DE9-EFE01BC94813}" dt="2025-05-20T14:05:40.390" v="37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175559422" sldId="577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789742013" sldId="578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3959558217" sldId="579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588657860" sldId="581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1883644351" sldId="582"/>
        </pc:sldMkLst>
      </pc:sldChg>
      <pc:sldChg chg="add">
        <pc:chgData name="Dieter Beaven" userId="9bbdb69f-69d0-4759-aa9b-5c090a2da237" providerId="ADAL" clId="{6B7FDF62-44DB-48FB-9DE9-EFE01BC94813}" dt="2025-05-20T14:04:52.145" v="20"/>
        <pc:sldMkLst>
          <pc:docMk/>
          <pc:sldMk cId="2112586867" sldId="583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0:45:51.053" v="2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0:45:49.864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45:49.864" v="1" actId="1076"/>
          <ac:picMkLst>
            <pc:docMk/>
            <pc:sldMk cId="3458699803" sldId="545"/>
            <ac:picMk id="6" creationId="{7B0F98C1-2ACB-2E39-DB9D-3B4649CD7089}"/>
          </ac:picMkLst>
        </pc:picChg>
      </pc:sldChg>
      <pc:sldChg chg="del">
        <pc:chgData name="Dieter Beaven" userId="9bbdb69f-69d0-4759-aa9b-5c090a2da237" providerId="ADAL" clId="{AF4429DE-69D1-4CF8-841D-B9C26A2A5A21}" dt="2025-10-23T10:45:51.053" v="2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Arithmetic Series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2D0718-2DD6-4090-A8DA-B9C378FE7FD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2BEB8F1-C74E-4293-BFED-D59E13AF854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Series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2D78B51-23FE-43E1-A185-43C389BB3D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04F623-613D-45F7-B472-46B2ACF3B42A}"/>
              </a:ext>
            </a:extLst>
          </p:cNvPr>
          <p:cNvSpPr txBox="1"/>
          <p:nvPr/>
        </p:nvSpPr>
        <p:spPr>
          <a:xfrm>
            <a:off x="395536" y="836712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series</a:t>
            </a:r>
            <a:r>
              <a:rPr lang="en-GB" dirty="0"/>
              <a:t> is a </a:t>
            </a:r>
            <a:r>
              <a:rPr lang="en-GB" b="1" u="sng" dirty="0"/>
              <a:t>sum</a:t>
            </a:r>
            <a:r>
              <a:rPr lang="en-GB" dirty="0"/>
              <a:t> of terms in a sequence.</a:t>
            </a:r>
          </a:p>
          <a:p>
            <a:r>
              <a:rPr lang="en-GB" dirty="0"/>
              <a:t>You will encounter ‘series’ in many places in A Level: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127671-FA4A-4211-A8C0-3224B5BEAE2A}"/>
                  </a:ext>
                </a:extLst>
              </p:cNvPr>
              <p:cNvSpPr txBox="1"/>
              <p:nvPr/>
            </p:nvSpPr>
            <p:spPr>
              <a:xfrm>
                <a:off x="1073324" y="1852439"/>
                <a:ext cx="50108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Arithmetic Series (this chapter!)</a:t>
                </a:r>
                <a:endParaRPr lang="en-GB" b="1" dirty="0"/>
              </a:p>
              <a:p>
                <a:r>
                  <a:rPr lang="en-GB" dirty="0"/>
                  <a:t>Sum of terms in an arithmetic sequence.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2+5+8+11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127671-FA4A-4211-A8C0-3224B5BEA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4" y="1852439"/>
                <a:ext cx="5010844" cy="1015663"/>
              </a:xfrm>
              <a:prstGeom prst="rect">
                <a:avLst/>
              </a:prstGeom>
              <a:blipFill>
                <a:blip r:embed="rId2"/>
                <a:stretch>
                  <a:fillRect l="-1825" t="-48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BFDB03-B3C4-4DE5-A3E0-27BFA6C6F56E}"/>
                  </a:ext>
                </a:extLst>
              </p:cNvPr>
              <p:cNvSpPr txBox="1"/>
              <p:nvPr/>
            </p:nvSpPr>
            <p:spPr>
              <a:xfrm>
                <a:off x="1082477" y="5018483"/>
                <a:ext cx="507982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Taylor Series (Further Maths)</a:t>
                </a:r>
                <a:endParaRPr lang="en-GB" b="1" dirty="0"/>
              </a:p>
              <a:p>
                <a:r>
                  <a:rPr lang="en-GB" dirty="0"/>
                  <a:t>Expressing a function as an infinite series, consisting of polynomial terms.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BFDB03-B3C4-4DE5-A3E0-27BFA6C6F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477" y="5018483"/>
                <a:ext cx="5079826" cy="1569660"/>
              </a:xfrm>
              <a:prstGeom prst="rect">
                <a:avLst/>
              </a:prstGeom>
              <a:blipFill>
                <a:blip r:embed="rId3"/>
                <a:stretch>
                  <a:fillRect l="-1921" t="-3101" r="-8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424456-9A4B-48CC-99D4-68D03C365628}"/>
                  </a:ext>
                </a:extLst>
              </p:cNvPr>
              <p:cNvSpPr txBox="1"/>
              <p:nvPr/>
            </p:nvSpPr>
            <p:spPr>
              <a:xfrm>
                <a:off x="6516215" y="1159877"/>
                <a:ext cx="2237259" cy="41502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Extra Notes</a:t>
                </a:r>
                <a:r>
                  <a:rPr lang="en-GB" sz="1400" dirty="0"/>
                  <a:t>: A ‘series’ usually refers to an </a:t>
                </a:r>
                <a:r>
                  <a:rPr lang="en-GB" sz="1400" u="sng" dirty="0"/>
                  <a:t>infinite</a:t>
                </a:r>
                <a:r>
                  <a:rPr lang="en-GB" sz="1400" dirty="0"/>
                  <a:t> sum of terms in a sequence. If we were just summing some finite number of them, we call this a </a:t>
                </a:r>
                <a:r>
                  <a:rPr lang="en-GB" sz="1400" u="sng" dirty="0"/>
                  <a:t>partial sum of the series</a:t>
                </a:r>
                <a:r>
                  <a:rPr lang="en-GB" sz="1400" dirty="0"/>
                  <a:t>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e.g. The ‘</a:t>
                </a:r>
                <a:r>
                  <a:rPr lang="en-GB" sz="1400" i="1" dirty="0"/>
                  <a:t>Harmonic Series</a:t>
                </a:r>
                <a:r>
                  <a:rPr lang="en-GB" sz="1400" dirty="0"/>
                  <a:t>’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r>
                  <a:rPr lang="en-GB" sz="1400" dirty="0"/>
                  <a:t> , which is infinitely many terms. But a we could get a partial sum,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However, in this syllabus, the term ‘series’ is used to mean either a finite or infinite addition of terms.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424456-9A4B-48CC-99D4-68D03C365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5" y="1159877"/>
                <a:ext cx="2237259" cy="4150239"/>
              </a:xfrm>
              <a:prstGeom prst="rect">
                <a:avLst/>
              </a:prstGeom>
              <a:blipFill>
                <a:blip r:embed="rId4"/>
                <a:stretch>
                  <a:fillRect l="-270" r="-809" b="-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AD187-4C86-49C9-AD71-464D30F83383}"/>
                  </a:ext>
                </a:extLst>
              </p:cNvPr>
              <p:cNvSpPr txBox="1"/>
              <p:nvPr/>
            </p:nvSpPr>
            <p:spPr>
              <a:xfrm>
                <a:off x="1073324" y="3037660"/>
                <a:ext cx="5079826" cy="1811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Binomial Series (Later in Year 2)</a:t>
                </a:r>
                <a:endParaRPr lang="en-GB" b="1" dirty="0"/>
              </a:p>
              <a:p>
                <a:r>
                  <a:rPr lang="en-GB" dirty="0"/>
                  <a:t>You did Binomial expansions in Year 1. But when the power is negative or fractional, we end up with an infinite series.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AD187-4C86-49C9-AD71-464D30F83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4" y="3037660"/>
                <a:ext cx="5079826" cy="1811265"/>
              </a:xfrm>
              <a:prstGeom prst="rect">
                <a:avLst/>
              </a:prstGeom>
              <a:blipFill>
                <a:blip r:embed="rId5"/>
                <a:stretch>
                  <a:fillRect l="-1801" t="-2694" r="-1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E77C8-3A05-4813-9DBB-4B4A3E518395}"/>
                  </a:ext>
                </a:extLst>
              </p:cNvPr>
              <p:cNvSpPr txBox="1"/>
              <p:nvPr/>
            </p:nvSpPr>
            <p:spPr>
              <a:xfrm>
                <a:off x="6634832" y="5521548"/>
                <a:ext cx="2509168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Terminology</a:t>
                </a:r>
                <a:r>
                  <a:rPr lang="en-GB" sz="1400" dirty="0"/>
                  <a:t>: A ‘</a:t>
                </a:r>
                <a:r>
                  <a:rPr lang="en-GB" sz="1400" i="1" dirty="0"/>
                  <a:t>power series</a:t>
                </a:r>
                <a:r>
                  <a:rPr lang="en-GB" sz="1400" dirty="0"/>
                  <a:t>’ is an infinite polynomial with increasing powers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There is also a chapter on power series in the Further Stats module.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E77C8-3A05-4813-9DBB-4B4A3E518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832" y="5521548"/>
                <a:ext cx="2509168" cy="1169551"/>
              </a:xfrm>
              <a:prstGeom prst="rect">
                <a:avLst/>
              </a:prstGeom>
              <a:blipFill>
                <a:blip r:embed="rId6"/>
                <a:stretch>
                  <a:fillRect l="-728" t="-1042" r="-485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4BFC4C-CB41-43FE-9195-CA8ABD25B08E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715000" y="6106324"/>
            <a:ext cx="919832" cy="15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D863B5-0759-4EE6-850A-7D840D128E9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994400" y="5029202"/>
            <a:ext cx="640432" cy="107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725EEC-252D-4030-B63D-B75D9278761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7DB9EB-62A8-4956-8975-5ED0F4DC031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Arithmetic Series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E39AB85-8928-4B70-8504-0E748578D0E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874936-AA25-42F0-BF8B-19DDC458EE03}"/>
                  </a:ext>
                </a:extLst>
              </p:cNvPr>
              <p:cNvSpPr txBox="1"/>
              <p:nvPr/>
            </p:nvSpPr>
            <p:spPr>
              <a:xfrm>
                <a:off x="388098" y="1420954"/>
                <a:ext cx="33123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r>
                        <a:rPr lang="en-GB" sz="2800" b="0" i="1" smtClean="0">
                          <a:latin typeface="Cambria Math"/>
                        </a:rPr>
                        <m:t>𝑎</m:t>
                      </m:r>
                      <m:r>
                        <a:rPr lang="en-GB" sz="28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sz="2800" b="0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874936-AA25-42F0-BF8B-19DDC458E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8" y="1420954"/>
                <a:ext cx="33123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4A15CF-72D0-47D4-9AD4-0A89CB222E41}"/>
                  </a:ext>
                </a:extLst>
              </p:cNvPr>
              <p:cNvSpPr txBox="1"/>
              <p:nvPr/>
            </p:nvSpPr>
            <p:spPr>
              <a:xfrm>
                <a:off x="4716016" y="1268828"/>
                <a:ext cx="3744416" cy="827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2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4A15CF-72D0-47D4-9AD4-0A89CB222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268828"/>
                <a:ext cx="3744416" cy="827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303580-A457-4C94-A4C3-2870C1CEBFBA}"/>
                  </a:ext>
                </a:extLst>
              </p:cNvPr>
              <p:cNvSpPr txBox="1"/>
              <p:nvPr/>
            </p:nvSpPr>
            <p:spPr>
              <a:xfrm>
                <a:off x="539552" y="861350"/>
                <a:ext cx="3024336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GB" b="1" baseline="30000" dirty="0">
                    <a:solidFill>
                      <a:schemeClr val="tx1"/>
                    </a:solidFill>
                  </a:rPr>
                  <a:t>th</a:t>
                </a:r>
                <a:r>
                  <a:rPr lang="en-GB" b="1" dirty="0">
                    <a:solidFill>
                      <a:schemeClr val="tx1"/>
                    </a:solidFill>
                  </a:rPr>
                  <a:t> term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303580-A457-4C94-A4C3-2870C1CEB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861350"/>
                <a:ext cx="3024336" cy="369332"/>
              </a:xfrm>
              <a:prstGeom prst="rect">
                <a:avLst/>
              </a:prstGeom>
              <a:blipFill>
                <a:blip r:embed="rId4"/>
                <a:stretch>
                  <a:fillRect b="-3529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8B6E7F-20E3-4A36-BA6F-634A992669C1}"/>
                  </a:ext>
                </a:extLst>
              </p:cNvPr>
              <p:cNvSpPr txBox="1"/>
              <p:nvPr/>
            </p:nvSpPr>
            <p:spPr>
              <a:xfrm>
                <a:off x="4716150" y="863661"/>
                <a:ext cx="3744281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tx1"/>
                    </a:solidFill>
                    <a:latin typeface="Wingdings" panose="05000000000000000000" pitchFamily="2" charset="2"/>
                  </a:rPr>
                  <a:t>!</a:t>
                </a:r>
                <a:r>
                  <a:rPr lang="en-GB" b="1" dirty="0">
                    <a:solidFill>
                      <a:schemeClr val="tx1"/>
                    </a:solidFill>
                  </a:rPr>
                  <a:t> Sum of first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GB" b="1" dirty="0">
                    <a:solidFill>
                      <a:schemeClr val="tx1"/>
                    </a:solidFill>
                  </a:rPr>
                  <a:t> terms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8B6E7F-20E3-4A36-BA6F-634A99266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150" y="863661"/>
                <a:ext cx="3744281" cy="369332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BDE1AAA-E11A-4A24-9C5E-AE35FB548087}"/>
              </a:ext>
            </a:extLst>
          </p:cNvPr>
          <p:cNvSpPr/>
          <p:nvPr/>
        </p:nvSpPr>
        <p:spPr>
          <a:xfrm>
            <a:off x="4716603" y="1255811"/>
            <a:ext cx="3744416" cy="8749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279E9-9FEF-46F6-9151-0389C1D12233}"/>
              </a:ext>
            </a:extLst>
          </p:cNvPr>
          <p:cNvSpPr txBox="1"/>
          <p:nvPr/>
        </p:nvSpPr>
        <p:spPr>
          <a:xfrm>
            <a:off x="5220072" y="2301510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Let’s prove it!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79F66E-5E1C-443D-8369-7068558C7A1E}"/>
                  </a:ext>
                </a:extLst>
              </p:cNvPr>
              <p:cNvSpPr txBox="1"/>
              <p:nvPr/>
            </p:nvSpPr>
            <p:spPr>
              <a:xfrm>
                <a:off x="601280" y="5258144"/>
                <a:ext cx="6190268" cy="1497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+… 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+… 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Adding: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79F66E-5E1C-443D-8369-7068558C7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80" y="5258144"/>
                <a:ext cx="6190268" cy="1497333"/>
              </a:xfrm>
              <a:prstGeom prst="rect">
                <a:avLst/>
              </a:prstGeom>
              <a:blipFill>
                <a:blip r:embed="rId6"/>
                <a:stretch>
                  <a:fillRect l="-591" b="-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5603EC0-78CC-417B-A9AF-BCD9013C93A4}"/>
              </a:ext>
            </a:extLst>
          </p:cNvPr>
          <p:cNvSpPr txBox="1"/>
          <p:nvPr/>
        </p:nvSpPr>
        <p:spPr>
          <a:xfrm>
            <a:off x="434180" y="239331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98C3FB-E0CA-4569-A741-B35D98B1014C}"/>
                  </a:ext>
                </a:extLst>
              </p:cNvPr>
              <p:cNvSpPr txBox="1"/>
              <p:nvPr/>
            </p:nvSpPr>
            <p:spPr>
              <a:xfrm>
                <a:off x="764741" y="2688221"/>
                <a:ext cx="57606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Take an arithmetic sequence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2, 5, 8, 11, 14, 17, …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+5   +8+11+14</m:t>
                      </m:r>
                    </m:oMath>
                  </m:oMathPara>
                </a14:m>
                <a:endParaRPr lang="en-GB" b="0" dirty="0"/>
              </a:p>
              <a:p>
                <a:pPr/>
                <a:r>
                  <a:rPr lang="en-GB" dirty="0"/>
                  <a:t>Reversing:</a:t>
                </a: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=14+11+8+5  +2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Adding these: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=16+16+16+16+16=16×5=80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98C3FB-E0CA-4569-A741-B35D98B1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41" y="2688221"/>
                <a:ext cx="5760640" cy="2031325"/>
              </a:xfrm>
              <a:prstGeom prst="rect">
                <a:avLst/>
              </a:prstGeom>
              <a:blipFill>
                <a:blip r:embed="rId7"/>
                <a:stretch>
                  <a:fillRect l="-847" t="-1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2C29117-E405-4040-91C6-032D6341A642}"/>
              </a:ext>
            </a:extLst>
          </p:cNvPr>
          <p:cNvSpPr txBox="1"/>
          <p:nvPr/>
        </p:nvSpPr>
        <p:spPr>
          <a:xfrm>
            <a:off x="421775" y="4889596"/>
            <a:ext cx="261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Proving more generally: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BA2CD-C87C-4C5E-9A0E-EAF06175BEB7}"/>
              </a:ext>
            </a:extLst>
          </p:cNvPr>
          <p:cNvSpPr txBox="1"/>
          <p:nvPr/>
        </p:nvSpPr>
        <p:spPr>
          <a:xfrm>
            <a:off x="6937632" y="2938949"/>
            <a:ext cx="1728192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 idea is that each pair of terms, at symmetrically opposite ends, adds to the same number.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DD5C45-BAFD-4AAD-AE34-E781CF8C8548}"/>
              </a:ext>
            </a:extLst>
          </p:cNvPr>
          <p:cNvCxnSpPr/>
          <p:nvPr/>
        </p:nvCxnSpPr>
        <p:spPr>
          <a:xfrm flipH="1">
            <a:off x="5724128" y="3429000"/>
            <a:ext cx="123718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9CF842-0490-482B-97E1-2AB7852067C5}"/>
              </a:ext>
            </a:extLst>
          </p:cNvPr>
          <p:cNvSpPr txBox="1"/>
          <p:nvPr/>
        </p:nvSpPr>
        <p:spPr>
          <a:xfrm>
            <a:off x="7092280" y="4941168"/>
            <a:ext cx="1728192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 err="1"/>
              <a:t>Fro</a:t>
            </a:r>
            <a:r>
              <a:rPr lang="en-GB" sz="1200" b="1" dirty="0"/>
              <a:t> Exam Note: </a:t>
            </a:r>
            <a:r>
              <a:rPr lang="en-GB" sz="1200" dirty="0"/>
              <a:t>The proof </a:t>
            </a:r>
            <a:r>
              <a:rPr lang="en-GB" sz="1200" u="sng" dirty="0"/>
              <a:t>has been an exam question before</a:t>
            </a:r>
            <a:r>
              <a:rPr lang="en-GB" sz="1200" dirty="0"/>
              <a:t>. It’s also a university interview favourite!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533103-090C-4E18-A718-7AA19D06D258}"/>
              </a:ext>
            </a:extLst>
          </p:cNvPr>
          <p:cNvCxnSpPr>
            <a:cxnSpLocks/>
          </p:cNvCxnSpPr>
          <p:nvPr/>
        </p:nvCxnSpPr>
        <p:spPr>
          <a:xfrm flipH="1">
            <a:off x="6475228" y="5258485"/>
            <a:ext cx="617052" cy="142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4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/>
      <p:bldP spid="14" grpId="0"/>
      <p:bldP spid="15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4928060-32CE-4C7C-811E-CEF87F3205C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E73A79C-BD4D-4ECB-9ACE-F3CDB947203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Alternative Formula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C1871-72BE-465B-82A3-3D68FB19397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0711BD-1AC0-487A-B8CA-AB1388AA0531}"/>
                  </a:ext>
                </a:extLst>
              </p:cNvPr>
              <p:cNvSpPr txBox="1"/>
              <p:nvPr/>
            </p:nvSpPr>
            <p:spPr>
              <a:xfrm>
                <a:off x="843788" y="1109666"/>
                <a:ext cx="67687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0711BD-1AC0-487A-B8CA-AB1388AA0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88" y="1109666"/>
                <a:ext cx="676875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E5143-B8FA-4F0E-A7A7-902844FBC12C}"/>
                  </a:ext>
                </a:extLst>
              </p:cNvPr>
              <p:cNvSpPr txBox="1"/>
              <p:nvPr/>
            </p:nvSpPr>
            <p:spPr>
              <a:xfrm>
                <a:off x="800245" y="2001664"/>
                <a:ext cx="7184596" cy="2431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Suppose last term was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We saw earlier that each opposite pair of terms (first and last, second and second last, etc.) added to the same total, in this case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There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400" dirty="0"/>
                  <a:t> pairs, therefore: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E5143-B8FA-4F0E-A7A7-902844FB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45" y="2001664"/>
                <a:ext cx="7184596" cy="2431243"/>
              </a:xfrm>
              <a:prstGeom prst="rect">
                <a:avLst/>
              </a:prstGeom>
              <a:blipFill>
                <a:blip r:embed="rId3"/>
                <a:stretch>
                  <a:fillRect l="-1272" t="-2005" b="-1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CCC6C-2F7D-4885-A5B9-D4427A0C9441}"/>
                  </a:ext>
                </a:extLst>
              </p:cNvPr>
              <p:cNvSpPr txBox="1"/>
              <p:nvPr/>
            </p:nvSpPr>
            <p:spPr>
              <a:xfrm>
                <a:off x="1860566" y="4788174"/>
                <a:ext cx="5112568" cy="8418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0" dirty="0">
                    <a:latin typeface="Wingdings" panose="05000000000000000000" pitchFamily="2" charset="2"/>
                  </a:rPr>
                  <a:t>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CCC6C-2F7D-4885-A5B9-D4427A0C9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566" y="4788174"/>
                <a:ext cx="5112568" cy="841897"/>
              </a:xfrm>
              <a:prstGeom prst="rect">
                <a:avLst/>
              </a:prstGeom>
              <a:blipFill>
                <a:blip r:embed="rId4"/>
                <a:stretch>
                  <a:fillRect l="-712" t="-2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64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27DCE5-F42D-4FC7-9460-828E21A0098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2E86546-00EE-4D27-996F-1CC5D8845EC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45B3F0E-0F07-408B-83DC-4EAFD4954E9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AD1E6CB-4FC0-4394-ADA6-0CF8EADBEC2D}"/>
              </a:ext>
            </a:extLst>
          </p:cNvPr>
          <p:cNvSpPr txBox="1"/>
          <p:nvPr/>
        </p:nvSpPr>
        <p:spPr>
          <a:xfrm>
            <a:off x="510524" y="701441"/>
            <a:ext cx="727280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Find the sum of the first 30 terms of the following arithmetic sequences…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5BEAF-9C69-43F8-B52F-848FA955FCD2}"/>
              </a:ext>
            </a:extLst>
          </p:cNvPr>
          <p:cNvSpPr txBox="1"/>
          <p:nvPr/>
        </p:nvSpPr>
        <p:spPr>
          <a:xfrm>
            <a:off x="359070" y="1277505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011212-6B7C-43E3-B2F1-3521582AEF5B}"/>
                  </a:ext>
                </a:extLst>
              </p:cNvPr>
              <p:cNvSpPr txBox="1"/>
              <p:nvPr/>
            </p:nvSpPr>
            <p:spPr>
              <a:xfrm>
                <a:off x="870564" y="1277505"/>
                <a:ext cx="7704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2+5+8+11+1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/>
                      </a:rPr>
                      <m:t>…</m:t>
                    </m:r>
                  </m:oMath>
                </a14:m>
                <a:r>
                  <a:rPr lang="en-GB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30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=1365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100+98+96+…</m:t>
                    </m:r>
                  </m:oMath>
                </a14:m>
                <a:r>
                  <a:rPr lang="en-GB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30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=2130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+2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+3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+…</m:t>
                    </m:r>
                  </m:oMath>
                </a14:m>
                <a:r>
                  <a:rPr lang="en-GB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30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=465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/>
                  <a:t>	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011212-6B7C-43E3-B2F1-3521582A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4" y="1277505"/>
                <a:ext cx="7704856" cy="1477328"/>
              </a:xfrm>
              <a:prstGeom prst="rect">
                <a:avLst/>
              </a:prstGeom>
              <a:blipFill>
                <a:blip r:embed="rId2"/>
                <a:stretch>
                  <a:fillRect b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EE4FF8C-CA79-41C9-ABC4-394EDB4850D8}"/>
              </a:ext>
            </a:extLst>
          </p:cNvPr>
          <p:cNvSpPr txBox="1"/>
          <p:nvPr/>
        </p:nvSpPr>
        <p:spPr>
          <a:xfrm>
            <a:off x="359070" y="1831503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6161F-6754-40CB-B919-07A6B2A3E814}"/>
              </a:ext>
            </a:extLst>
          </p:cNvPr>
          <p:cNvSpPr txBox="1"/>
          <p:nvPr/>
        </p:nvSpPr>
        <p:spPr>
          <a:xfrm>
            <a:off x="359070" y="2380556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C360A1-B222-42D8-892A-364E42AA0BBD}"/>
              </a:ext>
            </a:extLst>
          </p:cNvPr>
          <p:cNvSpPr/>
          <p:nvPr/>
        </p:nvSpPr>
        <p:spPr>
          <a:xfrm>
            <a:off x="4326948" y="1209383"/>
            <a:ext cx="1080120" cy="437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9900F-48D7-4214-81EB-D4AA747925B8}"/>
              </a:ext>
            </a:extLst>
          </p:cNvPr>
          <p:cNvSpPr/>
          <p:nvPr/>
        </p:nvSpPr>
        <p:spPr>
          <a:xfrm>
            <a:off x="4326948" y="1759609"/>
            <a:ext cx="1080120" cy="437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A419F-D74D-489A-BC59-16A9DBDE8014}"/>
              </a:ext>
            </a:extLst>
          </p:cNvPr>
          <p:cNvSpPr/>
          <p:nvPr/>
        </p:nvSpPr>
        <p:spPr>
          <a:xfrm>
            <a:off x="4326904" y="2312434"/>
            <a:ext cx="1080120" cy="437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356B6-06D8-4F01-ADF8-26580F865680}"/>
                  </a:ext>
                </a:extLst>
              </p:cNvPr>
              <p:cNvSpPr txBox="1"/>
              <p:nvPr/>
            </p:nvSpPr>
            <p:spPr>
              <a:xfrm>
                <a:off x="5646057" y="1224910"/>
                <a:ext cx="3338286" cy="230832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 err="1"/>
                  <a:t>Fro</a:t>
                </a:r>
                <a:r>
                  <a:rPr lang="en-GB" sz="1600" b="1" dirty="0"/>
                  <a:t> Tips: </a:t>
                </a:r>
                <a:r>
                  <a:rPr lang="en-GB" sz="1600" dirty="0"/>
                  <a:t>Again, explicitly write out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"</m:t>
                    </m:r>
                    <m:r>
                      <a:rPr lang="en-GB" sz="1600" b="0" i="1" smtClean="0">
                        <a:latin typeface="Cambria Math"/>
                      </a:rPr>
                      <m:t>𝑎</m:t>
                    </m:r>
                    <m:r>
                      <a:rPr lang="en-GB" sz="1600" b="0" i="1" smtClean="0">
                        <a:latin typeface="Cambria Math"/>
                      </a:rPr>
                      <m:t>=…, </m:t>
                    </m:r>
                    <m:r>
                      <a:rPr lang="en-GB" sz="1600" b="0" i="1" smtClean="0">
                        <a:latin typeface="Cambria Math"/>
                      </a:rPr>
                      <m:t>𝑑</m:t>
                    </m:r>
                    <m:r>
                      <a:rPr lang="en-GB" sz="1600" b="0" i="1" smtClean="0">
                        <a:latin typeface="Cambria Math"/>
                      </a:rPr>
                      <m:t>=…, </m:t>
                    </m:r>
                    <m:r>
                      <a:rPr lang="en-GB" sz="1600" b="0" i="1" smtClean="0">
                        <a:latin typeface="Cambria Math"/>
                      </a:rPr>
                      <m:t>𝑛</m:t>
                    </m:r>
                    <m:r>
                      <a:rPr lang="en-GB" sz="1600" b="0" i="1" smtClean="0">
                        <a:latin typeface="Cambria Math"/>
                      </a:rPr>
                      <m:t>=…</m:t>
                    </m:r>
                  </m:oMath>
                </a14:m>
                <a:r>
                  <a:rPr lang="en-GB" sz="1600" dirty="0"/>
                  <a:t>”. You’re less likely to make incorrect substitutions into the formula.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Make sure you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GB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GB" sz="1600" b="0" i="1" smtClean="0">
                        <a:latin typeface="Cambria Math"/>
                      </a:rPr>
                      <m:t>=…</m:t>
                    </m:r>
                  </m:oMath>
                </a14:m>
                <a:r>
                  <a:rPr lang="en-GB" sz="1600" dirty="0"/>
                  <a:t> so you make clear to yourself (and the examiner) that you’re finding the sum of the first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1600" dirty="0"/>
                  <a:t> terms, not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1600" dirty="0"/>
                  <a:t>th term.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356B6-06D8-4F01-ADF8-26580F865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057" y="1224910"/>
                <a:ext cx="3338286" cy="2308324"/>
              </a:xfrm>
              <a:prstGeom prst="rect">
                <a:avLst/>
              </a:prstGeom>
              <a:blipFill>
                <a:blip r:embed="rId3"/>
                <a:stretch>
                  <a:fillRect l="-543" t="-261" r="-725" b="-18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12E3D1-C0AE-4C3F-9579-184A96AA323D}"/>
                  </a:ext>
                </a:extLst>
              </p:cNvPr>
              <p:cNvSpPr txBox="1"/>
              <p:nvPr/>
            </p:nvSpPr>
            <p:spPr>
              <a:xfrm>
                <a:off x="395493" y="4431621"/>
                <a:ext cx="8280920" cy="2436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𝟐𝟎𝟎𝟎</m:t>
                      </m:r>
                      <m:r>
                        <a:rPr lang="en-GB" b="1" i="1" smtClean="0">
                          <a:latin typeface="Cambria Math"/>
                        </a:rPr>
                        <m:t>,   </m:t>
                      </m:r>
                      <m:r>
                        <a:rPr lang="en-GB" b="1" i="1" smtClean="0">
                          <a:latin typeface="Cambria Math"/>
                        </a:rPr>
                        <m:t>𝒂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𝟒</m:t>
                      </m:r>
                      <m:r>
                        <a:rPr lang="en-GB" b="1" i="1" smtClean="0">
                          <a:latin typeface="Cambria Math"/>
                        </a:rPr>
                        <m:t>,    </m:t>
                      </m:r>
                      <m:r>
                        <a:rPr lang="en-GB" b="1" i="1" smtClean="0">
                          <a:latin typeface="Cambria Math"/>
                        </a:rPr>
                        <m:t>𝒅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𝟓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/>
                            </a:rPr>
                            <m:t>𝒅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𝟐𝟎𝟎𝟎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/>
                            </a:rPr>
                            <m:t>𝟓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𝟐𝟎𝟎𝟎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𝟓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𝟑</m:t>
                      </m:r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𝟒𝟎𝟎𝟎</m:t>
                      </m:r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latin typeface="Cambria Math"/>
                        </a:rPr>
                        <m:t>&lt;−</m:t>
                      </m:r>
                      <m:r>
                        <a:rPr lang="en-GB" b="1" i="1" smtClean="0">
                          <a:latin typeface="Cambria Math"/>
                        </a:rPr>
                        <m:t>𝟐𝟖</m:t>
                      </m:r>
                      <m:r>
                        <a:rPr lang="en-GB" b="1" i="1" smtClean="0">
                          <a:latin typeface="Cambria Math"/>
                        </a:rPr>
                        <m:t>.</m:t>
                      </m:r>
                      <m:r>
                        <a:rPr lang="en-GB" b="1" i="1" smtClean="0">
                          <a:latin typeface="Cambria Math"/>
                        </a:rPr>
                        <m:t>𝟓</m:t>
                      </m:r>
                      <m:r>
                        <a:rPr lang="en-GB" b="1" i="1" smtClean="0">
                          <a:latin typeface="Cambria Math"/>
                        </a:rPr>
                        <m:t> </m:t>
                      </m:r>
                      <m:r>
                        <a:rPr lang="en-GB" b="1" i="1" smtClean="0">
                          <a:latin typeface="Cambria Math"/>
                        </a:rPr>
                        <m:t>𝒐𝒓</m:t>
                      </m:r>
                      <m:r>
                        <a:rPr lang="en-GB" b="1" i="1" smtClean="0">
                          <a:latin typeface="Cambria Math"/>
                        </a:rPr>
                        <m:t> </m:t>
                      </m:r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𝟐𝟕</m:t>
                      </m:r>
                      <m:r>
                        <a:rPr lang="en-GB" b="1" i="1" smtClean="0">
                          <a:latin typeface="Cambria Math"/>
                        </a:rPr>
                        <m:t>.</m:t>
                      </m:r>
                      <m:r>
                        <a:rPr lang="en-GB" b="1" i="1" smtClean="0">
                          <a:latin typeface="Cambria Math"/>
                        </a:rPr>
                        <m:t>𝟗</m:t>
                      </m:r>
                    </m:oMath>
                  </m:oMathPara>
                </a14:m>
                <a:br>
                  <a:rPr lang="en-GB" b="1" dirty="0"/>
                </a:br>
                <a:r>
                  <a:rPr lang="en-GB" b="1" dirty="0"/>
                  <a:t>		So 28 terms needed.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12E3D1-C0AE-4C3F-9579-184A96AA3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" y="4431621"/>
                <a:ext cx="8280920" cy="2436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D58D49C-7DF8-4BE2-A6FE-AA35EF9E2BF8}"/>
              </a:ext>
            </a:extLst>
          </p:cNvPr>
          <p:cNvSpPr/>
          <p:nvPr/>
        </p:nvSpPr>
        <p:spPr>
          <a:xfrm>
            <a:off x="438472" y="4414290"/>
            <a:ext cx="7776864" cy="22322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9C5BD1-B405-4119-9E37-E0CB0654E31A}"/>
                  </a:ext>
                </a:extLst>
              </p:cNvPr>
              <p:cNvSpPr/>
              <p:nvPr/>
            </p:nvSpPr>
            <p:spPr>
              <a:xfrm>
                <a:off x="326571" y="3889607"/>
                <a:ext cx="800379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Find the minimum number of terms for the sum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4+9+14+…</m:t>
                    </m:r>
                  </m:oMath>
                </a14:m>
                <a:r>
                  <a:rPr lang="en-GB" dirty="0"/>
                  <a:t> to exceed 2000.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9C5BD1-B405-4119-9E37-E0CB0654E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" y="3889607"/>
                <a:ext cx="8003796" cy="369332"/>
              </a:xfrm>
              <a:prstGeom prst="rect">
                <a:avLst/>
              </a:prstGeom>
              <a:blipFill>
                <a:blip r:embed="rId5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55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99718"/>
            <a:ext cx="8280920" cy="5099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3528" y="912197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Jan 2012 Q9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64088" y="4797152"/>
                <a:ext cx="144016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𝑇</m:t>
                      </m:r>
                      <m:r>
                        <a:rPr lang="en-GB" b="0" i="1" smtClean="0">
                          <a:latin typeface="Cambria Math"/>
                        </a:rPr>
                        <m:t>=400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797152"/>
                <a:ext cx="144016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4088" y="5805264"/>
                <a:ext cx="144016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𝑃</m:t>
                      </m:r>
                      <m:r>
                        <a:rPr lang="en-GB" b="0" i="1" smtClean="0">
                          <a:latin typeface="Cambria Math"/>
                        </a:rPr>
                        <m:t>=£24450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5805264"/>
                <a:ext cx="144016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364088" y="4791751"/>
            <a:ext cx="1440160" cy="3747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4088" y="5805264"/>
            <a:ext cx="1440160" cy="3747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8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9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865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3.2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18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1EB6B9-F563-AF92-184A-4FC39B23907E}"/>
                  </a:ext>
                </a:extLst>
              </p:cNvPr>
              <p:cNvSpPr txBox="1"/>
              <p:nvPr/>
            </p:nvSpPr>
            <p:spPr>
              <a:xfrm>
                <a:off x="559462" y="5420420"/>
                <a:ext cx="4165699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[MAT 2008 1I]</a:t>
                </a:r>
              </a:p>
              <a:p>
                <a:r>
                  <a:rPr lang="en-GB" sz="1200" dirty="0"/>
                  <a:t>The function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sz="1200" dirty="0"/>
                  <a:t> is defined for positive integers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200" dirty="0"/>
                  <a:t> by</a:t>
                </a:r>
              </a:p>
              <a:p>
                <a:r>
                  <a:rPr lang="en-GB" sz="1200" b="0" dirty="0"/>
                  <a:t>     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1200" dirty="0"/>
                  <a:t>sum of digits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sz="1200" dirty="0"/>
              </a:p>
              <a:p>
                <a:r>
                  <a:rPr lang="en-GB" sz="1200" dirty="0"/>
                  <a:t>For example,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723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=7+2+3=12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r>
                  <a:rPr lang="en-GB" sz="1200" dirty="0"/>
                  <a:t>The sum</a:t>
                </a:r>
              </a:p>
              <a:p>
                <a:r>
                  <a:rPr lang="en-GB" sz="1200" dirty="0"/>
                  <a:t>     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e>
                    </m:d>
                  </m:oMath>
                </a14:m>
                <a:endParaRPr lang="en-GB" sz="1200" dirty="0"/>
              </a:p>
              <a:p>
                <a:r>
                  <a:rPr lang="en-GB" sz="1200" dirty="0"/>
                  <a:t>equals what?</a:t>
                </a:r>
              </a:p>
              <a:p>
                <a:endParaRPr lang="en-GB" sz="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1EB6B9-F563-AF92-184A-4FC39B239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62" y="5420420"/>
                <a:ext cx="4165699" cy="1415772"/>
              </a:xfrm>
              <a:prstGeom prst="rect">
                <a:avLst/>
              </a:prstGeom>
              <a:blipFill>
                <a:blip r:embed="rId2"/>
                <a:stretch>
                  <a:fillRect l="-146" b="-4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6D23C9-D60B-1FA7-28FB-AAC22729C32B}"/>
              </a:ext>
            </a:extLst>
          </p:cNvPr>
          <p:cNvSpPr/>
          <p:nvPr/>
        </p:nvSpPr>
        <p:spPr>
          <a:xfrm>
            <a:off x="196551" y="2044344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EE3FE-D675-BC2D-9C4F-96660C7D9D33}"/>
              </a:ext>
            </a:extLst>
          </p:cNvPr>
          <p:cNvSpPr/>
          <p:nvPr/>
        </p:nvSpPr>
        <p:spPr>
          <a:xfrm>
            <a:off x="201240" y="5466466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B45238-852E-DF13-DC92-7AC74808FFA4}"/>
                  </a:ext>
                </a:extLst>
              </p:cNvPr>
              <p:cNvSpPr txBox="1"/>
              <p:nvPr/>
            </p:nvSpPr>
            <p:spPr>
              <a:xfrm>
                <a:off x="431214" y="1964227"/>
                <a:ext cx="4165699" cy="3331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[MAT 2007 1J]</a:t>
                </a:r>
              </a:p>
              <a:p>
                <a:r>
                  <a:rPr lang="en-GB" sz="1400" dirty="0"/>
                  <a:t>The inequality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       +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+100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Is true for all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400" dirty="0"/>
                  <a:t>. It follows that</a:t>
                </a:r>
              </a:p>
              <a:p>
                <a:pPr marL="342900" indent="-342900">
                  <a:buAutoNum type="alphaUcParenR"/>
                </a:pPr>
                <a:r>
                  <a:rPr lang="en-GB" sz="1400" b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&lt;1300</m:t>
                    </m:r>
                  </m:oMath>
                </a14:m>
                <a:endParaRPr lang="en-GB" sz="1400" dirty="0"/>
              </a:p>
              <a:p>
                <a:pPr marL="342900" indent="-342900">
                  <a:buAutoNum type="alphaU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&lt;101</m:t>
                    </m:r>
                  </m:oMath>
                </a14:m>
                <a:endParaRPr lang="en-GB" sz="1400" dirty="0"/>
              </a:p>
              <a:p>
                <a:pPr marL="342900" indent="-342900">
                  <a:buAutoNum type="alphaU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101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10000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marL="342900" indent="-342900">
                  <a:buAutoNum type="alphaU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&lt;5150</m:t>
                    </m:r>
                  </m:oMath>
                </a14:m>
                <a:endParaRPr lang="en-GB" sz="1400" dirty="0"/>
              </a:p>
              <a:p>
                <a:endParaRPr lang="en-GB" sz="1400" dirty="0"/>
              </a:p>
              <a:p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1200" b="1" dirty="0"/>
                  <a:t> will be largest when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200" b="1" dirty="0"/>
                  <a:t> is its smallest, so let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200" b="1" dirty="0"/>
                  <a:t>.</a:t>
                </a:r>
              </a:p>
              <a:p>
                <a:r>
                  <a:rPr lang="en-GB" sz="1200" b="1" dirty="0"/>
                  <a:t>Each of the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200" b="1" dirty="0"/>
                  <a:t> terms are therefore 1, giving the LHS: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𝟓𝟏𝟓𝟎</m:t>
                      </m:r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The answer is D.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B45238-852E-DF13-DC92-7AC74808F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4" y="1964227"/>
                <a:ext cx="4165699" cy="3331105"/>
              </a:xfrm>
              <a:prstGeom prst="rect">
                <a:avLst/>
              </a:prstGeom>
              <a:blipFill>
                <a:blip r:embed="rId3"/>
                <a:stretch>
                  <a:fillRect l="-586" t="-366" b="-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61B5F40-9016-CB3B-2267-C8A0D57D0DEE}"/>
              </a:ext>
            </a:extLst>
          </p:cNvPr>
          <p:cNvSpPr/>
          <p:nvPr/>
        </p:nvSpPr>
        <p:spPr>
          <a:xfrm>
            <a:off x="441307" y="4078520"/>
            <a:ext cx="4012704" cy="1105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CFC32B-D080-706E-C860-ED1A0DF3A3B1}"/>
                  </a:ext>
                </a:extLst>
              </p:cNvPr>
              <p:cNvSpPr txBox="1"/>
              <p:nvPr/>
            </p:nvSpPr>
            <p:spPr>
              <a:xfrm>
                <a:off x="5148532" y="1933724"/>
                <a:ext cx="381595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[AEA 2010 Q2]</a:t>
                </a:r>
              </a:p>
              <a:p>
                <a:r>
                  <a:rPr lang="en-GB" sz="1400" dirty="0"/>
                  <a:t>The sum of the first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terms of an arithmetic series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and the sum of the first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terms of the same arithmetic series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are positive integers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Giving simplified answers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, find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common different of the terms in this series,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first term of the series,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sum of the first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400" dirty="0"/>
                  <a:t> terms of the series.</a:t>
                </a:r>
              </a:p>
              <a:p>
                <a:pPr marL="342900" indent="-342900">
                  <a:buAutoNum type="alphaLcParenR"/>
                </a:pPr>
                <a:endParaRPr lang="en-GB" sz="1400" dirty="0"/>
              </a:p>
              <a:p>
                <a:r>
                  <a:rPr lang="en-GB" sz="1400" b="1" dirty="0"/>
                  <a:t>Solution on next slide.</a:t>
                </a:r>
              </a:p>
              <a:p>
                <a:pPr marL="342900" indent="-342900">
                  <a:buAutoNum type="alphaLcParenR"/>
                </a:pPr>
                <a:endParaRPr lang="en-GB" sz="1400" dirty="0"/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CFC32B-D080-706E-C860-ED1A0DF3A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532" y="1933724"/>
                <a:ext cx="3815956" cy="3323987"/>
              </a:xfrm>
              <a:prstGeom prst="rect">
                <a:avLst/>
              </a:prstGeom>
              <a:blipFill>
                <a:blip r:embed="rId4"/>
                <a:stretch>
                  <a:fillRect l="-639" t="-3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39F412C-231C-0AE2-9633-2B5218C1609A}"/>
                  </a:ext>
                </a:extLst>
              </p:cNvPr>
              <p:cNvSpPr/>
              <p:nvPr/>
            </p:nvSpPr>
            <p:spPr>
              <a:xfrm>
                <a:off x="4689686" y="5516029"/>
                <a:ext cx="390557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200" b="1" dirty="0"/>
                  <a:t>When we sum all digits, we can separately consider sum of all units digits, and the sum of all tens digits.</a:t>
                </a:r>
              </a:p>
              <a:p>
                <a:r>
                  <a:rPr lang="en-GB" sz="1200" b="1" dirty="0"/>
                  <a:t>Each of 1 to 9 occurs ten times as units digit, so sum is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GB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𝟒𝟓𝟎</m:t>
                    </m:r>
                  </m:oMath>
                </a14:m>
                <a:endParaRPr lang="en-GB" sz="1200" b="1" dirty="0"/>
              </a:p>
              <a:p>
                <a:r>
                  <a:rPr lang="en-GB" sz="1200" b="1" dirty="0"/>
                  <a:t>Similarly each of 1 to 9 occurs ten times as tens digit, thus total is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𝟒𝟓𝟎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𝟒𝟓𝟎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>
                        <a:latin typeface="Cambria Math" panose="02040503050406030204" pitchFamily="18" charset="0"/>
                      </a:rPr>
                      <m:t>𝟗𝟎𝟎</m:t>
                    </m:r>
                  </m:oMath>
                </a14:m>
                <a:r>
                  <a:rPr lang="en-GB" sz="1200" b="1" dirty="0"/>
                  <a:t>.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39F412C-231C-0AE2-9633-2B5218C16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686" y="5516029"/>
                <a:ext cx="3905572" cy="1200329"/>
              </a:xfrm>
              <a:prstGeom prst="rect">
                <a:avLst/>
              </a:prstGeom>
              <a:blipFill>
                <a:blip r:embed="rId5"/>
                <a:stretch>
                  <a:fillRect t="-508" r="-936"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72CFF54-53CE-5DEB-B3B4-37EA71411C6A}"/>
              </a:ext>
            </a:extLst>
          </p:cNvPr>
          <p:cNvSpPr/>
          <p:nvPr/>
        </p:nvSpPr>
        <p:spPr>
          <a:xfrm>
            <a:off x="4807234" y="1971768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4FDD9B-5F3C-45F2-2ED6-302479F78B82}"/>
              </a:ext>
            </a:extLst>
          </p:cNvPr>
          <p:cNvCxnSpPr/>
          <p:nvPr/>
        </p:nvCxnSpPr>
        <p:spPr>
          <a:xfrm>
            <a:off x="-1144" y="529533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905417-80B8-0F41-A139-F14C4DF219A8}"/>
              </a:ext>
            </a:extLst>
          </p:cNvPr>
          <p:cNvCxnSpPr>
            <a:cxnSpLocks/>
          </p:cNvCxnSpPr>
          <p:nvPr/>
        </p:nvCxnSpPr>
        <p:spPr>
          <a:xfrm flipV="1">
            <a:off x="4596913" y="1844824"/>
            <a:ext cx="0" cy="31214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D10BA1-29AE-0EC1-F930-4B471CCBB44B}"/>
              </a:ext>
            </a:extLst>
          </p:cNvPr>
          <p:cNvSpPr/>
          <p:nvPr/>
        </p:nvSpPr>
        <p:spPr>
          <a:xfrm>
            <a:off x="4650201" y="5470925"/>
            <a:ext cx="4148162" cy="1345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B7565-6D67-3267-B783-9DB43B89DF19}"/>
              </a:ext>
            </a:extLst>
          </p:cNvPr>
          <p:cNvSpPr txBox="1"/>
          <p:nvPr/>
        </p:nvSpPr>
        <p:spPr>
          <a:xfrm>
            <a:off x="330862" y="155679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4B7ED3-8FFE-48A6-9B15-EBF881FFD09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2BA0B32-4B85-4F8D-B722-F678110D0AB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 to Extension Q2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8ABBC4-3EAF-42AC-B893-E41E75A72FF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F65D5D-BB81-4A17-BF00-E0FD8170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56" y="2679811"/>
            <a:ext cx="6696744" cy="40856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8B466-5F61-458A-B7C3-0FAD0A7E4BF2}"/>
                  </a:ext>
                </a:extLst>
              </p:cNvPr>
              <p:cNvSpPr txBox="1"/>
              <p:nvPr/>
            </p:nvSpPr>
            <p:spPr>
              <a:xfrm>
                <a:off x="750702" y="839250"/>
                <a:ext cx="7781737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[AEA 2010 Q2]</a:t>
                </a:r>
              </a:p>
              <a:p>
                <a:r>
                  <a:rPr lang="en-GB" sz="1400" dirty="0"/>
                  <a:t>The sum of the first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terms of an arithmetic series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and the sum of the first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terms of the same arithmetic series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are positive integers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Giving simplified answers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, find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common different of the terms in this series,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first term of the series,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The sum of the first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400" dirty="0"/>
                  <a:t> terms of the series.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8B466-5F61-458A-B7C3-0FAD0A7E4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02" y="839250"/>
                <a:ext cx="7781737" cy="1600438"/>
              </a:xfrm>
              <a:prstGeom prst="rect">
                <a:avLst/>
              </a:prstGeom>
              <a:blipFill>
                <a:blip r:embed="rId3"/>
                <a:stretch>
                  <a:fillRect l="-235" t="-763" b="-3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91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7E9CAED-39AE-BBD3-F996-7881BCDF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885825"/>
            <a:ext cx="75247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6BB79C1-62EB-A0F0-A275-2B2ADE1BE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38212"/>
            <a:ext cx="76962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CC92D4B-0084-B77C-3BE3-63016461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081087"/>
            <a:ext cx="78581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D163-F479-872A-3936-6BF1C693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F8A178-3145-2328-5165-7CCCFBDFF5A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4DC1381-B357-5AC9-D874-5ACF0EA050F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6CFF43E-E682-94F0-ECB7-5083404051C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D035DD9-2DA9-06D8-D782-79AC92D86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78" y="847725"/>
            <a:ext cx="80391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7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B0F98C1-2ACB-2E39-DB9D-3B4649CD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5" y="786133"/>
            <a:ext cx="873442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1088</Words>
  <Application>Microsoft Office PowerPoint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P2 Chapter 3: Sequences and Series  Arithmetic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