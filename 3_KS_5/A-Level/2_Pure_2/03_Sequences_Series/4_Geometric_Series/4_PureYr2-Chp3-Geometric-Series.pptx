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93" r:id="rId6"/>
    <p:sldId id="594" r:id="rId7"/>
    <p:sldId id="592" r:id="rId8"/>
    <p:sldId id="624" r:id="rId9"/>
    <p:sldId id="549" r:id="rId10"/>
    <p:sldId id="543" r:id="rId11"/>
    <p:sldId id="550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custSel delSld modSld">
      <pc:chgData name="Dieter Beaven" userId="9bbdb69f-69d0-4759-aa9b-5c090a2da237" providerId="ADAL" clId="{AF4429DE-69D1-4CF8-841D-B9C26A2A5A21}" dt="2025-10-23T10:50:24.003" v="6" actId="1076"/>
      <pc:docMkLst>
        <pc:docMk/>
      </pc:docMkLst>
      <pc:sldChg chg="addSp delSp modSp mod">
        <pc:chgData name="Dieter Beaven" userId="9bbdb69f-69d0-4759-aa9b-5c090a2da237" providerId="ADAL" clId="{AF4429DE-69D1-4CF8-841D-B9C26A2A5A21}" dt="2025-10-23T10:50:24.003" v="6" actId="1076"/>
        <pc:sldMkLst>
          <pc:docMk/>
          <pc:sldMk cId="3458699803" sldId="545"/>
        </pc:sldMkLst>
        <pc:picChg chg="add del mod">
          <ac:chgData name="Dieter Beaven" userId="9bbdb69f-69d0-4759-aa9b-5c090a2da237" providerId="ADAL" clId="{AF4429DE-69D1-4CF8-841D-B9C26A2A5A21}" dt="2025-10-23T10:49:45.450" v="4" actId="478"/>
          <ac:picMkLst>
            <pc:docMk/>
            <pc:sldMk cId="3458699803" sldId="545"/>
            <ac:picMk id="6" creationId="{32F3DBD7-0E1F-61AA-1ACB-0FF355D4A8EC}"/>
          </ac:picMkLst>
        </pc:picChg>
        <pc:picChg chg="add mod">
          <ac:chgData name="Dieter Beaven" userId="9bbdb69f-69d0-4759-aa9b-5c090a2da237" providerId="ADAL" clId="{AF4429DE-69D1-4CF8-841D-B9C26A2A5A21}" dt="2025-10-23T10:50:24.003" v="6" actId="1076"/>
          <ac:picMkLst>
            <pc:docMk/>
            <pc:sldMk cId="3458699803" sldId="545"/>
            <ac:picMk id="8" creationId="{39BD5BBC-8C2B-B315-8D0A-55F5456E44AE}"/>
          </ac:picMkLst>
        </pc:picChg>
      </pc:sldChg>
      <pc:sldChg chg="del">
        <pc:chgData name="Dieter Beaven" userId="9bbdb69f-69d0-4759-aa9b-5c090a2da237" providerId="ADAL" clId="{AF4429DE-69D1-4CF8-841D-B9C26A2A5A21}" dt="2025-10-23T10:49:32.019" v="2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AF4429DE-69D1-4CF8-841D-B9C26A2A5A21}" dt="2025-10-23T10:49:33.245" v="3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D0BBCFF-0C0F-4384-B407-A5B6D0F77CF3}"/>
    <pc:docChg chg="modSld">
      <pc:chgData name="Dieter Beaven" userId="9bbdb69f-69d0-4759-aa9b-5c090a2da237" providerId="ADAL" clId="{2D0BBCFF-0C0F-4384-B407-A5B6D0F77CF3}" dt="2025-08-27T10:27:16.793" v="3" actId="1076"/>
      <pc:docMkLst>
        <pc:docMk/>
      </pc:docMkLst>
      <pc:sldChg chg="addSp modSp mod">
        <pc:chgData name="Dieter Beaven" userId="9bbdb69f-69d0-4759-aa9b-5c090a2da237" providerId="ADAL" clId="{2D0BBCFF-0C0F-4384-B407-A5B6D0F77CF3}" dt="2025-08-27T10:26:09.095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2D0BBCFF-0C0F-4384-B407-A5B6D0F77CF3}" dt="2025-08-27T10:27:16.793" v="3" actId="1076"/>
        <pc:sldMkLst>
          <pc:docMk/>
          <pc:sldMk cId="4091202299" sldId="550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C067D407-4ACC-4C66-80A7-7D24FF736649}"/>
    <pc:docChg chg="addSld delSld modSld">
      <pc:chgData name="Dieter Beaven" userId="9bbdb69f-69d0-4759-aa9b-5c090a2da237" providerId="ADAL" clId="{C067D407-4ACC-4C66-80A7-7D24FF736649}" dt="2025-05-20T14:09:03.768" v="24" actId="6549"/>
      <pc:docMkLst>
        <pc:docMk/>
      </pc:docMkLst>
      <pc:sldChg chg="modSp mod">
        <pc:chgData name="Dieter Beaven" userId="9bbdb69f-69d0-4759-aa9b-5c090a2da237" providerId="ADAL" clId="{C067D407-4ACC-4C66-80A7-7D24FF736649}" dt="2025-05-20T14:08:34.068" v="18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C067D407-4ACC-4C66-80A7-7D24FF736649}" dt="2025-05-20T14:09:03.768" v="24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C067D407-4ACC-4C66-80A7-7D24FF736649}" dt="2025-05-20T14:08:44.722" v="19"/>
        <pc:sldMkLst>
          <pc:docMk/>
          <pc:sldMk cId="4080032766" sldId="592"/>
        </pc:sldMkLst>
      </pc:sldChg>
      <pc:sldChg chg="add">
        <pc:chgData name="Dieter Beaven" userId="9bbdb69f-69d0-4759-aa9b-5c090a2da237" providerId="ADAL" clId="{C067D407-4ACC-4C66-80A7-7D24FF736649}" dt="2025-05-20T14:08:44.722" v="19"/>
        <pc:sldMkLst>
          <pc:docMk/>
          <pc:sldMk cId="4080580602" sldId="593"/>
        </pc:sldMkLst>
      </pc:sldChg>
      <pc:sldChg chg="add">
        <pc:chgData name="Dieter Beaven" userId="9bbdb69f-69d0-4759-aa9b-5c090a2da237" providerId="ADAL" clId="{C067D407-4ACC-4C66-80A7-7D24FF736649}" dt="2025-05-20T14:08:44.722" v="19"/>
        <pc:sldMkLst>
          <pc:docMk/>
          <pc:sldMk cId="484623466" sldId="594"/>
        </pc:sldMkLst>
      </pc:sldChg>
      <pc:sldChg chg="add del">
        <pc:chgData name="Dieter Beaven" userId="9bbdb69f-69d0-4759-aa9b-5c090a2da237" providerId="ADAL" clId="{C067D407-4ACC-4C66-80A7-7D24FF736649}" dt="2025-05-20T14:08:55.456" v="21" actId="47"/>
        <pc:sldMkLst>
          <pc:docMk/>
          <pc:sldMk cId="827387962" sldId="595"/>
        </pc:sldMkLst>
      </pc:sldChg>
      <pc:sldChg chg="add">
        <pc:chgData name="Dieter Beaven" userId="9bbdb69f-69d0-4759-aa9b-5c090a2da237" providerId="ADAL" clId="{C067D407-4ACC-4C66-80A7-7D24FF736649}" dt="2025-05-20T14:08:44.722" v="19"/>
        <pc:sldMkLst>
          <pc:docMk/>
          <pc:sldMk cId="3889305003" sldId="624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2.png"/><Relationship Id="rId7" Type="http://schemas.openxmlformats.org/officeDocument/2006/relationships/image" Target="../media/image5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1.png"/><Relationship Id="rId5" Type="http://schemas.openxmlformats.org/officeDocument/2006/relationships/image" Target="../media/image491.png"/><Relationship Id="rId4" Type="http://schemas.openxmlformats.org/officeDocument/2006/relationships/image" Target="../media/image48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Geometric Series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Sum of the first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GB" sz="3200" dirty="0"/>
                    <a:t> terms of a geometric </a:t>
                  </a:r>
                  <a:r>
                    <a:rPr lang="en-GB" sz="3200" b="1" dirty="0"/>
                    <a:t>series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80728"/>
            <a:ext cx="3528392" cy="5232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Arithmetic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612" y="980728"/>
            <a:ext cx="3528392" cy="5232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Geometric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1682879"/>
                <a:ext cx="3888432" cy="827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2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82879"/>
                <a:ext cx="3888432" cy="82747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72947" y="1646319"/>
                <a:ext cx="324036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𝑎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947" y="1646319"/>
                <a:ext cx="3240360" cy="9441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335068" y="1682879"/>
            <a:ext cx="2804884" cy="8274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7944" y="1638442"/>
            <a:ext cx="1604504" cy="9441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218" y="3068960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0317" y="3311759"/>
            <a:ext cx="1465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7D53D-AC72-4D0E-9473-DA11495DC943}"/>
                  </a:ext>
                </a:extLst>
              </p:cNvPr>
              <p:cNvSpPr txBox="1"/>
              <p:nvPr/>
            </p:nvSpPr>
            <p:spPr>
              <a:xfrm>
                <a:off x="1619672" y="3311759"/>
                <a:ext cx="6841332" cy="302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2400" b="0" dirty="0"/>
              </a:p>
              <a:p>
                <a:pPr/>
                <a:r>
                  <a:rPr lang="en-GB" sz="2400" dirty="0" err="1"/>
                  <a:t>Mutiplying</a:t>
                </a:r>
                <a:r>
                  <a:rPr lang="en-GB" sz="2400" dirty="0"/>
                  <a:t> by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2400" b="0" dirty="0"/>
                  <a:t>:</a:t>
                </a:r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+…                 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Subtracting: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7D53D-AC72-4D0E-9473-DA11495DC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3311759"/>
                <a:ext cx="6841332" cy="3022687"/>
              </a:xfrm>
              <a:prstGeom prst="rect">
                <a:avLst/>
              </a:prstGeom>
              <a:blipFill>
                <a:blip r:embed="rId5"/>
                <a:stretch>
                  <a:fillRect l="-1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546E01D2-D56E-4F8F-BD7A-BDA19B4DB908}"/>
              </a:ext>
            </a:extLst>
          </p:cNvPr>
          <p:cNvSpPr/>
          <p:nvPr/>
        </p:nvSpPr>
        <p:spPr>
          <a:xfrm>
            <a:off x="1612328" y="3377488"/>
            <a:ext cx="6680772" cy="29725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7CFEA-B4E8-4C9A-880D-FC68AD600CC3}"/>
              </a:ext>
            </a:extLst>
          </p:cNvPr>
          <p:cNvSpPr txBox="1"/>
          <p:nvPr/>
        </p:nvSpPr>
        <p:spPr>
          <a:xfrm>
            <a:off x="6160628" y="6002390"/>
            <a:ext cx="2791600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Exam Note</a:t>
            </a:r>
            <a:r>
              <a:rPr lang="en-GB" sz="1400" dirty="0"/>
              <a:t>: This once came up in an exam. And again is a university interview favourite!</a:t>
            </a:r>
          </a:p>
        </p:txBody>
      </p:sp>
    </p:spTree>
    <p:extLst>
      <p:ext uri="{BB962C8B-B14F-4D97-AF65-F5344CB8AC3E}">
        <p14:creationId xmlns:p14="http://schemas.microsoft.com/office/powerpoint/2010/main" val="408058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39952" y="770253"/>
                <a:ext cx="324036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𝑎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770253"/>
                <a:ext cx="3240360" cy="94416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-10596" y="1916832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53684" y="3049796"/>
                <a:ext cx="42179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3, 6, 12, 24, 48,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84" y="3049796"/>
                <a:ext cx="4217962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36824" y="2132856"/>
            <a:ext cx="7979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Find the sum of the first 10 terms.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915224" y="3052298"/>
                <a:ext cx="42179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𝑎</m:t>
                      </m:r>
                      <m:r>
                        <a:rPr lang="en-GB" sz="2800" b="0" i="1" smtClean="0">
                          <a:latin typeface="Cambria Math"/>
                        </a:rPr>
                        <m:t>=3, </m:t>
                      </m:r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=2, </m:t>
                      </m:r>
                      <m:r>
                        <a:rPr lang="en-GB" sz="2800" b="0" i="1" smtClean="0">
                          <a:latin typeface="Cambria Math"/>
                        </a:rPr>
                        <m:t>𝑛</m:t>
                      </m:r>
                      <m:r>
                        <a:rPr lang="en-GB" sz="2800" b="0" i="1" smtClean="0">
                          <a:latin typeface="Cambria Math"/>
                        </a:rPr>
                        <m:t>=10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3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10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1−2</m:t>
                          </m:r>
                        </m:den>
                      </m:f>
                      <m:r>
                        <a:rPr lang="en-GB" sz="2800" b="0" i="1" smtClean="0">
                          <a:latin typeface="Cambria Math"/>
                        </a:rPr>
                        <m:t>=3069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24" y="3052298"/>
                <a:ext cx="4217962" cy="13849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824" y="4725144"/>
                <a:ext cx="4217962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4, 2,1, 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2800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sz="2800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GB" sz="2800" b="0" i="1" smtClean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24" y="4725144"/>
                <a:ext cx="4217962" cy="8989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15224" y="4735580"/>
                <a:ext cx="4195988" cy="2009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𝑎</m:t>
                      </m:r>
                      <m:r>
                        <a:rPr lang="en-GB" sz="2400" b="0" i="1" smtClean="0">
                          <a:latin typeface="Cambria Math"/>
                        </a:rPr>
                        <m:t>=4, </m:t>
                      </m:r>
                      <m:r>
                        <a:rPr lang="en-GB" sz="2400" b="0" i="1" smtClean="0">
                          <a:latin typeface="Cambria Math"/>
                        </a:rPr>
                        <m:t>𝑟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, </m:t>
                      </m:r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=10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4</m:t>
                          </m:r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20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GB" sz="20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/>
                                    </a:rPr>
                                    <m:t>10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1023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128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24" y="4735580"/>
                <a:ext cx="4195988" cy="200939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H="1">
            <a:off x="-10596" y="4581128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21764" y="3004457"/>
            <a:ext cx="314580" cy="479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8224" y="3033604"/>
            <a:ext cx="314580" cy="479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8344" y="3004457"/>
            <a:ext cx="432048" cy="4792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54" y="3529891"/>
            <a:ext cx="3041418" cy="9099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1764" y="5445224"/>
            <a:ext cx="3041418" cy="12997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4474" y="4935081"/>
            <a:ext cx="314580" cy="479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1921" y="4750437"/>
            <a:ext cx="311107" cy="6637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2311" y="4775200"/>
            <a:ext cx="418318" cy="670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D3B808-B1D0-4031-9310-42FC8D40F67C}"/>
              </a:ext>
            </a:extLst>
          </p:cNvPr>
          <p:cNvSpPr txBox="1"/>
          <p:nvPr/>
        </p:nvSpPr>
        <p:spPr>
          <a:xfrm>
            <a:off x="611560" y="980727"/>
            <a:ext cx="3528392" cy="5232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Geometric Series</a:t>
            </a:r>
          </a:p>
        </p:txBody>
      </p:sp>
    </p:spTree>
    <p:extLst>
      <p:ext uri="{BB962C8B-B14F-4D97-AF65-F5344CB8AC3E}">
        <p14:creationId xmlns:p14="http://schemas.microsoft.com/office/powerpoint/2010/main" val="48462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2AC41AD1-9516-4280-9657-1CE7C594CCA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FBDB4DB-E2E8-41AD-AE66-94E54BEAF68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Harder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4510685-28BC-41F7-817A-D537742FC7B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EF92C3-62E0-417C-B2B7-B60F542C7BD5}"/>
                  </a:ext>
                </a:extLst>
              </p:cNvPr>
              <p:cNvSpPr txBox="1"/>
              <p:nvPr/>
            </p:nvSpPr>
            <p:spPr>
              <a:xfrm>
                <a:off x="306636" y="798612"/>
                <a:ext cx="835292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the least value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400" dirty="0"/>
                  <a:t> such that the sum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1+2+4+8+…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400" dirty="0"/>
                  <a:t> terms would exceed 2 000 000.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EF92C3-62E0-417C-B2B7-B60F542C7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36" y="798612"/>
                <a:ext cx="8352928" cy="830997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BEEABC-C173-4539-B9CB-A998F7B1F876}"/>
                  </a:ext>
                </a:extLst>
              </p:cNvPr>
              <p:cNvSpPr txBox="1"/>
              <p:nvPr/>
            </p:nvSpPr>
            <p:spPr>
              <a:xfrm>
                <a:off x="1946052" y="2132732"/>
                <a:ext cx="3888432" cy="3761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&gt;2 000 000</m:t>
                      </m:r>
                    </m:oMath>
                  </m:oMathPara>
                </a14:m>
                <a:endParaRPr lang="en-GB" sz="2400" b="0" dirty="0"/>
              </a:p>
              <a:p>
                <a:pPr/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&gt;2 000 000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−1&gt;2 000 000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&gt;2 000 001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2000001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&gt;20.9</m:t>
                      </m:r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So 21 terms needed.</a:t>
                </a:r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BEEABC-C173-4539-B9CB-A998F7B1F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052" y="2132732"/>
                <a:ext cx="3888432" cy="3761351"/>
              </a:xfrm>
              <a:prstGeom prst="rect">
                <a:avLst/>
              </a:prstGeom>
              <a:blipFill>
                <a:blip r:embed="rId3"/>
                <a:stretch>
                  <a:fillRect l="-2351" b="-27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59CA96-7D59-405A-B34E-010C8DA51607}"/>
                  </a:ext>
                </a:extLst>
              </p:cNvPr>
              <p:cNvSpPr txBox="1"/>
              <p:nvPr/>
            </p:nvSpPr>
            <p:spPr>
              <a:xfrm>
                <a:off x="5821660" y="4267572"/>
                <a:ext cx="2160240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400" dirty="0"/>
                  <a:t> both sides to cancel out “2 to the power of”.</a:t>
                </a:r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59CA96-7D59-405A-B34E-010C8DA51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60" y="4267572"/>
                <a:ext cx="2160240" cy="523220"/>
              </a:xfrm>
              <a:prstGeom prst="rect">
                <a:avLst/>
              </a:prstGeom>
              <a:blipFill>
                <a:blip r:embed="rId4"/>
                <a:stretch>
                  <a:fillRect l="-279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933CA3-9FB2-4944-90C9-D69427A1C0B0}"/>
              </a:ext>
            </a:extLst>
          </p:cNvPr>
          <p:cNvCxnSpPr>
            <a:stCxn id="7" idx="1"/>
          </p:cNvCxnSpPr>
          <p:nvPr/>
        </p:nvCxnSpPr>
        <p:spPr>
          <a:xfrm flipH="1">
            <a:off x="4978400" y="4529182"/>
            <a:ext cx="843260" cy="284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62A697-C802-4852-876A-650F0E1BADC5}"/>
              </a:ext>
            </a:extLst>
          </p:cNvPr>
          <p:cNvSpPr/>
          <p:nvPr/>
        </p:nvSpPr>
        <p:spPr>
          <a:xfrm>
            <a:off x="1441996" y="2017651"/>
            <a:ext cx="6539904" cy="10430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64D5D-DA20-422E-83B1-F8956BF49E82}"/>
              </a:ext>
            </a:extLst>
          </p:cNvPr>
          <p:cNvSpPr/>
          <p:nvPr/>
        </p:nvSpPr>
        <p:spPr>
          <a:xfrm>
            <a:off x="1441996" y="3060700"/>
            <a:ext cx="6539904" cy="29484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003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CEDC5B0E-502E-48C8-84E8-866C8B88CFF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4A26E68-B835-47FA-92F2-F78FAAAFFB5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689840-1207-4DBB-B651-FC22D6891E3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1F208E-E8D3-4AC2-A529-0F51980D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5" y="1135062"/>
            <a:ext cx="6179096" cy="21587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0E704-AF49-4DA8-983B-CE259D136E21}"/>
              </a:ext>
            </a:extLst>
          </p:cNvPr>
          <p:cNvSpPr txBox="1"/>
          <p:nvPr/>
        </p:nvSpPr>
        <p:spPr>
          <a:xfrm>
            <a:off x="324092" y="743620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June 2011 Q6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B23E6-74DB-4ABE-9632-F2A9A13D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468196"/>
            <a:ext cx="5568776" cy="33683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70AD4D-B7A3-45CD-9378-E4E3F63E43E6}"/>
              </a:ext>
            </a:extLst>
          </p:cNvPr>
          <p:cNvSpPr/>
          <p:nvPr/>
        </p:nvSpPr>
        <p:spPr>
          <a:xfrm>
            <a:off x="1461046" y="3465452"/>
            <a:ext cx="5330279" cy="8684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146E9E-6D39-4D2F-95F0-317642D8EE4A}"/>
              </a:ext>
            </a:extLst>
          </p:cNvPr>
          <p:cNvSpPr/>
          <p:nvPr/>
        </p:nvSpPr>
        <p:spPr>
          <a:xfrm>
            <a:off x="1461542" y="4333876"/>
            <a:ext cx="5330279" cy="7143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4DCA2-7287-4064-A862-F285B4BCBFD7}"/>
              </a:ext>
            </a:extLst>
          </p:cNvPr>
          <p:cNvSpPr/>
          <p:nvPr/>
        </p:nvSpPr>
        <p:spPr>
          <a:xfrm>
            <a:off x="1461046" y="5048250"/>
            <a:ext cx="5330279" cy="17882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930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3.4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Pages 21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51CD37-1274-32C6-3937-2B9113DDC2C4}"/>
              </a:ext>
            </a:extLst>
          </p:cNvPr>
          <p:cNvSpPr txBox="1"/>
          <p:nvPr/>
        </p:nvSpPr>
        <p:spPr>
          <a:xfrm>
            <a:off x="395536" y="18448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DCAF84-8C9C-AE01-E10C-DEFD52030971}"/>
                  </a:ext>
                </a:extLst>
              </p:cNvPr>
              <p:cNvSpPr txBox="1"/>
              <p:nvPr/>
            </p:nvSpPr>
            <p:spPr>
              <a:xfrm>
                <a:off x="497259" y="2215530"/>
                <a:ext cx="3779687" cy="3247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2010 1B]</a:t>
                </a:r>
              </a:p>
              <a:p>
                <a:r>
                  <a:rPr lang="en-GB" dirty="0"/>
                  <a:t>The sum of the first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terms of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1, 1, 2,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4,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,8,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,16,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is</a:t>
                </a:r>
              </a:p>
              <a:p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3−2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DCAF84-8C9C-AE01-E10C-DEFD52030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59" y="2215530"/>
                <a:ext cx="3779687" cy="3247940"/>
              </a:xfrm>
              <a:prstGeom prst="rect">
                <a:avLst/>
              </a:prstGeom>
              <a:blipFill>
                <a:blip r:embed="rId2"/>
                <a:stretch>
                  <a:fillRect l="-1452" t="-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1A9A5FDC-E776-84F5-8B3D-78457AEB16DF}"/>
              </a:ext>
            </a:extLst>
          </p:cNvPr>
          <p:cNvSpPr/>
          <p:nvPr/>
        </p:nvSpPr>
        <p:spPr>
          <a:xfrm>
            <a:off x="216998" y="2301255"/>
            <a:ext cx="231496" cy="2415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93E7A1-8FDD-6A67-2B25-BE6990E75F3D}"/>
                  </a:ext>
                </a:extLst>
              </p:cNvPr>
              <p:cNvSpPr txBox="1"/>
              <p:nvPr/>
            </p:nvSpPr>
            <p:spPr>
              <a:xfrm>
                <a:off x="4571428" y="2301255"/>
                <a:ext cx="4249044" cy="3066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There are interleaved sequences. If we want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600" b="1" dirty="0"/>
                  <a:t> terms, we want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600" b="1" dirty="0"/>
                  <a:t> terms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600" b="1" dirty="0"/>
                  <a:t> terms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For first sequence: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For second sequence: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  <a:p>
                <a:r>
                  <a:rPr lang="en-GB" sz="1600" b="1" dirty="0"/>
                  <a:t>Therefore the sum of both is (A).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93E7A1-8FDD-6A67-2B25-BE6990E75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2301255"/>
                <a:ext cx="4249044" cy="3066673"/>
              </a:xfrm>
              <a:prstGeom prst="rect">
                <a:avLst/>
              </a:prstGeom>
              <a:blipFill>
                <a:blip r:embed="rId3"/>
                <a:stretch>
                  <a:fillRect l="-861" t="-596" b="-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7460C9C-1D88-844A-377A-6DC062D18D01}"/>
              </a:ext>
            </a:extLst>
          </p:cNvPr>
          <p:cNvSpPr/>
          <p:nvPr/>
        </p:nvSpPr>
        <p:spPr>
          <a:xfrm>
            <a:off x="4305300" y="2155824"/>
            <a:ext cx="4571950" cy="3406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22E2CC6-431F-1C78-9235-C0E9CAAE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" y="836712"/>
            <a:ext cx="7848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E96FEB6-25A4-37BD-2B5E-43877204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980728"/>
            <a:ext cx="77343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9BD5BBC-8C2B-B315-8D0A-55F5456E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03" y="1124744"/>
            <a:ext cx="80962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425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3: Sequences and Series  Geometric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