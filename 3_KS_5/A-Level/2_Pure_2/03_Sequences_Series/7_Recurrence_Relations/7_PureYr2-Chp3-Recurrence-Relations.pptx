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8"/>
  </p:notesMasterIdLst>
  <p:sldIdLst>
    <p:sldId id="547" r:id="rId5"/>
    <p:sldId id="609" r:id="rId6"/>
    <p:sldId id="610" r:id="rId7"/>
    <p:sldId id="611" r:id="rId8"/>
    <p:sldId id="549" r:id="rId9"/>
    <p:sldId id="613" r:id="rId10"/>
    <p:sldId id="614" r:id="rId11"/>
    <p:sldId id="543" r:id="rId12"/>
    <p:sldId id="550" r:id="rId13"/>
    <p:sldId id="551" r:id="rId14"/>
    <p:sldId id="615" r:id="rId15"/>
    <p:sldId id="545" r:id="rId16"/>
    <p:sldId id="552"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812" autoAdjust="0"/>
    <p:restoredTop sz="88534" autoAdjust="0"/>
  </p:normalViewPr>
  <p:slideViewPr>
    <p:cSldViewPr>
      <p:cViewPr varScale="1">
        <p:scale>
          <a:sx n="125" d="100"/>
          <a:sy n="125" d="100"/>
        </p:scale>
        <p:origin x="1128" y="138"/>
      </p:cViewPr>
      <p:guideLst>
        <p:guide orient="horz" pos="2160"/>
        <p:guide pos="2880"/>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eter Beaven" userId="9bbdb69f-69d0-4759-aa9b-5c090a2da237" providerId="ADAL" clId="{3736D5E5-739F-49F8-8648-95658EB5771D}"/>
    <pc:docChg chg="undo custSel delSld modSld">
      <pc:chgData name="Dieter Beaven" userId="9bbdb69f-69d0-4759-aa9b-5c090a2da237" providerId="ADAL" clId="{3736D5E5-739F-49F8-8648-95658EB5771D}" dt="2024-09-20T16:27:38.428" v="45" actId="20577"/>
      <pc:docMkLst>
        <pc:docMk/>
      </pc:docMkLst>
      <pc:sldChg chg="modSp">
        <pc:chgData name="Dieter Beaven" userId="9bbdb69f-69d0-4759-aa9b-5c090a2da237" providerId="ADAL" clId="{3736D5E5-739F-49F8-8648-95658EB5771D}" dt="2024-09-20T16:27:38.428" v="45" actId="20577"/>
        <pc:sldMkLst>
          <pc:docMk/>
          <pc:sldMk cId="1020239277" sldId="484"/>
        </pc:sldMkLst>
      </pc:sldChg>
      <pc:sldChg chg="del">
        <pc:chgData name="Dieter Beaven" userId="9bbdb69f-69d0-4759-aa9b-5c090a2da237" providerId="ADAL" clId="{3736D5E5-739F-49F8-8648-95658EB5771D}" dt="2024-09-17T16:12:19.708" v="5" actId="47"/>
        <pc:sldMkLst>
          <pc:docMk/>
          <pc:sldMk cId="2097919484" sldId="503"/>
        </pc:sldMkLst>
      </pc:sldChg>
      <pc:sldChg chg="addSp delSp modSp mod addAnim delAnim">
        <pc:chgData name="Dieter Beaven" userId="9bbdb69f-69d0-4759-aa9b-5c090a2da237" providerId="ADAL" clId="{3736D5E5-739F-49F8-8648-95658EB5771D}" dt="2024-09-20T16:26:58.661" v="27" actId="1076"/>
        <pc:sldMkLst>
          <pc:docMk/>
          <pc:sldMk cId="2811694845" sldId="513"/>
        </pc:sldMkLst>
      </pc:sldChg>
      <pc:sldChg chg="del">
        <pc:chgData name="Dieter Beaven" userId="9bbdb69f-69d0-4759-aa9b-5c090a2da237" providerId="ADAL" clId="{3736D5E5-739F-49F8-8648-95658EB5771D}" dt="2024-09-17T16:12:18.145" v="1" actId="47"/>
        <pc:sldMkLst>
          <pc:docMk/>
          <pc:sldMk cId="3587264838" sldId="515"/>
        </pc:sldMkLst>
      </pc:sldChg>
      <pc:sldChg chg="del">
        <pc:chgData name="Dieter Beaven" userId="9bbdb69f-69d0-4759-aa9b-5c090a2da237" providerId="ADAL" clId="{3736D5E5-739F-49F8-8648-95658EB5771D}" dt="2024-09-17T16:12:18.486" v="2" actId="47"/>
        <pc:sldMkLst>
          <pc:docMk/>
          <pc:sldMk cId="1162890895" sldId="516"/>
        </pc:sldMkLst>
      </pc:sldChg>
      <pc:sldChg chg="del">
        <pc:chgData name="Dieter Beaven" userId="9bbdb69f-69d0-4759-aa9b-5c090a2da237" providerId="ADAL" clId="{3736D5E5-739F-49F8-8648-95658EB5771D}" dt="2024-09-17T16:12:19.107" v="3" actId="47"/>
        <pc:sldMkLst>
          <pc:docMk/>
          <pc:sldMk cId="2008796709" sldId="517"/>
        </pc:sldMkLst>
      </pc:sldChg>
      <pc:sldChg chg="del">
        <pc:chgData name="Dieter Beaven" userId="9bbdb69f-69d0-4759-aa9b-5c090a2da237" providerId="ADAL" clId="{3736D5E5-739F-49F8-8648-95658EB5771D}" dt="2024-09-17T16:12:19.696" v="4" actId="47"/>
        <pc:sldMkLst>
          <pc:docMk/>
          <pc:sldMk cId="3124780132" sldId="518"/>
        </pc:sldMkLst>
      </pc:sldChg>
      <pc:sldChg chg="del">
        <pc:chgData name="Dieter Beaven" userId="9bbdb69f-69d0-4759-aa9b-5c090a2da237" providerId="ADAL" clId="{3736D5E5-739F-49F8-8648-95658EB5771D}" dt="2024-09-17T16:12:20.787" v="7" actId="47"/>
        <pc:sldMkLst>
          <pc:docMk/>
          <pc:sldMk cId="3312647161" sldId="519"/>
        </pc:sldMkLst>
      </pc:sldChg>
      <pc:sldChg chg="del">
        <pc:chgData name="Dieter Beaven" userId="9bbdb69f-69d0-4759-aa9b-5c090a2da237" providerId="ADAL" clId="{3736D5E5-739F-49F8-8648-95658EB5771D}" dt="2024-09-17T16:12:21.247" v="8" actId="47"/>
        <pc:sldMkLst>
          <pc:docMk/>
          <pc:sldMk cId="3196817432" sldId="520"/>
        </pc:sldMkLst>
      </pc:sldChg>
      <pc:sldChg chg="del">
        <pc:chgData name="Dieter Beaven" userId="9bbdb69f-69d0-4759-aa9b-5c090a2da237" providerId="ADAL" clId="{3736D5E5-739F-49F8-8648-95658EB5771D}" dt="2024-09-17T16:12:21.260" v="9" actId="47"/>
        <pc:sldMkLst>
          <pc:docMk/>
          <pc:sldMk cId="216391128" sldId="521"/>
        </pc:sldMkLst>
      </pc:sldChg>
      <pc:sldChg chg="del">
        <pc:chgData name="Dieter Beaven" userId="9bbdb69f-69d0-4759-aa9b-5c090a2da237" providerId="ADAL" clId="{3736D5E5-739F-49F8-8648-95658EB5771D}" dt="2024-09-17T16:12:23.138" v="11" actId="47"/>
        <pc:sldMkLst>
          <pc:docMk/>
          <pc:sldMk cId="3052028698" sldId="522"/>
        </pc:sldMkLst>
      </pc:sldChg>
      <pc:sldChg chg="del">
        <pc:chgData name="Dieter Beaven" userId="9bbdb69f-69d0-4759-aa9b-5c090a2da237" providerId="ADAL" clId="{3736D5E5-739F-49F8-8648-95658EB5771D}" dt="2024-09-17T16:12:24.348" v="12" actId="47"/>
        <pc:sldMkLst>
          <pc:docMk/>
          <pc:sldMk cId="623853206" sldId="523"/>
        </pc:sldMkLst>
      </pc:sldChg>
      <pc:sldChg chg="del">
        <pc:chgData name="Dieter Beaven" userId="9bbdb69f-69d0-4759-aa9b-5c090a2da237" providerId="ADAL" clId="{3736D5E5-739F-49F8-8648-95658EB5771D}" dt="2024-09-17T16:12:25.073" v="13" actId="47"/>
        <pc:sldMkLst>
          <pc:docMk/>
          <pc:sldMk cId="280797512" sldId="524"/>
        </pc:sldMkLst>
      </pc:sldChg>
      <pc:sldChg chg="addSp modSp mod">
        <pc:chgData name="Dieter Beaven" userId="9bbdb69f-69d0-4759-aa9b-5c090a2da237" providerId="ADAL" clId="{3736D5E5-739F-49F8-8648-95658EB5771D}" dt="2024-09-20T16:25:21.649" v="17" actId="1035"/>
        <pc:sldMkLst>
          <pc:docMk/>
          <pc:sldMk cId="3896053727" sldId="543"/>
        </pc:sldMkLst>
      </pc:sldChg>
      <pc:sldChg chg="del">
        <pc:chgData name="Dieter Beaven" userId="9bbdb69f-69d0-4759-aa9b-5c090a2da237" providerId="ADAL" clId="{3736D5E5-739F-49F8-8648-95658EB5771D}" dt="2024-09-20T16:25:25.114" v="18" actId="47"/>
        <pc:sldMkLst>
          <pc:docMk/>
          <pc:sldMk cId="446446822" sldId="544"/>
        </pc:sldMkLst>
      </pc:sldChg>
      <pc:sldChg chg="addSp modSp mod">
        <pc:chgData name="Dieter Beaven" userId="9bbdb69f-69d0-4759-aa9b-5c090a2da237" providerId="ADAL" clId="{3736D5E5-739F-49F8-8648-95658EB5771D}" dt="2024-09-20T16:26:14.209" v="20" actId="1076"/>
        <pc:sldMkLst>
          <pc:docMk/>
          <pc:sldMk cId="3458699803" sldId="545"/>
        </pc:sldMkLst>
      </pc:sldChg>
      <pc:sldChg chg="del">
        <pc:chgData name="Dieter Beaven" userId="9bbdb69f-69d0-4759-aa9b-5c090a2da237" providerId="ADAL" clId="{3736D5E5-739F-49F8-8648-95658EB5771D}" dt="2024-09-17T16:12:17.231" v="0" actId="47"/>
        <pc:sldMkLst>
          <pc:docMk/>
          <pc:sldMk cId="4071243651" sldId="548"/>
        </pc:sldMkLst>
      </pc:sldChg>
      <pc:sldChg chg="del">
        <pc:chgData name="Dieter Beaven" userId="9bbdb69f-69d0-4759-aa9b-5c090a2da237" providerId="ADAL" clId="{3736D5E5-739F-49F8-8648-95658EB5771D}" dt="2024-09-17T16:12:20.028" v="6" actId="47"/>
        <pc:sldMkLst>
          <pc:docMk/>
          <pc:sldMk cId="4190994049" sldId="550"/>
        </pc:sldMkLst>
      </pc:sldChg>
      <pc:sldChg chg="del">
        <pc:chgData name="Dieter Beaven" userId="9bbdb69f-69d0-4759-aa9b-5c090a2da237" providerId="ADAL" clId="{3736D5E5-739F-49F8-8648-95658EB5771D}" dt="2024-09-17T16:12:21.650" v="10" actId="47"/>
        <pc:sldMkLst>
          <pc:docMk/>
          <pc:sldMk cId="2915845008" sldId="551"/>
        </pc:sldMkLst>
      </pc:sldChg>
    </pc:docChg>
  </pc:docChgLst>
  <pc:docChgLst>
    <pc:chgData name="Dieter Beaven" userId="9bbdb69f-69d0-4759-aa9b-5c090a2da237" providerId="ADAL" clId="{1C892770-E48D-412B-AA99-7BE3E2823042}"/>
    <pc:docChg chg="custSel addSld delSld modSld">
      <pc:chgData name="Dieter Beaven" userId="9bbdb69f-69d0-4759-aa9b-5c090a2da237" providerId="ADAL" clId="{1C892770-E48D-412B-AA99-7BE3E2823042}" dt="2025-04-24T16:01:51.069" v="48"/>
      <pc:docMkLst>
        <pc:docMk/>
      </pc:docMkLst>
      <pc:sldChg chg="del">
        <pc:chgData name="Dieter Beaven" userId="9bbdb69f-69d0-4759-aa9b-5c090a2da237" providerId="ADAL" clId="{1C892770-E48D-412B-AA99-7BE3E2823042}" dt="2025-04-24T16:01:13.369" v="38" actId="47"/>
        <pc:sldMkLst>
          <pc:docMk/>
          <pc:sldMk cId="1020239277" sldId="484"/>
        </pc:sldMkLst>
      </pc:sldChg>
      <pc:sldChg chg="del">
        <pc:chgData name="Dieter Beaven" userId="9bbdb69f-69d0-4759-aa9b-5c090a2da237" providerId="ADAL" clId="{1C892770-E48D-412B-AA99-7BE3E2823042}" dt="2025-04-24T16:01:14.591" v="39" actId="47"/>
        <pc:sldMkLst>
          <pc:docMk/>
          <pc:sldMk cId="2811694845" sldId="513"/>
        </pc:sldMkLst>
      </pc:sldChg>
      <pc:sldChg chg="del">
        <pc:chgData name="Dieter Beaven" userId="9bbdb69f-69d0-4759-aa9b-5c090a2da237" providerId="ADAL" clId="{1C892770-E48D-412B-AA99-7BE3E2823042}" dt="2025-04-24T16:01:15.393" v="40" actId="47"/>
        <pc:sldMkLst>
          <pc:docMk/>
          <pc:sldMk cId="767054381" sldId="514"/>
        </pc:sldMkLst>
      </pc:sldChg>
      <pc:sldChg chg="delSp mod">
        <pc:chgData name="Dieter Beaven" userId="9bbdb69f-69d0-4759-aa9b-5c090a2da237" providerId="ADAL" clId="{1C892770-E48D-412B-AA99-7BE3E2823042}" dt="2025-04-24T16:01:18.643" v="41" actId="478"/>
        <pc:sldMkLst>
          <pc:docMk/>
          <pc:sldMk cId="3896053727" sldId="543"/>
        </pc:sldMkLst>
      </pc:sldChg>
      <pc:sldChg chg="delSp mod">
        <pc:chgData name="Dieter Beaven" userId="9bbdb69f-69d0-4759-aa9b-5c090a2da237" providerId="ADAL" clId="{1C892770-E48D-412B-AA99-7BE3E2823042}" dt="2025-04-24T16:01:20.187" v="42" actId="478"/>
        <pc:sldMkLst>
          <pc:docMk/>
          <pc:sldMk cId="3458699803" sldId="545"/>
        </pc:sldMkLst>
      </pc:sldChg>
      <pc:sldChg chg="modSp mod">
        <pc:chgData name="Dieter Beaven" userId="9bbdb69f-69d0-4759-aa9b-5c090a2da237" providerId="ADAL" clId="{1C892770-E48D-412B-AA99-7BE3E2823042}" dt="2025-04-24T16:01:06.370" v="37" actId="6549"/>
        <pc:sldMkLst>
          <pc:docMk/>
          <pc:sldMk cId="3991975165" sldId="547"/>
        </pc:sldMkLst>
      </pc:sldChg>
      <pc:sldChg chg="modSp mod">
        <pc:chgData name="Dieter Beaven" userId="9bbdb69f-69d0-4759-aa9b-5c090a2da237" providerId="ADAL" clId="{1C892770-E48D-412B-AA99-7BE3E2823042}" dt="2025-04-24T16:01:42.159" v="45" actId="6549"/>
        <pc:sldMkLst>
          <pc:docMk/>
          <pc:sldMk cId="3055658135" sldId="549"/>
        </pc:sldMkLst>
      </pc:sldChg>
      <pc:sldChg chg="add">
        <pc:chgData name="Dieter Beaven" userId="9bbdb69f-69d0-4759-aa9b-5c090a2da237" providerId="ADAL" clId="{1C892770-E48D-412B-AA99-7BE3E2823042}" dt="2025-04-24T16:01:47.507" v="46"/>
        <pc:sldMkLst>
          <pc:docMk/>
          <pc:sldMk cId="4091202299" sldId="550"/>
        </pc:sldMkLst>
      </pc:sldChg>
      <pc:sldChg chg="add">
        <pc:chgData name="Dieter Beaven" userId="9bbdb69f-69d0-4759-aa9b-5c090a2da237" providerId="ADAL" clId="{1C892770-E48D-412B-AA99-7BE3E2823042}" dt="2025-04-24T16:01:48.048" v="47"/>
        <pc:sldMkLst>
          <pc:docMk/>
          <pc:sldMk cId="3826585799" sldId="551"/>
        </pc:sldMkLst>
      </pc:sldChg>
      <pc:sldChg chg="add">
        <pc:chgData name="Dieter Beaven" userId="9bbdb69f-69d0-4759-aa9b-5c090a2da237" providerId="ADAL" clId="{1C892770-E48D-412B-AA99-7BE3E2823042}" dt="2025-04-24T16:01:51.069" v="48"/>
        <pc:sldMkLst>
          <pc:docMk/>
          <pc:sldMk cId="2531956736" sldId="552"/>
        </pc:sldMkLst>
      </pc:sldChg>
    </pc:docChg>
  </pc:docChgLst>
  <pc:docChgLst>
    <pc:chgData name="Dieter Beaven" userId="S::dbeaven@newsteadwood.co.uk::9bbdb69f-69d0-4759-aa9b-5c090a2da237" providerId="AD" clId="Web-{6BD7071B-32F0-A215-B523-DBD5E937F1B5}"/>
    <pc:docChg chg="modSld">
      <pc:chgData name="Dieter Beaven" userId="S::dbeaven@newsteadwood.co.uk::9bbdb69f-69d0-4759-aa9b-5c090a2da237" providerId="AD" clId="Web-{6BD7071B-32F0-A215-B523-DBD5E937F1B5}" dt="2024-09-23T10:28:21.091" v="1" actId="20577"/>
      <pc:docMkLst>
        <pc:docMk/>
      </pc:docMkLst>
      <pc:sldChg chg="modSp">
        <pc:chgData name="Dieter Beaven" userId="S::dbeaven@newsteadwood.co.uk::9bbdb69f-69d0-4759-aa9b-5c090a2da237" providerId="AD" clId="Web-{6BD7071B-32F0-A215-B523-DBD5E937F1B5}" dt="2024-09-23T10:28:21.091" v="1" actId="20577"/>
        <pc:sldMkLst>
          <pc:docMk/>
          <pc:sldMk cId="3991975165" sldId="547"/>
        </pc:sldMkLst>
      </pc:sldChg>
    </pc:docChg>
  </pc:docChgLst>
  <pc:docChgLst>
    <pc:chgData name="Dieter Beaven" userId="9bbdb69f-69d0-4759-aa9b-5c090a2da237" providerId="ADAL" clId="{D1C57F08-1836-4DC6-AA47-EC8868992E27}"/>
    <pc:docChg chg="modSld">
      <pc:chgData name="Dieter Beaven" userId="9bbdb69f-69d0-4759-aa9b-5c090a2da237" providerId="ADAL" clId="{D1C57F08-1836-4DC6-AA47-EC8868992E27}" dt="2025-05-20T14:53:13.933" v="28" actId="20577"/>
      <pc:docMkLst>
        <pc:docMk/>
      </pc:docMkLst>
      <pc:sldChg chg="modSp mod">
        <pc:chgData name="Dieter Beaven" userId="9bbdb69f-69d0-4759-aa9b-5c090a2da237" providerId="ADAL" clId="{D1C57F08-1836-4DC6-AA47-EC8868992E27}" dt="2025-05-20T14:52:34.911" v="22" actId="20577"/>
        <pc:sldMkLst>
          <pc:docMk/>
          <pc:sldMk cId="3991975165" sldId="547"/>
        </pc:sldMkLst>
      </pc:sldChg>
      <pc:sldChg chg="modSp mod">
        <pc:chgData name="Dieter Beaven" userId="9bbdb69f-69d0-4759-aa9b-5c090a2da237" providerId="ADAL" clId="{D1C57F08-1836-4DC6-AA47-EC8868992E27}" dt="2025-05-20T14:53:13.933" v="28" actId="20577"/>
        <pc:sldMkLst>
          <pc:docMk/>
          <pc:sldMk cId="3055658135" sldId="549"/>
        </pc:sldMkLst>
      </pc:sldChg>
      <pc:sldChg chg="modSp">
        <pc:chgData name="Dieter Beaven" userId="9bbdb69f-69d0-4759-aa9b-5c090a2da237" providerId="ADAL" clId="{D1C57F08-1836-4DC6-AA47-EC8868992E27}" dt="2025-05-20T14:52:46.297" v="23" actId="20577"/>
        <pc:sldMkLst>
          <pc:docMk/>
          <pc:sldMk cId="1665678923" sldId="609"/>
        </pc:sldMkLst>
      </pc:sldChg>
      <pc:sldChg chg="modSp">
        <pc:chgData name="Dieter Beaven" userId="9bbdb69f-69d0-4759-aa9b-5c090a2da237" providerId="ADAL" clId="{D1C57F08-1836-4DC6-AA47-EC8868992E27}" dt="2025-05-20T14:52:53.995" v="27" actId="20577"/>
        <pc:sldMkLst>
          <pc:docMk/>
          <pc:sldMk cId="1094116920" sldId="610"/>
        </pc:sldMkLst>
      </pc:sldChg>
    </pc:docChg>
  </pc:docChgLst>
  <pc:docChgLst>
    <pc:chgData name="Dieter Beaven" userId="9bbdb69f-69d0-4759-aa9b-5c090a2da237" providerId="ADAL" clId="{9D425F22-416C-4F44-A282-D7FAB5F5CE93}"/>
    <pc:docChg chg="modSld">
      <pc:chgData name="Dieter Beaven" userId="9bbdb69f-69d0-4759-aa9b-5c090a2da237" providerId="ADAL" clId="{9D425F22-416C-4F44-A282-D7FAB5F5CE93}" dt="2025-04-25T15:29:48.921" v="3" actId="20577"/>
      <pc:docMkLst>
        <pc:docMk/>
      </pc:docMkLst>
      <pc:sldChg chg="modSp mod">
        <pc:chgData name="Dieter Beaven" userId="9bbdb69f-69d0-4759-aa9b-5c090a2da237" providerId="ADAL" clId="{9D425F22-416C-4F44-A282-D7FAB5F5CE93}" dt="2025-04-25T15:29:45.609" v="1" actId="20577"/>
        <pc:sldMkLst>
          <pc:docMk/>
          <pc:sldMk cId="3991975165" sldId="547"/>
        </pc:sldMkLst>
      </pc:sldChg>
      <pc:sldChg chg="modSp mod">
        <pc:chgData name="Dieter Beaven" userId="9bbdb69f-69d0-4759-aa9b-5c090a2da237" providerId="ADAL" clId="{9D425F22-416C-4F44-A282-D7FAB5F5CE93}" dt="2025-04-25T15:29:48.921" v="3" actId="20577"/>
        <pc:sldMkLst>
          <pc:docMk/>
          <pc:sldMk cId="3055658135" sldId="549"/>
        </pc:sldMkLst>
      </pc:sldChg>
    </pc:docChg>
  </pc:docChgLst>
  <pc:docChgLst>
    <pc:chgData name="Dieter Beaven" userId="9bbdb69f-69d0-4759-aa9b-5c090a2da237" providerId="ADAL" clId="{5BC22596-4F92-4FA2-85D4-CE6A6FE2A641}"/>
    <pc:docChg chg="custSel addSld modSld">
      <pc:chgData name="Dieter Beaven" userId="9bbdb69f-69d0-4759-aa9b-5c090a2da237" providerId="ADAL" clId="{5BC22596-4F92-4FA2-85D4-CE6A6FE2A641}" dt="2024-09-17T16:11:36.921" v="3" actId="478"/>
      <pc:docMkLst>
        <pc:docMk/>
      </pc:docMkLst>
      <pc:sldChg chg="delSp add mod">
        <pc:chgData name="Dieter Beaven" userId="9bbdb69f-69d0-4759-aa9b-5c090a2da237" providerId="ADAL" clId="{5BC22596-4F92-4FA2-85D4-CE6A6FE2A641}" dt="2024-09-17T16:11:36.921" v="3" actId="478"/>
        <pc:sldMkLst>
          <pc:docMk/>
          <pc:sldMk cId="3896053727" sldId="543"/>
        </pc:sldMkLst>
      </pc:sldChg>
      <pc:sldChg chg="delSp add mod">
        <pc:chgData name="Dieter Beaven" userId="9bbdb69f-69d0-4759-aa9b-5c090a2da237" providerId="ADAL" clId="{5BC22596-4F92-4FA2-85D4-CE6A6FE2A641}" dt="2024-09-17T16:11:35.672" v="2" actId="478"/>
        <pc:sldMkLst>
          <pc:docMk/>
          <pc:sldMk cId="446446822" sldId="544"/>
        </pc:sldMkLst>
      </pc:sldChg>
      <pc:sldChg chg="delSp add mod">
        <pc:chgData name="Dieter Beaven" userId="9bbdb69f-69d0-4759-aa9b-5c090a2da237" providerId="ADAL" clId="{5BC22596-4F92-4FA2-85D4-CE6A6FE2A641}" dt="2024-09-17T16:11:34.191" v="1" actId="478"/>
        <pc:sldMkLst>
          <pc:docMk/>
          <pc:sldMk cId="3458699803" sldId="545"/>
        </pc:sldMkLst>
      </pc:sldChg>
    </pc:docChg>
  </pc:docChgLst>
  <pc:docChgLst>
    <pc:chgData name="Dieter Beaven" userId="9bbdb69f-69d0-4759-aa9b-5c090a2da237" providerId="ADAL" clId="{AF4429DE-69D1-4CF8-841D-B9C26A2A5A21}"/>
    <pc:docChg chg="modSld">
      <pc:chgData name="Dieter Beaven" userId="9bbdb69f-69d0-4759-aa9b-5c090a2da237" providerId="ADAL" clId="{AF4429DE-69D1-4CF8-841D-B9C26A2A5A21}" dt="2025-10-23T10:58:16.546" v="6" actId="1038"/>
      <pc:docMkLst>
        <pc:docMk/>
      </pc:docMkLst>
      <pc:sldChg chg="addSp modSp mod">
        <pc:chgData name="Dieter Beaven" userId="9bbdb69f-69d0-4759-aa9b-5c090a2da237" providerId="ADAL" clId="{AF4429DE-69D1-4CF8-841D-B9C26A2A5A21}" dt="2025-10-23T10:57:10.770" v="1" actId="1076"/>
        <pc:sldMkLst>
          <pc:docMk/>
          <pc:sldMk cId="3458699803" sldId="545"/>
        </pc:sldMkLst>
        <pc:picChg chg="add mod">
          <ac:chgData name="Dieter Beaven" userId="9bbdb69f-69d0-4759-aa9b-5c090a2da237" providerId="ADAL" clId="{AF4429DE-69D1-4CF8-841D-B9C26A2A5A21}" dt="2025-10-23T10:57:10.770" v="1" actId="1076"/>
          <ac:picMkLst>
            <pc:docMk/>
            <pc:sldMk cId="3458699803" sldId="545"/>
            <ac:picMk id="6" creationId="{709DAD9B-18FE-E8DD-B714-4B5772E8EF5B}"/>
          </ac:picMkLst>
        </pc:picChg>
      </pc:sldChg>
      <pc:sldChg chg="addSp modSp mod">
        <pc:chgData name="Dieter Beaven" userId="9bbdb69f-69d0-4759-aa9b-5c090a2da237" providerId="ADAL" clId="{AF4429DE-69D1-4CF8-841D-B9C26A2A5A21}" dt="2025-10-23T10:58:16.546" v="6" actId="1038"/>
        <pc:sldMkLst>
          <pc:docMk/>
          <pc:sldMk cId="2531956736" sldId="552"/>
        </pc:sldMkLst>
        <pc:picChg chg="add mod">
          <ac:chgData name="Dieter Beaven" userId="9bbdb69f-69d0-4759-aa9b-5c090a2da237" providerId="ADAL" clId="{AF4429DE-69D1-4CF8-841D-B9C26A2A5A21}" dt="2025-10-23T10:58:16.546" v="6" actId="1038"/>
          <ac:picMkLst>
            <pc:docMk/>
            <pc:sldMk cId="2531956736" sldId="552"/>
            <ac:picMk id="6" creationId="{0E276FBD-2DD5-6204-343E-B6DDEDD663B0}"/>
          </ac:picMkLst>
        </pc:picChg>
      </pc:sldChg>
    </pc:docChg>
  </pc:docChgLst>
  <pc:docChgLst>
    <pc:chgData name="Dieter Beaven" userId="9bbdb69f-69d0-4759-aa9b-5c090a2da237" providerId="ADAL" clId="{2A5AE0E2-2788-4AA7-8B3C-A04471EF5D14}"/>
    <pc:docChg chg="custSel addSld delSld modSld">
      <pc:chgData name="Dieter Beaven" userId="9bbdb69f-69d0-4759-aa9b-5c090a2da237" providerId="ADAL" clId="{2A5AE0E2-2788-4AA7-8B3C-A04471EF5D14}" dt="2024-09-17T16:09:35.830" v="251" actId="47"/>
      <pc:docMkLst>
        <pc:docMk/>
      </pc:docMkLst>
      <pc:sldChg chg="del">
        <pc:chgData name="Dieter Beaven" userId="9bbdb69f-69d0-4759-aa9b-5c090a2da237" providerId="ADAL" clId="{2A5AE0E2-2788-4AA7-8B3C-A04471EF5D14}" dt="2024-09-17T16:01:05.070" v="1" actId="47"/>
        <pc:sldMkLst>
          <pc:docMk/>
          <pc:sldMk cId="2913017854" sldId="481"/>
        </pc:sldMkLst>
      </pc:sldChg>
      <pc:sldChg chg="del">
        <pc:chgData name="Dieter Beaven" userId="9bbdb69f-69d0-4759-aa9b-5c090a2da237" providerId="ADAL" clId="{2A5AE0E2-2788-4AA7-8B3C-A04471EF5D14}" dt="2024-09-17T16:01:10.136" v="3" actId="47"/>
        <pc:sldMkLst>
          <pc:docMk/>
          <pc:sldMk cId="3808051470" sldId="483"/>
        </pc:sldMkLst>
      </pc:sldChg>
      <pc:sldChg chg="modSp mod">
        <pc:chgData name="Dieter Beaven" userId="9bbdb69f-69d0-4759-aa9b-5c090a2da237" providerId="ADAL" clId="{2A5AE0E2-2788-4AA7-8B3C-A04471EF5D14}" dt="2024-09-17T16:06:58.646" v="119" actId="6549"/>
        <pc:sldMkLst>
          <pc:docMk/>
          <pc:sldMk cId="2097919484" sldId="503"/>
        </pc:sldMkLst>
      </pc:sldChg>
      <pc:sldChg chg="modSp mod">
        <pc:chgData name="Dieter Beaven" userId="9bbdb69f-69d0-4759-aa9b-5c090a2da237" providerId="ADAL" clId="{2A5AE0E2-2788-4AA7-8B3C-A04471EF5D14}" dt="2024-09-17T16:08:22.961" v="181" actId="20577"/>
        <pc:sldMkLst>
          <pc:docMk/>
          <pc:sldMk cId="216391128" sldId="521"/>
        </pc:sldMkLst>
      </pc:sldChg>
      <pc:sldChg chg="modSp mod">
        <pc:chgData name="Dieter Beaven" userId="9bbdb69f-69d0-4759-aa9b-5c090a2da237" providerId="ADAL" clId="{2A5AE0E2-2788-4AA7-8B3C-A04471EF5D14}" dt="2024-09-17T16:09:15.811" v="250" actId="20577"/>
        <pc:sldMkLst>
          <pc:docMk/>
          <pc:sldMk cId="280797512" sldId="524"/>
        </pc:sldMkLst>
      </pc:sldChg>
      <pc:sldChg chg="del">
        <pc:chgData name="Dieter Beaven" userId="9bbdb69f-69d0-4759-aa9b-5c090a2da237" providerId="ADAL" clId="{2A5AE0E2-2788-4AA7-8B3C-A04471EF5D14}" dt="2024-09-17T16:09:35.830" v="251" actId="47"/>
        <pc:sldMkLst>
          <pc:docMk/>
          <pc:sldMk cId="2491822179" sldId="525"/>
        </pc:sldMkLst>
      </pc:sldChg>
      <pc:sldChg chg="del">
        <pc:chgData name="Dieter Beaven" userId="9bbdb69f-69d0-4759-aa9b-5c090a2da237" providerId="ADAL" clId="{2A5AE0E2-2788-4AA7-8B3C-A04471EF5D14}" dt="2024-09-17T16:01:06.407" v="2" actId="47"/>
        <pc:sldMkLst>
          <pc:docMk/>
          <pc:sldMk cId="3958245491" sldId="526"/>
        </pc:sldMkLst>
      </pc:sldChg>
      <pc:sldChg chg="modSp add mod">
        <pc:chgData name="Dieter Beaven" userId="9bbdb69f-69d0-4759-aa9b-5c090a2da237" providerId="ADAL" clId="{2A5AE0E2-2788-4AA7-8B3C-A04471EF5D14}" dt="2024-09-17T16:01:47.892" v="41" actId="20577"/>
        <pc:sldMkLst>
          <pc:docMk/>
          <pc:sldMk cId="3991975165" sldId="547"/>
        </pc:sldMkLst>
      </pc:sldChg>
      <pc:sldChg chg="modSp add mod">
        <pc:chgData name="Dieter Beaven" userId="9bbdb69f-69d0-4759-aa9b-5c090a2da237" providerId="ADAL" clId="{2A5AE0E2-2788-4AA7-8B3C-A04471EF5D14}" dt="2024-09-17T16:04:57.733" v="104" actId="20577"/>
        <pc:sldMkLst>
          <pc:docMk/>
          <pc:sldMk cId="4071243651" sldId="548"/>
        </pc:sldMkLst>
      </pc:sldChg>
      <pc:sldChg chg="modSp add mod">
        <pc:chgData name="Dieter Beaven" userId="9bbdb69f-69d0-4759-aa9b-5c090a2da237" providerId="ADAL" clId="{2A5AE0E2-2788-4AA7-8B3C-A04471EF5D14}" dt="2024-09-17T16:03:59.444" v="54" actId="20577"/>
        <pc:sldMkLst>
          <pc:docMk/>
          <pc:sldMk cId="3055658135" sldId="549"/>
        </pc:sldMkLst>
      </pc:sldChg>
      <pc:sldChg chg="modSp add mod">
        <pc:chgData name="Dieter Beaven" userId="9bbdb69f-69d0-4759-aa9b-5c090a2da237" providerId="ADAL" clId="{2A5AE0E2-2788-4AA7-8B3C-A04471EF5D14}" dt="2024-09-17T16:07:44.310" v="168" actId="20577"/>
        <pc:sldMkLst>
          <pc:docMk/>
          <pc:sldMk cId="4190994049" sldId="550"/>
        </pc:sldMkLst>
      </pc:sldChg>
      <pc:sldChg chg="modSp add mod">
        <pc:chgData name="Dieter Beaven" userId="9bbdb69f-69d0-4759-aa9b-5c090a2da237" providerId="ADAL" clId="{2A5AE0E2-2788-4AA7-8B3C-A04471EF5D14}" dt="2024-09-17T16:08:53.370" v="235" actId="20577"/>
        <pc:sldMkLst>
          <pc:docMk/>
          <pc:sldMk cId="2915845008" sldId="551"/>
        </pc:sldMkLst>
      </pc:sldChg>
    </pc:docChg>
  </pc:docChgLst>
  <pc:docChgLst>
    <pc:chgData name="Dieter Beaven" userId="9bbdb69f-69d0-4759-aa9b-5c090a2da237" providerId="ADAL" clId="{EC814997-D874-4171-AD0D-1539DB3FB187}"/>
    <pc:docChg chg="undo custSel addSld delSld modSld">
      <pc:chgData name="Dieter Beaven" userId="9bbdb69f-69d0-4759-aa9b-5c090a2da237" providerId="ADAL" clId="{EC814997-D874-4171-AD0D-1539DB3FB187}" dt="2025-05-20T14:32:59.333" v="19"/>
      <pc:docMkLst>
        <pc:docMk/>
      </pc:docMkLst>
      <pc:sldChg chg="addSp delSp modSp mod addAnim delAnim modAnim">
        <pc:chgData name="Dieter Beaven" userId="9bbdb69f-69d0-4759-aa9b-5c090a2da237" providerId="ADAL" clId="{EC814997-D874-4171-AD0D-1539DB3FB187}" dt="2025-05-20T14:30:41.917" v="16" actId="167"/>
        <pc:sldMkLst>
          <pc:docMk/>
          <pc:sldMk cId="3055658135" sldId="549"/>
        </pc:sldMkLst>
      </pc:sldChg>
      <pc:sldChg chg="add">
        <pc:chgData name="Dieter Beaven" userId="9bbdb69f-69d0-4759-aa9b-5c090a2da237" providerId="ADAL" clId="{EC814997-D874-4171-AD0D-1539DB3FB187}" dt="2025-05-20T14:29:12.564" v="0"/>
        <pc:sldMkLst>
          <pc:docMk/>
          <pc:sldMk cId="1665678923" sldId="609"/>
        </pc:sldMkLst>
      </pc:sldChg>
      <pc:sldChg chg="add">
        <pc:chgData name="Dieter Beaven" userId="9bbdb69f-69d0-4759-aa9b-5c090a2da237" providerId="ADAL" clId="{EC814997-D874-4171-AD0D-1539DB3FB187}" dt="2025-05-20T14:29:12.564" v="0"/>
        <pc:sldMkLst>
          <pc:docMk/>
          <pc:sldMk cId="1094116920" sldId="610"/>
        </pc:sldMkLst>
      </pc:sldChg>
      <pc:sldChg chg="add">
        <pc:chgData name="Dieter Beaven" userId="9bbdb69f-69d0-4759-aa9b-5c090a2da237" providerId="ADAL" clId="{EC814997-D874-4171-AD0D-1539DB3FB187}" dt="2025-05-20T14:29:12.564" v="0"/>
        <pc:sldMkLst>
          <pc:docMk/>
          <pc:sldMk cId="3787549413" sldId="611"/>
        </pc:sldMkLst>
      </pc:sldChg>
      <pc:sldChg chg="delSp add del mod delAnim">
        <pc:chgData name="Dieter Beaven" userId="9bbdb69f-69d0-4759-aa9b-5c090a2da237" providerId="ADAL" clId="{EC814997-D874-4171-AD0D-1539DB3FB187}" dt="2025-05-20T14:30:48.277" v="17" actId="47"/>
        <pc:sldMkLst>
          <pc:docMk/>
          <pc:sldMk cId="878370534" sldId="612"/>
        </pc:sldMkLst>
      </pc:sldChg>
      <pc:sldChg chg="add">
        <pc:chgData name="Dieter Beaven" userId="9bbdb69f-69d0-4759-aa9b-5c090a2da237" providerId="ADAL" clId="{EC814997-D874-4171-AD0D-1539DB3FB187}" dt="2025-05-20T14:31:39.670" v="18"/>
        <pc:sldMkLst>
          <pc:docMk/>
          <pc:sldMk cId="2397117889" sldId="613"/>
        </pc:sldMkLst>
      </pc:sldChg>
      <pc:sldChg chg="add">
        <pc:chgData name="Dieter Beaven" userId="9bbdb69f-69d0-4759-aa9b-5c090a2da237" providerId="ADAL" clId="{EC814997-D874-4171-AD0D-1539DB3FB187}" dt="2025-05-20T14:32:59.333" v="19"/>
        <pc:sldMkLst>
          <pc:docMk/>
          <pc:sldMk cId="653021430" sldId="614"/>
        </pc:sldMkLst>
      </pc:sldChg>
    </pc:docChg>
  </pc:docChgLst>
  <pc:docChgLst>
    <pc:chgData name="Dieter Beaven" userId="9bbdb69f-69d0-4759-aa9b-5c090a2da237" providerId="ADAL" clId="{B25F906F-0396-49B5-92ED-8E1E33F8EEEF}"/>
    <pc:docChg chg="undo custSel addSld modSld">
      <pc:chgData name="Dieter Beaven" userId="9bbdb69f-69d0-4759-aa9b-5c090a2da237" providerId="ADAL" clId="{B25F906F-0396-49B5-92ED-8E1E33F8EEEF}" dt="2025-08-27T10:41:43.880" v="17" actId="1076"/>
      <pc:docMkLst>
        <pc:docMk/>
      </pc:docMkLst>
      <pc:sldChg chg="addSp modSp mod">
        <pc:chgData name="Dieter Beaven" userId="9bbdb69f-69d0-4759-aa9b-5c090a2da237" providerId="ADAL" clId="{B25F906F-0396-49B5-92ED-8E1E33F8EEEF}" dt="2025-08-27T10:38:17.434" v="1" actId="1076"/>
        <pc:sldMkLst>
          <pc:docMk/>
          <pc:sldMk cId="3896053727" sldId="543"/>
        </pc:sldMkLst>
      </pc:sldChg>
      <pc:sldChg chg="addSp delSp mod">
        <pc:chgData name="Dieter Beaven" userId="9bbdb69f-69d0-4759-aa9b-5c090a2da237" providerId="ADAL" clId="{B25F906F-0396-49B5-92ED-8E1E33F8EEEF}" dt="2025-08-27T10:40:53.726" v="7" actId="22"/>
        <pc:sldMkLst>
          <pc:docMk/>
          <pc:sldMk cId="3458699803" sldId="545"/>
        </pc:sldMkLst>
      </pc:sldChg>
      <pc:sldChg chg="addSp modSp mod">
        <pc:chgData name="Dieter Beaven" userId="9bbdb69f-69d0-4759-aa9b-5c090a2da237" providerId="ADAL" clId="{B25F906F-0396-49B5-92ED-8E1E33F8EEEF}" dt="2025-08-27T10:39:21.651" v="4" actId="1076"/>
        <pc:sldMkLst>
          <pc:docMk/>
          <pc:sldMk cId="4091202299" sldId="550"/>
        </pc:sldMkLst>
      </pc:sldChg>
      <pc:sldChg chg="addSp delSp modSp mod">
        <pc:chgData name="Dieter Beaven" userId="9bbdb69f-69d0-4759-aa9b-5c090a2da237" providerId="ADAL" clId="{B25F906F-0396-49B5-92ED-8E1E33F8EEEF}" dt="2025-08-27T10:41:43.880" v="17" actId="1076"/>
        <pc:sldMkLst>
          <pc:docMk/>
          <pc:sldMk cId="3826585799" sldId="551"/>
        </pc:sldMkLst>
      </pc:sldChg>
      <pc:sldChg chg="addSp delSp modSp add mod">
        <pc:chgData name="Dieter Beaven" userId="9bbdb69f-69d0-4759-aa9b-5c090a2da237" providerId="ADAL" clId="{B25F906F-0396-49B5-92ED-8E1E33F8EEEF}" dt="2025-08-27T10:41:32.651" v="14" actId="1076"/>
        <pc:sldMkLst>
          <pc:docMk/>
          <pc:sldMk cId="3510359079" sldId="615"/>
        </pc:sldMkLst>
      </pc:sldChg>
    </pc:docChg>
  </pc:docChgLst>
  <pc:docChgLst>
    <pc:chgData name="Dieter Beaven" userId="9bbdb69f-69d0-4759-aa9b-5c090a2da237" providerId="ADAL" clId="{595AD2C3-895E-469A-ABEC-6A0C933707BF}"/>
    <pc:docChg chg="modSld">
      <pc:chgData name="Dieter Beaven" userId="9bbdb69f-69d0-4759-aa9b-5c090a2da237" providerId="ADAL" clId="{595AD2C3-895E-469A-ABEC-6A0C933707BF}" dt="2025-04-29T13:40:17.006" v="33" actId="20577"/>
      <pc:docMkLst>
        <pc:docMk/>
      </pc:docMkLst>
      <pc:sldChg chg="modSp mod">
        <pc:chgData name="Dieter Beaven" userId="9bbdb69f-69d0-4759-aa9b-5c090a2da237" providerId="ADAL" clId="{595AD2C3-895E-469A-ABEC-6A0C933707BF}" dt="2025-04-29T13:40:17.006" v="33" actId="20577"/>
        <pc:sldMkLst>
          <pc:docMk/>
          <pc:sldMk cId="3991975165" sldId="54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E87F4A-DD11-41AF-8B76-F2E5B6202836}" type="datetimeFigureOut">
              <a:rPr lang="en-GB" smtClean="0"/>
              <a:pPr/>
              <a:t>23/10/2025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2F2399-CD51-4C4C-BC34-03B9F40F9CF8}" type="slidenum">
              <a:rPr lang="en-GB" smtClean="0"/>
              <a:pPr/>
              <a:t>‹#›</a:t>
            </a:fld>
            <a:endParaRPr lang="en-GB"/>
          </a:p>
        </p:txBody>
      </p:sp>
    </p:spTree>
    <p:extLst>
      <p:ext uri="{BB962C8B-B14F-4D97-AF65-F5344CB8AC3E}">
        <p14:creationId xmlns:p14="http://schemas.microsoft.com/office/powerpoint/2010/main" val="547450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0B9AFE4D-3339-4F90-AB07-DAB31D79E32A}" type="datetimeFigureOut">
              <a:rPr lang="en-GB" smtClean="0"/>
              <a:pPr/>
              <a:t>23/10/2025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4281611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B9AFE4D-3339-4F90-AB07-DAB31D79E32A}" type="datetimeFigureOut">
              <a:rPr lang="en-GB" smtClean="0"/>
              <a:pPr/>
              <a:t>23/10/2025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875171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9AFE4D-3339-4F90-AB07-DAB31D79E32A}" type="datetimeFigureOut">
              <a:rPr lang="en-GB" smtClean="0"/>
              <a:pPr/>
              <a:t>23/10/2025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2932520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0B9AFE4D-3339-4F90-AB07-DAB31D79E32A}" type="datetimeFigureOut">
              <a:rPr lang="en-GB" smtClean="0"/>
              <a:pPr/>
              <a:t>23/10/2025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566172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0B9AFE4D-3339-4F90-AB07-DAB31D79E32A}" type="datetimeFigureOut">
              <a:rPr lang="en-GB" smtClean="0"/>
              <a:pPr/>
              <a:t>23/10/2025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4020052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0B9AFE4D-3339-4F90-AB07-DAB31D79E32A}" type="datetimeFigureOut">
              <a:rPr lang="en-GB" smtClean="0"/>
              <a:pPr/>
              <a:t>23/10/2025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3408912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9AFE4D-3339-4F90-AB07-DAB31D79E32A}" type="datetimeFigureOut">
              <a:rPr lang="en-GB" smtClean="0"/>
              <a:pPr/>
              <a:t>23/10/2025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179336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B9AFE4D-3339-4F90-AB07-DAB31D79E32A}" type="datetimeFigureOut">
              <a:rPr lang="en-GB" smtClean="0"/>
              <a:pPr/>
              <a:t>23/10/2025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2997128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B9AFE4D-3339-4F90-AB07-DAB31D79E32A}" type="datetimeFigureOut">
              <a:rPr lang="en-GB" smtClean="0"/>
              <a:pPr/>
              <a:t>23/10/2025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4066496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B9AFE4D-3339-4F90-AB07-DAB31D79E32A}" type="datetimeFigureOut">
              <a:rPr lang="en-GB" smtClean="0"/>
              <a:pPr/>
              <a:t>23/10/2025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2023399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B9AFE4D-3339-4F90-AB07-DAB31D79E32A}" type="datetimeFigureOut">
              <a:rPr lang="en-GB" smtClean="0"/>
              <a:pPr/>
              <a:t>23/10/2025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962211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9AFE4D-3339-4F90-AB07-DAB31D79E32A}" type="datetimeFigureOut">
              <a:rPr lang="en-GB" smtClean="0"/>
              <a:pPr/>
              <a:t>23/10/2025</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177B05-5D28-4021-9BD2-A7A72850B659}" type="slidenum">
              <a:rPr lang="en-GB" smtClean="0"/>
              <a:pPr/>
              <a:t>‹#›</a:t>
            </a:fld>
            <a:endParaRPr lang="en-GB"/>
          </a:p>
        </p:txBody>
      </p:sp>
    </p:spTree>
    <p:extLst>
      <p:ext uri="{BB962C8B-B14F-4D97-AF65-F5344CB8AC3E}">
        <p14:creationId xmlns:p14="http://schemas.microsoft.com/office/powerpoint/2010/main" val="38967452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135.png"/></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png"/><Relationship Id="rId7" Type="http://schemas.openxmlformats.org/officeDocument/2006/relationships/image" Target="../media/image141.png"/><Relationship Id="rId2" Type="http://schemas.openxmlformats.org/officeDocument/2006/relationships/image" Target="../media/image137.png"/><Relationship Id="rId1" Type="http://schemas.openxmlformats.org/officeDocument/2006/relationships/slideLayout" Target="../slideLayouts/slideLayout7.xml"/><Relationship Id="rId6" Type="http://schemas.openxmlformats.org/officeDocument/2006/relationships/image" Target="../media/image140.png"/><Relationship Id="rId5" Type="http://schemas.openxmlformats.org/officeDocument/2006/relationships/image" Target="../media/image591.png"/><Relationship Id="rId4" Type="http://schemas.openxmlformats.org/officeDocument/2006/relationships/image" Target="../media/image139.png"/></Relationships>
</file>

<file path=ppt/slides/_rels/slide4.xml.rels><?xml version="1.0" encoding="UTF-8" standalone="yes"?>
<Relationships xmlns="http://schemas.openxmlformats.org/package/2006/relationships"><Relationship Id="rId3" Type="http://schemas.openxmlformats.org/officeDocument/2006/relationships/image" Target="../media/image630.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650.png"/><Relationship Id="rId4" Type="http://schemas.openxmlformats.org/officeDocument/2006/relationships/image" Target="../media/image640.png"/></Relationships>
</file>

<file path=ppt/slides/_rels/slide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5.emf"/><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15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1520" y="2130425"/>
            <a:ext cx="8640960" cy="3026767"/>
          </a:xfrm>
        </p:spPr>
        <p:txBody>
          <a:bodyPr>
            <a:normAutofit/>
          </a:bodyPr>
          <a:lstStyle/>
          <a:p>
            <a:r>
              <a:rPr lang="en-GB" b="1" dirty="0">
                <a:solidFill>
                  <a:srgbClr val="92D050"/>
                </a:solidFill>
              </a:rPr>
              <a:t>P2 Chapter 3: </a:t>
            </a:r>
            <a:r>
              <a:rPr lang="en-GB" dirty="0">
                <a:solidFill>
                  <a:schemeClr val="accent5"/>
                </a:solidFill>
              </a:rPr>
              <a:t>Sequences and Series</a:t>
            </a:r>
            <a:br>
              <a:rPr lang="en-GB" dirty="0"/>
            </a:br>
            <a:br>
              <a:rPr lang="en-GB" dirty="0"/>
            </a:br>
            <a:r>
              <a:rPr lang="en-GB" dirty="0"/>
              <a:t>Recurrence Relations </a:t>
            </a:r>
          </a:p>
        </p:txBody>
      </p:sp>
      <p:cxnSp>
        <p:nvCxnSpPr>
          <p:cNvPr id="8" name="Straight Connector 7"/>
          <p:cNvCxnSpPr/>
          <p:nvPr/>
        </p:nvCxnSpPr>
        <p:spPr>
          <a:xfrm>
            <a:off x="0" y="1268760"/>
            <a:ext cx="9144000" cy="0"/>
          </a:xfrm>
          <a:prstGeom prst="line">
            <a:avLst/>
          </a:prstGeom>
          <a:ln w="762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19751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D99A5FA-5BA8-402A-8D28-4F7274210C88}"/>
              </a:ext>
            </a:extLst>
          </p:cNvPr>
          <p:cNvGrpSpPr/>
          <p:nvPr/>
        </p:nvGrpSpPr>
        <p:grpSpPr>
          <a:xfrm>
            <a:off x="0" y="0"/>
            <a:ext cx="9143074" cy="599127"/>
            <a:chOff x="0" y="13335"/>
            <a:chExt cx="9144218" cy="599127"/>
          </a:xfrm>
        </p:grpSpPr>
        <p:sp>
          <p:nvSpPr>
            <p:cNvPr id="3" name="TextBox 32">
              <a:extLst>
                <a:ext uri="{FF2B5EF4-FFF2-40B4-BE49-F238E27FC236}">
                  <a16:creationId xmlns:a16="http://schemas.microsoft.com/office/drawing/2014/main" id="{50B623AA-416B-4FBC-AF7B-D79152F66BBA}"/>
                </a:ext>
              </a:extLst>
            </p:cNvPr>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latin typeface="+mj-lt"/>
                </a:rPr>
                <a:t>Recurrence Relations</a:t>
              </a:r>
              <a:endParaRPr lang="en-GB" sz="3200" dirty="0"/>
            </a:p>
          </p:txBody>
        </p:sp>
        <p:cxnSp>
          <p:nvCxnSpPr>
            <p:cNvPr id="4" name="Straight Connector 3">
              <a:extLst>
                <a:ext uri="{FF2B5EF4-FFF2-40B4-BE49-F238E27FC236}">
                  <a16:creationId xmlns:a16="http://schemas.microsoft.com/office/drawing/2014/main" id="{F5ACB253-F4E6-4106-B588-2CCF163274DA}"/>
                </a:ext>
              </a:extLst>
            </p:cNvPr>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24CD124-537A-479F-A2EB-51EA4BFFB5FC}"/>
                  </a:ext>
                </a:extLst>
              </p:cNvPr>
              <p:cNvSpPr txBox="1"/>
              <p:nvPr/>
            </p:nvSpPr>
            <p:spPr>
              <a:xfrm>
                <a:off x="526976" y="1171352"/>
                <a:ext cx="3312368"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𝑢</m:t>
                          </m:r>
                        </m:e>
                        <m:sub>
                          <m:r>
                            <a:rPr lang="en-GB" sz="3600" b="0" i="1" smtClean="0">
                              <a:latin typeface="Cambria Math" panose="02040503050406030204" pitchFamily="18" charset="0"/>
                            </a:rPr>
                            <m:t>𝑛</m:t>
                          </m:r>
                        </m:sub>
                      </m:sSub>
                      <m:r>
                        <a:rPr lang="en-GB" sz="3600" b="0" i="1" smtClean="0">
                          <a:latin typeface="Cambria Math" panose="02040503050406030204" pitchFamily="18" charset="0"/>
                        </a:rPr>
                        <m:t>=2</m:t>
                      </m:r>
                      <m:sSup>
                        <m:sSupPr>
                          <m:ctrlPr>
                            <a:rPr lang="en-GB" sz="3600" b="0" i="1" smtClean="0">
                              <a:latin typeface="Cambria Math" panose="02040503050406030204" pitchFamily="18" charset="0"/>
                            </a:rPr>
                          </m:ctrlPr>
                        </m:sSupPr>
                        <m:e>
                          <m:r>
                            <a:rPr lang="en-GB" sz="3600" b="0" i="1" smtClean="0">
                              <a:latin typeface="Cambria Math" panose="02040503050406030204" pitchFamily="18" charset="0"/>
                            </a:rPr>
                            <m:t>𝑛</m:t>
                          </m:r>
                        </m:e>
                        <m:sup>
                          <m:r>
                            <a:rPr lang="en-GB" sz="3600" b="0" i="1" smtClean="0">
                              <a:latin typeface="Cambria Math" panose="02040503050406030204" pitchFamily="18" charset="0"/>
                            </a:rPr>
                            <m:t>2</m:t>
                          </m:r>
                        </m:sup>
                      </m:sSup>
                      <m:r>
                        <a:rPr lang="en-GB" sz="3600" b="0" i="1" smtClean="0">
                          <a:latin typeface="Cambria Math" panose="02040503050406030204" pitchFamily="18" charset="0"/>
                        </a:rPr>
                        <m:t>+3</m:t>
                      </m:r>
                    </m:oMath>
                  </m:oMathPara>
                </a14:m>
                <a:endParaRPr lang="en-GB" dirty="0"/>
              </a:p>
            </p:txBody>
          </p:sp>
        </mc:Choice>
        <mc:Fallback xmlns="">
          <p:sp>
            <p:nvSpPr>
              <p:cNvPr id="5" name="TextBox 4">
                <a:extLst>
                  <a:ext uri="{FF2B5EF4-FFF2-40B4-BE49-F238E27FC236}">
                    <a16:creationId xmlns:a16="http://schemas.microsoft.com/office/drawing/2014/main" id="{524CD124-537A-479F-A2EB-51EA4BFFB5FC}"/>
                  </a:ext>
                </a:extLst>
              </p:cNvPr>
              <p:cNvSpPr txBox="1">
                <a:spLocks noRot="1" noChangeAspect="1" noMove="1" noResize="1" noEditPoints="1" noAdjustHandles="1" noChangeArrowheads="1" noChangeShapeType="1" noTextEdit="1"/>
              </p:cNvSpPr>
              <p:nvPr/>
            </p:nvSpPr>
            <p:spPr>
              <a:xfrm>
                <a:off x="526976" y="1171352"/>
                <a:ext cx="3312368" cy="646331"/>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A268218-E2E4-4D0D-A82C-C4DBEAC24E9C}"/>
                  </a:ext>
                </a:extLst>
              </p:cNvPr>
              <p:cNvSpPr txBox="1"/>
              <p:nvPr/>
            </p:nvSpPr>
            <p:spPr>
              <a:xfrm>
                <a:off x="4559672" y="934120"/>
                <a:ext cx="3096344" cy="1200329"/>
              </a:xfrm>
              <a:prstGeom prst="rect">
                <a:avLst/>
              </a:prstGeom>
              <a:noFill/>
            </p:spPr>
            <p:txBody>
              <a:bodyPr wrap="square" rtlCol="0">
                <a:spAutoFit/>
              </a:bodyPr>
              <a:lstStyle/>
              <a:p>
                <a:r>
                  <a:rPr lang="en-GB" dirty="0"/>
                  <a:t>This is an example of a position-to-term sequence, because each term is based on the position </a:t>
                </a:r>
                <a14:m>
                  <m:oMath xmlns:m="http://schemas.openxmlformats.org/officeDocument/2006/math">
                    <m:r>
                      <a:rPr lang="en-GB" b="0" i="1" smtClean="0">
                        <a:latin typeface="Cambria Math" panose="02040503050406030204" pitchFamily="18" charset="0"/>
                      </a:rPr>
                      <m:t>𝑛</m:t>
                    </m:r>
                  </m:oMath>
                </a14:m>
                <a:r>
                  <a:rPr lang="en-GB" dirty="0"/>
                  <a:t>.</a:t>
                </a:r>
              </a:p>
            </p:txBody>
          </p:sp>
        </mc:Choice>
        <mc:Fallback xmlns="">
          <p:sp>
            <p:nvSpPr>
              <p:cNvPr id="6" name="TextBox 5">
                <a:extLst>
                  <a:ext uri="{FF2B5EF4-FFF2-40B4-BE49-F238E27FC236}">
                    <a16:creationId xmlns:a16="http://schemas.microsoft.com/office/drawing/2014/main" id="{AA268218-E2E4-4D0D-A82C-C4DBEAC24E9C}"/>
                  </a:ext>
                </a:extLst>
              </p:cNvPr>
              <p:cNvSpPr txBox="1">
                <a:spLocks noRot="1" noChangeAspect="1" noMove="1" noResize="1" noEditPoints="1" noAdjustHandles="1" noChangeArrowheads="1" noChangeShapeType="1" noTextEdit="1"/>
              </p:cNvSpPr>
              <p:nvPr/>
            </p:nvSpPr>
            <p:spPr>
              <a:xfrm>
                <a:off x="4559672" y="934120"/>
                <a:ext cx="3096344" cy="1200329"/>
              </a:xfrm>
              <a:prstGeom prst="rect">
                <a:avLst/>
              </a:prstGeom>
              <a:blipFill>
                <a:blip r:embed="rId3"/>
                <a:stretch>
                  <a:fillRect l="-1772" t="-2538" r="-1378" b="-710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896DA3C-E837-4AF0-93B7-C2C6A93FBB27}"/>
                  </a:ext>
                </a:extLst>
              </p:cNvPr>
              <p:cNvSpPr txBox="1"/>
              <p:nvPr/>
            </p:nvSpPr>
            <p:spPr>
              <a:xfrm>
                <a:off x="647564" y="2527028"/>
                <a:ext cx="3312368" cy="12003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𝑢</m:t>
                          </m:r>
                        </m:e>
                        <m:sub>
                          <m:r>
                            <a:rPr lang="en-GB" sz="3600" b="0" i="1" smtClean="0">
                              <a:latin typeface="Cambria Math" panose="02040503050406030204" pitchFamily="18" charset="0"/>
                            </a:rPr>
                            <m:t>𝑛</m:t>
                          </m:r>
                          <m:r>
                            <a:rPr lang="en-GB" sz="3600" b="0" i="1" smtClean="0">
                              <a:latin typeface="Cambria Math" panose="02040503050406030204" pitchFamily="18" charset="0"/>
                            </a:rPr>
                            <m:t>+1</m:t>
                          </m:r>
                        </m:sub>
                      </m:sSub>
                      <m:r>
                        <a:rPr lang="en-GB" sz="3600" b="0" i="1" smtClean="0">
                          <a:latin typeface="Cambria Math" panose="02040503050406030204" pitchFamily="18" charset="0"/>
                        </a:rPr>
                        <m:t>=2</m:t>
                      </m:r>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𝑢</m:t>
                          </m:r>
                        </m:e>
                        <m:sub>
                          <m:r>
                            <a:rPr lang="en-GB" sz="3600" b="0" i="1" smtClean="0">
                              <a:latin typeface="Cambria Math" panose="02040503050406030204" pitchFamily="18" charset="0"/>
                            </a:rPr>
                            <m:t>𝑛</m:t>
                          </m:r>
                        </m:sub>
                      </m:sSub>
                      <m:r>
                        <a:rPr lang="en-GB" sz="3600" b="0" i="1" smtClean="0">
                          <a:latin typeface="Cambria Math" panose="02040503050406030204" pitchFamily="18" charset="0"/>
                        </a:rPr>
                        <m:t>+4</m:t>
                      </m:r>
                    </m:oMath>
                    <m:oMath xmlns:m="http://schemas.openxmlformats.org/officeDocument/2006/math">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𝑢</m:t>
                          </m:r>
                        </m:e>
                        <m:sub>
                          <m:r>
                            <a:rPr lang="en-GB" sz="3600" b="0" i="1" smtClean="0">
                              <a:latin typeface="Cambria Math" panose="02040503050406030204" pitchFamily="18" charset="0"/>
                            </a:rPr>
                            <m:t>1</m:t>
                          </m:r>
                        </m:sub>
                      </m:sSub>
                      <m:r>
                        <a:rPr lang="en-GB" sz="3600" b="0" i="1" smtClean="0">
                          <a:latin typeface="Cambria Math" panose="02040503050406030204" pitchFamily="18" charset="0"/>
                        </a:rPr>
                        <m:t>=3</m:t>
                      </m:r>
                    </m:oMath>
                  </m:oMathPara>
                </a14:m>
                <a:endParaRPr lang="en-GB" dirty="0"/>
              </a:p>
            </p:txBody>
          </p:sp>
        </mc:Choice>
        <mc:Fallback xmlns="">
          <p:sp>
            <p:nvSpPr>
              <p:cNvPr id="7" name="TextBox 6">
                <a:extLst>
                  <a:ext uri="{FF2B5EF4-FFF2-40B4-BE49-F238E27FC236}">
                    <a16:creationId xmlns:a16="http://schemas.microsoft.com/office/drawing/2014/main" id="{B896DA3C-E837-4AF0-93B7-C2C6A93FBB27}"/>
                  </a:ext>
                </a:extLst>
              </p:cNvPr>
              <p:cNvSpPr txBox="1">
                <a:spLocks noRot="1" noChangeAspect="1" noMove="1" noResize="1" noEditPoints="1" noAdjustHandles="1" noChangeArrowheads="1" noChangeShapeType="1" noTextEdit="1"/>
              </p:cNvSpPr>
              <p:nvPr/>
            </p:nvSpPr>
            <p:spPr>
              <a:xfrm>
                <a:off x="647564" y="2527028"/>
                <a:ext cx="3312368" cy="1200329"/>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ABC5B44-C55D-4EB1-BC9A-D302C944A99E}"/>
                  </a:ext>
                </a:extLst>
              </p:cNvPr>
              <p:cNvSpPr txBox="1"/>
              <p:nvPr/>
            </p:nvSpPr>
            <p:spPr>
              <a:xfrm>
                <a:off x="4579127" y="2527028"/>
                <a:ext cx="3960440" cy="1754326"/>
              </a:xfrm>
              <a:prstGeom prst="rect">
                <a:avLst/>
              </a:prstGeom>
              <a:noFill/>
            </p:spPr>
            <p:txBody>
              <a:bodyPr wrap="square" rtlCol="0">
                <a:spAutoFit/>
              </a:bodyPr>
              <a:lstStyle/>
              <a:p>
                <a:r>
                  <a:rPr lang="en-GB" dirty="0"/>
                  <a:t>But a term might be defined based on previous terms.</a:t>
                </a:r>
              </a:p>
              <a:p>
                <a:r>
                  <a:rPr lang="en-GB" b="1" dirty="0"/>
                  <a:t>If </a:t>
                </a:r>
                <a14:m>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𝒖</m:t>
                        </m:r>
                      </m:e>
                      <m:sub>
                        <m:r>
                          <a:rPr lang="en-GB" b="1" i="1" smtClean="0">
                            <a:latin typeface="Cambria Math" panose="02040503050406030204" pitchFamily="18" charset="0"/>
                          </a:rPr>
                          <m:t>𝒏</m:t>
                        </m:r>
                      </m:sub>
                    </m:sSub>
                  </m:oMath>
                </a14:m>
                <a:r>
                  <a:rPr lang="en-GB" b="1" dirty="0"/>
                  <a:t> refers to the current term, </a:t>
                </a:r>
                <a14:m>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𝒖</m:t>
                        </m:r>
                      </m:e>
                      <m:sub>
                        <m:r>
                          <a:rPr lang="en-GB" b="1" i="1" smtClean="0">
                            <a:latin typeface="Cambria Math" panose="02040503050406030204" pitchFamily="18" charset="0"/>
                          </a:rPr>
                          <m:t>𝒏</m:t>
                        </m:r>
                        <m:r>
                          <a:rPr lang="en-GB" b="1" i="1" smtClean="0">
                            <a:latin typeface="Cambria Math" panose="02040503050406030204" pitchFamily="18" charset="0"/>
                          </a:rPr>
                          <m:t>+</m:t>
                        </m:r>
                        <m:r>
                          <a:rPr lang="en-GB" b="1" i="1" smtClean="0">
                            <a:latin typeface="Cambria Math" panose="02040503050406030204" pitchFamily="18" charset="0"/>
                          </a:rPr>
                          <m:t>𝟏</m:t>
                        </m:r>
                      </m:sub>
                    </m:sSub>
                  </m:oMath>
                </a14:m>
                <a:r>
                  <a:rPr lang="en-GB" b="1" dirty="0"/>
                  <a:t> refers to the next term.</a:t>
                </a:r>
              </a:p>
              <a:p>
                <a:r>
                  <a:rPr lang="en-GB" dirty="0"/>
                  <a:t>So, the example in words says “the next term is twice the previous term + 4”</a:t>
                </a:r>
              </a:p>
            </p:txBody>
          </p:sp>
        </mc:Choice>
        <mc:Fallback xmlns="">
          <p:sp>
            <p:nvSpPr>
              <p:cNvPr id="8" name="TextBox 7">
                <a:extLst>
                  <a:ext uri="{FF2B5EF4-FFF2-40B4-BE49-F238E27FC236}">
                    <a16:creationId xmlns:a16="http://schemas.microsoft.com/office/drawing/2014/main" id="{5ABC5B44-C55D-4EB1-BC9A-D302C944A99E}"/>
                  </a:ext>
                </a:extLst>
              </p:cNvPr>
              <p:cNvSpPr txBox="1">
                <a:spLocks noRot="1" noChangeAspect="1" noMove="1" noResize="1" noEditPoints="1" noAdjustHandles="1" noChangeArrowheads="1" noChangeShapeType="1" noTextEdit="1"/>
              </p:cNvSpPr>
              <p:nvPr/>
            </p:nvSpPr>
            <p:spPr>
              <a:xfrm>
                <a:off x="4579127" y="2527028"/>
                <a:ext cx="3960440" cy="1754326"/>
              </a:xfrm>
              <a:prstGeom prst="rect">
                <a:avLst/>
              </a:prstGeom>
              <a:blipFill>
                <a:blip r:embed="rId5"/>
                <a:stretch>
                  <a:fillRect l="-1231" t="-2091" r="-154" b="-4878"/>
                </a:stretch>
              </a:blipFill>
            </p:spPr>
            <p:txBody>
              <a:bodyPr/>
              <a:lstStyle/>
              <a:p>
                <a:r>
                  <a:rPr lang="en-GB">
                    <a:noFill/>
                  </a:rPr>
                  <a:t> </a:t>
                </a:r>
              </a:p>
            </p:txBody>
          </p:sp>
        </mc:Fallback>
      </mc:AlternateContent>
      <p:sp>
        <p:nvSpPr>
          <p:cNvPr id="9" name="TextBox 8">
            <a:extLst>
              <a:ext uri="{FF2B5EF4-FFF2-40B4-BE49-F238E27FC236}">
                <a16:creationId xmlns:a16="http://schemas.microsoft.com/office/drawing/2014/main" id="{C33F3434-1284-48CD-823F-2DF11217FB96}"/>
              </a:ext>
            </a:extLst>
          </p:cNvPr>
          <p:cNvSpPr txBox="1"/>
          <p:nvPr/>
        </p:nvSpPr>
        <p:spPr>
          <a:xfrm>
            <a:off x="2422392" y="4559901"/>
            <a:ext cx="4680520" cy="923330"/>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dirty="0"/>
              <a:t>This is known as a term-to-term sequence, or more formally as a </a:t>
            </a:r>
            <a:r>
              <a:rPr lang="en-GB" b="1" dirty="0"/>
              <a:t>recurrence relation</a:t>
            </a:r>
            <a:r>
              <a:rPr lang="en-GB" dirty="0"/>
              <a:t>, as the sequence ‘recursively’ refers to itself.</a:t>
            </a:r>
          </a:p>
        </p:txBody>
      </p:sp>
      <p:sp>
        <p:nvSpPr>
          <p:cNvPr id="10" name="TextBox 9">
            <a:extLst>
              <a:ext uri="{FF2B5EF4-FFF2-40B4-BE49-F238E27FC236}">
                <a16:creationId xmlns:a16="http://schemas.microsoft.com/office/drawing/2014/main" id="{F64552DB-2834-47AE-B1EF-88571A4890B1}"/>
              </a:ext>
            </a:extLst>
          </p:cNvPr>
          <p:cNvSpPr txBox="1"/>
          <p:nvPr/>
        </p:nvSpPr>
        <p:spPr>
          <a:xfrm>
            <a:off x="467545" y="4149080"/>
            <a:ext cx="1634618" cy="1600438"/>
          </a:xfrm>
          <a:prstGeom prst="rect">
            <a:avLst/>
          </a:prstGeom>
          <a:noFill/>
        </p:spPr>
        <p:txBody>
          <a:bodyPr wrap="square" rtlCol="0">
            <a:spAutoFit/>
          </a:bodyPr>
          <a:lstStyle/>
          <a:p>
            <a:r>
              <a:rPr lang="en-GB" sz="1400" dirty="0"/>
              <a:t>We need the first term because the recurrence relation alone is not enough to know what number the sequence starts at.</a:t>
            </a:r>
          </a:p>
        </p:txBody>
      </p:sp>
      <p:cxnSp>
        <p:nvCxnSpPr>
          <p:cNvPr id="12" name="Straight Arrow Connector 11">
            <a:extLst>
              <a:ext uri="{FF2B5EF4-FFF2-40B4-BE49-F238E27FC236}">
                <a16:creationId xmlns:a16="http://schemas.microsoft.com/office/drawing/2014/main" id="{93C52AE0-E37E-4766-8970-9D40A67B35C2}"/>
              </a:ext>
            </a:extLst>
          </p:cNvPr>
          <p:cNvCxnSpPr>
            <a:cxnSpLocks/>
          </p:cNvCxnSpPr>
          <p:nvPr/>
        </p:nvCxnSpPr>
        <p:spPr>
          <a:xfrm flipV="1">
            <a:off x="1403648" y="3742660"/>
            <a:ext cx="478315" cy="4064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65678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par>
                                <p:cTn id="15" presetID="10"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animBg="1"/>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t>Example</a:t>
              </a:r>
            </a:p>
          </p:txBody>
        </p:sp>
        <p:cxnSp>
          <p:nvCxnSpPr>
            <p:cNvPr id="4" name="Straight Connector 3"/>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mc:AlternateContent xmlns:mc="http://schemas.openxmlformats.org/markup-compatibility/2006" xmlns:a14="http://schemas.microsoft.com/office/drawing/2010/main">
        <mc:Choice Requires="a14">
          <p:sp>
            <p:nvSpPr>
              <p:cNvPr id="5" name="TextBox 4"/>
              <p:cNvSpPr txBox="1"/>
              <p:nvPr/>
            </p:nvSpPr>
            <p:spPr>
              <a:xfrm>
                <a:off x="286952" y="692696"/>
                <a:ext cx="8568952" cy="646331"/>
              </a:xfrm>
              <a:prstGeom prst="rect">
                <a:avLst/>
              </a:prstGeom>
              <a:noFill/>
            </p:spPr>
            <p:txBody>
              <a:bodyPr wrap="square" rtlCol="0">
                <a:spAutoFit/>
              </a:bodyPr>
              <a:lstStyle/>
              <a:p>
                <a:r>
                  <a:rPr lang="en-GB" dirty="0"/>
                  <a:t>Important Note: With recurrence relation questions, the </a:t>
                </a:r>
                <a:r>
                  <a:rPr lang="en-GB" b="1" u="sng" dirty="0"/>
                  <a:t>the sequence will likely not be arithmetic nor geometric</a:t>
                </a:r>
                <a:r>
                  <a:rPr lang="en-GB" dirty="0"/>
                  <a:t>. So your previous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b="0" i="1" smtClean="0">
                            <a:latin typeface="Cambria Math" panose="02040503050406030204" pitchFamily="18" charset="0"/>
                          </a:rPr>
                          <m:t>𝑛</m:t>
                        </m:r>
                      </m:sub>
                    </m:sSub>
                  </m:oMath>
                </a14:m>
                <a:r>
                  <a:rPr lang="en-GB" dirty="0"/>
                  <a:t> and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𝑆</m:t>
                        </m:r>
                      </m:e>
                      <m:sub>
                        <m:r>
                          <a:rPr lang="en-GB" b="0" i="1" smtClean="0">
                            <a:latin typeface="Cambria Math" panose="02040503050406030204" pitchFamily="18" charset="0"/>
                          </a:rPr>
                          <m:t>𝑛</m:t>
                        </m:r>
                      </m:sub>
                    </m:sSub>
                  </m:oMath>
                </a14:m>
                <a:r>
                  <a:rPr lang="en-GB" dirty="0"/>
                  <a:t> formulae do not apply.</a:t>
                </a:r>
              </a:p>
            </p:txBody>
          </p:sp>
        </mc:Choice>
        <mc:Fallback xmlns="">
          <p:sp>
            <p:nvSpPr>
              <p:cNvPr id="5" name="TextBox 4"/>
              <p:cNvSpPr txBox="1">
                <a:spLocks noRot="1" noChangeAspect="1" noMove="1" noResize="1" noEditPoints="1" noAdjustHandles="1" noChangeArrowheads="1" noChangeShapeType="1" noTextEdit="1"/>
              </p:cNvSpPr>
              <p:nvPr/>
            </p:nvSpPr>
            <p:spPr>
              <a:xfrm>
                <a:off x="286952" y="692696"/>
                <a:ext cx="8568952" cy="646331"/>
              </a:xfrm>
              <a:prstGeom prst="rect">
                <a:avLst/>
              </a:prstGeom>
              <a:blipFill>
                <a:blip r:embed="rId2"/>
                <a:stretch>
                  <a:fillRect l="-569" t="-5660" b="-14151"/>
                </a:stretch>
              </a:blipFill>
            </p:spPr>
            <p:txBody>
              <a:bodyPr/>
              <a:lstStyle/>
              <a:p>
                <a:r>
                  <a:rPr lang="en-GB">
                    <a:noFill/>
                  </a:rPr>
                  <a:t> </a:t>
                </a:r>
              </a:p>
            </p:txBody>
          </p:sp>
        </mc:Fallback>
      </mc:AlternateContent>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1844824"/>
            <a:ext cx="7743825" cy="46958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611560" y="1463844"/>
            <a:ext cx="2664296"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dirty="0"/>
              <a:t>Edexcel C1 May 2013 (R)</a:t>
            </a:r>
          </a:p>
        </p:txBody>
      </p:sp>
      <mc:AlternateContent xmlns:mc="http://schemas.openxmlformats.org/markup-compatibility/2006" xmlns:a14="http://schemas.microsoft.com/office/drawing/2010/main">
        <mc:Choice Requires="a14">
          <p:sp>
            <p:nvSpPr>
              <p:cNvPr id="11" name="TextBox 10"/>
              <p:cNvSpPr txBox="1"/>
              <p:nvPr/>
            </p:nvSpPr>
            <p:spPr>
              <a:xfrm>
                <a:off x="4852772" y="3386470"/>
                <a:ext cx="2808312"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a:rPr>
                            <m:t>𝑥</m:t>
                          </m:r>
                        </m:e>
                        <m:sub>
                          <m:r>
                            <a:rPr lang="en-GB" b="0" i="1" smtClean="0">
                              <a:latin typeface="Cambria Math"/>
                            </a:rPr>
                            <m:t>2</m:t>
                          </m:r>
                        </m:sub>
                      </m:sSub>
                      <m:r>
                        <a:rPr lang="en-GB" b="0" i="1" smtClean="0">
                          <a:latin typeface="Cambria Math"/>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e>
                          </m:d>
                        </m:e>
                        <m:sup>
                          <m:r>
                            <a:rPr lang="en-GB" b="0" i="1" smtClean="0">
                              <a:latin typeface="Cambria Math" panose="02040503050406030204" pitchFamily="18" charset="0"/>
                            </a:rPr>
                            <m:t>2</m:t>
                          </m:r>
                        </m:sup>
                      </m:sSup>
                      <m:r>
                        <a:rPr lang="en-GB" b="0" i="1" smtClean="0">
                          <a:latin typeface="Cambria Math" panose="02040503050406030204" pitchFamily="18" charset="0"/>
                        </a:rPr>
                        <m:t>−</m:t>
                      </m:r>
                      <m:r>
                        <a:rPr lang="en-GB" b="0" i="1" smtClean="0">
                          <a:latin typeface="Cambria Math" panose="02040503050406030204" pitchFamily="18" charset="0"/>
                        </a:rPr>
                        <m:t>𝑘</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r>
                        <a:rPr lang="en-GB" b="0" i="1" smtClean="0">
                          <a:latin typeface="Cambria Math" panose="02040503050406030204" pitchFamily="18" charset="0"/>
                        </a:rPr>
                        <m:t>=1−</m:t>
                      </m:r>
                      <m:r>
                        <a:rPr lang="en-GB" b="0" i="1" smtClean="0">
                          <a:latin typeface="Cambria Math" panose="02040503050406030204" pitchFamily="18" charset="0"/>
                        </a:rPr>
                        <m:t>𝑘</m:t>
                      </m:r>
                    </m:oMath>
                  </m:oMathPara>
                </a14:m>
                <a:endParaRPr lang="en-GB" dirty="0"/>
              </a:p>
            </p:txBody>
          </p:sp>
        </mc:Choice>
        <mc:Fallback xmlns="">
          <p:sp>
            <p:nvSpPr>
              <p:cNvPr id="11" name="TextBox 10"/>
              <p:cNvSpPr txBox="1">
                <a:spLocks noRot="1" noChangeAspect="1" noMove="1" noResize="1" noEditPoints="1" noAdjustHandles="1" noChangeArrowheads="1" noChangeShapeType="1" noTextEdit="1"/>
              </p:cNvSpPr>
              <p:nvPr/>
            </p:nvSpPr>
            <p:spPr>
              <a:xfrm>
                <a:off x="4852772" y="3386470"/>
                <a:ext cx="2808312" cy="369332"/>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4788024" y="5013176"/>
                <a:ext cx="1080120" cy="495649"/>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b="0" i="1" smtClean="0">
                          <a:latin typeface="Cambria Math"/>
                        </a:rPr>
                        <m:t>𝑘</m:t>
                      </m:r>
                      <m:r>
                        <a:rPr lang="en-GB" sz="1400" b="0" i="1" smtClean="0">
                          <a:latin typeface="Cambria Math"/>
                        </a:rPr>
                        <m:t>=</m:t>
                      </m:r>
                      <m:f>
                        <m:fPr>
                          <m:ctrlPr>
                            <a:rPr lang="en-GB" sz="1400" b="0" i="1" smtClean="0">
                              <a:latin typeface="Cambria Math" panose="02040503050406030204" pitchFamily="18" charset="0"/>
                            </a:rPr>
                          </m:ctrlPr>
                        </m:fPr>
                        <m:num>
                          <m:r>
                            <a:rPr lang="en-GB" sz="1400" b="0" i="1" smtClean="0">
                              <a:latin typeface="Cambria Math"/>
                            </a:rPr>
                            <m:t>3</m:t>
                          </m:r>
                        </m:num>
                        <m:den>
                          <m:r>
                            <a:rPr lang="en-GB" sz="1400" b="0" i="1" smtClean="0">
                              <a:latin typeface="Cambria Math"/>
                            </a:rPr>
                            <m:t>2</m:t>
                          </m:r>
                        </m:den>
                      </m:f>
                    </m:oMath>
                  </m:oMathPara>
                </a14:m>
                <a:endParaRPr lang="en-GB" sz="1400" dirty="0"/>
              </a:p>
            </p:txBody>
          </p:sp>
        </mc:Choice>
        <mc:Fallback xmlns="">
          <p:sp>
            <p:nvSpPr>
              <p:cNvPr id="13" name="TextBox 12"/>
              <p:cNvSpPr txBox="1">
                <a:spLocks noRot="1" noChangeAspect="1" noMove="1" noResize="1" noEditPoints="1" noAdjustHandles="1" noChangeArrowheads="1" noChangeShapeType="1" noTextEdit="1"/>
              </p:cNvSpPr>
              <p:nvPr/>
            </p:nvSpPr>
            <p:spPr>
              <a:xfrm>
                <a:off x="4788024" y="5013176"/>
                <a:ext cx="1080120" cy="495649"/>
              </a:xfrm>
              <a:prstGeom prst="rect">
                <a:avLst/>
              </a:prstGeom>
              <a:blipFill rotWithShape="1">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3851920" y="4005064"/>
                <a:ext cx="3960440" cy="927049"/>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a:rPr>
                            <m:t>𝑥</m:t>
                          </m:r>
                        </m:e>
                        <m:sub>
                          <m:r>
                            <a:rPr lang="en-GB" b="0" i="1" smtClean="0">
                              <a:latin typeface="Cambria Math"/>
                            </a:rPr>
                            <m:t>3</m:t>
                          </m:r>
                        </m:sub>
                      </m:sSub>
                      <m:r>
                        <a:rPr lang="en-GB" b="0" i="1" smtClean="0">
                          <a:latin typeface="Cambria Math"/>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2</m:t>
                                  </m:r>
                                </m:sub>
                              </m:sSub>
                            </m:e>
                          </m:d>
                        </m:e>
                        <m:sup>
                          <m:r>
                            <a:rPr lang="en-GB" b="0" i="1" smtClean="0">
                              <a:latin typeface="Cambria Math" panose="02040503050406030204" pitchFamily="18" charset="0"/>
                            </a:rPr>
                            <m:t>2</m:t>
                          </m:r>
                        </m:sup>
                      </m:sSup>
                      <m:r>
                        <a:rPr lang="en-GB" b="0" i="1" smtClean="0">
                          <a:latin typeface="Cambria Math"/>
                        </a:rPr>
                        <m:t>−</m:t>
                      </m:r>
                      <m:r>
                        <a:rPr lang="en-GB" b="0" i="1" smtClean="0">
                          <a:latin typeface="Cambria Math"/>
                        </a:rPr>
                        <m:t>𝑘</m:t>
                      </m:r>
                      <m:sSub>
                        <m:sSubPr>
                          <m:ctrlPr>
                            <a:rPr lang="en-GB" b="0" i="1" smtClean="0">
                              <a:latin typeface="Cambria Math" panose="02040503050406030204" pitchFamily="18" charset="0"/>
                            </a:rPr>
                          </m:ctrlPr>
                        </m:sSubPr>
                        <m:e>
                          <m:r>
                            <a:rPr lang="en-GB" b="0" i="1" smtClean="0">
                              <a:latin typeface="Cambria Math"/>
                            </a:rPr>
                            <m:t>𝑥</m:t>
                          </m:r>
                        </m:e>
                        <m:sub>
                          <m:r>
                            <a:rPr lang="en-GB" b="0" i="1" smtClean="0">
                              <a:latin typeface="Cambria Math"/>
                            </a:rPr>
                            <m:t>2</m:t>
                          </m:r>
                        </m:sub>
                      </m:sSub>
                    </m:oMath>
                    <m:oMath xmlns:m="http://schemas.openxmlformats.org/officeDocument/2006/math">
                      <m:r>
                        <a:rPr lang="en-GB" b="0" i="1" smtClean="0">
                          <a:latin typeface="Cambria Math"/>
                        </a:rPr>
                        <m:t>     =</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a:rPr>
                                <m:t>1−</m:t>
                              </m:r>
                              <m:r>
                                <a:rPr lang="en-GB" b="0" i="1" smtClean="0">
                                  <a:latin typeface="Cambria Math"/>
                                </a:rPr>
                                <m:t>𝑘</m:t>
                              </m:r>
                            </m:e>
                          </m:d>
                        </m:e>
                        <m:sup>
                          <m:r>
                            <a:rPr lang="en-GB" b="0" i="1" smtClean="0">
                              <a:latin typeface="Cambria Math"/>
                            </a:rPr>
                            <m:t>2</m:t>
                          </m:r>
                        </m:sup>
                      </m:sSup>
                      <m:r>
                        <a:rPr lang="en-GB" b="0" i="1" smtClean="0">
                          <a:latin typeface="Cambria Math"/>
                        </a:rPr>
                        <m:t>−</m:t>
                      </m:r>
                      <m:r>
                        <a:rPr lang="en-GB" b="0" i="1" smtClean="0">
                          <a:latin typeface="Cambria Math"/>
                        </a:rPr>
                        <m:t>𝑘</m:t>
                      </m:r>
                      <m:d>
                        <m:dPr>
                          <m:ctrlPr>
                            <a:rPr lang="en-GB" b="0" i="1" smtClean="0">
                              <a:latin typeface="Cambria Math" panose="02040503050406030204" pitchFamily="18" charset="0"/>
                            </a:rPr>
                          </m:ctrlPr>
                        </m:dPr>
                        <m:e>
                          <m:r>
                            <a:rPr lang="en-GB" b="0" i="1" smtClean="0">
                              <a:latin typeface="Cambria Math"/>
                            </a:rPr>
                            <m:t>1−</m:t>
                          </m:r>
                          <m:r>
                            <a:rPr lang="en-GB" b="0" i="1" smtClean="0">
                              <a:latin typeface="Cambria Math"/>
                            </a:rPr>
                            <m:t>𝑘</m:t>
                          </m:r>
                        </m:e>
                      </m:d>
                    </m:oMath>
                    <m:oMath xmlns:m="http://schemas.openxmlformats.org/officeDocument/2006/math">
                      <m:r>
                        <a:rPr lang="en-GB" b="0" i="0" smtClean="0">
                          <a:latin typeface="Cambria Math"/>
                        </a:rPr>
                        <m:t> </m:t>
                      </m:r>
                      <m:r>
                        <a:rPr lang="en-GB" b="0" i="1" smtClean="0">
                          <a:latin typeface="Cambria Math"/>
                        </a:rPr>
                        <m:t>    =1−3</m:t>
                      </m:r>
                      <m:r>
                        <a:rPr lang="en-GB" b="0" i="1" smtClean="0">
                          <a:latin typeface="Cambria Math"/>
                        </a:rPr>
                        <m:t>𝑘</m:t>
                      </m:r>
                      <m:r>
                        <a:rPr lang="en-GB" b="0" i="1" smtClean="0">
                          <a:latin typeface="Cambria Math"/>
                        </a:rPr>
                        <m:t>+2</m:t>
                      </m:r>
                      <m:sSup>
                        <m:sSupPr>
                          <m:ctrlPr>
                            <a:rPr lang="en-GB" b="0" i="1" smtClean="0">
                              <a:latin typeface="Cambria Math" panose="02040503050406030204" pitchFamily="18" charset="0"/>
                            </a:rPr>
                          </m:ctrlPr>
                        </m:sSupPr>
                        <m:e>
                          <m:r>
                            <a:rPr lang="en-GB" b="0" i="1" smtClean="0">
                              <a:latin typeface="Cambria Math"/>
                            </a:rPr>
                            <m:t>𝑘</m:t>
                          </m:r>
                        </m:e>
                        <m:sup>
                          <m:r>
                            <a:rPr lang="en-GB" b="0" i="1" smtClean="0">
                              <a:latin typeface="Cambria Math"/>
                            </a:rPr>
                            <m:t>2</m:t>
                          </m:r>
                        </m:sup>
                      </m:sSup>
                    </m:oMath>
                  </m:oMathPara>
                </a14:m>
                <a:endParaRPr lang="en-GB" dirty="0"/>
              </a:p>
            </p:txBody>
          </p:sp>
        </mc:Choice>
        <mc:Fallback xmlns="">
          <p:sp>
            <p:nvSpPr>
              <p:cNvPr id="14" name="TextBox 13"/>
              <p:cNvSpPr txBox="1">
                <a:spLocks noRot="1" noChangeAspect="1" noMove="1" noResize="1" noEditPoints="1" noAdjustHandles="1" noChangeArrowheads="1" noChangeShapeType="1" noTextEdit="1"/>
              </p:cNvSpPr>
              <p:nvPr/>
            </p:nvSpPr>
            <p:spPr>
              <a:xfrm>
                <a:off x="3851920" y="4005064"/>
                <a:ext cx="3960440" cy="927049"/>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4685368" y="5569638"/>
                <a:ext cx="2790310" cy="922304"/>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a:rPr>
                        <m:t>=1+</m:t>
                      </m:r>
                      <m:d>
                        <m:dPr>
                          <m:ctrlPr>
                            <a:rPr lang="en-GB" sz="1200" b="0" i="1" smtClean="0">
                              <a:latin typeface="Cambria Math" panose="02040503050406030204" pitchFamily="18" charset="0"/>
                            </a:rPr>
                          </m:ctrlPr>
                        </m:dPr>
                        <m:e>
                          <m:r>
                            <a:rPr lang="en-GB" sz="1200" b="0" i="1" smtClean="0">
                              <a:latin typeface="Cambria Math"/>
                            </a:rPr>
                            <m:t>−</m:t>
                          </m:r>
                          <m:f>
                            <m:fPr>
                              <m:ctrlPr>
                                <a:rPr lang="en-GB" sz="1200" b="0" i="1" smtClean="0">
                                  <a:latin typeface="Cambria Math" panose="02040503050406030204" pitchFamily="18" charset="0"/>
                                </a:rPr>
                              </m:ctrlPr>
                            </m:fPr>
                            <m:num>
                              <m:r>
                                <a:rPr lang="en-GB" sz="1200" b="0" i="1" smtClean="0">
                                  <a:latin typeface="Cambria Math"/>
                                </a:rPr>
                                <m:t>1</m:t>
                              </m:r>
                            </m:num>
                            <m:den>
                              <m:r>
                                <a:rPr lang="en-GB" sz="1200" b="0" i="1" smtClean="0">
                                  <a:latin typeface="Cambria Math"/>
                                </a:rPr>
                                <m:t>2</m:t>
                              </m:r>
                            </m:den>
                          </m:f>
                        </m:e>
                      </m:d>
                      <m:r>
                        <a:rPr lang="en-GB" sz="1200" b="0" i="1" smtClean="0">
                          <a:latin typeface="Cambria Math"/>
                        </a:rPr>
                        <m:t>+1+</m:t>
                      </m:r>
                      <m:d>
                        <m:dPr>
                          <m:ctrlPr>
                            <a:rPr lang="en-GB" sz="1200" b="0" i="1" smtClean="0">
                              <a:latin typeface="Cambria Math" panose="02040503050406030204" pitchFamily="18" charset="0"/>
                            </a:rPr>
                          </m:ctrlPr>
                        </m:dPr>
                        <m:e>
                          <m:r>
                            <a:rPr lang="en-GB" sz="1200" b="0" i="1" smtClean="0">
                              <a:latin typeface="Cambria Math"/>
                            </a:rPr>
                            <m:t>−</m:t>
                          </m:r>
                          <m:f>
                            <m:fPr>
                              <m:ctrlPr>
                                <a:rPr lang="en-GB" sz="1200" b="0" i="1" smtClean="0">
                                  <a:latin typeface="Cambria Math" panose="02040503050406030204" pitchFamily="18" charset="0"/>
                                </a:rPr>
                              </m:ctrlPr>
                            </m:fPr>
                            <m:num>
                              <m:r>
                                <a:rPr lang="en-GB" sz="1200" b="0" i="1" smtClean="0">
                                  <a:latin typeface="Cambria Math"/>
                                </a:rPr>
                                <m:t>1</m:t>
                              </m:r>
                            </m:num>
                            <m:den>
                              <m:r>
                                <a:rPr lang="en-GB" sz="1200" b="0" i="1" smtClean="0">
                                  <a:latin typeface="Cambria Math"/>
                                </a:rPr>
                                <m:t>2</m:t>
                              </m:r>
                            </m:den>
                          </m:f>
                        </m:e>
                      </m:d>
                      <m:r>
                        <a:rPr lang="en-GB" sz="1200" b="0" i="1" smtClean="0">
                          <a:latin typeface="Cambria Math"/>
                        </a:rPr>
                        <m:t>+…</m:t>
                      </m:r>
                    </m:oMath>
                    <m:oMath xmlns:m="http://schemas.openxmlformats.org/officeDocument/2006/math">
                      <m:r>
                        <a:rPr lang="en-GB" sz="1200" b="0" i="1" smtClean="0">
                          <a:latin typeface="Cambria Math"/>
                        </a:rPr>
                        <m:t>=</m:t>
                      </m:r>
                      <m:r>
                        <a:rPr lang="en-GB" sz="1200" b="0" i="1" smtClean="0">
                          <a:latin typeface="Cambria Math" panose="02040503050406030204" pitchFamily="18" charset="0"/>
                        </a:rPr>
                        <m:t>50×</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1−</m:t>
                          </m:r>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1</m:t>
                              </m:r>
                            </m:num>
                            <m:den>
                              <m:r>
                                <a:rPr lang="en-GB" sz="1200" b="0" i="1" smtClean="0">
                                  <a:latin typeface="Cambria Math" panose="02040503050406030204" pitchFamily="18" charset="0"/>
                                </a:rPr>
                                <m:t>2</m:t>
                              </m:r>
                            </m:den>
                          </m:f>
                        </m:e>
                      </m:d>
                      <m:r>
                        <a:rPr lang="en-GB" sz="1200" b="0" i="1" smtClean="0">
                          <a:latin typeface="Cambria Math"/>
                        </a:rPr>
                        <m:t>=25</m:t>
                      </m:r>
                    </m:oMath>
                  </m:oMathPara>
                </a14:m>
                <a:endParaRPr lang="en-GB" sz="1200" dirty="0"/>
              </a:p>
            </p:txBody>
          </p:sp>
        </mc:Choice>
        <mc:Fallback xmlns="">
          <p:sp>
            <p:nvSpPr>
              <p:cNvPr id="15" name="TextBox 14"/>
              <p:cNvSpPr txBox="1">
                <a:spLocks noRot="1" noChangeAspect="1" noMove="1" noResize="1" noEditPoints="1" noAdjustHandles="1" noChangeArrowheads="1" noChangeShapeType="1" noTextEdit="1"/>
              </p:cNvSpPr>
              <p:nvPr/>
            </p:nvSpPr>
            <p:spPr>
              <a:xfrm>
                <a:off x="4685368" y="5569638"/>
                <a:ext cx="2790310" cy="922304"/>
              </a:xfrm>
              <a:prstGeom prst="rect">
                <a:avLst/>
              </a:prstGeom>
              <a:blipFill>
                <a:blip r:embed="rId7"/>
                <a:stretch>
                  <a:fillRect/>
                </a:stretch>
              </a:blipFill>
            </p:spPr>
            <p:txBody>
              <a:bodyPr/>
              <a:lstStyle/>
              <a:p>
                <a:r>
                  <a:rPr lang="en-GB">
                    <a:noFill/>
                  </a:rPr>
                  <a:t> </a:t>
                </a:r>
              </a:p>
            </p:txBody>
          </p:sp>
        </mc:Fallback>
      </mc:AlternateContent>
      <p:sp>
        <p:nvSpPr>
          <p:cNvPr id="16" name="Rectangle 15"/>
          <p:cNvSpPr/>
          <p:nvPr/>
        </p:nvSpPr>
        <p:spPr>
          <a:xfrm>
            <a:off x="4852772" y="3386469"/>
            <a:ext cx="2808312" cy="38098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17" name="Rectangle 16"/>
          <p:cNvSpPr/>
          <p:nvPr/>
        </p:nvSpPr>
        <p:spPr>
          <a:xfrm>
            <a:off x="3851920" y="4005065"/>
            <a:ext cx="3960439" cy="92704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18" name="Rectangle 17"/>
          <p:cNvSpPr/>
          <p:nvPr/>
        </p:nvSpPr>
        <p:spPr>
          <a:xfrm>
            <a:off x="4788024" y="5013177"/>
            <a:ext cx="1080120" cy="49564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19" name="Rectangle 18"/>
          <p:cNvSpPr/>
          <p:nvPr/>
        </p:nvSpPr>
        <p:spPr>
          <a:xfrm>
            <a:off x="4683161" y="5569637"/>
            <a:ext cx="2790310" cy="97101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59C7BCD-884B-4C25-9DB2-5A51F530CCBC}"/>
                  </a:ext>
                </a:extLst>
              </p:cNvPr>
              <p:cNvSpPr txBox="1"/>
              <p:nvPr/>
            </p:nvSpPr>
            <p:spPr>
              <a:xfrm>
                <a:off x="-11435" y="6075403"/>
                <a:ext cx="3201202" cy="769441"/>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100" b="1" dirty="0"/>
                  <a:t>Tip: </a:t>
                </a:r>
                <a:r>
                  <a:rPr lang="en-GB" sz="1100" dirty="0"/>
                  <a:t>When a </a:t>
                </a:r>
                <a14:m>
                  <m:oMath xmlns:m="http://schemas.openxmlformats.org/officeDocument/2006/math">
                    <m:r>
                      <m:rPr>
                        <m:sty m:val="p"/>
                      </m:rPr>
                      <a:rPr lang="en-GB" sz="1100" b="0" i="0" smtClean="0">
                        <a:latin typeface="Cambria Math" panose="02040503050406030204" pitchFamily="18" charset="0"/>
                      </a:rPr>
                      <m:t>Σ</m:t>
                    </m:r>
                  </m:oMath>
                </a14:m>
                <a:r>
                  <a:rPr lang="en-GB" sz="1100" dirty="0"/>
                  <a:t> question comes up for recurrence relations, it will most likely be some kind of repeating sequence. Just work out the sum of terms in each repeating bit, and how many times it repeats.</a:t>
                </a:r>
              </a:p>
            </p:txBody>
          </p:sp>
        </mc:Choice>
        <mc:Fallback xmlns="">
          <p:sp>
            <p:nvSpPr>
              <p:cNvPr id="8" name="TextBox 7">
                <a:extLst>
                  <a:ext uri="{FF2B5EF4-FFF2-40B4-BE49-F238E27FC236}">
                    <a16:creationId xmlns:a16="http://schemas.microsoft.com/office/drawing/2014/main" id="{059C7BCD-884B-4C25-9DB2-5A51F530CCBC}"/>
                  </a:ext>
                </a:extLst>
              </p:cNvPr>
              <p:cNvSpPr txBox="1">
                <a:spLocks noRot="1" noChangeAspect="1" noMove="1" noResize="1" noEditPoints="1" noAdjustHandles="1" noChangeArrowheads="1" noChangeShapeType="1" noTextEdit="1"/>
              </p:cNvSpPr>
              <p:nvPr/>
            </p:nvSpPr>
            <p:spPr>
              <a:xfrm>
                <a:off x="-11435" y="6075403"/>
                <a:ext cx="3201202" cy="769441"/>
              </a:xfrm>
              <a:prstGeom prst="rect">
                <a:avLst/>
              </a:prstGeom>
              <a:blipFill>
                <a:blip r:embed="rId8"/>
                <a:stretch>
                  <a:fillRect r="-567" b="-3077"/>
                </a:stretch>
              </a:blipFill>
            </p:spPr>
            <p:txBody>
              <a:bodyPr/>
              <a:lstStyle/>
              <a:p>
                <a:r>
                  <a:rPr lang="en-GB">
                    <a:noFill/>
                  </a:rPr>
                  <a:t> </a:t>
                </a:r>
              </a:p>
            </p:txBody>
          </p:sp>
        </mc:Fallback>
      </mc:AlternateContent>
      <p:cxnSp>
        <p:nvCxnSpPr>
          <p:cNvPr id="12" name="Straight Arrow Connector 11">
            <a:extLst>
              <a:ext uri="{FF2B5EF4-FFF2-40B4-BE49-F238E27FC236}">
                <a16:creationId xmlns:a16="http://schemas.microsoft.com/office/drawing/2014/main" id="{E116EC06-111C-4ECB-AE3C-E2A67CD653E8}"/>
              </a:ext>
            </a:extLst>
          </p:cNvPr>
          <p:cNvCxnSpPr/>
          <p:nvPr/>
        </p:nvCxnSpPr>
        <p:spPr>
          <a:xfrm flipV="1">
            <a:off x="3189767" y="6237312"/>
            <a:ext cx="1238217" cy="2546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9411692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8" restart="whenNotActive" fill="hold" evtFilter="cancelBubble" nodeType="interactiveSeq">
                <p:stCondLst>
                  <p:cond evt="onClick" delay="0">
                    <p:tgtEl>
                      <p:spTgt spid="1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7"/>
                                        </p:tgtEl>
                                      </p:cBhvr>
                                    </p:animEffect>
                                    <p:set>
                                      <p:cBhvr>
                                        <p:cTn id="13"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seq concurrent="1" nextAc="seek">
              <p:cTn id="14" restart="whenNotActive" fill="hold" evtFilter="cancelBubble" nodeType="interactiveSeq">
                <p:stCondLst>
                  <p:cond evt="onClick" delay="0">
                    <p:tgtEl>
                      <p:spTgt spid="18"/>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8"/>
                                        </p:tgtEl>
                                      </p:cBhvr>
                                    </p:animEffect>
                                    <p:set>
                                      <p:cBhvr>
                                        <p:cTn id="19"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20" restart="whenNotActive" fill="hold" evtFilter="cancelBubble" nodeType="interactiveSeq">
                <p:stCondLst>
                  <p:cond evt="onClick" delay="0">
                    <p:tgtEl>
                      <p:spTgt spid="19"/>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19"/>
                                        </p:tgtEl>
                                      </p:cBhvr>
                                    </p:animEffect>
                                    <p:set>
                                      <p:cBhvr>
                                        <p:cTn id="25" dur="1" fill="hold">
                                          <p:stCondLst>
                                            <p:cond delay="499"/>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childTnLst>
        </p:cTn>
      </p:par>
    </p:tnLst>
    <p:bldLst>
      <p:bldP spid="16" grpId="0" animBg="1"/>
      <p:bldP spid="17" grpId="0" animBg="1"/>
      <p:bldP spid="18" grpId="0" animBg="1"/>
      <p:bldP spid="1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t>Test Your Understanding</a:t>
              </a:r>
            </a:p>
          </p:txBody>
        </p:sp>
        <p:cxnSp>
          <p:nvCxnSpPr>
            <p:cNvPr id="4" name="Straight Connector 3"/>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196752"/>
            <a:ext cx="8125556" cy="41764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251520" y="790277"/>
            <a:ext cx="2448272"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b="1" dirty="0"/>
              <a:t>Edexcel C1 Jan 2012</a:t>
            </a:r>
          </a:p>
        </p:txBody>
      </p:sp>
      <mc:AlternateContent xmlns:mc="http://schemas.openxmlformats.org/markup-compatibility/2006" xmlns:a14="http://schemas.microsoft.com/office/drawing/2010/main">
        <mc:Choice Requires="a14">
          <p:sp>
            <p:nvSpPr>
              <p:cNvPr id="5" name="TextBox 4"/>
              <p:cNvSpPr txBox="1"/>
              <p:nvPr/>
            </p:nvSpPr>
            <p:spPr>
              <a:xfrm>
                <a:off x="6012160" y="3100318"/>
                <a:ext cx="1440160"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a:rPr>
                            <m:t>𝑥</m:t>
                          </m:r>
                        </m:e>
                        <m:sub>
                          <m:r>
                            <a:rPr lang="en-GB" b="0" i="1" smtClean="0">
                              <a:latin typeface="Cambria Math"/>
                            </a:rPr>
                            <m:t>2</m:t>
                          </m:r>
                        </m:sub>
                      </m:sSub>
                      <m:r>
                        <a:rPr lang="en-GB" b="0" i="1" smtClean="0">
                          <a:latin typeface="Cambria Math"/>
                        </a:rPr>
                        <m:t>=</m:t>
                      </m:r>
                      <m:r>
                        <a:rPr lang="en-GB" b="0" i="1" smtClean="0">
                          <a:latin typeface="Cambria Math"/>
                        </a:rPr>
                        <m:t>𝑎</m:t>
                      </m:r>
                      <m:r>
                        <a:rPr lang="en-GB" b="0" i="1" smtClean="0">
                          <a:latin typeface="Cambria Math"/>
                        </a:rPr>
                        <m:t>+5</m:t>
                      </m:r>
                    </m:oMath>
                  </m:oMathPara>
                </a14:m>
                <a:endParaRPr lang="en-GB" dirty="0"/>
              </a:p>
            </p:txBody>
          </p:sp>
        </mc:Choice>
        <mc:Fallback xmlns="">
          <p:sp>
            <p:nvSpPr>
              <p:cNvPr id="5" name="TextBox 4"/>
              <p:cNvSpPr txBox="1">
                <a:spLocks noRot="1" noChangeAspect="1" noMove="1" noResize="1" noEditPoints="1" noAdjustHandles="1" noChangeArrowheads="1" noChangeShapeType="1" noTextEdit="1"/>
              </p:cNvSpPr>
              <p:nvPr/>
            </p:nvSpPr>
            <p:spPr>
              <a:xfrm>
                <a:off x="6012160" y="3100318"/>
                <a:ext cx="1440160" cy="369332"/>
              </a:xfrm>
              <a:prstGeom prst="rect">
                <a:avLst/>
              </a:prstGeom>
              <a:blipFill rotWithShape="1">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3810242" y="3645024"/>
                <a:ext cx="3642078"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a:rPr>
                            <m:t>𝑥</m:t>
                          </m:r>
                        </m:e>
                        <m:sub>
                          <m:r>
                            <a:rPr lang="en-GB" b="0" i="1" smtClean="0">
                              <a:latin typeface="Cambria Math"/>
                            </a:rPr>
                            <m:t>3</m:t>
                          </m:r>
                        </m:sub>
                      </m:sSub>
                      <m:r>
                        <a:rPr lang="en-GB" b="0" i="1" smtClean="0">
                          <a:latin typeface="Cambria Math"/>
                        </a:rPr>
                        <m:t>=</m:t>
                      </m:r>
                      <m:r>
                        <a:rPr lang="en-GB" b="0" i="1" smtClean="0">
                          <a:latin typeface="Cambria Math"/>
                        </a:rPr>
                        <m:t>𝑎</m:t>
                      </m:r>
                      <m:d>
                        <m:dPr>
                          <m:ctrlPr>
                            <a:rPr lang="en-GB" b="0" i="1" smtClean="0">
                              <a:latin typeface="Cambria Math" panose="02040503050406030204" pitchFamily="18" charset="0"/>
                            </a:rPr>
                          </m:ctrlPr>
                        </m:dPr>
                        <m:e>
                          <m:r>
                            <a:rPr lang="en-GB" b="0" i="1" smtClean="0">
                              <a:latin typeface="Cambria Math"/>
                            </a:rPr>
                            <m:t>𝑎</m:t>
                          </m:r>
                          <m:r>
                            <a:rPr lang="en-GB" b="0" i="1" smtClean="0">
                              <a:latin typeface="Cambria Math"/>
                            </a:rPr>
                            <m:t>+5</m:t>
                          </m:r>
                        </m:e>
                      </m:d>
                      <m:r>
                        <a:rPr lang="en-GB" b="0" i="1" smtClean="0">
                          <a:latin typeface="Cambria Math"/>
                        </a:rPr>
                        <m:t>+5=…</m:t>
                      </m:r>
                    </m:oMath>
                  </m:oMathPara>
                </a14:m>
                <a:endParaRPr lang="en-GB" dirty="0"/>
              </a:p>
            </p:txBody>
          </p:sp>
        </mc:Choice>
        <mc:Fallback xmlns="">
          <p:sp>
            <p:nvSpPr>
              <p:cNvPr id="8" name="TextBox 7"/>
              <p:cNvSpPr txBox="1">
                <a:spLocks noRot="1" noChangeAspect="1" noMove="1" noResize="1" noEditPoints="1" noAdjustHandles="1" noChangeArrowheads="1" noChangeShapeType="1" noTextEdit="1"/>
              </p:cNvSpPr>
              <p:nvPr/>
            </p:nvSpPr>
            <p:spPr>
              <a:xfrm>
                <a:off x="3810242" y="3645024"/>
                <a:ext cx="3642078" cy="369332"/>
              </a:xfrm>
              <a:prstGeom prst="rect">
                <a:avLst/>
              </a:prstGeom>
              <a:blipFill rotWithShape="1">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4932040" y="4653136"/>
                <a:ext cx="2664296" cy="1200329"/>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a:rPr>
                            <m:t>𝑎</m:t>
                          </m:r>
                        </m:e>
                        <m:sup>
                          <m:r>
                            <a:rPr lang="en-GB" b="0" i="1" smtClean="0">
                              <a:latin typeface="Cambria Math"/>
                            </a:rPr>
                            <m:t>2</m:t>
                          </m:r>
                        </m:sup>
                      </m:sSup>
                      <m:r>
                        <a:rPr lang="en-GB" b="0" i="1" smtClean="0">
                          <a:latin typeface="Cambria Math"/>
                        </a:rPr>
                        <m:t>+5</m:t>
                      </m:r>
                      <m:r>
                        <a:rPr lang="en-GB" b="0" i="1" smtClean="0">
                          <a:latin typeface="Cambria Math"/>
                        </a:rPr>
                        <m:t>𝑎</m:t>
                      </m:r>
                      <m:r>
                        <a:rPr lang="en-GB" b="0" i="1" smtClean="0">
                          <a:latin typeface="Cambria Math"/>
                        </a:rPr>
                        <m:t>+5=41</m:t>
                      </m:r>
                    </m:oMath>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a:rPr>
                            <m:t>𝑎</m:t>
                          </m:r>
                        </m:e>
                        <m:sup>
                          <m:r>
                            <a:rPr lang="en-GB" b="0" i="1" smtClean="0">
                              <a:latin typeface="Cambria Math"/>
                            </a:rPr>
                            <m:t>2</m:t>
                          </m:r>
                        </m:sup>
                      </m:sSup>
                      <m:r>
                        <a:rPr lang="en-GB" b="0" i="1" smtClean="0">
                          <a:latin typeface="Cambria Math"/>
                        </a:rPr>
                        <m:t>+5</m:t>
                      </m:r>
                      <m:r>
                        <a:rPr lang="en-GB" b="0" i="1" smtClean="0">
                          <a:latin typeface="Cambria Math"/>
                        </a:rPr>
                        <m:t>𝑎</m:t>
                      </m:r>
                      <m:r>
                        <a:rPr lang="en-GB" b="0" i="1" smtClean="0">
                          <a:latin typeface="Cambria Math"/>
                        </a:rPr>
                        <m:t>−36=0</m:t>
                      </m:r>
                    </m:oMath>
                    <m:oMath xmlns:m="http://schemas.openxmlformats.org/officeDocument/2006/math">
                      <m:d>
                        <m:dPr>
                          <m:ctrlPr>
                            <a:rPr lang="en-GB" b="0" i="1" smtClean="0">
                              <a:latin typeface="Cambria Math" panose="02040503050406030204" pitchFamily="18" charset="0"/>
                            </a:rPr>
                          </m:ctrlPr>
                        </m:dPr>
                        <m:e>
                          <m:r>
                            <a:rPr lang="en-GB" b="0" i="1" smtClean="0">
                              <a:latin typeface="Cambria Math"/>
                            </a:rPr>
                            <m:t>𝑎</m:t>
                          </m:r>
                          <m:r>
                            <a:rPr lang="en-GB" b="0" i="1" smtClean="0">
                              <a:latin typeface="Cambria Math"/>
                            </a:rPr>
                            <m:t>+9</m:t>
                          </m:r>
                        </m:e>
                      </m:d>
                      <m:d>
                        <m:dPr>
                          <m:ctrlPr>
                            <a:rPr lang="en-GB" b="0" i="1" smtClean="0">
                              <a:latin typeface="Cambria Math" panose="02040503050406030204" pitchFamily="18" charset="0"/>
                            </a:rPr>
                          </m:ctrlPr>
                        </m:dPr>
                        <m:e>
                          <m:r>
                            <a:rPr lang="en-GB" b="0" i="1" smtClean="0">
                              <a:latin typeface="Cambria Math"/>
                            </a:rPr>
                            <m:t>𝑎</m:t>
                          </m:r>
                          <m:r>
                            <a:rPr lang="en-GB" b="0" i="1" smtClean="0">
                              <a:latin typeface="Cambria Math"/>
                            </a:rPr>
                            <m:t>−4</m:t>
                          </m:r>
                        </m:e>
                      </m:d>
                      <m:r>
                        <a:rPr lang="en-GB" b="0" i="1" smtClean="0">
                          <a:latin typeface="Cambria Math"/>
                        </a:rPr>
                        <m:t>=0</m:t>
                      </m:r>
                    </m:oMath>
                    <m:oMath xmlns:m="http://schemas.openxmlformats.org/officeDocument/2006/math">
                      <m:r>
                        <a:rPr lang="en-GB" b="0" i="1" smtClean="0">
                          <a:latin typeface="Cambria Math"/>
                        </a:rPr>
                        <m:t>𝑎</m:t>
                      </m:r>
                      <m:r>
                        <a:rPr lang="en-GB" b="0" i="1" smtClean="0">
                          <a:latin typeface="Cambria Math"/>
                        </a:rPr>
                        <m:t>=−9 </m:t>
                      </m:r>
                      <m:r>
                        <a:rPr lang="en-GB" b="0" i="1" smtClean="0">
                          <a:latin typeface="Cambria Math"/>
                        </a:rPr>
                        <m:t>𝑜𝑟</m:t>
                      </m:r>
                      <m:r>
                        <a:rPr lang="en-GB" b="0" i="1" smtClean="0">
                          <a:latin typeface="Cambria Math"/>
                        </a:rPr>
                        <m:t> 4</m:t>
                      </m:r>
                    </m:oMath>
                  </m:oMathPara>
                </a14:m>
                <a:endParaRPr lang="en-GB" dirty="0"/>
              </a:p>
            </p:txBody>
          </p:sp>
        </mc:Choice>
        <mc:Fallback xmlns="">
          <p:sp>
            <p:nvSpPr>
              <p:cNvPr id="9" name="TextBox 8"/>
              <p:cNvSpPr txBox="1">
                <a:spLocks noRot="1" noChangeAspect="1" noMove="1" noResize="1" noEditPoints="1" noAdjustHandles="1" noChangeArrowheads="1" noChangeShapeType="1" noTextEdit="1"/>
              </p:cNvSpPr>
              <p:nvPr/>
            </p:nvSpPr>
            <p:spPr>
              <a:xfrm>
                <a:off x="4932040" y="4653136"/>
                <a:ext cx="2664296" cy="1200329"/>
              </a:xfrm>
              <a:prstGeom prst="rect">
                <a:avLst/>
              </a:prstGeom>
              <a:blipFill rotWithShape="1">
                <a:blip r:embed="rId5"/>
                <a:stretch>
                  <a:fillRect/>
                </a:stretch>
              </a:blipFill>
            </p:spPr>
            <p:txBody>
              <a:bodyPr/>
              <a:lstStyle/>
              <a:p>
                <a:r>
                  <a:rPr lang="en-GB">
                    <a:noFill/>
                  </a:rPr>
                  <a:t> </a:t>
                </a:r>
              </a:p>
            </p:txBody>
          </p:sp>
        </mc:Fallback>
      </mc:AlternateContent>
      <p:sp>
        <p:nvSpPr>
          <p:cNvPr id="10" name="Rectangle 9"/>
          <p:cNvSpPr/>
          <p:nvPr/>
        </p:nvSpPr>
        <p:spPr>
          <a:xfrm>
            <a:off x="6012160" y="3096978"/>
            <a:ext cx="1463492" cy="37267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11" name="Rectangle 10"/>
          <p:cNvSpPr/>
          <p:nvPr/>
        </p:nvSpPr>
        <p:spPr>
          <a:xfrm>
            <a:off x="3810242" y="3641684"/>
            <a:ext cx="3642078" cy="37267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12" name="Rectangle 11"/>
          <p:cNvSpPr/>
          <p:nvPr/>
        </p:nvSpPr>
        <p:spPr>
          <a:xfrm>
            <a:off x="4932040" y="4653135"/>
            <a:ext cx="2664296" cy="120032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Tree>
    <p:extLst>
      <p:ext uri="{BB962C8B-B14F-4D97-AF65-F5344CB8AC3E}">
        <p14:creationId xmlns:p14="http://schemas.microsoft.com/office/powerpoint/2010/main" val="378754941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1"/>
                                        </p:tgtEl>
                                      </p:cBhvr>
                                    </p:animEffect>
                                    <p:set>
                                      <p:cBhvr>
                                        <p:cTn id="13"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14" restart="whenNotActive" fill="hold" evtFilter="cancelBubble" nodeType="interactiveSeq">
                <p:stCondLst>
                  <p:cond evt="onClick" delay="0">
                    <p:tgtEl>
                      <p:spTgt spid="12"/>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2"/>
                                        </p:tgtEl>
                                      </p:cBhvr>
                                    </p:animEffect>
                                    <p:set>
                                      <p:cBhvr>
                                        <p:cTn id="19"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childTnLst>
        </p:cTn>
      </p:par>
    </p:tnLst>
    <p:bldLst>
      <p:bldP spid="10" grpId="0" animBg="1"/>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A5975FEF-E97C-28BE-C025-EDE7DFD6611E}"/>
              </a:ext>
            </a:extLst>
          </p:cNvPr>
          <p:cNvPicPr>
            <a:picLocks noChangeAspect="1"/>
          </p:cNvPicPr>
          <p:nvPr/>
        </p:nvPicPr>
        <p:blipFill>
          <a:blip r:embed="rId2"/>
          <a:stretch>
            <a:fillRect/>
          </a:stretch>
        </p:blipFill>
        <p:spPr>
          <a:xfrm>
            <a:off x="4379415" y="1617618"/>
            <a:ext cx="4696082" cy="2899714"/>
          </a:xfrm>
          <a:prstGeom prst="rect">
            <a:avLst/>
          </a:prstGeom>
        </p:spPr>
      </p:pic>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latin typeface="+mj-lt"/>
                </a:rPr>
                <a:t>Exercise 3.7</a:t>
              </a:r>
              <a:endParaRPr lang="en-GB" sz="3200" dirty="0"/>
            </a:p>
          </p:txBody>
        </p:sp>
        <p:cxnSp>
          <p:nvCxnSpPr>
            <p:cNvPr id="4" name="Straight Connector 3"/>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sp>
        <p:nvSpPr>
          <p:cNvPr id="5" name="TextBox 4"/>
          <p:cNvSpPr txBox="1"/>
          <p:nvPr/>
        </p:nvSpPr>
        <p:spPr>
          <a:xfrm>
            <a:off x="381020" y="658191"/>
            <a:ext cx="7920880" cy="830997"/>
          </a:xfrm>
          <a:prstGeom prst="rect">
            <a:avLst/>
          </a:prstGeom>
          <a:noFill/>
        </p:spPr>
        <p:txBody>
          <a:bodyPr wrap="square" rtlCol="0">
            <a:spAutoFit/>
          </a:bodyPr>
          <a:lstStyle/>
          <a:p>
            <a:r>
              <a:rPr lang="en-GB" sz="2400" dirty="0"/>
              <a:t>Pearson Pure Mathematics Year 2/AS</a:t>
            </a:r>
          </a:p>
          <a:p>
            <a:r>
              <a:rPr lang="en-GB" sz="2400"/>
              <a:t>Page 25</a:t>
            </a:r>
            <a:endParaRPr lang="en-GB" sz="2400" dirty="0"/>
          </a:p>
        </p:txBody>
      </p:sp>
      <p:cxnSp>
        <p:nvCxnSpPr>
          <p:cNvPr id="6" name="Straight Connector 5"/>
          <p:cNvCxnSpPr/>
          <p:nvPr/>
        </p:nvCxnSpPr>
        <p:spPr>
          <a:xfrm>
            <a:off x="0" y="1556792"/>
            <a:ext cx="9144000"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E695793-2684-7F0D-F2A0-E61596F21DEF}"/>
                  </a:ext>
                </a:extLst>
              </p:cNvPr>
              <p:cNvSpPr txBox="1"/>
              <p:nvPr/>
            </p:nvSpPr>
            <p:spPr>
              <a:xfrm>
                <a:off x="381020" y="1754903"/>
                <a:ext cx="4248473" cy="2377189"/>
              </a:xfrm>
              <a:prstGeom prst="rect">
                <a:avLst/>
              </a:prstGeom>
              <a:noFill/>
            </p:spPr>
            <p:txBody>
              <a:bodyPr wrap="square" rtlCol="0">
                <a:spAutoFit/>
              </a:bodyPr>
              <a:lstStyle/>
              <a:p>
                <a:r>
                  <a:rPr lang="en-GB" sz="1400" i="1" dirty="0"/>
                  <a:t>[AEA 2011 Q3] </a:t>
                </a:r>
                <a:r>
                  <a:rPr lang="en-GB" sz="1400" dirty="0"/>
                  <a:t>A sequence </a:t>
                </a:r>
                <a14:m>
                  <m:oMath xmlns:m="http://schemas.openxmlformats.org/officeDocument/2006/math">
                    <m:r>
                      <a:rPr lang="en-GB" sz="1400" b="0" i="1" smtClean="0">
                        <a:latin typeface="Cambria Math" panose="02040503050406030204" pitchFamily="18" charset="0"/>
                      </a:rPr>
                      <m:t>{</m:t>
                    </m:r>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𝑢</m:t>
                        </m:r>
                      </m:e>
                      <m:sub>
                        <m:r>
                          <a:rPr lang="en-GB" sz="1400" b="0" i="1" smtClean="0">
                            <a:latin typeface="Cambria Math" panose="02040503050406030204" pitchFamily="18" charset="0"/>
                          </a:rPr>
                          <m:t>𝑛</m:t>
                        </m:r>
                      </m:sub>
                    </m:sSub>
                    <m:r>
                      <a:rPr lang="en-GB" sz="1400" b="0" i="1" smtClean="0">
                        <a:latin typeface="Cambria Math" panose="02040503050406030204" pitchFamily="18" charset="0"/>
                      </a:rPr>
                      <m:t>}</m:t>
                    </m:r>
                  </m:oMath>
                </a14:m>
                <a:r>
                  <a:rPr lang="en-GB" sz="1400" dirty="0"/>
                  <a:t> is given by</a:t>
                </a:r>
              </a:p>
              <a:p>
                <a:pPr/>
                <a14:m>
                  <m:oMathPara xmlns:m="http://schemas.openxmlformats.org/officeDocument/2006/math">
                    <m:oMathParaPr>
                      <m:jc m:val="centerGroup"/>
                    </m:oMathParaPr>
                    <m:oMath xmlns:m="http://schemas.openxmlformats.org/officeDocument/2006/math">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𝑢</m:t>
                          </m:r>
                        </m:e>
                        <m:sub>
                          <m:r>
                            <a:rPr lang="en-GB" sz="1400" b="0" i="1" smtClean="0">
                              <a:latin typeface="Cambria Math" panose="02040503050406030204" pitchFamily="18" charset="0"/>
                            </a:rPr>
                            <m:t>1</m:t>
                          </m:r>
                        </m:sub>
                      </m:sSub>
                      <m:r>
                        <a:rPr lang="en-GB" sz="1400" b="0" i="1" smtClean="0">
                          <a:latin typeface="Cambria Math" panose="02040503050406030204" pitchFamily="18" charset="0"/>
                        </a:rPr>
                        <m:t>=</m:t>
                      </m:r>
                      <m:r>
                        <a:rPr lang="en-GB" sz="1400" b="0" i="1" smtClean="0">
                          <a:latin typeface="Cambria Math" panose="02040503050406030204" pitchFamily="18" charset="0"/>
                        </a:rPr>
                        <m:t>𝑘</m:t>
                      </m:r>
                    </m:oMath>
                    <m:oMath xmlns:m="http://schemas.openxmlformats.org/officeDocument/2006/math">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𝑢</m:t>
                          </m:r>
                        </m:e>
                        <m:sub>
                          <m:r>
                            <a:rPr lang="en-GB" sz="1400" b="0" i="1" smtClean="0">
                              <a:latin typeface="Cambria Math" panose="02040503050406030204" pitchFamily="18" charset="0"/>
                            </a:rPr>
                            <m:t>2</m:t>
                          </m:r>
                          <m:r>
                            <a:rPr lang="en-GB" sz="1400" b="0" i="1" smtClean="0">
                              <a:latin typeface="Cambria Math" panose="02040503050406030204" pitchFamily="18" charset="0"/>
                            </a:rPr>
                            <m:t>𝑛</m:t>
                          </m:r>
                        </m:sub>
                      </m:sSub>
                      <m:r>
                        <a:rPr lang="en-GB" sz="1400" b="0" i="1" smtClean="0">
                          <a:latin typeface="Cambria Math" panose="02040503050406030204" pitchFamily="18" charset="0"/>
                        </a:rPr>
                        <m:t>=</m:t>
                      </m:r>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𝑢</m:t>
                          </m:r>
                        </m:e>
                        <m:sub>
                          <m:r>
                            <a:rPr lang="en-GB" sz="1400" b="0" i="1" smtClean="0">
                              <a:latin typeface="Cambria Math" panose="02040503050406030204" pitchFamily="18" charset="0"/>
                            </a:rPr>
                            <m:t>2</m:t>
                          </m:r>
                          <m:r>
                            <a:rPr lang="en-GB" sz="1400" b="0" i="1" smtClean="0">
                              <a:latin typeface="Cambria Math" panose="02040503050406030204" pitchFamily="18" charset="0"/>
                            </a:rPr>
                            <m:t>𝑛</m:t>
                          </m:r>
                          <m:r>
                            <a:rPr lang="en-GB" sz="1400" b="0" i="1" smtClean="0">
                              <a:latin typeface="Cambria Math" panose="02040503050406030204" pitchFamily="18" charset="0"/>
                            </a:rPr>
                            <m:t>−1</m:t>
                          </m:r>
                        </m:sub>
                      </m:sSub>
                      <m:r>
                        <a:rPr lang="en-GB" sz="1400" b="0" i="1" smtClean="0">
                          <a:latin typeface="Cambria Math" panose="02040503050406030204" pitchFamily="18" charset="0"/>
                        </a:rPr>
                        <m:t>×</m:t>
                      </m:r>
                      <m:r>
                        <a:rPr lang="en-GB" sz="1400" b="0" i="1" smtClean="0">
                          <a:latin typeface="Cambria Math" panose="02040503050406030204" pitchFamily="18" charset="0"/>
                        </a:rPr>
                        <m:t>𝑝</m:t>
                      </m:r>
                      <m:r>
                        <a:rPr lang="en-GB" sz="1400" b="0" i="1" smtClean="0">
                          <a:latin typeface="Cambria Math" panose="02040503050406030204" pitchFamily="18" charset="0"/>
                        </a:rPr>
                        <m:t>,   </m:t>
                      </m:r>
                      <m:r>
                        <a:rPr lang="en-GB" sz="1400" b="0" i="1" smtClean="0">
                          <a:latin typeface="Cambria Math" panose="02040503050406030204" pitchFamily="18" charset="0"/>
                        </a:rPr>
                        <m:t>𝑛</m:t>
                      </m:r>
                      <m:r>
                        <a:rPr lang="en-GB" sz="1400" b="0" i="1" smtClean="0">
                          <a:latin typeface="Cambria Math" panose="02040503050406030204" pitchFamily="18" charset="0"/>
                        </a:rPr>
                        <m:t>≥1</m:t>
                      </m:r>
                    </m:oMath>
                    <m:oMath xmlns:m="http://schemas.openxmlformats.org/officeDocument/2006/math">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𝑢</m:t>
                          </m:r>
                        </m:e>
                        <m:sub>
                          <m:r>
                            <a:rPr lang="en-GB" sz="1400" b="0" i="1" smtClean="0">
                              <a:latin typeface="Cambria Math" panose="02040503050406030204" pitchFamily="18" charset="0"/>
                            </a:rPr>
                            <m:t>2</m:t>
                          </m:r>
                          <m:r>
                            <a:rPr lang="en-GB" sz="1400" b="0" i="1" smtClean="0">
                              <a:latin typeface="Cambria Math" panose="02040503050406030204" pitchFamily="18" charset="0"/>
                            </a:rPr>
                            <m:t>𝑛</m:t>
                          </m:r>
                          <m:r>
                            <a:rPr lang="en-GB" sz="1400" b="0" i="1" smtClean="0">
                              <a:latin typeface="Cambria Math" panose="02040503050406030204" pitchFamily="18" charset="0"/>
                            </a:rPr>
                            <m:t>+1</m:t>
                          </m:r>
                        </m:sub>
                      </m:sSub>
                      <m:r>
                        <a:rPr lang="en-GB" sz="1400" b="0" i="1" smtClean="0">
                          <a:latin typeface="Cambria Math" panose="02040503050406030204" pitchFamily="18" charset="0"/>
                        </a:rPr>
                        <m:t>=</m:t>
                      </m:r>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𝑢</m:t>
                          </m:r>
                        </m:e>
                        <m:sub>
                          <m:r>
                            <a:rPr lang="en-GB" sz="1400" b="0" i="1" smtClean="0">
                              <a:latin typeface="Cambria Math" panose="02040503050406030204" pitchFamily="18" charset="0"/>
                            </a:rPr>
                            <m:t>2</m:t>
                          </m:r>
                          <m:r>
                            <a:rPr lang="en-GB" sz="1400" b="0" i="1" smtClean="0">
                              <a:latin typeface="Cambria Math" panose="02040503050406030204" pitchFamily="18" charset="0"/>
                            </a:rPr>
                            <m:t>𝑛</m:t>
                          </m:r>
                        </m:sub>
                      </m:sSub>
                      <m:r>
                        <a:rPr lang="en-GB" sz="1400" b="0" i="1" smtClean="0">
                          <a:latin typeface="Cambria Math" panose="02040503050406030204" pitchFamily="18" charset="0"/>
                        </a:rPr>
                        <m:t>×</m:t>
                      </m:r>
                      <m:r>
                        <a:rPr lang="en-GB" sz="1400" b="0" i="1" smtClean="0">
                          <a:latin typeface="Cambria Math" panose="02040503050406030204" pitchFamily="18" charset="0"/>
                        </a:rPr>
                        <m:t>𝑞</m:t>
                      </m:r>
                      <m:r>
                        <a:rPr lang="en-GB" sz="1400" b="0" i="1" smtClean="0">
                          <a:latin typeface="Cambria Math" panose="02040503050406030204" pitchFamily="18" charset="0"/>
                        </a:rPr>
                        <m:t>           </m:t>
                      </m:r>
                      <m:r>
                        <a:rPr lang="en-GB" sz="1400" b="0" i="1" smtClean="0">
                          <a:latin typeface="Cambria Math" panose="02040503050406030204" pitchFamily="18" charset="0"/>
                        </a:rPr>
                        <m:t>𝑛</m:t>
                      </m:r>
                      <m:r>
                        <a:rPr lang="en-GB" sz="1400" b="0" i="1" smtClean="0">
                          <a:latin typeface="Cambria Math" panose="02040503050406030204" pitchFamily="18" charset="0"/>
                        </a:rPr>
                        <m:t>≥1</m:t>
                      </m:r>
                    </m:oMath>
                  </m:oMathPara>
                </a14:m>
                <a:endParaRPr lang="en-GB" sz="1400" dirty="0"/>
              </a:p>
              <a:p>
                <a:pPr marL="342900" indent="-342900">
                  <a:buAutoNum type="alphaLcParenBoth"/>
                </a:pPr>
                <a:r>
                  <a:rPr lang="en-GB" sz="1400" dirty="0"/>
                  <a:t>Write down the first 6 terms in the sequence.</a:t>
                </a:r>
              </a:p>
              <a:p>
                <a:pPr marL="342900" indent="-342900">
                  <a:buAutoNum type="alphaLcParenBoth"/>
                </a:pPr>
                <a:r>
                  <a:rPr lang="en-GB" sz="1400" dirty="0"/>
                  <a:t>Show that </a:t>
                </a:r>
                <a14:m>
                  <m:oMath xmlns:m="http://schemas.openxmlformats.org/officeDocument/2006/math">
                    <m:nary>
                      <m:naryPr>
                        <m:chr m:val="∑"/>
                        <m:ctrlPr>
                          <a:rPr lang="en-GB" sz="1400" i="1" smtClean="0">
                            <a:latin typeface="Cambria Math" panose="02040503050406030204" pitchFamily="18" charset="0"/>
                          </a:rPr>
                        </m:ctrlPr>
                      </m:naryPr>
                      <m:sub>
                        <m:r>
                          <m:rPr>
                            <m:brk m:alnAt="23"/>
                          </m:rPr>
                          <a:rPr lang="en-GB" sz="1400" b="0" i="1" smtClean="0">
                            <a:latin typeface="Cambria Math" panose="02040503050406030204" pitchFamily="18" charset="0"/>
                          </a:rPr>
                          <m:t>𝑟</m:t>
                        </m:r>
                        <m:r>
                          <a:rPr lang="en-GB" sz="1400" b="0" i="1" smtClean="0">
                            <a:latin typeface="Cambria Math" panose="02040503050406030204" pitchFamily="18" charset="0"/>
                          </a:rPr>
                          <m:t>=1</m:t>
                        </m:r>
                      </m:sub>
                      <m:sup>
                        <m:r>
                          <a:rPr lang="en-GB" sz="1400" b="0" i="1" smtClean="0">
                            <a:latin typeface="Cambria Math" panose="02040503050406030204" pitchFamily="18" charset="0"/>
                          </a:rPr>
                          <m:t>2</m:t>
                        </m:r>
                        <m:r>
                          <a:rPr lang="en-GB" sz="1400" b="0" i="1" smtClean="0">
                            <a:latin typeface="Cambria Math" panose="02040503050406030204" pitchFamily="18" charset="0"/>
                          </a:rPr>
                          <m:t>𝑛</m:t>
                        </m:r>
                      </m:sup>
                      <m:e>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𝑢</m:t>
                            </m:r>
                          </m:e>
                          <m:sub>
                            <m:r>
                              <a:rPr lang="en-GB" sz="1400" b="0" i="1" smtClean="0">
                                <a:latin typeface="Cambria Math" panose="02040503050406030204" pitchFamily="18" charset="0"/>
                              </a:rPr>
                              <m:t>𝑟</m:t>
                            </m:r>
                          </m:sub>
                        </m:sSub>
                      </m:e>
                    </m:nary>
                    <m:r>
                      <a:rPr lang="en-GB" sz="1400" b="0" i="1" smtClean="0">
                        <a:latin typeface="Cambria Math" panose="02040503050406030204" pitchFamily="18" charset="0"/>
                      </a:rPr>
                      <m:t>=</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𝑘</m:t>
                        </m:r>
                        <m:d>
                          <m:dPr>
                            <m:ctrlPr>
                              <a:rPr lang="en-GB" sz="1400" b="0" i="1" smtClean="0">
                                <a:latin typeface="Cambria Math" panose="02040503050406030204" pitchFamily="18" charset="0"/>
                              </a:rPr>
                            </m:ctrlPr>
                          </m:dPr>
                          <m:e>
                            <m:r>
                              <a:rPr lang="en-GB" sz="1400" b="0" i="1" smtClean="0">
                                <a:latin typeface="Cambria Math" panose="02040503050406030204" pitchFamily="18" charset="0"/>
                              </a:rPr>
                              <m:t>1+</m:t>
                            </m:r>
                            <m:r>
                              <a:rPr lang="en-GB" sz="1400" b="0" i="1" smtClean="0">
                                <a:latin typeface="Cambria Math" panose="02040503050406030204" pitchFamily="18" charset="0"/>
                              </a:rPr>
                              <m:t>𝑝</m:t>
                            </m:r>
                          </m:e>
                        </m:d>
                        <m:d>
                          <m:dPr>
                            <m:ctrlPr>
                              <a:rPr lang="en-GB" sz="1400" b="0" i="1" smtClean="0">
                                <a:latin typeface="Cambria Math" panose="02040503050406030204" pitchFamily="18" charset="0"/>
                              </a:rPr>
                            </m:ctrlPr>
                          </m:dPr>
                          <m:e>
                            <m:r>
                              <a:rPr lang="en-GB" sz="1400" b="0" i="1" smtClean="0">
                                <a:latin typeface="Cambria Math" panose="02040503050406030204" pitchFamily="18" charset="0"/>
                              </a:rPr>
                              <m:t>1−</m:t>
                            </m:r>
                            <m:sSup>
                              <m:sSupPr>
                                <m:ctrlPr>
                                  <a:rPr lang="en-GB" sz="1400" b="0" i="1" smtClean="0">
                                    <a:latin typeface="Cambria Math" panose="02040503050406030204" pitchFamily="18" charset="0"/>
                                  </a:rPr>
                                </m:ctrlPr>
                              </m:sSupPr>
                              <m:e>
                                <m:d>
                                  <m:dPr>
                                    <m:ctrlPr>
                                      <a:rPr lang="en-GB" sz="1400" b="0" i="1" smtClean="0">
                                        <a:latin typeface="Cambria Math" panose="02040503050406030204" pitchFamily="18" charset="0"/>
                                      </a:rPr>
                                    </m:ctrlPr>
                                  </m:dPr>
                                  <m:e>
                                    <m:r>
                                      <a:rPr lang="en-GB" sz="1400" b="0" i="1" smtClean="0">
                                        <a:latin typeface="Cambria Math" panose="02040503050406030204" pitchFamily="18" charset="0"/>
                                      </a:rPr>
                                      <m:t>𝑝𝑞</m:t>
                                    </m:r>
                                  </m:e>
                                </m:d>
                              </m:e>
                              <m:sup>
                                <m:r>
                                  <a:rPr lang="en-GB" sz="1400" b="0" i="1" smtClean="0">
                                    <a:latin typeface="Cambria Math" panose="02040503050406030204" pitchFamily="18" charset="0"/>
                                  </a:rPr>
                                  <m:t>𝑛</m:t>
                                </m:r>
                              </m:sup>
                            </m:sSup>
                          </m:e>
                        </m:d>
                      </m:num>
                      <m:den>
                        <m:r>
                          <a:rPr lang="en-GB" sz="1400" b="0" i="1" smtClean="0">
                            <a:latin typeface="Cambria Math" panose="02040503050406030204" pitchFamily="18" charset="0"/>
                          </a:rPr>
                          <m:t>1−</m:t>
                        </m:r>
                        <m:r>
                          <a:rPr lang="en-GB" sz="1400" b="0" i="1" smtClean="0">
                            <a:latin typeface="Cambria Math" panose="02040503050406030204" pitchFamily="18" charset="0"/>
                          </a:rPr>
                          <m:t>𝑝𝑞</m:t>
                        </m:r>
                      </m:den>
                    </m:f>
                  </m:oMath>
                </a14:m>
                <a:endParaRPr lang="en-GB" sz="1400" dirty="0"/>
              </a:p>
              <a:p>
                <a:pPr marL="342900" indent="-342900">
                  <a:buAutoNum type="alphaLcParenBoth"/>
                </a:pPr>
                <a:r>
                  <a:rPr lang="en-GB" sz="1400" dirty="0"/>
                  <a:t> </a:t>
                </a:r>
                <a14:m>
                  <m:oMath xmlns:m="http://schemas.openxmlformats.org/officeDocument/2006/math">
                    <m:r>
                      <a:rPr lang="en-GB" sz="1400" b="0" i="1" smtClean="0">
                        <a:latin typeface="Cambria Math" panose="02040503050406030204" pitchFamily="18" charset="0"/>
                      </a:rPr>
                      <m:t>[</m:t>
                    </m:r>
                    <m:r>
                      <a:rPr lang="en-GB" sz="1400" b="0" i="1" smtClean="0">
                        <a:latin typeface="Cambria Math" panose="02040503050406030204" pitchFamily="18" charset="0"/>
                      </a:rPr>
                      <m:t>𝑥</m:t>
                    </m:r>
                    <m:r>
                      <a:rPr lang="en-GB" sz="1400" b="0" i="1" smtClean="0">
                        <a:latin typeface="Cambria Math" panose="02040503050406030204" pitchFamily="18" charset="0"/>
                      </a:rPr>
                      <m:t>]</m:t>
                    </m:r>
                  </m:oMath>
                </a14:m>
                <a:r>
                  <a:rPr lang="en-GB" sz="1400" dirty="0"/>
                  <a:t> means the integer part of </a:t>
                </a:r>
                <a14:m>
                  <m:oMath xmlns:m="http://schemas.openxmlformats.org/officeDocument/2006/math">
                    <m:r>
                      <a:rPr lang="en-GB" sz="1400" b="0" i="1" smtClean="0">
                        <a:latin typeface="Cambria Math" panose="02040503050406030204" pitchFamily="18" charset="0"/>
                      </a:rPr>
                      <m:t>𝑥</m:t>
                    </m:r>
                  </m:oMath>
                </a14:m>
                <a:r>
                  <a:rPr lang="en-GB" sz="1400" dirty="0"/>
                  <a:t>, for example </a:t>
                </a:r>
                <a14:m>
                  <m:oMath xmlns:m="http://schemas.openxmlformats.org/officeDocument/2006/math">
                    <m:d>
                      <m:dPr>
                        <m:begChr m:val="["/>
                        <m:endChr m:val="]"/>
                        <m:ctrlPr>
                          <a:rPr lang="en-GB" sz="1400" b="0" i="1" smtClean="0">
                            <a:latin typeface="Cambria Math" panose="02040503050406030204" pitchFamily="18" charset="0"/>
                          </a:rPr>
                        </m:ctrlPr>
                      </m:dPr>
                      <m:e>
                        <m:r>
                          <a:rPr lang="en-GB" sz="1400" b="0" i="1" smtClean="0">
                            <a:latin typeface="Cambria Math" panose="02040503050406030204" pitchFamily="18" charset="0"/>
                          </a:rPr>
                          <m:t>2.73</m:t>
                        </m:r>
                      </m:e>
                    </m:d>
                    <m:r>
                      <a:rPr lang="en-GB" sz="1400" b="0" i="1" smtClean="0">
                        <a:latin typeface="Cambria Math" panose="02040503050406030204" pitchFamily="18" charset="0"/>
                      </a:rPr>
                      <m:t>=2, </m:t>
                    </m:r>
                    <m:d>
                      <m:dPr>
                        <m:begChr m:val="["/>
                        <m:endChr m:val="]"/>
                        <m:ctrlPr>
                          <a:rPr lang="en-GB" sz="1400" b="0" i="1" smtClean="0">
                            <a:latin typeface="Cambria Math" panose="02040503050406030204" pitchFamily="18" charset="0"/>
                          </a:rPr>
                        </m:ctrlPr>
                      </m:dPr>
                      <m:e>
                        <m:r>
                          <a:rPr lang="en-GB" sz="1400" b="0" i="1" smtClean="0">
                            <a:latin typeface="Cambria Math" panose="02040503050406030204" pitchFamily="18" charset="0"/>
                          </a:rPr>
                          <m:t>4</m:t>
                        </m:r>
                      </m:e>
                    </m:d>
                    <m:r>
                      <a:rPr lang="en-GB" sz="1400" b="0" i="1" smtClean="0">
                        <a:latin typeface="Cambria Math" panose="02040503050406030204" pitchFamily="18" charset="0"/>
                      </a:rPr>
                      <m:t>=4</m:t>
                    </m:r>
                  </m:oMath>
                </a14:m>
                <a:r>
                  <a:rPr lang="en-GB" sz="1400" dirty="0"/>
                  <a:t>.</a:t>
                </a:r>
                <a:br>
                  <a:rPr lang="en-GB" sz="1400" dirty="0"/>
                </a:br>
                <a:r>
                  <a:rPr lang="en-GB" sz="1400" dirty="0"/>
                  <a:t>Find </a:t>
                </a:r>
                <a14:m>
                  <m:oMath xmlns:m="http://schemas.openxmlformats.org/officeDocument/2006/math">
                    <m:nary>
                      <m:naryPr>
                        <m:chr m:val="∑"/>
                        <m:ctrlPr>
                          <a:rPr lang="en-GB" sz="1400" i="1" smtClean="0">
                            <a:latin typeface="Cambria Math" panose="02040503050406030204" pitchFamily="18" charset="0"/>
                          </a:rPr>
                        </m:ctrlPr>
                      </m:naryPr>
                      <m:sub>
                        <m:r>
                          <m:rPr>
                            <m:brk m:alnAt="23"/>
                          </m:rPr>
                          <a:rPr lang="en-GB" sz="1400" b="0" i="1" smtClean="0">
                            <a:latin typeface="Cambria Math" panose="02040503050406030204" pitchFamily="18" charset="0"/>
                          </a:rPr>
                          <m:t>𝑟</m:t>
                        </m:r>
                        <m:r>
                          <a:rPr lang="en-GB" sz="1400" b="0" i="1" smtClean="0">
                            <a:latin typeface="Cambria Math" panose="02040503050406030204" pitchFamily="18" charset="0"/>
                          </a:rPr>
                          <m:t>=1</m:t>
                        </m:r>
                      </m:sub>
                      <m:sup>
                        <m:r>
                          <a:rPr lang="en-GB" sz="1400" b="0" i="1" smtClean="0">
                            <a:latin typeface="Cambria Math" panose="02040503050406030204" pitchFamily="18" charset="0"/>
                          </a:rPr>
                          <m:t>∞</m:t>
                        </m:r>
                      </m:sup>
                      <m:e>
                        <m:r>
                          <a:rPr lang="en-GB" sz="1400" b="0" i="1" smtClean="0">
                            <a:latin typeface="Cambria Math" panose="02040503050406030204" pitchFamily="18" charset="0"/>
                          </a:rPr>
                          <m:t>6×</m:t>
                        </m:r>
                        <m:sSup>
                          <m:sSupPr>
                            <m:ctrlPr>
                              <a:rPr lang="en-GB" sz="1400" b="0" i="1" smtClean="0">
                                <a:latin typeface="Cambria Math" panose="02040503050406030204" pitchFamily="18" charset="0"/>
                              </a:rPr>
                            </m:ctrlPr>
                          </m:sSupPr>
                          <m:e>
                            <m:d>
                              <m:dPr>
                                <m:ctrlPr>
                                  <a:rPr lang="en-GB" sz="1400" b="0" i="1" smtClean="0">
                                    <a:latin typeface="Cambria Math" panose="02040503050406030204" pitchFamily="18" charset="0"/>
                                  </a:rPr>
                                </m:ctrlPr>
                              </m:dPr>
                              <m:e>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4</m:t>
                                    </m:r>
                                  </m:num>
                                  <m:den>
                                    <m:r>
                                      <a:rPr lang="en-GB" sz="1400" b="0" i="1" smtClean="0">
                                        <a:latin typeface="Cambria Math" panose="02040503050406030204" pitchFamily="18" charset="0"/>
                                      </a:rPr>
                                      <m:t>3</m:t>
                                    </m:r>
                                  </m:den>
                                </m:f>
                              </m:e>
                            </m:d>
                          </m:e>
                          <m:sup>
                            <m:d>
                              <m:dPr>
                                <m:begChr m:val="["/>
                                <m:endChr m:val="]"/>
                                <m:ctrlPr>
                                  <a:rPr lang="en-GB" sz="1400" b="0" i="1" smtClean="0">
                                    <a:latin typeface="Cambria Math" panose="02040503050406030204" pitchFamily="18" charset="0"/>
                                  </a:rPr>
                                </m:ctrlPr>
                              </m:dPr>
                              <m:e>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𝑟</m:t>
                                    </m:r>
                                  </m:num>
                                  <m:den>
                                    <m:r>
                                      <a:rPr lang="en-GB" sz="1400" b="0" i="1" smtClean="0">
                                        <a:latin typeface="Cambria Math" panose="02040503050406030204" pitchFamily="18" charset="0"/>
                                      </a:rPr>
                                      <m:t>2</m:t>
                                    </m:r>
                                  </m:den>
                                </m:f>
                              </m:e>
                            </m:d>
                          </m:sup>
                        </m:sSup>
                        <m:r>
                          <a:rPr lang="en-GB" sz="1400" b="0" i="1" smtClean="0">
                            <a:latin typeface="Cambria Math" panose="02040503050406030204" pitchFamily="18" charset="0"/>
                          </a:rPr>
                          <m:t>×</m:t>
                        </m:r>
                        <m:sSup>
                          <m:sSupPr>
                            <m:ctrlPr>
                              <a:rPr lang="en-GB" sz="1400" b="0" i="1" smtClean="0">
                                <a:latin typeface="Cambria Math" panose="02040503050406030204" pitchFamily="18" charset="0"/>
                              </a:rPr>
                            </m:ctrlPr>
                          </m:sSupPr>
                          <m:e>
                            <m:d>
                              <m:dPr>
                                <m:ctrlPr>
                                  <a:rPr lang="en-GB" sz="1400" b="0" i="1" smtClean="0">
                                    <a:latin typeface="Cambria Math" panose="02040503050406030204" pitchFamily="18" charset="0"/>
                                  </a:rPr>
                                </m:ctrlPr>
                              </m:dPr>
                              <m:e>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3</m:t>
                                    </m:r>
                                  </m:num>
                                  <m:den>
                                    <m:r>
                                      <a:rPr lang="en-GB" sz="1400" b="0" i="1" smtClean="0">
                                        <a:latin typeface="Cambria Math" panose="02040503050406030204" pitchFamily="18" charset="0"/>
                                      </a:rPr>
                                      <m:t>5</m:t>
                                    </m:r>
                                  </m:den>
                                </m:f>
                              </m:e>
                            </m:d>
                          </m:e>
                          <m:sup>
                            <m:d>
                              <m:dPr>
                                <m:begChr m:val="["/>
                                <m:endChr m:val="]"/>
                                <m:ctrlPr>
                                  <a:rPr lang="en-GB" sz="1400" b="0" i="1" smtClean="0">
                                    <a:latin typeface="Cambria Math" panose="02040503050406030204" pitchFamily="18" charset="0"/>
                                  </a:rPr>
                                </m:ctrlPr>
                              </m:dPr>
                              <m:e>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𝑟</m:t>
                                    </m:r>
                                    <m:r>
                                      <a:rPr lang="en-GB" sz="1400" b="0" i="1" smtClean="0">
                                        <a:latin typeface="Cambria Math" panose="02040503050406030204" pitchFamily="18" charset="0"/>
                                      </a:rPr>
                                      <m:t>−1</m:t>
                                    </m:r>
                                  </m:num>
                                  <m:den>
                                    <m:r>
                                      <a:rPr lang="en-GB" sz="1400" b="0" i="1" smtClean="0">
                                        <a:latin typeface="Cambria Math" panose="02040503050406030204" pitchFamily="18" charset="0"/>
                                      </a:rPr>
                                      <m:t>2</m:t>
                                    </m:r>
                                  </m:den>
                                </m:f>
                              </m:e>
                            </m:d>
                          </m:sup>
                        </m:sSup>
                      </m:e>
                    </m:nary>
                  </m:oMath>
                </a14:m>
                <a:endParaRPr lang="en-GB" sz="1600" dirty="0"/>
              </a:p>
            </p:txBody>
          </p:sp>
        </mc:Choice>
        <mc:Fallback xmlns="">
          <p:sp>
            <p:nvSpPr>
              <p:cNvPr id="7" name="TextBox 6">
                <a:extLst>
                  <a:ext uri="{FF2B5EF4-FFF2-40B4-BE49-F238E27FC236}">
                    <a16:creationId xmlns:a16="http://schemas.microsoft.com/office/drawing/2014/main" id="{3E695793-2684-7F0D-F2A0-E61596F21DEF}"/>
                  </a:ext>
                </a:extLst>
              </p:cNvPr>
              <p:cNvSpPr txBox="1">
                <a:spLocks noRot="1" noChangeAspect="1" noMove="1" noResize="1" noEditPoints="1" noAdjustHandles="1" noChangeArrowheads="1" noChangeShapeType="1" noTextEdit="1"/>
              </p:cNvSpPr>
              <p:nvPr/>
            </p:nvSpPr>
            <p:spPr>
              <a:xfrm>
                <a:off x="381020" y="1754903"/>
                <a:ext cx="4248473" cy="2377189"/>
              </a:xfrm>
              <a:prstGeom prst="rect">
                <a:avLst/>
              </a:prstGeom>
              <a:blipFill>
                <a:blip r:embed="rId3"/>
                <a:stretch>
                  <a:fillRect l="-575" t="-51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BD2D4B9-AF58-BEE0-C474-6FFB8E6CE36C}"/>
                  </a:ext>
                </a:extLst>
              </p:cNvPr>
              <p:cNvSpPr txBox="1"/>
              <p:nvPr/>
            </p:nvSpPr>
            <p:spPr>
              <a:xfrm>
                <a:off x="311076" y="4720495"/>
                <a:ext cx="4824536" cy="2092881"/>
              </a:xfrm>
              <a:prstGeom prst="rect">
                <a:avLst/>
              </a:prstGeom>
              <a:noFill/>
            </p:spPr>
            <p:txBody>
              <a:bodyPr wrap="square" rtlCol="0">
                <a:spAutoFit/>
              </a:bodyPr>
              <a:lstStyle/>
              <a:p>
                <a:r>
                  <a:rPr lang="en-GB" sz="1400" dirty="0"/>
                  <a:t>[MAT 2014 1H] The function </a:t>
                </a:r>
                <a14:m>
                  <m:oMath xmlns:m="http://schemas.openxmlformats.org/officeDocument/2006/math">
                    <m:r>
                      <a:rPr lang="en-GB" sz="1400" b="0" i="1" smtClean="0">
                        <a:latin typeface="Cambria Math" panose="02040503050406030204" pitchFamily="18" charset="0"/>
                      </a:rPr>
                      <m:t>𝐹</m:t>
                    </m:r>
                    <m:d>
                      <m:dPr>
                        <m:ctrlPr>
                          <a:rPr lang="en-GB" sz="1400" b="0" i="1" smtClean="0">
                            <a:latin typeface="Cambria Math" panose="02040503050406030204" pitchFamily="18" charset="0"/>
                          </a:rPr>
                        </m:ctrlPr>
                      </m:dPr>
                      <m:e>
                        <m:r>
                          <a:rPr lang="en-GB" sz="1400" b="0" i="1" smtClean="0">
                            <a:latin typeface="Cambria Math" panose="02040503050406030204" pitchFamily="18" charset="0"/>
                          </a:rPr>
                          <m:t>𝑛</m:t>
                        </m:r>
                      </m:e>
                    </m:d>
                  </m:oMath>
                </a14:m>
                <a:r>
                  <a:rPr lang="en-GB" sz="1400" dirty="0"/>
                  <a:t> is defined for all positive integers as follows: </a:t>
                </a:r>
                <a14:m>
                  <m:oMath xmlns:m="http://schemas.openxmlformats.org/officeDocument/2006/math">
                    <m:r>
                      <a:rPr lang="en-GB" sz="1400" b="0" i="1" smtClean="0">
                        <a:latin typeface="Cambria Math" panose="02040503050406030204" pitchFamily="18" charset="0"/>
                      </a:rPr>
                      <m:t>𝐹</m:t>
                    </m:r>
                    <m:d>
                      <m:dPr>
                        <m:ctrlPr>
                          <a:rPr lang="en-GB" sz="1400" b="0" i="1" smtClean="0">
                            <a:latin typeface="Cambria Math" panose="02040503050406030204" pitchFamily="18" charset="0"/>
                          </a:rPr>
                        </m:ctrlPr>
                      </m:dPr>
                      <m:e>
                        <m:r>
                          <a:rPr lang="en-GB" sz="1400" b="0" i="1" smtClean="0">
                            <a:latin typeface="Cambria Math" panose="02040503050406030204" pitchFamily="18" charset="0"/>
                          </a:rPr>
                          <m:t>1</m:t>
                        </m:r>
                      </m:e>
                    </m:d>
                    <m:r>
                      <a:rPr lang="en-GB" sz="1400" b="0" i="1" smtClean="0">
                        <a:latin typeface="Cambria Math" panose="02040503050406030204" pitchFamily="18" charset="0"/>
                      </a:rPr>
                      <m:t>=0</m:t>
                    </m:r>
                  </m:oMath>
                </a14:m>
                <a:r>
                  <a:rPr lang="en-GB" sz="1400" dirty="0"/>
                  <a:t> and for all </a:t>
                </a:r>
                <a14:m>
                  <m:oMath xmlns:m="http://schemas.openxmlformats.org/officeDocument/2006/math">
                    <m:r>
                      <a:rPr lang="en-GB" sz="1400" b="0" i="1" smtClean="0">
                        <a:latin typeface="Cambria Math" panose="02040503050406030204" pitchFamily="18" charset="0"/>
                      </a:rPr>
                      <m:t>𝑛</m:t>
                    </m:r>
                    <m:r>
                      <a:rPr lang="en-GB" sz="1400" b="0" i="1" smtClean="0">
                        <a:latin typeface="Cambria Math" panose="02040503050406030204" pitchFamily="18" charset="0"/>
                      </a:rPr>
                      <m:t>≥2</m:t>
                    </m:r>
                  </m:oMath>
                </a14:m>
                <a:r>
                  <a:rPr lang="en-GB" sz="1400" dirty="0"/>
                  <a:t>,</a:t>
                </a:r>
              </a:p>
              <a:p>
                <a14:m>
                  <m:oMath xmlns:m="http://schemas.openxmlformats.org/officeDocument/2006/math">
                    <m:r>
                      <a:rPr lang="en-GB" sz="1400" b="0" i="1" smtClean="0">
                        <a:latin typeface="Cambria Math" panose="02040503050406030204" pitchFamily="18" charset="0"/>
                      </a:rPr>
                      <m:t>𝐹</m:t>
                    </m:r>
                    <m:d>
                      <m:dPr>
                        <m:ctrlPr>
                          <a:rPr lang="en-GB" sz="1400" b="0" i="1" smtClean="0">
                            <a:latin typeface="Cambria Math" panose="02040503050406030204" pitchFamily="18" charset="0"/>
                          </a:rPr>
                        </m:ctrlPr>
                      </m:dPr>
                      <m:e>
                        <m:r>
                          <a:rPr lang="en-GB" sz="1400" b="0" i="1" smtClean="0">
                            <a:latin typeface="Cambria Math" panose="02040503050406030204" pitchFamily="18" charset="0"/>
                          </a:rPr>
                          <m:t>𝑛</m:t>
                        </m:r>
                      </m:e>
                    </m:d>
                    <m:r>
                      <a:rPr lang="en-GB" sz="1400" b="0" i="1" smtClean="0">
                        <a:latin typeface="Cambria Math" panose="02040503050406030204" pitchFamily="18" charset="0"/>
                      </a:rPr>
                      <m:t>=</m:t>
                    </m:r>
                    <m:r>
                      <a:rPr lang="en-GB" sz="1400" b="0" i="1" smtClean="0">
                        <a:latin typeface="Cambria Math" panose="02040503050406030204" pitchFamily="18" charset="0"/>
                      </a:rPr>
                      <m:t>𝐹</m:t>
                    </m:r>
                    <m:d>
                      <m:dPr>
                        <m:ctrlPr>
                          <a:rPr lang="en-GB" sz="1400" b="0" i="1" smtClean="0">
                            <a:latin typeface="Cambria Math" panose="02040503050406030204" pitchFamily="18" charset="0"/>
                          </a:rPr>
                        </m:ctrlPr>
                      </m:dPr>
                      <m:e>
                        <m:r>
                          <a:rPr lang="en-GB" sz="1400" b="0" i="1" smtClean="0">
                            <a:latin typeface="Cambria Math" panose="02040503050406030204" pitchFamily="18" charset="0"/>
                          </a:rPr>
                          <m:t>𝑛</m:t>
                        </m:r>
                        <m:r>
                          <a:rPr lang="en-GB" sz="1400" b="0" i="1" smtClean="0">
                            <a:latin typeface="Cambria Math" panose="02040503050406030204" pitchFamily="18" charset="0"/>
                          </a:rPr>
                          <m:t>−1</m:t>
                        </m:r>
                      </m:e>
                    </m:d>
                    <m:r>
                      <a:rPr lang="en-GB" sz="1400" b="0" i="1" smtClean="0">
                        <a:latin typeface="Cambria Math" panose="02040503050406030204" pitchFamily="18" charset="0"/>
                      </a:rPr>
                      <m:t>+2</m:t>
                    </m:r>
                  </m:oMath>
                </a14:m>
                <a:r>
                  <a:rPr lang="en-GB" sz="1400" dirty="0"/>
                  <a:t>      if 2 divides </a:t>
                </a:r>
                <a14:m>
                  <m:oMath xmlns:m="http://schemas.openxmlformats.org/officeDocument/2006/math">
                    <m:r>
                      <a:rPr lang="en-GB" sz="1400" b="0" i="1" smtClean="0">
                        <a:latin typeface="Cambria Math" panose="02040503050406030204" pitchFamily="18" charset="0"/>
                      </a:rPr>
                      <m:t>𝑛</m:t>
                    </m:r>
                  </m:oMath>
                </a14:m>
                <a:r>
                  <a:rPr lang="en-GB" sz="1400" dirty="0"/>
                  <a:t> but 3 does not divide </a:t>
                </a:r>
                <a14:m>
                  <m:oMath xmlns:m="http://schemas.openxmlformats.org/officeDocument/2006/math">
                    <m:r>
                      <a:rPr lang="en-GB" sz="1400" b="0" i="1" smtClean="0">
                        <a:latin typeface="Cambria Math" panose="02040503050406030204" pitchFamily="18" charset="0"/>
                      </a:rPr>
                      <m:t>,</m:t>
                    </m:r>
                  </m:oMath>
                </a14:m>
                <a:endParaRPr lang="en-GB" sz="1400" b="0" dirty="0"/>
              </a:p>
              <a:p>
                <a14:m>
                  <m:oMath xmlns:m="http://schemas.openxmlformats.org/officeDocument/2006/math">
                    <m:r>
                      <a:rPr lang="en-GB" sz="1400" b="0" i="1" smtClean="0">
                        <a:latin typeface="Cambria Math" panose="02040503050406030204" pitchFamily="18" charset="0"/>
                      </a:rPr>
                      <m:t>𝐹</m:t>
                    </m:r>
                    <m:d>
                      <m:dPr>
                        <m:ctrlPr>
                          <a:rPr lang="en-GB" sz="1400" b="0" i="1" smtClean="0">
                            <a:latin typeface="Cambria Math" panose="02040503050406030204" pitchFamily="18" charset="0"/>
                          </a:rPr>
                        </m:ctrlPr>
                      </m:dPr>
                      <m:e>
                        <m:r>
                          <a:rPr lang="en-GB" sz="1400" b="0" i="1" smtClean="0">
                            <a:latin typeface="Cambria Math" panose="02040503050406030204" pitchFamily="18" charset="0"/>
                          </a:rPr>
                          <m:t>𝑛</m:t>
                        </m:r>
                      </m:e>
                    </m:d>
                    <m:r>
                      <a:rPr lang="en-GB" sz="1400" b="0" i="1" smtClean="0">
                        <a:latin typeface="Cambria Math" panose="02040503050406030204" pitchFamily="18" charset="0"/>
                      </a:rPr>
                      <m:t>=</m:t>
                    </m:r>
                    <m:r>
                      <a:rPr lang="en-GB" sz="1400" b="0" i="1" smtClean="0">
                        <a:latin typeface="Cambria Math" panose="02040503050406030204" pitchFamily="18" charset="0"/>
                      </a:rPr>
                      <m:t>𝐹</m:t>
                    </m:r>
                    <m:d>
                      <m:dPr>
                        <m:ctrlPr>
                          <a:rPr lang="en-GB" sz="1400" b="0" i="1" smtClean="0">
                            <a:latin typeface="Cambria Math" panose="02040503050406030204" pitchFamily="18" charset="0"/>
                          </a:rPr>
                        </m:ctrlPr>
                      </m:dPr>
                      <m:e>
                        <m:r>
                          <a:rPr lang="en-GB" sz="1400" b="0" i="1" smtClean="0">
                            <a:latin typeface="Cambria Math" panose="02040503050406030204" pitchFamily="18" charset="0"/>
                          </a:rPr>
                          <m:t>𝑛</m:t>
                        </m:r>
                        <m:r>
                          <a:rPr lang="en-GB" sz="1400" b="0" i="1" smtClean="0">
                            <a:latin typeface="Cambria Math" panose="02040503050406030204" pitchFamily="18" charset="0"/>
                          </a:rPr>
                          <m:t>−1</m:t>
                        </m:r>
                      </m:e>
                    </m:d>
                    <m:r>
                      <a:rPr lang="en-GB" sz="1400" b="0" i="1" smtClean="0">
                        <a:latin typeface="Cambria Math" panose="02040503050406030204" pitchFamily="18" charset="0"/>
                      </a:rPr>
                      <m:t>+3</m:t>
                    </m:r>
                  </m:oMath>
                </a14:m>
                <a:r>
                  <a:rPr lang="en-GB" sz="1400" dirty="0"/>
                  <a:t>      if 3 divides </a:t>
                </a:r>
                <a14:m>
                  <m:oMath xmlns:m="http://schemas.openxmlformats.org/officeDocument/2006/math">
                    <m:r>
                      <a:rPr lang="en-GB" sz="1400" b="0" i="1" smtClean="0">
                        <a:latin typeface="Cambria Math" panose="02040503050406030204" pitchFamily="18" charset="0"/>
                      </a:rPr>
                      <m:t>𝑛</m:t>
                    </m:r>
                  </m:oMath>
                </a14:m>
                <a:r>
                  <a:rPr lang="en-GB" sz="1400" dirty="0"/>
                  <a:t> but 2 does not divide </a:t>
                </a:r>
                <a14:m>
                  <m:oMath xmlns:m="http://schemas.openxmlformats.org/officeDocument/2006/math">
                    <m:r>
                      <a:rPr lang="en-GB" sz="1400" b="0" i="1" smtClean="0">
                        <a:latin typeface="Cambria Math" panose="02040503050406030204" pitchFamily="18" charset="0"/>
                      </a:rPr>
                      <m:t>𝑛</m:t>
                    </m:r>
                    <m:r>
                      <a:rPr lang="en-GB" sz="1400" b="0" i="0" smtClean="0">
                        <a:latin typeface="Cambria Math" panose="02040503050406030204" pitchFamily="18" charset="0"/>
                      </a:rPr>
                      <m:t>,</m:t>
                    </m:r>
                  </m:oMath>
                </a14:m>
                <a:endParaRPr lang="en-GB" sz="1400" b="0" dirty="0"/>
              </a:p>
              <a:p>
                <a14:m>
                  <m:oMath xmlns:m="http://schemas.openxmlformats.org/officeDocument/2006/math">
                    <m:r>
                      <a:rPr lang="en-GB" sz="1400" b="0" i="1" smtClean="0">
                        <a:latin typeface="Cambria Math" panose="02040503050406030204" pitchFamily="18" charset="0"/>
                      </a:rPr>
                      <m:t>𝐹</m:t>
                    </m:r>
                    <m:d>
                      <m:dPr>
                        <m:ctrlPr>
                          <a:rPr lang="en-GB" sz="1400" b="0" i="1" smtClean="0">
                            <a:latin typeface="Cambria Math" panose="02040503050406030204" pitchFamily="18" charset="0"/>
                          </a:rPr>
                        </m:ctrlPr>
                      </m:dPr>
                      <m:e>
                        <m:r>
                          <a:rPr lang="en-GB" sz="1400" b="0" i="1" smtClean="0">
                            <a:latin typeface="Cambria Math" panose="02040503050406030204" pitchFamily="18" charset="0"/>
                          </a:rPr>
                          <m:t>𝑛</m:t>
                        </m:r>
                      </m:e>
                    </m:d>
                    <m:r>
                      <a:rPr lang="en-GB" sz="1400" b="0" i="1" smtClean="0">
                        <a:latin typeface="Cambria Math" panose="02040503050406030204" pitchFamily="18" charset="0"/>
                      </a:rPr>
                      <m:t>=</m:t>
                    </m:r>
                    <m:r>
                      <a:rPr lang="en-GB" sz="1400" b="0" i="1" smtClean="0">
                        <a:latin typeface="Cambria Math" panose="02040503050406030204" pitchFamily="18" charset="0"/>
                      </a:rPr>
                      <m:t>𝐹</m:t>
                    </m:r>
                    <m:d>
                      <m:dPr>
                        <m:ctrlPr>
                          <a:rPr lang="en-GB" sz="1400" b="0" i="1" smtClean="0">
                            <a:latin typeface="Cambria Math" panose="02040503050406030204" pitchFamily="18" charset="0"/>
                          </a:rPr>
                        </m:ctrlPr>
                      </m:dPr>
                      <m:e>
                        <m:r>
                          <a:rPr lang="en-GB" sz="1400" b="0" i="1" smtClean="0">
                            <a:latin typeface="Cambria Math" panose="02040503050406030204" pitchFamily="18" charset="0"/>
                          </a:rPr>
                          <m:t>𝑛</m:t>
                        </m:r>
                        <m:r>
                          <a:rPr lang="en-GB" sz="1400" b="0" i="1" smtClean="0">
                            <a:latin typeface="Cambria Math" panose="02040503050406030204" pitchFamily="18" charset="0"/>
                          </a:rPr>
                          <m:t>−1</m:t>
                        </m:r>
                      </m:e>
                    </m:d>
                    <m:r>
                      <a:rPr lang="en-GB" sz="1400" b="0" i="1" smtClean="0">
                        <a:latin typeface="Cambria Math" panose="02040503050406030204" pitchFamily="18" charset="0"/>
                      </a:rPr>
                      <m:t>+4</m:t>
                    </m:r>
                  </m:oMath>
                </a14:m>
                <a:r>
                  <a:rPr lang="en-GB" sz="1400" dirty="0"/>
                  <a:t>     if 2 and 3 both divide </a:t>
                </a:r>
                <a14:m>
                  <m:oMath xmlns:m="http://schemas.openxmlformats.org/officeDocument/2006/math">
                    <m:r>
                      <a:rPr lang="en-GB" sz="1400" b="0" i="1" smtClean="0">
                        <a:latin typeface="Cambria Math" panose="02040503050406030204" pitchFamily="18" charset="0"/>
                      </a:rPr>
                      <m:t>𝑛</m:t>
                    </m:r>
                  </m:oMath>
                </a14:m>
                <a:endParaRPr lang="en-GB" sz="1400" dirty="0"/>
              </a:p>
              <a:p>
                <a14:m>
                  <m:oMath xmlns:m="http://schemas.openxmlformats.org/officeDocument/2006/math">
                    <m:r>
                      <a:rPr lang="en-GB" sz="1400" b="0" i="1" smtClean="0">
                        <a:latin typeface="Cambria Math" panose="02040503050406030204" pitchFamily="18" charset="0"/>
                      </a:rPr>
                      <m:t>𝐹</m:t>
                    </m:r>
                    <m:d>
                      <m:dPr>
                        <m:ctrlPr>
                          <a:rPr lang="en-GB" sz="1400" b="0" i="1" smtClean="0">
                            <a:latin typeface="Cambria Math" panose="02040503050406030204" pitchFamily="18" charset="0"/>
                          </a:rPr>
                        </m:ctrlPr>
                      </m:dPr>
                      <m:e>
                        <m:r>
                          <a:rPr lang="en-GB" sz="1400" b="0" i="1" smtClean="0">
                            <a:latin typeface="Cambria Math" panose="02040503050406030204" pitchFamily="18" charset="0"/>
                          </a:rPr>
                          <m:t>𝑛</m:t>
                        </m:r>
                      </m:e>
                    </m:d>
                    <m:r>
                      <a:rPr lang="en-GB" sz="1400" b="0" i="1" smtClean="0">
                        <a:latin typeface="Cambria Math" panose="02040503050406030204" pitchFamily="18" charset="0"/>
                      </a:rPr>
                      <m:t>=</m:t>
                    </m:r>
                    <m:r>
                      <a:rPr lang="en-GB" sz="1400" b="0" i="1" smtClean="0">
                        <a:latin typeface="Cambria Math" panose="02040503050406030204" pitchFamily="18" charset="0"/>
                      </a:rPr>
                      <m:t>𝐹</m:t>
                    </m:r>
                    <m:d>
                      <m:dPr>
                        <m:ctrlPr>
                          <a:rPr lang="en-GB" sz="1400" b="0" i="1" smtClean="0">
                            <a:latin typeface="Cambria Math" panose="02040503050406030204" pitchFamily="18" charset="0"/>
                          </a:rPr>
                        </m:ctrlPr>
                      </m:dPr>
                      <m:e>
                        <m:r>
                          <a:rPr lang="en-GB" sz="1400" b="0" i="1" smtClean="0">
                            <a:latin typeface="Cambria Math" panose="02040503050406030204" pitchFamily="18" charset="0"/>
                          </a:rPr>
                          <m:t>𝑛</m:t>
                        </m:r>
                        <m:r>
                          <a:rPr lang="en-GB" sz="1400" b="0" i="1" smtClean="0">
                            <a:latin typeface="Cambria Math" panose="02040503050406030204" pitchFamily="18" charset="0"/>
                          </a:rPr>
                          <m:t>−1</m:t>
                        </m:r>
                      </m:e>
                    </m:d>
                  </m:oMath>
                </a14:m>
                <a:r>
                  <a:rPr lang="en-GB" sz="1400" dirty="0"/>
                  <a:t>             if neither 2 nor 3 divides </a:t>
                </a:r>
                <a14:m>
                  <m:oMath xmlns:m="http://schemas.openxmlformats.org/officeDocument/2006/math">
                    <m:r>
                      <a:rPr lang="en-GB" sz="1400" b="0" i="1" smtClean="0">
                        <a:latin typeface="Cambria Math" panose="02040503050406030204" pitchFamily="18" charset="0"/>
                      </a:rPr>
                      <m:t>𝑛</m:t>
                    </m:r>
                  </m:oMath>
                </a14:m>
                <a:r>
                  <a:rPr lang="en-GB" sz="1400" dirty="0"/>
                  <a:t>.</a:t>
                </a:r>
              </a:p>
              <a:p>
                <a:r>
                  <a:rPr lang="en-GB" sz="1400" dirty="0"/>
                  <a:t>Then the value of </a:t>
                </a:r>
                <a14:m>
                  <m:oMath xmlns:m="http://schemas.openxmlformats.org/officeDocument/2006/math">
                    <m:r>
                      <a:rPr lang="en-GB" sz="1400" b="0" i="1" smtClean="0">
                        <a:latin typeface="Cambria Math" panose="02040503050406030204" pitchFamily="18" charset="0"/>
                      </a:rPr>
                      <m:t>𝐹</m:t>
                    </m:r>
                    <m:d>
                      <m:dPr>
                        <m:ctrlPr>
                          <a:rPr lang="en-GB" sz="1400" b="0" i="1" smtClean="0">
                            <a:latin typeface="Cambria Math" panose="02040503050406030204" pitchFamily="18" charset="0"/>
                          </a:rPr>
                        </m:ctrlPr>
                      </m:dPr>
                      <m:e>
                        <m:r>
                          <a:rPr lang="en-GB" sz="1400" b="0" i="1" smtClean="0">
                            <a:latin typeface="Cambria Math" panose="02040503050406030204" pitchFamily="18" charset="0"/>
                          </a:rPr>
                          <m:t>6000</m:t>
                        </m:r>
                      </m:e>
                    </m:d>
                  </m:oMath>
                </a14:m>
                <a:r>
                  <a:rPr lang="en-GB" sz="1400" dirty="0"/>
                  <a:t> equals what?</a:t>
                </a:r>
              </a:p>
              <a:p>
                <a:r>
                  <a:rPr lang="en-GB" sz="1400" b="1" dirty="0"/>
                  <a:t>Solution: 11000</a:t>
                </a:r>
              </a:p>
              <a:p>
                <a:endParaRPr lang="en-GB" dirty="0"/>
              </a:p>
            </p:txBody>
          </p:sp>
        </mc:Choice>
        <mc:Fallback xmlns="">
          <p:sp>
            <p:nvSpPr>
              <p:cNvPr id="8" name="TextBox 7">
                <a:extLst>
                  <a:ext uri="{FF2B5EF4-FFF2-40B4-BE49-F238E27FC236}">
                    <a16:creationId xmlns:a16="http://schemas.microsoft.com/office/drawing/2014/main" id="{BBD2D4B9-AF58-BEE0-C474-6FFB8E6CE36C}"/>
                  </a:ext>
                </a:extLst>
              </p:cNvPr>
              <p:cNvSpPr txBox="1">
                <a:spLocks noRot="1" noChangeAspect="1" noMove="1" noResize="1" noEditPoints="1" noAdjustHandles="1" noChangeArrowheads="1" noChangeShapeType="1" noTextEdit="1"/>
              </p:cNvSpPr>
              <p:nvPr/>
            </p:nvSpPr>
            <p:spPr>
              <a:xfrm>
                <a:off x="311076" y="4720495"/>
                <a:ext cx="4824536" cy="2092881"/>
              </a:xfrm>
              <a:prstGeom prst="rect">
                <a:avLst/>
              </a:prstGeom>
              <a:blipFill>
                <a:blip r:embed="rId4"/>
                <a:stretch>
                  <a:fillRect l="-379" t="-2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1F20C78-223F-A511-DC45-F9C76BA9474B}"/>
                  </a:ext>
                </a:extLst>
              </p:cNvPr>
              <p:cNvSpPr txBox="1"/>
              <p:nvPr/>
            </p:nvSpPr>
            <p:spPr>
              <a:xfrm>
                <a:off x="5521821" y="4748464"/>
                <a:ext cx="3191792" cy="1619995"/>
              </a:xfrm>
              <a:prstGeom prst="rect">
                <a:avLst/>
              </a:prstGeom>
              <a:noFill/>
            </p:spPr>
            <p:txBody>
              <a:bodyPr wrap="square" rtlCol="0">
                <a:spAutoFit/>
              </a:bodyPr>
              <a:lstStyle/>
              <a:p>
                <a:r>
                  <a:rPr lang="en-GB" sz="1400" dirty="0"/>
                  <a:t>[MAT 2016 1G] The sequence </a:t>
                </a:r>
                <a14:m>
                  <m:oMath xmlns:m="http://schemas.openxmlformats.org/officeDocument/2006/math">
                    <m:d>
                      <m:dPr>
                        <m:ctrlPr>
                          <a:rPr lang="en-GB" sz="1400" b="0" i="1" smtClean="0">
                            <a:latin typeface="Cambria Math" panose="02040503050406030204" pitchFamily="18" charset="0"/>
                          </a:rPr>
                        </m:ctrlPr>
                      </m:dPr>
                      <m:e>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𝑥</m:t>
                            </m:r>
                          </m:e>
                          <m:sub>
                            <m:r>
                              <a:rPr lang="en-GB" sz="1400" b="0" i="1" smtClean="0">
                                <a:latin typeface="Cambria Math" panose="02040503050406030204" pitchFamily="18" charset="0"/>
                              </a:rPr>
                              <m:t>𝑛</m:t>
                            </m:r>
                          </m:sub>
                        </m:sSub>
                      </m:e>
                    </m:d>
                  </m:oMath>
                </a14:m>
                <a:r>
                  <a:rPr lang="en-GB" sz="1400" dirty="0"/>
                  <a:t>, where </a:t>
                </a:r>
                <a14:m>
                  <m:oMath xmlns:m="http://schemas.openxmlformats.org/officeDocument/2006/math">
                    <m:r>
                      <a:rPr lang="en-GB" sz="1400" b="0" i="1" smtClean="0">
                        <a:latin typeface="Cambria Math" panose="02040503050406030204" pitchFamily="18" charset="0"/>
                      </a:rPr>
                      <m:t>𝑛</m:t>
                    </m:r>
                    <m:r>
                      <a:rPr lang="en-GB" sz="1400" b="0" i="1" smtClean="0">
                        <a:latin typeface="Cambria Math" panose="02040503050406030204" pitchFamily="18" charset="0"/>
                      </a:rPr>
                      <m:t>≥0</m:t>
                    </m:r>
                  </m:oMath>
                </a14:m>
                <a:r>
                  <a:rPr lang="en-GB" sz="1400" dirty="0"/>
                  <a:t>, is defined by </a:t>
                </a:r>
                <a14:m>
                  <m:oMath xmlns:m="http://schemas.openxmlformats.org/officeDocument/2006/math">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𝑥</m:t>
                        </m:r>
                      </m:e>
                      <m:sub>
                        <m:r>
                          <a:rPr lang="en-GB" sz="1400" b="0" i="1" smtClean="0">
                            <a:latin typeface="Cambria Math" panose="02040503050406030204" pitchFamily="18" charset="0"/>
                          </a:rPr>
                          <m:t>0</m:t>
                        </m:r>
                      </m:sub>
                    </m:sSub>
                    <m:r>
                      <a:rPr lang="en-GB" sz="1400" b="0" i="1" smtClean="0">
                        <a:latin typeface="Cambria Math" panose="02040503050406030204" pitchFamily="18" charset="0"/>
                      </a:rPr>
                      <m:t>=1</m:t>
                    </m:r>
                  </m:oMath>
                </a14:m>
                <a:r>
                  <a:rPr lang="en-GB" sz="1400" dirty="0"/>
                  <a:t> and </a:t>
                </a:r>
              </a:p>
              <a:p>
                <a14:m>
                  <m:oMath xmlns:m="http://schemas.openxmlformats.org/officeDocument/2006/math">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𝑥</m:t>
                        </m:r>
                      </m:e>
                      <m:sub>
                        <m:r>
                          <a:rPr lang="en-GB" sz="1400" b="0" i="1" smtClean="0">
                            <a:latin typeface="Cambria Math" panose="02040503050406030204" pitchFamily="18" charset="0"/>
                          </a:rPr>
                          <m:t>𝑛</m:t>
                        </m:r>
                      </m:sub>
                    </m:sSub>
                    <m:r>
                      <a:rPr lang="en-GB" sz="1400" b="0" i="1" smtClean="0">
                        <a:latin typeface="Cambria Math" panose="02040503050406030204" pitchFamily="18" charset="0"/>
                      </a:rPr>
                      <m:t>=</m:t>
                    </m:r>
                    <m:nary>
                      <m:naryPr>
                        <m:chr m:val="∑"/>
                        <m:limLoc m:val="subSup"/>
                        <m:ctrlPr>
                          <a:rPr lang="en-GB" sz="1400" b="0" i="1" smtClean="0">
                            <a:latin typeface="Cambria Math" panose="02040503050406030204" pitchFamily="18" charset="0"/>
                          </a:rPr>
                        </m:ctrlPr>
                      </m:naryPr>
                      <m:sub>
                        <m:r>
                          <m:rPr>
                            <m:brk m:alnAt="25"/>
                          </m:rPr>
                          <a:rPr lang="en-GB" sz="1400" b="0" i="1" smtClean="0">
                            <a:latin typeface="Cambria Math" panose="02040503050406030204" pitchFamily="18" charset="0"/>
                          </a:rPr>
                          <m:t>𝑘</m:t>
                        </m:r>
                        <m:r>
                          <a:rPr lang="en-GB" sz="1400" b="0" i="1" smtClean="0">
                            <a:latin typeface="Cambria Math" panose="02040503050406030204" pitchFamily="18" charset="0"/>
                          </a:rPr>
                          <m:t>=0</m:t>
                        </m:r>
                      </m:sub>
                      <m:sup>
                        <m:r>
                          <a:rPr lang="en-GB" sz="1400" b="0" i="1" smtClean="0">
                            <a:latin typeface="Cambria Math" panose="02040503050406030204" pitchFamily="18" charset="0"/>
                          </a:rPr>
                          <m:t>𝑛</m:t>
                        </m:r>
                        <m:r>
                          <a:rPr lang="en-GB" sz="1400" b="0" i="1" smtClean="0">
                            <a:latin typeface="Cambria Math" panose="02040503050406030204" pitchFamily="18" charset="0"/>
                          </a:rPr>
                          <m:t>−1</m:t>
                        </m:r>
                      </m:sup>
                      <m:e>
                        <m:d>
                          <m:dPr>
                            <m:ctrlPr>
                              <a:rPr lang="en-GB" sz="1400" b="0" i="1" smtClean="0">
                                <a:latin typeface="Cambria Math" panose="02040503050406030204" pitchFamily="18" charset="0"/>
                              </a:rPr>
                            </m:ctrlPr>
                          </m:dPr>
                          <m:e>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𝑥</m:t>
                                </m:r>
                              </m:e>
                              <m:sub>
                                <m:r>
                                  <a:rPr lang="en-GB" sz="1400" b="0" i="1" smtClean="0">
                                    <a:latin typeface="Cambria Math" panose="02040503050406030204" pitchFamily="18" charset="0"/>
                                  </a:rPr>
                                  <m:t>𝑘</m:t>
                                </m:r>
                              </m:sub>
                            </m:sSub>
                          </m:e>
                        </m:d>
                      </m:e>
                    </m:nary>
                  </m:oMath>
                </a14:m>
                <a:r>
                  <a:rPr lang="en-GB" sz="1400" dirty="0"/>
                  <a:t>    for </a:t>
                </a:r>
                <a14:m>
                  <m:oMath xmlns:m="http://schemas.openxmlformats.org/officeDocument/2006/math">
                    <m:r>
                      <a:rPr lang="en-GB" sz="1400" b="0" i="1" smtClean="0">
                        <a:latin typeface="Cambria Math" panose="02040503050406030204" pitchFamily="18" charset="0"/>
                      </a:rPr>
                      <m:t>𝑛</m:t>
                    </m:r>
                    <m:r>
                      <a:rPr lang="en-GB" sz="1400" b="0" i="1" smtClean="0">
                        <a:latin typeface="Cambria Math" panose="02040503050406030204" pitchFamily="18" charset="0"/>
                      </a:rPr>
                      <m:t>≥1</m:t>
                    </m:r>
                  </m:oMath>
                </a14:m>
                <a:endParaRPr lang="en-GB" sz="1400" dirty="0"/>
              </a:p>
              <a:p>
                <a:r>
                  <a:rPr lang="en-GB" sz="1400" dirty="0"/>
                  <a:t>Determine the value of the sum </a:t>
                </a:r>
              </a:p>
              <a:p>
                <a:pPr/>
                <a14:m>
                  <m:oMathPara xmlns:m="http://schemas.openxmlformats.org/officeDocument/2006/math">
                    <m:oMathParaPr>
                      <m:jc m:val="centerGroup"/>
                    </m:oMathParaPr>
                    <m:oMath xmlns:m="http://schemas.openxmlformats.org/officeDocument/2006/math">
                      <m:nary>
                        <m:naryPr>
                          <m:chr m:val="∑"/>
                          <m:limLoc m:val="subSup"/>
                          <m:ctrlPr>
                            <a:rPr lang="en-GB" sz="1400" i="1" smtClean="0">
                              <a:latin typeface="Cambria Math" panose="02040503050406030204" pitchFamily="18" charset="0"/>
                            </a:rPr>
                          </m:ctrlPr>
                        </m:naryPr>
                        <m:sub>
                          <m:r>
                            <m:rPr>
                              <m:brk m:alnAt="25"/>
                            </m:rPr>
                            <a:rPr lang="en-GB" sz="1400" b="0" i="1" smtClean="0">
                              <a:latin typeface="Cambria Math" panose="02040503050406030204" pitchFamily="18" charset="0"/>
                            </a:rPr>
                            <m:t>𝑘</m:t>
                          </m:r>
                          <m:r>
                            <a:rPr lang="en-GB" sz="1400" b="0" i="1" smtClean="0">
                              <a:latin typeface="Cambria Math" panose="02040503050406030204" pitchFamily="18" charset="0"/>
                            </a:rPr>
                            <m:t>=0</m:t>
                          </m:r>
                        </m:sub>
                        <m:sup>
                          <m:r>
                            <a:rPr lang="en-GB" sz="1400" b="0" i="1" smtClean="0">
                              <a:latin typeface="Cambria Math" panose="02040503050406030204" pitchFamily="18" charset="0"/>
                            </a:rPr>
                            <m:t>∞</m:t>
                          </m:r>
                        </m:sup>
                        <m:e>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1</m:t>
                              </m:r>
                            </m:num>
                            <m:den>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𝑥</m:t>
                                  </m:r>
                                </m:e>
                                <m:sub>
                                  <m:r>
                                    <a:rPr lang="en-GB" sz="1400" b="0" i="1" smtClean="0">
                                      <a:latin typeface="Cambria Math" panose="02040503050406030204" pitchFamily="18" charset="0"/>
                                    </a:rPr>
                                    <m:t>𝑘</m:t>
                                  </m:r>
                                </m:sub>
                              </m:sSub>
                            </m:den>
                          </m:f>
                        </m:e>
                      </m:nary>
                    </m:oMath>
                  </m:oMathPara>
                </a14:m>
                <a:endParaRPr lang="en-GB" sz="1400" dirty="0"/>
              </a:p>
              <a:p>
                <a:r>
                  <a:rPr lang="en-GB" sz="1400" b="1" dirty="0"/>
                  <a:t>Solution on next slide.</a:t>
                </a:r>
              </a:p>
            </p:txBody>
          </p:sp>
        </mc:Choice>
        <mc:Fallback xmlns="">
          <p:sp>
            <p:nvSpPr>
              <p:cNvPr id="9" name="TextBox 8">
                <a:extLst>
                  <a:ext uri="{FF2B5EF4-FFF2-40B4-BE49-F238E27FC236}">
                    <a16:creationId xmlns:a16="http://schemas.microsoft.com/office/drawing/2014/main" id="{11F20C78-223F-A511-DC45-F9C76BA9474B}"/>
                  </a:ext>
                </a:extLst>
              </p:cNvPr>
              <p:cNvSpPr txBox="1">
                <a:spLocks noRot="1" noChangeAspect="1" noMove="1" noResize="1" noEditPoints="1" noAdjustHandles="1" noChangeArrowheads="1" noChangeShapeType="1" noTextEdit="1"/>
              </p:cNvSpPr>
              <p:nvPr/>
            </p:nvSpPr>
            <p:spPr>
              <a:xfrm>
                <a:off x="5521821" y="4748464"/>
                <a:ext cx="3191792" cy="1619995"/>
              </a:xfrm>
              <a:prstGeom prst="rect">
                <a:avLst/>
              </a:prstGeom>
              <a:blipFill>
                <a:blip r:embed="rId5"/>
                <a:stretch>
                  <a:fillRect l="-574" t="-752" b="-53759"/>
                </a:stretch>
              </a:blipFill>
            </p:spPr>
            <p:txBody>
              <a:bodyPr/>
              <a:lstStyle/>
              <a:p>
                <a:r>
                  <a:rPr lang="en-GB">
                    <a:noFill/>
                  </a:rPr>
                  <a:t> </a:t>
                </a:r>
              </a:p>
            </p:txBody>
          </p:sp>
        </mc:Fallback>
      </mc:AlternateContent>
      <p:sp>
        <p:nvSpPr>
          <p:cNvPr id="10" name="Rectangle 9">
            <a:extLst>
              <a:ext uri="{FF2B5EF4-FFF2-40B4-BE49-F238E27FC236}">
                <a16:creationId xmlns:a16="http://schemas.microsoft.com/office/drawing/2014/main" id="{1C9E878A-78D1-D9F4-B36C-F62A829122FC}"/>
              </a:ext>
            </a:extLst>
          </p:cNvPr>
          <p:cNvSpPr/>
          <p:nvPr/>
        </p:nvSpPr>
        <p:spPr>
          <a:xfrm>
            <a:off x="136533" y="1856503"/>
            <a:ext cx="273516" cy="2461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1</a:t>
            </a:r>
          </a:p>
        </p:txBody>
      </p:sp>
      <p:sp>
        <p:nvSpPr>
          <p:cNvPr id="11" name="Rectangle 10">
            <a:extLst>
              <a:ext uri="{FF2B5EF4-FFF2-40B4-BE49-F238E27FC236}">
                <a16:creationId xmlns:a16="http://schemas.microsoft.com/office/drawing/2014/main" id="{61BFAFDD-71CB-969A-68BF-E2CCCEB33039}"/>
              </a:ext>
            </a:extLst>
          </p:cNvPr>
          <p:cNvSpPr/>
          <p:nvPr/>
        </p:nvSpPr>
        <p:spPr>
          <a:xfrm>
            <a:off x="75680" y="4788667"/>
            <a:ext cx="273516" cy="2461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2</a:t>
            </a:r>
          </a:p>
        </p:txBody>
      </p:sp>
      <p:sp>
        <p:nvSpPr>
          <p:cNvPr id="12" name="Rectangle 11">
            <a:extLst>
              <a:ext uri="{FF2B5EF4-FFF2-40B4-BE49-F238E27FC236}">
                <a16:creationId xmlns:a16="http://schemas.microsoft.com/office/drawing/2014/main" id="{D1DDA169-7975-B25C-D781-E0973E678AC2}"/>
              </a:ext>
            </a:extLst>
          </p:cNvPr>
          <p:cNvSpPr/>
          <p:nvPr/>
        </p:nvSpPr>
        <p:spPr>
          <a:xfrm>
            <a:off x="5185849" y="4788667"/>
            <a:ext cx="273516" cy="2461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3</a:t>
            </a:r>
          </a:p>
        </p:txBody>
      </p:sp>
      <p:sp>
        <p:nvSpPr>
          <p:cNvPr id="13" name="Rectangle 12">
            <a:extLst>
              <a:ext uri="{FF2B5EF4-FFF2-40B4-BE49-F238E27FC236}">
                <a16:creationId xmlns:a16="http://schemas.microsoft.com/office/drawing/2014/main" id="{D1EE0946-F3A1-810B-C78F-570FD86AFB0B}"/>
              </a:ext>
            </a:extLst>
          </p:cNvPr>
          <p:cNvSpPr/>
          <p:nvPr/>
        </p:nvSpPr>
        <p:spPr>
          <a:xfrm>
            <a:off x="4373767" y="1612475"/>
            <a:ext cx="4701730" cy="291709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14" name="Rectangle 13">
            <a:extLst>
              <a:ext uri="{FF2B5EF4-FFF2-40B4-BE49-F238E27FC236}">
                <a16:creationId xmlns:a16="http://schemas.microsoft.com/office/drawing/2014/main" id="{F8D531E5-5C83-C626-A9DF-4EDC55A841BE}"/>
              </a:ext>
            </a:extLst>
          </p:cNvPr>
          <p:cNvSpPr/>
          <p:nvPr/>
        </p:nvSpPr>
        <p:spPr>
          <a:xfrm>
            <a:off x="273291" y="6253555"/>
            <a:ext cx="3044067" cy="35226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cxnSp>
        <p:nvCxnSpPr>
          <p:cNvPr id="15" name="Straight Connector 14">
            <a:extLst>
              <a:ext uri="{FF2B5EF4-FFF2-40B4-BE49-F238E27FC236}">
                <a16:creationId xmlns:a16="http://schemas.microsoft.com/office/drawing/2014/main" id="{C2007270-F7B1-DC74-DF74-0C7D2308BE01}"/>
              </a:ext>
            </a:extLst>
          </p:cNvPr>
          <p:cNvCxnSpPr/>
          <p:nvPr/>
        </p:nvCxnSpPr>
        <p:spPr>
          <a:xfrm>
            <a:off x="0" y="4665379"/>
            <a:ext cx="91440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5565813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4"/>
                                        </p:tgtEl>
                                      </p:cBhvr>
                                    </p:animEffect>
                                    <p:set>
                                      <p:cBhvr>
                                        <p:cTn id="13"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childTnLst>
        </p:cTn>
      </p:par>
    </p:tnLst>
    <p:bldLst>
      <p:bldP spid="13"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820D429-A7B0-4EE1-B1B2-668942502B26}"/>
              </a:ext>
            </a:extLst>
          </p:cNvPr>
          <p:cNvGrpSpPr/>
          <p:nvPr/>
        </p:nvGrpSpPr>
        <p:grpSpPr>
          <a:xfrm>
            <a:off x="0" y="0"/>
            <a:ext cx="9143074" cy="599127"/>
            <a:chOff x="0" y="13335"/>
            <a:chExt cx="9144218" cy="599127"/>
          </a:xfrm>
        </p:grpSpPr>
        <p:sp>
          <p:nvSpPr>
            <p:cNvPr id="3" name="TextBox 32">
              <a:extLst>
                <a:ext uri="{FF2B5EF4-FFF2-40B4-BE49-F238E27FC236}">
                  <a16:creationId xmlns:a16="http://schemas.microsoft.com/office/drawing/2014/main" id="{5B45B21C-C7DB-44DF-8843-8BB2DC61CAAA}"/>
                </a:ext>
              </a:extLst>
            </p:cNvPr>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latin typeface="+mj-lt"/>
                </a:rPr>
                <a:t>Solution to Extension Question 3</a:t>
              </a:r>
              <a:endParaRPr lang="en-GB" sz="3200" dirty="0"/>
            </a:p>
          </p:txBody>
        </p:sp>
        <p:cxnSp>
          <p:nvCxnSpPr>
            <p:cNvPr id="4" name="Straight Connector 3">
              <a:extLst>
                <a:ext uri="{FF2B5EF4-FFF2-40B4-BE49-F238E27FC236}">
                  <a16:creationId xmlns:a16="http://schemas.microsoft.com/office/drawing/2014/main" id="{571367B4-B221-4C68-8ACD-5E875427870C}"/>
                </a:ext>
              </a:extLst>
            </p:cNvPr>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4A1901C-5D6C-4278-8D1A-E6292B8F533B}"/>
                  </a:ext>
                </a:extLst>
              </p:cNvPr>
              <p:cNvSpPr txBox="1"/>
              <p:nvPr/>
            </p:nvSpPr>
            <p:spPr>
              <a:xfrm>
                <a:off x="370384" y="790228"/>
                <a:ext cx="7946032" cy="4807150"/>
              </a:xfrm>
              <a:prstGeom prst="rect">
                <a:avLst/>
              </a:prstGeom>
              <a:noFill/>
            </p:spPr>
            <p:txBody>
              <a:bodyPr wrap="square" rtlCol="0">
                <a:spAutoFit/>
              </a:bodyPr>
              <a:lstStyle/>
              <a:p>
                <a:r>
                  <a:rPr lang="en-GB" sz="2000" dirty="0"/>
                  <a:t>[MAT 2016 1G] The sequence </a:t>
                </a:r>
                <a14:m>
                  <m:oMath xmlns:m="http://schemas.openxmlformats.org/officeDocument/2006/math">
                    <m:d>
                      <m:dPr>
                        <m:ctrlPr>
                          <a:rPr lang="en-GB" sz="2000" i="1">
                            <a:latin typeface="Cambria Math" panose="02040503050406030204" pitchFamily="18" charset="0"/>
                          </a:rPr>
                        </m:ctrlPr>
                      </m:dPr>
                      <m:e>
                        <m:sSub>
                          <m:sSubPr>
                            <m:ctrlPr>
                              <a:rPr lang="en-GB" sz="2000" i="1">
                                <a:latin typeface="Cambria Math" panose="02040503050406030204" pitchFamily="18" charset="0"/>
                              </a:rPr>
                            </m:ctrlPr>
                          </m:sSubPr>
                          <m:e>
                            <m:r>
                              <a:rPr lang="en-GB" sz="2000" i="1">
                                <a:latin typeface="Cambria Math" panose="02040503050406030204" pitchFamily="18" charset="0"/>
                              </a:rPr>
                              <m:t>𝑥</m:t>
                            </m:r>
                          </m:e>
                          <m:sub>
                            <m:r>
                              <a:rPr lang="en-GB" sz="2000" i="1">
                                <a:latin typeface="Cambria Math" panose="02040503050406030204" pitchFamily="18" charset="0"/>
                              </a:rPr>
                              <m:t>𝑛</m:t>
                            </m:r>
                          </m:sub>
                        </m:sSub>
                      </m:e>
                    </m:d>
                  </m:oMath>
                </a14:m>
                <a:r>
                  <a:rPr lang="en-GB" sz="2000" dirty="0"/>
                  <a:t>, where </a:t>
                </a:r>
                <a14:m>
                  <m:oMath xmlns:m="http://schemas.openxmlformats.org/officeDocument/2006/math">
                    <m:r>
                      <a:rPr lang="en-GB" sz="2000" i="1">
                        <a:latin typeface="Cambria Math" panose="02040503050406030204" pitchFamily="18" charset="0"/>
                      </a:rPr>
                      <m:t>𝑛</m:t>
                    </m:r>
                    <m:r>
                      <a:rPr lang="en-GB" sz="2000" i="1">
                        <a:latin typeface="Cambria Math" panose="02040503050406030204" pitchFamily="18" charset="0"/>
                      </a:rPr>
                      <m:t>≥0</m:t>
                    </m:r>
                  </m:oMath>
                </a14:m>
                <a:r>
                  <a:rPr lang="en-GB" sz="2000" dirty="0"/>
                  <a:t>, is defined by </a:t>
                </a:r>
                <a14:m>
                  <m:oMath xmlns:m="http://schemas.openxmlformats.org/officeDocument/2006/math">
                    <m:sSub>
                      <m:sSubPr>
                        <m:ctrlPr>
                          <a:rPr lang="en-GB" sz="2000" i="1">
                            <a:latin typeface="Cambria Math" panose="02040503050406030204" pitchFamily="18" charset="0"/>
                          </a:rPr>
                        </m:ctrlPr>
                      </m:sSubPr>
                      <m:e>
                        <m:r>
                          <a:rPr lang="en-GB" sz="2000" i="1">
                            <a:latin typeface="Cambria Math" panose="02040503050406030204" pitchFamily="18" charset="0"/>
                          </a:rPr>
                          <m:t>𝑥</m:t>
                        </m:r>
                      </m:e>
                      <m:sub>
                        <m:r>
                          <a:rPr lang="en-GB" sz="2000" i="1">
                            <a:latin typeface="Cambria Math" panose="02040503050406030204" pitchFamily="18" charset="0"/>
                          </a:rPr>
                          <m:t>0</m:t>
                        </m:r>
                      </m:sub>
                    </m:sSub>
                    <m:r>
                      <a:rPr lang="en-GB" sz="2000" i="1">
                        <a:latin typeface="Cambria Math" panose="02040503050406030204" pitchFamily="18" charset="0"/>
                      </a:rPr>
                      <m:t>=1</m:t>
                    </m:r>
                  </m:oMath>
                </a14:m>
                <a:r>
                  <a:rPr lang="en-GB" sz="2000" dirty="0"/>
                  <a:t> and </a:t>
                </a:r>
              </a:p>
              <a:p>
                <a14:m>
                  <m:oMath xmlns:m="http://schemas.openxmlformats.org/officeDocument/2006/math">
                    <m:sSub>
                      <m:sSubPr>
                        <m:ctrlPr>
                          <a:rPr lang="en-GB" sz="2000" i="1">
                            <a:latin typeface="Cambria Math" panose="02040503050406030204" pitchFamily="18" charset="0"/>
                          </a:rPr>
                        </m:ctrlPr>
                      </m:sSubPr>
                      <m:e>
                        <m:r>
                          <a:rPr lang="en-GB" sz="2000" i="1">
                            <a:latin typeface="Cambria Math" panose="02040503050406030204" pitchFamily="18" charset="0"/>
                          </a:rPr>
                          <m:t>𝑥</m:t>
                        </m:r>
                      </m:e>
                      <m:sub>
                        <m:r>
                          <a:rPr lang="en-GB" sz="2000" i="1">
                            <a:latin typeface="Cambria Math" panose="02040503050406030204" pitchFamily="18" charset="0"/>
                          </a:rPr>
                          <m:t>𝑛</m:t>
                        </m:r>
                      </m:sub>
                    </m:sSub>
                    <m:r>
                      <a:rPr lang="en-GB" sz="2000" i="1">
                        <a:latin typeface="Cambria Math" panose="02040503050406030204" pitchFamily="18" charset="0"/>
                      </a:rPr>
                      <m:t>=</m:t>
                    </m:r>
                    <m:nary>
                      <m:naryPr>
                        <m:chr m:val="∑"/>
                        <m:limLoc m:val="subSup"/>
                        <m:ctrlPr>
                          <a:rPr lang="en-GB" sz="2000" i="1">
                            <a:latin typeface="Cambria Math" panose="02040503050406030204" pitchFamily="18" charset="0"/>
                          </a:rPr>
                        </m:ctrlPr>
                      </m:naryPr>
                      <m:sub>
                        <m:r>
                          <m:rPr>
                            <m:brk m:alnAt="25"/>
                          </m:rPr>
                          <a:rPr lang="en-GB" sz="2000" i="1">
                            <a:latin typeface="Cambria Math" panose="02040503050406030204" pitchFamily="18" charset="0"/>
                          </a:rPr>
                          <m:t>𝑘</m:t>
                        </m:r>
                        <m:r>
                          <a:rPr lang="en-GB" sz="2000" i="1">
                            <a:latin typeface="Cambria Math" panose="02040503050406030204" pitchFamily="18" charset="0"/>
                          </a:rPr>
                          <m:t>=0</m:t>
                        </m:r>
                      </m:sub>
                      <m:sup>
                        <m:r>
                          <a:rPr lang="en-GB" sz="2000" i="1">
                            <a:latin typeface="Cambria Math" panose="02040503050406030204" pitchFamily="18" charset="0"/>
                          </a:rPr>
                          <m:t>𝑛</m:t>
                        </m:r>
                        <m:r>
                          <a:rPr lang="en-GB" sz="2000" i="1">
                            <a:latin typeface="Cambria Math" panose="02040503050406030204" pitchFamily="18" charset="0"/>
                          </a:rPr>
                          <m:t>−1</m:t>
                        </m:r>
                      </m:sup>
                      <m:e>
                        <m:d>
                          <m:dPr>
                            <m:ctrlPr>
                              <a:rPr lang="en-GB" sz="2000" i="1">
                                <a:latin typeface="Cambria Math" panose="02040503050406030204" pitchFamily="18" charset="0"/>
                              </a:rPr>
                            </m:ctrlPr>
                          </m:dPr>
                          <m:e>
                            <m:sSub>
                              <m:sSubPr>
                                <m:ctrlPr>
                                  <a:rPr lang="en-GB" sz="2000" i="1">
                                    <a:latin typeface="Cambria Math" panose="02040503050406030204" pitchFamily="18" charset="0"/>
                                  </a:rPr>
                                </m:ctrlPr>
                              </m:sSubPr>
                              <m:e>
                                <m:r>
                                  <a:rPr lang="en-GB" sz="2000" i="1">
                                    <a:latin typeface="Cambria Math" panose="02040503050406030204" pitchFamily="18" charset="0"/>
                                  </a:rPr>
                                  <m:t>𝑥</m:t>
                                </m:r>
                              </m:e>
                              <m:sub>
                                <m:r>
                                  <a:rPr lang="en-GB" sz="2000" i="1">
                                    <a:latin typeface="Cambria Math" panose="02040503050406030204" pitchFamily="18" charset="0"/>
                                  </a:rPr>
                                  <m:t>𝑘</m:t>
                                </m:r>
                              </m:sub>
                            </m:sSub>
                          </m:e>
                        </m:d>
                      </m:e>
                    </m:nary>
                  </m:oMath>
                </a14:m>
                <a:r>
                  <a:rPr lang="en-GB" sz="2000" dirty="0"/>
                  <a:t>    for </a:t>
                </a:r>
                <a14:m>
                  <m:oMath xmlns:m="http://schemas.openxmlformats.org/officeDocument/2006/math">
                    <m:r>
                      <a:rPr lang="en-GB" sz="2000" i="1">
                        <a:latin typeface="Cambria Math" panose="02040503050406030204" pitchFamily="18" charset="0"/>
                      </a:rPr>
                      <m:t>𝑛</m:t>
                    </m:r>
                    <m:r>
                      <a:rPr lang="en-GB" sz="2000" i="1">
                        <a:latin typeface="Cambria Math" panose="02040503050406030204" pitchFamily="18" charset="0"/>
                      </a:rPr>
                      <m:t>≥1</m:t>
                    </m:r>
                  </m:oMath>
                </a14:m>
                <a:endParaRPr lang="en-GB" sz="2000" dirty="0"/>
              </a:p>
              <a:p>
                <a:r>
                  <a:rPr lang="en-GB" sz="2000" dirty="0"/>
                  <a:t>Determine the value of the sum </a:t>
                </a:r>
              </a:p>
              <a:p>
                <a:pPr/>
                <a14:m>
                  <m:oMathPara xmlns:m="http://schemas.openxmlformats.org/officeDocument/2006/math">
                    <m:oMathParaPr>
                      <m:jc m:val="centerGroup"/>
                    </m:oMathParaPr>
                    <m:oMath xmlns:m="http://schemas.openxmlformats.org/officeDocument/2006/math">
                      <m:nary>
                        <m:naryPr>
                          <m:chr m:val="∑"/>
                          <m:limLoc m:val="subSup"/>
                          <m:ctrlPr>
                            <a:rPr lang="en-GB" sz="1400" i="1">
                              <a:latin typeface="Cambria Math" panose="02040503050406030204" pitchFamily="18" charset="0"/>
                            </a:rPr>
                          </m:ctrlPr>
                        </m:naryPr>
                        <m:sub>
                          <m:r>
                            <m:rPr>
                              <m:brk m:alnAt="25"/>
                            </m:rPr>
                            <a:rPr lang="en-GB" sz="1400" i="1">
                              <a:latin typeface="Cambria Math" panose="02040503050406030204" pitchFamily="18" charset="0"/>
                            </a:rPr>
                            <m:t>𝑘</m:t>
                          </m:r>
                          <m:r>
                            <a:rPr lang="en-GB" sz="1400" i="1">
                              <a:latin typeface="Cambria Math" panose="02040503050406030204" pitchFamily="18" charset="0"/>
                            </a:rPr>
                            <m:t>=0</m:t>
                          </m:r>
                        </m:sub>
                        <m:sup>
                          <m:r>
                            <a:rPr lang="en-GB" sz="1400" i="1">
                              <a:latin typeface="Cambria Math" panose="02040503050406030204" pitchFamily="18" charset="0"/>
                            </a:rPr>
                            <m:t>∞</m:t>
                          </m:r>
                        </m:sup>
                        <m:e>
                          <m:f>
                            <m:fPr>
                              <m:ctrlPr>
                                <a:rPr lang="en-GB" sz="1400" i="1">
                                  <a:latin typeface="Cambria Math" panose="02040503050406030204" pitchFamily="18" charset="0"/>
                                </a:rPr>
                              </m:ctrlPr>
                            </m:fPr>
                            <m:num>
                              <m:r>
                                <a:rPr lang="en-GB" sz="1400" i="1">
                                  <a:latin typeface="Cambria Math" panose="02040503050406030204" pitchFamily="18" charset="0"/>
                                </a:rPr>
                                <m:t>1</m:t>
                              </m:r>
                            </m:num>
                            <m:den>
                              <m:sSub>
                                <m:sSubPr>
                                  <m:ctrlPr>
                                    <a:rPr lang="en-GB" sz="1400" i="1">
                                      <a:latin typeface="Cambria Math" panose="02040503050406030204" pitchFamily="18" charset="0"/>
                                    </a:rPr>
                                  </m:ctrlPr>
                                </m:sSubPr>
                                <m:e>
                                  <m:r>
                                    <a:rPr lang="en-GB" sz="1400" i="1">
                                      <a:latin typeface="Cambria Math" panose="02040503050406030204" pitchFamily="18" charset="0"/>
                                    </a:rPr>
                                    <m:t>𝑥</m:t>
                                  </m:r>
                                </m:e>
                                <m:sub>
                                  <m:r>
                                    <a:rPr lang="en-GB" sz="1400" i="1">
                                      <a:latin typeface="Cambria Math" panose="02040503050406030204" pitchFamily="18" charset="0"/>
                                    </a:rPr>
                                    <m:t>𝑘</m:t>
                                  </m:r>
                                </m:sub>
                              </m:sSub>
                            </m:den>
                          </m:f>
                        </m:e>
                      </m:nary>
                    </m:oMath>
                  </m:oMathPara>
                </a14:m>
                <a:endParaRPr lang="en-GB" sz="1400" dirty="0"/>
              </a:p>
              <a:p>
                <a:endParaRPr lang="en-GB" dirty="0"/>
              </a:p>
              <a:p>
                <a:r>
                  <a:rPr lang="en-GB" b="1" dirty="0"/>
                  <a:t>Solution:</a:t>
                </a:r>
              </a:p>
              <a:p>
                <a:pPr/>
                <a14:m>
                  <m:oMathPara xmlns:m="http://schemas.openxmlformats.org/officeDocument/2006/math">
                    <m:oMathParaPr>
                      <m:jc m:val="centerGroup"/>
                    </m:oMathParaPr>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𝒙</m:t>
                          </m:r>
                        </m:e>
                        <m:sub>
                          <m:r>
                            <a:rPr lang="en-GB" b="1" i="1" smtClean="0">
                              <a:latin typeface="Cambria Math" panose="02040503050406030204" pitchFamily="18" charset="0"/>
                            </a:rPr>
                            <m:t>𝟎</m:t>
                          </m:r>
                        </m:sub>
                      </m:sSub>
                      <m:r>
                        <a:rPr lang="en-GB" b="1" i="1" smtClean="0">
                          <a:latin typeface="Cambria Math" panose="02040503050406030204" pitchFamily="18" charset="0"/>
                        </a:rPr>
                        <m:t>=</m:t>
                      </m:r>
                      <m:r>
                        <a:rPr lang="en-GB" b="1" i="1" smtClean="0">
                          <a:latin typeface="Cambria Math" panose="02040503050406030204" pitchFamily="18" charset="0"/>
                        </a:rPr>
                        <m:t>𝟏</m:t>
                      </m:r>
                    </m:oMath>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𝒙</m:t>
                          </m:r>
                        </m:e>
                        <m:sub>
                          <m:r>
                            <a:rPr lang="en-GB" b="1" i="1" smtClean="0">
                              <a:latin typeface="Cambria Math" panose="02040503050406030204" pitchFamily="18" charset="0"/>
                            </a:rPr>
                            <m:t>𝟏</m:t>
                          </m:r>
                        </m:sub>
                      </m:sSub>
                      <m:r>
                        <a:rPr lang="en-GB" b="1" i="1" smtClean="0">
                          <a:latin typeface="Cambria Math" panose="02040503050406030204" pitchFamily="18" charset="0"/>
                        </a:rPr>
                        <m:t>=</m:t>
                      </m:r>
                      <m:r>
                        <a:rPr lang="en-GB" b="1" i="1" smtClean="0">
                          <a:latin typeface="Cambria Math" panose="02040503050406030204" pitchFamily="18" charset="0"/>
                        </a:rPr>
                        <m:t>𝟏</m:t>
                      </m:r>
                    </m:oMath>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𝒙</m:t>
                          </m:r>
                        </m:e>
                        <m:sub>
                          <m:r>
                            <a:rPr lang="en-GB" b="1" i="1" smtClean="0">
                              <a:latin typeface="Cambria Math" panose="02040503050406030204" pitchFamily="18" charset="0"/>
                            </a:rPr>
                            <m:t>𝟐</m:t>
                          </m:r>
                        </m:sub>
                      </m:sSub>
                      <m:r>
                        <a:rPr lang="en-GB" b="1" i="1" smtClean="0">
                          <a:latin typeface="Cambria Math" panose="02040503050406030204" pitchFamily="18" charset="0"/>
                        </a:rPr>
                        <m:t>=</m:t>
                      </m:r>
                      <m:r>
                        <a:rPr lang="en-GB" b="1" i="1" smtClean="0">
                          <a:latin typeface="Cambria Math" panose="02040503050406030204" pitchFamily="18" charset="0"/>
                        </a:rPr>
                        <m:t>𝟏</m:t>
                      </m:r>
                      <m:r>
                        <a:rPr lang="en-GB" b="1" i="1" smtClean="0">
                          <a:latin typeface="Cambria Math" panose="02040503050406030204" pitchFamily="18" charset="0"/>
                        </a:rPr>
                        <m:t>+</m:t>
                      </m:r>
                      <m:r>
                        <a:rPr lang="en-GB" b="1" i="1" smtClean="0">
                          <a:latin typeface="Cambria Math" panose="02040503050406030204" pitchFamily="18" charset="0"/>
                        </a:rPr>
                        <m:t>𝟏</m:t>
                      </m:r>
                      <m:r>
                        <a:rPr lang="en-GB" b="1" i="1" smtClean="0">
                          <a:latin typeface="Cambria Math" panose="02040503050406030204" pitchFamily="18" charset="0"/>
                        </a:rPr>
                        <m:t>=</m:t>
                      </m:r>
                      <m:r>
                        <a:rPr lang="en-GB" b="1" i="1" smtClean="0">
                          <a:latin typeface="Cambria Math" panose="02040503050406030204" pitchFamily="18" charset="0"/>
                        </a:rPr>
                        <m:t>𝟐</m:t>
                      </m:r>
                    </m:oMath>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𝒙</m:t>
                          </m:r>
                        </m:e>
                        <m:sub>
                          <m:r>
                            <a:rPr lang="en-GB" b="1" i="1" smtClean="0">
                              <a:latin typeface="Cambria Math" panose="02040503050406030204" pitchFamily="18" charset="0"/>
                            </a:rPr>
                            <m:t>𝟑</m:t>
                          </m:r>
                        </m:sub>
                      </m:sSub>
                      <m:r>
                        <a:rPr lang="en-GB" b="1" i="1" smtClean="0">
                          <a:latin typeface="Cambria Math" panose="02040503050406030204" pitchFamily="18" charset="0"/>
                        </a:rPr>
                        <m:t>=</m:t>
                      </m:r>
                      <m:r>
                        <a:rPr lang="en-GB" b="1" i="1" smtClean="0">
                          <a:latin typeface="Cambria Math" panose="02040503050406030204" pitchFamily="18" charset="0"/>
                        </a:rPr>
                        <m:t>𝟏</m:t>
                      </m:r>
                      <m:r>
                        <a:rPr lang="en-GB" b="1" i="1" smtClean="0">
                          <a:latin typeface="Cambria Math" panose="02040503050406030204" pitchFamily="18" charset="0"/>
                        </a:rPr>
                        <m:t>+</m:t>
                      </m:r>
                      <m:r>
                        <a:rPr lang="en-GB" b="1" i="1" smtClean="0">
                          <a:latin typeface="Cambria Math" panose="02040503050406030204" pitchFamily="18" charset="0"/>
                        </a:rPr>
                        <m:t>𝟏</m:t>
                      </m:r>
                      <m:r>
                        <a:rPr lang="en-GB" b="1" i="1" smtClean="0">
                          <a:latin typeface="Cambria Math" panose="02040503050406030204" pitchFamily="18" charset="0"/>
                        </a:rPr>
                        <m:t>+</m:t>
                      </m:r>
                      <m:r>
                        <a:rPr lang="en-GB" b="1" i="1" smtClean="0">
                          <a:latin typeface="Cambria Math" panose="02040503050406030204" pitchFamily="18" charset="0"/>
                        </a:rPr>
                        <m:t>𝟐</m:t>
                      </m:r>
                      <m:r>
                        <a:rPr lang="en-GB" b="1" i="1" smtClean="0">
                          <a:latin typeface="Cambria Math" panose="02040503050406030204" pitchFamily="18" charset="0"/>
                        </a:rPr>
                        <m:t>=</m:t>
                      </m:r>
                      <m:r>
                        <a:rPr lang="en-GB" b="1" i="1" smtClean="0">
                          <a:latin typeface="Cambria Math" panose="02040503050406030204" pitchFamily="18" charset="0"/>
                        </a:rPr>
                        <m:t>𝟒</m:t>
                      </m:r>
                    </m:oMath>
                  </m:oMathPara>
                </a14:m>
                <a:endParaRPr lang="en-GB" b="1" dirty="0"/>
              </a:p>
              <a:p>
                <a:r>
                  <a:rPr lang="en-GB" b="1" dirty="0"/>
                  <a:t>This is a geometric sequence from </a:t>
                </a:r>
                <a14:m>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𝒙</m:t>
                        </m:r>
                      </m:e>
                      <m:sub>
                        <m:r>
                          <a:rPr lang="en-GB" b="1" i="1" smtClean="0">
                            <a:latin typeface="Cambria Math" panose="02040503050406030204" pitchFamily="18" charset="0"/>
                          </a:rPr>
                          <m:t>𝟏</m:t>
                        </m:r>
                      </m:sub>
                    </m:sSub>
                  </m:oMath>
                </a14:m>
                <a:r>
                  <a:rPr lang="en-GB" b="1" dirty="0"/>
                  <a:t> onwards.</a:t>
                </a:r>
              </a:p>
              <a:p>
                <a:endParaRPr lang="en-GB" b="1" dirty="0"/>
              </a:p>
              <a:p>
                <a:r>
                  <a:rPr lang="en-GB" b="1" dirty="0"/>
                  <a:t>Therefore</a:t>
                </a:r>
              </a:p>
              <a:p>
                <a:pPr/>
                <a14:m>
                  <m:oMathPara xmlns:m="http://schemas.openxmlformats.org/officeDocument/2006/math">
                    <m:oMathParaPr>
                      <m:jc m:val="centerGroup"/>
                    </m:oMathParaPr>
                    <m:oMath xmlns:m="http://schemas.openxmlformats.org/officeDocument/2006/math">
                      <m:nary>
                        <m:naryPr>
                          <m:chr m:val="∑"/>
                          <m:limLoc m:val="subSup"/>
                          <m:ctrlPr>
                            <a:rPr lang="en-GB" b="1" i="1">
                              <a:latin typeface="Cambria Math" panose="02040503050406030204" pitchFamily="18" charset="0"/>
                            </a:rPr>
                          </m:ctrlPr>
                        </m:naryPr>
                        <m:sub>
                          <m:r>
                            <m:rPr>
                              <m:brk m:alnAt="25"/>
                            </m:rPr>
                            <a:rPr lang="en-GB" b="1" i="1">
                              <a:latin typeface="Cambria Math" panose="02040503050406030204" pitchFamily="18" charset="0"/>
                            </a:rPr>
                            <m:t>𝒌</m:t>
                          </m:r>
                          <m:r>
                            <a:rPr lang="en-GB" b="1" i="1">
                              <a:latin typeface="Cambria Math" panose="02040503050406030204" pitchFamily="18" charset="0"/>
                            </a:rPr>
                            <m:t>=</m:t>
                          </m:r>
                          <m:r>
                            <a:rPr lang="en-GB" b="1" i="1">
                              <a:latin typeface="Cambria Math" panose="02040503050406030204" pitchFamily="18" charset="0"/>
                            </a:rPr>
                            <m:t>𝟎</m:t>
                          </m:r>
                        </m:sub>
                        <m:sup>
                          <m:r>
                            <a:rPr lang="en-GB" b="1" i="1">
                              <a:latin typeface="Cambria Math" panose="02040503050406030204" pitchFamily="18" charset="0"/>
                            </a:rPr>
                            <m:t>∞</m:t>
                          </m:r>
                        </m:sup>
                        <m:e>
                          <m:f>
                            <m:fPr>
                              <m:ctrlPr>
                                <a:rPr lang="en-GB" b="1" i="1">
                                  <a:latin typeface="Cambria Math" panose="02040503050406030204" pitchFamily="18" charset="0"/>
                                </a:rPr>
                              </m:ctrlPr>
                            </m:fPr>
                            <m:num>
                              <m:r>
                                <a:rPr lang="en-GB" b="1" i="1">
                                  <a:latin typeface="Cambria Math" panose="02040503050406030204" pitchFamily="18" charset="0"/>
                                </a:rPr>
                                <m:t>𝟏</m:t>
                              </m:r>
                            </m:num>
                            <m:den>
                              <m:sSub>
                                <m:sSubPr>
                                  <m:ctrlPr>
                                    <a:rPr lang="en-GB" b="1" i="1">
                                      <a:latin typeface="Cambria Math" panose="02040503050406030204" pitchFamily="18" charset="0"/>
                                    </a:rPr>
                                  </m:ctrlPr>
                                </m:sSubPr>
                                <m:e>
                                  <m:r>
                                    <a:rPr lang="en-GB" b="1" i="1">
                                      <a:latin typeface="Cambria Math" panose="02040503050406030204" pitchFamily="18" charset="0"/>
                                    </a:rPr>
                                    <m:t>𝒙</m:t>
                                  </m:r>
                                </m:e>
                                <m:sub>
                                  <m:r>
                                    <a:rPr lang="en-GB" b="1" i="1">
                                      <a:latin typeface="Cambria Math" panose="02040503050406030204" pitchFamily="18" charset="0"/>
                                    </a:rPr>
                                    <m:t>𝒌</m:t>
                                  </m:r>
                                </m:sub>
                              </m:sSub>
                            </m:den>
                          </m:f>
                        </m:e>
                      </m:nary>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𝟏</m:t>
                          </m:r>
                        </m:num>
                        <m:den>
                          <m:r>
                            <a:rPr lang="en-GB" b="1" i="1" smtClean="0">
                              <a:latin typeface="Cambria Math" panose="02040503050406030204" pitchFamily="18" charset="0"/>
                            </a:rPr>
                            <m:t>𝟏</m:t>
                          </m:r>
                        </m:den>
                      </m:f>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𝟏</m:t>
                          </m:r>
                        </m:num>
                        <m:den>
                          <m:r>
                            <a:rPr lang="en-GB" b="1" i="1" smtClean="0">
                              <a:latin typeface="Cambria Math" panose="02040503050406030204" pitchFamily="18" charset="0"/>
                            </a:rPr>
                            <m:t>𝟏</m:t>
                          </m:r>
                        </m:den>
                      </m:f>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𝟏</m:t>
                          </m:r>
                        </m:num>
                        <m:den>
                          <m:r>
                            <a:rPr lang="en-GB" b="1" i="1" smtClean="0">
                              <a:latin typeface="Cambria Math" panose="02040503050406030204" pitchFamily="18" charset="0"/>
                            </a:rPr>
                            <m:t>𝟐</m:t>
                          </m:r>
                        </m:den>
                      </m:f>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𝟏</m:t>
                          </m:r>
                        </m:num>
                        <m:den>
                          <m:r>
                            <a:rPr lang="en-GB" b="1" i="1" smtClean="0">
                              <a:latin typeface="Cambria Math" panose="02040503050406030204" pitchFamily="18" charset="0"/>
                            </a:rPr>
                            <m:t>𝟒</m:t>
                          </m:r>
                        </m:den>
                      </m:f>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𝟏</m:t>
                          </m:r>
                        </m:num>
                        <m:den>
                          <m:r>
                            <a:rPr lang="en-GB" b="1" i="1" smtClean="0">
                              <a:latin typeface="Cambria Math" panose="02040503050406030204" pitchFamily="18" charset="0"/>
                            </a:rPr>
                            <m:t>𝟖</m:t>
                          </m:r>
                        </m:den>
                      </m:f>
                      <m:r>
                        <a:rPr lang="en-GB" b="1" i="1" smtClean="0">
                          <a:latin typeface="Cambria Math" panose="02040503050406030204" pitchFamily="18" charset="0"/>
                        </a:rPr>
                        <m:t>+…</m:t>
                      </m:r>
                    </m:oMath>
                    <m:oMath xmlns:m="http://schemas.openxmlformats.org/officeDocument/2006/math">
                      <m:r>
                        <a:rPr lang="en-GB" b="1" i="1" smtClean="0">
                          <a:latin typeface="Cambria Math" panose="02040503050406030204" pitchFamily="18" charset="0"/>
                        </a:rPr>
                        <m:t>=</m:t>
                      </m:r>
                      <m:r>
                        <a:rPr lang="en-GB" b="1" i="1" smtClean="0">
                          <a:latin typeface="Cambria Math" panose="02040503050406030204" pitchFamily="18" charset="0"/>
                        </a:rPr>
                        <m:t>𝟏</m:t>
                      </m:r>
                      <m:r>
                        <a:rPr lang="en-GB" b="1" i="1" smtClean="0">
                          <a:latin typeface="Cambria Math" panose="02040503050406030204" pitchFamily="18" charset="0"/>
                        </a:rPr>
                        <m:t>+</m:t>
                      </m:r>
                      <m:r>
                        <a:rPr lang="en-GB" b="1" i="1" smtClean="0">
                          <a:latin typeface="Cambria Math" panose="02040503050406030204" pitchFamily="18" charset="0"/>
                        </a:rPr>
                        <m:t>𝟐</m:t>
                      </m:r>
                      <m:r>
                        <a:rPr lang="en-GB" b="1" i="1" smtClean="0">
                          <a:latin typeface="Cambria Math" panose="02040503050406030204" pitchFamily="18" charset="0"/>
                        </a:rPr>
                        <m:t>=</m:t>
                      </m:r>
                      <m:r>
                        <a:rPr lang="en-GB" b="1" i="1" smtClean="0">
                          <a:latin typeface="Cambria Math" panose="02040503050406030204" pitchFamily="18" charset="0"/>
                        </a:rPr>
                        <m:t>𝟑</m:t>
                      </m:r>
                    </m:oMath>
                  </m:oMathPara>
                </a14:m>
                <a:endParaRPr lang="en-GB" b="1" dirty="0"/>
              </a:p>
            </p:txBody>
          </p:sp>
        </mc:Choice>
        <mc:Fallback xmlns="">
          <p:sp>
            <p:nvSpPr>
              <p:cNvPr id="5" name="TextBox 4">
                <a:extLst>
                  <a:ext uri="{FF2B5EF4-FFF2-40B4-BE49-F238E27FC236}">
                    <a16:creationId xmlns:a16="http://schemas.microsoft.com/office/drawing/2014/main" id="{94A1901C-5D6C-4278-8D1A-E6292B8F533B}"/>
                  </a:ext>
                </a:extLst>
              </p:cNvPr>
              <p:cNvSpPr txBox="1">
                <a:spLocks noRot="1" noChangeAspect="1" noMove="1" noResize="1" noEditPoints="1" noAdjustHandles="1" noChangeArrowheads="1" noChangeShapeType="1" noTextEdit="1"/>
              </p:cNvSpPr>
              <p:nvPr/>
            </p:nvSpPr>
            <p:spPr>
              <a:xfrm>
                <a:off x="370384" y="790228"/>
                <a:ext cx="7946032" cy="4807150"/>
              </a:xfrm>
              <a:prstGeom prst="rect">
                <a:avLst/>
              </a:prstGeom>
              <a:blipFill>
                <a:blip r:embed="rId2"/>
                <a:stretch>
                  <a:fillRect l="-844" t="-3680" r="-384"/>
                </a:stretch>
              </a:blipFill>
            </p:spPr>
            <p:txBody>
              <a:bodyPr/>
              <a:lstStyle/>
              <a:p>
                <a:r>
                  <a:rPr lang="en-GB">
                    <a:noFill/>
                  </a:rPr>
                  <a:t> </a:t>
                </a:r>
              </a:p>
            </p:txBody>
          </p:sp>
        </mc:Fallback>
      </mc:AlternateContent>
    </p:spTree>
    <p:extLst>
      <p:ext uri="{BB962C8B-B14F-4D97-AF65-F5344CB8AC3E}">
        <p14:creationId xmlns:p14="http://schemas.microsoft.com/office/powerpoint/2010/main" val="2397117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26A9D34-35F8-43AA-A8DD-0D6599588046}"/>
              </a:ext>
            </a:extLst>
          </p:cNvPr>
          <p:cNvGrpSpPr/>
          <p:nvPr/>
        </p:nvGrpSpPr>
        <p:grpSpPr>
          <a:xfrm>
            <a:off x="0" y="0"/>
            <a:ext cx="9143074" cy="599127"/>
            <a:chOff x="0" y="13335"/>
            <a:chExt cx="9144218" cy="599127"/>
          </a:xfrm>
        </p:grpSpPr>
        <p:sp>
          <p:nvSpPr>
            <p:cNvPr id="3" name="TextBox 32">
              <a:extLst>
                <a:ext uri="{FF2B5EF4-FFF2-40B4-BE49-F238E27FC236}">
                  <a16:creationId xmlns:a16="http://schemas.microsoft.com/office/drawing/2014/main" id="{97E6F4B0-B535-4316-98C6-D4BB94B292EE}"/>
                </a:ext>
              </a:extLst>
            </p:cNvPr>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latin typeface="+mj-lt"/>
                </a:rPr>
                <a:t>Increasing, decreasing and periodic sequences</a:t>
              </a:r>
              <a:endParaRPr lang="en-GB" sz="3200" dirty="0"/>
            </a:p>
          </p:txBody>
        </p:sp>
        <p:cxnSp>
          <p:nvCxnSpPr>
            <p:cNvPr id="4" name="Straight Connector 3">
              <a:extLst>
                <a:ext uri="{FF2B5EF4-FFF2-40B4-BE49-F238E27FC236}">
                  <a16:creationId xmlns:a16="http://schemas.microsoft.com/office/drawing/2014/main" id="{66EF7D68-91A3-4A43-85A2-BE83EDA63AD7}"/>
                </a:ext>
              </a:extLst>
            </p:cNvPr>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2C4FF90-1AE9-439A-9DF4-8DD3926878B8}"/>
                  </a:ext>
                </a:extLst>
              </p:cNvPr>
              <p:cNvSpPr txBox="1"/>
              <p:nvPr/>
            </p:nvSpPr>
            <p:spPr>
              <a:xfrm>
                <a:off x="657463" y="916933"/>
                <a:ext cx="6984776" cy="2800767"/>
              </a:xfrm>
              <a:prstGeom prst="rect">
                <a:avLst/>
              </a:prstGeom>
              <a:noFill/>
            </p:spPr>
            <p:txBody>
              <a:bodyPr wrap="square" rtlCol="0">
                <a:spAutoFit/>
              </a:bodyPr>
              <a:lstStyle/>
              <a:p>
                <a:r>
                  <a:rPr lang="en-GB" dirty="0"/>
                  <a:t>A sequence is </a:t>
                </a:r>
                <a:r>
                  <a:rPr lang="en-GB" b="1" u="sng" dirty="0"/>
                  <a:t>strictly increasing</a:t>
                </a:r>
                <a:r>
                  <a:rPr lang="en-GB" dirty="0"/>
                  <a:t> if the terms are always increasing, i.e.</a:t>
                </a:r>
              </a:p>
              <a:p>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b="0" i="1" smtClean="0">
                            <a:latin typeface="Cambria Math" panose="02040503050406030204" pitchFamily="18" charset="0"/>
                          </a:rPr>
                          <m:t>𝑛</m:t>
                        </m:r>
                        <m:r>
                          <a:rPr lang="en-GB" b="0" i="1" smtClean="0">
                            <a:latin typeface="Cambria Math" panose="02040503050406030204" pitchFamily="18" charset="0"/>
                          </a:rPr>
                          <m:t>+1</m:t>
                        </m:r>
                      </m:sub>
                    </m:sSub>
                    <m:r>
                      <a:rPr lang="en-GB" b="0" i="1" smtClean="0">
                        <a:latin typeface="Cambria Math" panose="02040503050406030204" pitchFamily="18" charset="0"/>
                      </a:rPr>
                      <m:t>&gt;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b="0" i="1" smtClean="0">
                            <a:latin typeface="Cambria Math" panose="02040503050406030204" pitchFamily="18" charset="0"/>
                          </a:rPr>
                          <m:t>𝑛</m:t>
                        </m:r>
                      </m:sub>
                    </m:sSub>
                  </m:oMath>
                </a14:m>
                <a:r>
                  <a:rPr lang="en-GB" dirty="0"/>
                  <a:t> for all </a:t>
                </a:r>
                <a14:m>
                  <m:oMath xmlns:m="http://schemas.openxmlformats.org/officeDocument/2006/math">
                    <m:r>
                      <a:rPr lang="en-GB" b="0" i="1" smtClean="0">
                        <a:latin typeface="Cambria Math" panose="02040503050406030204" pitchFamily="18" charset="0"/>
                      </a:rPr>
                      <m:t>𝑛</m:t>
                    </m:r>
                    <m:r>
                      <a:rPr lang="en-GB" b="0" i="1" smtClean="0">
                        <a:latin typeface="Cambria Math" panose="02040503050406030204" pitchFamily="18" charset="0"/>
                      </a:rPr>
                      <m:t>∈</m:t>
                    </m:r>
                    <m:r>
                      <a:rPr lang="en-GB" b="0" i="1" smtClean="0">
                        <a:latin typeface="Cambria Math" panose="02040503050406030204" pitchFamily="18" charset="0"/>
                      </a:rPr>
                      <m:t>ℕ</m:t>
                    </m:r>
                  </m:oMath>
                </a14:m>
                <a:r>
                  <a:rPr lang="en-GB" dirty="0"/>
                  <a:t>.</a:t>
                </a:r>
              </a:p>
              <a:p>
                <a:r>
                  <a:rPr lang="en-GB" sz="1600" i="1" dirty="0"/>
                  <a:t>e.g. </a:t>
                </a:r>
                <a14:m>
                  <m:oMath xmlns:m="http://schemas.openxmlformats.org/officeDocument/2006/math">
                    <m:r>
                      <a:rPr lang="en-GB" sz="1600" b="0" i="1" smtClean="0">
                        <a:latin typeface="Cambria Math" panose="02040503050406030204" pitchFamily="18" charset="0"/>
                      </a:rPr>
                      <m:t>1, 2, 4, 8, 16, …</m:t>
                    </m:r>
                  </m:oMath>
                </a14:m>
                <a:endParaRPr lang="en-GB" sz="1600" i="1" dirty="0"/>
              </a:p>
              <a:p>
                <a:endParaRPr lang="en-GB" dirty="0"/>
              </a:p>
              <a:p>
                <a:r>
                  <a:rPr lang="en-GB" dirty="0"/>
                  <a:t>Similarly a sequence is </a:t>
                </a:r>
                <a:r>
                  <a:rPr lang="en-GB" b="1" u="sng" dirty="0"/>
                  <a:t>strictly decreasing</a:t>
                </a:r>
                <a:r>
                  <a:rPr lang="en-GB" dirty="0"/>
                  <a:t> if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𝑢</m:t>
                        </m:r>
                      </m:e>
                      <m:sub>
                        <m:r>
                          <a:rPr lang="en-GB" i="1">
                            <a:latin typeface="Cambria Math" panose="02040503050406030204" pitchFamily="18" charset="0"/>
                          </a:rPr>
                          <m:t>𝑛</m:t>
                        </m:r>
                        <m:r>
                          <a:rPr lang="en-GB" i="1">
                            <a:latin typeface="Cambria Math" panose="02040503050406030204" pitchFamily="18" charset="0"/>
                          </a:rPr>
                          <m:t>+1</m:t>
                        </m:r>
                      </m:sub>
                    </m:sSub>
                    <m:r>
                      <a:rPr lang="en-GB" b="0" i="1" smtClean="0">
                        <a:latin typeface="Cambria Math" panose="02040503050406030204" pitchFamily="18" charset="0"/>
                      </a:rPr>
                      <m:t>&lt;</m:t>
                    </m:r>
                    <m:sSub>
                      <m:sSubPr>
                        <m:ctrlPr>
                          <a:rPr lang="en-GB" i="1">
                            <a:latin typeface="Cambria Math" panose="02040503050406030204" pitchFamily="18" charset="0"/>
                          </a:rPr>
                        </m:ctrlPr>
                      </m:sSubPr>
                      <m:e>
                        <m:r>
                          <a:rPr lang="en-GB" i="1">
                            <a:latin typeface="Cambria Math" panose="02040503050406030204" pitchFamily="18" charset="0"/>
                          </a:rPr>
                          <m:t>𝑢</m:t>
                        </m:r>
                      </m:e>
                      <m:sub>
                        <m:r>
                          <a:rPr lang="en-GB" i="1">
                            <a:latin typeface="Cambria Math" panose="02040503050406030204" pitchFamily="18" charset="0"/>
                          </a:rPr>
                          <m:t>𝑛</m:t>
                        </m:r>
                      </m:sub>
                    </m:sSub>
                  </m:oMath>
                </a14:m>
                <a:r>
                  <a:rPr lang="en-GB" dirty="0"/>
                  <a:t> for </a:t>
                </a:r>
                <a:br>
                  <a:rPr lang="en-GB" dirty="0"/>
                </a:br>
                <a:r>
                  <a:rPr lang="en-GB" dirty="0"/>
                  <a:t>all </a:t>
                </a:r>
                <a14:m>
                  <m:oMath xmlns:m="http://schemas.openxmlformats.org/officeDocument/2006/math">
                    <m:r>
                      <a:rPr lang="en-GB" i="1">
                        <a:latin typeface="Cambria Math" panose="02040503050406030204" pitchFamily="18" charset="0"/>
                      </a:rPr>
                      <m:t>𝑛</m:t>
                    </m:r>
                    <m:r>
                      <a:rPr lang="en-GB" i="1">
                        <a:latin typeface="Cambria Math" panose="02040503050406030204" pitchFamily="18" charset="0"/>
                      </a:rPr>
                      <m:t>∈</m:t>
                    </m:r>
                    <m:r>
                      <a:rPr lang="en-GB" i="1">
                        <a:latin typeface="Cambria Math" panose="02040503050406030204" pitchFamily="18" charset="0"/>
                      </a:rPr>
                      <m:t>ℕ</m:t>
                    </m:r>
                  </m:oMath>
                </a14:m>
                <a:endParaRPr lang="en-GB" dirty="0"/>
              </a:p>
              <a:p>
                <a:endParaRPr lang="en-GB" dirty="0"/>
              </a:p>
              <a:p>
                <a:r>
                  <a:rPr lang="en-GB" dirty="0"/>
                  <a:t>A sequence is </a:t>
                </a:r>
                <a:r>
                  <a:rPr lang="en-GB" b="1" u="sng" dirty="0"/>
                  <a:t>periodic</a:t>
                </a:r>
                <a:r>
                  <a:rPr lang="en-GB" dirty="0"/>
                  <a:t> if the terms repeat in a cycle. The </a:t>
                </a:r>
                <a:r>
                  <a:rPr lang="en-GB" b="1" u="sng" dirty="0"/>
                  <a:t>order</a:t>
                </a:r>
                <a:r>
                  <a:rPr lang="en-GB" dirty="0"/>
                  <a:t> </a:t>
                </a:r>
                <a14:m>
                  <m:oMath xmlns:m="http://schemas.openxmlformats.org/officeDocument/2006/math">
                    <m:r>
                      <a:rPr lang="en-GB" b="0" i="1" smtClean="0">
                        <a:latin typeface="Cambria Math" panose="02040503050406030204" pitchFamily="18" charset="0"/>
                      </a:rPr>
                      <m:t>𝑘</m:t>
                    </m:r>
                  </m:oMath>
                </a14:m>
                <a:r>
                  <a:rPr lang="en-GB" dirty="0"/>
                  <a:t> of a sequence is </a:t>
                </a:r>
                <a:r>
                  <a:rPr lang="en-GB" b="1" u="sng" dirty="0"/>
                  <a:t>how often it repeats</a:t>
                </a:r>
                <a:r>
                  <a:rPr lang="en-GB" dirty="0"/>
                  <a:t>, i.e.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b="0" i="1" smtClean="0">
                            <a:latin typeface="Cambria Math" panose="02040503050406030204" pitchFamily="18" charset="0"/>
                          </a:rPr>
                          <m:t>𝑛</m:t>
                        </m:r>
                        <m:r>
                          <a:rPr lang="en-GB" b="0" i="1" smtClean="0">
                            <a:latin typeface="Cambria Math" panose="02040503050406030204" pitchFamily="18" charset="0"/>
                          </a:rPr>
                          <m:t>+</m:t>
                        </m:r>
                        <m:r>
                          <a:rPr lang="en-GB" b="0" i="1" smtClean="0">
                            <a:latin typeface="Cambria Math" panose="02040503050406030204" pitchFamily="18" charset="0"/>
                          </a:rPr>
                          <m:t>𝑘</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b="0" i="1" smtClean="0">
                            <a:latin typeface="Cambria Math" panose="02040503050406030204" pitchFamily="18" charset="0"/>
                          </a:rPr>
                          <m:t>𝑛</m:t>
                        </m:r>
                      </m:sub>
                    </m:sSub>
                  </m:oMath>
                </a14:m>
                <a:r>
                  <a:rPr lang="en-GB" dirty="0"/>
                  <a:t> for all </a:t>
                </a:r>
                <a14:m>
                  <m:oMath xmlns:m="http://schemas.openxmlformats.org/officeDocument/2006/math">
                    <m:r>
                      <a:rPr lang="en-GB" b="0" i="1" smtClean="0">
                        <a:latin typeface="Cambria Math" panose="02040503050406030204" pitchFamily="18" charset="0"/>
                      </a:rPr>
                      <m:t>𝑛</m:t>
                    </m:r>
                  </m:oMath>
                </a14:m>
                <a:r>
                  <a:rPr lang="en-GB" dirty="0"/>
                  <a:t>.</a:t>
                </a:r>
              </a:p>
              <a:p>
                <a:r>
                  <a:rPr lang="en-GB" sz="1600" i="1" dirty="0"/>
                  <a:t>e.g. 2, 3, 0, 2, 3, 0, 2, 3, 0, 2, … is periodic and has order 3.</a:t>
                </a:r>
              </a:p>
            </p:txBody>
          </p:sp>
        </mc:Choice>
        <mc:Fallback xmlns="">
          <p:sp>
            <p:nvSpPr>
              <p:cNvPr id="5" name="TextBox 4">
                <a:extLst>
                  <a:ext uri="{FF2B5EF4-FFF2-40B4-BE49-F238E27FC236}">
                    <a16:creationId xmlns:a16="http://schemas.microsoft.com/office/drawing/2014/main" id="{E2C4FF90-1AE9-439A-9DF4-8DD3926878B8}"/>
                  </a:ext>
                </a:extLst>
              </p:cNvPr>
              <p:cNvSpPr txBox="1">
                <a:spLocks noRot="1" noChangeAspect="1" noMove="1" noResize="1" noEditPoints="1" noAdjustHandles="1" noChangeArrowheads="1" noChangeShapeType="1" noTextEdit="1"/>
              </p:cNvSpPr>
              <p:nvPr/>
            </p:nvSpPr>
            <p:spPr>
              <a:xfrm>
                <a:off x="657463" y="916933"/>
                <a:ext cx="6984776" cy="2800767"/>
              </a:xfrm>
              <a:prstGeom prst="rect">
                <a:avLst/>
              </a:prstGeom>
              <a:blipFill>
                <a:blip r:embed="rId2"/>
                <a:stretch>
                  <a:fillRect l="-785" t="-1087" b="-173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1DCC72C-F558-4B77-8280-A2A727DC474C}"/>
                  </a:ext>
                </a:extLst>
              </p:cNvPr>
              <p:cNvSpPr txBox="1"/>
              <p:nvPr/>
            </p:nvSpPr>
            <p:spPr>
              <a:xfrm>
                <a:off x="632316" y="4084367"/>
                <a:ext cx="7717909" cy="2147319"/>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[Textbook] For each sequence:</a:t>
                </a:r>
              </a:p>
              <a:p>
                <a:pPr marL="400050" indent="-400050">
                  <a:buAutoNum type="romanLcParenR"/>
                </a:pPr>
                <a:r>
                  <a:rPr lang="en-GB" dirty="0"/>
                  <a:t>State whether the sequence is increasing, decreasing or periodic.</a:t>
                </a:r>
              </a:p>
              <a:p>
                <a:pPr marL="400050" indent="-400050">
                  <a:buAutoNum type="romanLcParenR"/>
                </a:pPr>
                <a:r>
                  <a:rPr lang="en-GB" dirty="0"/>
                  <a:t>If the sequence is periodic, write down its order.</a:t>
                </a:r>
              </a:p>
              <a:p>
                <a:pPr marL="400050" indent="-400050">
                  <a:buAutoNum type="romanLcParenR"/>
                </a:pPr>
                <a:endParaRPr lang="en-GB" dirty="0"/>
              </a:p>
              <a:p>
                <a:pPr marL="342900" indent="-342900">
                  <a:buAutoNum type="alphaLcParenR"/>
                </a:pPr>
                <a:r>
                  <a:rPr lang="en-GB" b="0" dirty="0"/>
                  <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b="0" i="1" smtClean="0">
                            <a:latin typeface="Cambria Math" panose="02040503050406030204" pitchFamily="18" charset="0"/>
                          </a:rPr>
                          <m:t>𝑛</m:t>
                        </m:r>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b="0" i="1" smtClean="0">
                            <a:latin typeface="Cambria Math" panose="02040503050406030204" pitchFamily="18" charset="0"/>
                          </a:rPr>
                          <m:t>𝑛</m:t>
                        </m:r>
                      </m:sub>
                    </m:sSub>
                    <m:r>
                      <a:rPr lang="en-GB" b="0" i="1" smtClean="0">
                        <a:latin typeface="Cambria Math" panose="02040503050406030204" pitchFamily="18" charset="0"/>
                      </a:rPr>
                      <m:t>+3,  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b="0" i="1" smtClean="0">
                            <a:latin typeface="Cambria Math" panose="02040503050406030204" pitchFamily="18" charset="0"/>
                          </a:rPr>
                          <m:t>1</m:t>
                        </m:r>
                      </m:sub>
                    </m:sSub>
                    <m:r>
                      <a:rPr lang="en-GB" b="0" i="1" smtClean="0">
                        <a:latin typeface="Cambria Math" panose="02040503050406030204" pitchFamily="18" charset="0"/>
                      </a:rPr>
                      <m:t>=7</m:t>
                    </m:r>
                  </m:oMath>
                </a14:m>
                <a:r>
                  <a:rPr lang="en-GB" dirty="0"/>
                  <a:t>                Terms: 7, 10, 13,…. Increasing.</a:t>
                </a:r>
              </a:p>
              <a:p>
                <a:pPr marL="342900" indent="-342900">
                  <a:buAutoNum type="alphaLcParenR"/>
                </a:pPr>
                <a:r>
                  <a:rPr lang="en-GB" dirty="0"/>
                  <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b="0" i="1" smtClean="0">
                            <a:latin typeface="Cambria Math" panose="02040503050406030204" pitchFamily="18" charset="0"/>
                          </a:rPr>
                          <m:t>𝑛</m:t>
                        </m:r>
                        <m:r>
                          <a:rPr lang="en-GB" b="0" i="1" smtClean="0">
                            <a:latin typeface="Cambria Math" panose="02040503050406030204" pitchFamily="18" charset="0"/>
                          </a:rPr>
                          <m:t>+1</m:t>
                        </m:r>
                      </m:sub>
                    </m:sSub>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b="0" i="1" smtClean="0">
                                    <a:latin typeface="Cambria Math" panose="02040503050406030204" pitchFamily="18" charset="0"/>
                                  </a:rPr>
                                  <m:t>𝑛</m:t>
                                </m:r>
                              </m:sub>
                            </m:sSub>
                          </m:e>
                        </m:d>
                      </m:e>
                      <m:sup>
                        <m:r>
                          <a:rPr lang="en-GB" b="0" i="1" smtClean="0">
                            <a:latin typeface="Cambria Math" panose="02040503050406030204" pitchFamily="18" charset="0"/>
                          </a:rPr>
                          <m:t>2</m:t>
                        </m:r>
                      </m:sup>
                    </m:sSup>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b="0" i="1" smtClean="0">
                            <a:latin typeface="Cambria Math" panose="02040503050406030204" pitchFamily="18" charset="0"/>
                          </a:rPr>
                          <m:t>1</m:t>
                        </m:r>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oMath>
                </a14:m>
                <a:r>
                  <a:rPr lang="en-GB" dirty="0"/>
                  <a:t>                 Terms: </a:t>
                </a:r>
                <a14:m>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4</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8</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16</m:t>
                        </m:r>
                      </m:den>
                    </m:f>
                    <m:r>
                      <a:rPr lang="en-GB" b="0" i="1" smtClean="0">
                        <a:latin typeface="Cambria Math" panose="02040503050406030204" pitchFamily="18" charset="0"/>
                      </a:rPr>
                      <m:t>,…</m:t>
                    </m:r>
                  </m:oMath>
                </a14:m>
                <a:r>
                  <a:rPr lang="en-GB" dirty="0"/>
                  <a:t>. Decreasing.</a:t>
                </a:r>
              </a:p>
              <a:p>
                <a:pPr marL="342900" indent="-342900">
                  <a:buAutoNum type="alphaLcParenR"/>
                </a:pPr>
                <a:r>
                  <a:rPr lang="en-GB" dirty="0"/>
                  <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b="0" i="1" smtClean="0">
                            <a:latin typeface="Cambria Math" panose="02040503050406030204" pitchFamily="18" charset="0"/>
                          </a:rPr>
                          <m:t>𝑛</m:t>
                        </m:r>
                        <m:r>
                          <a:rPr lang="en-GB" b="0" i="1" smtClean="0">
                            <a:latin typeface="Cambria Math" panose="02040503050406030204" pitchFamily="18" charset="0"/>
                          </a:rPr>
                          <m:t>+1</m:t>
                        </m:r>
                      </m:sub>
                    </m:sSub>
                    <m:r>
                      <a:rPr lang="en-GB" b="0" i="1" smtClean="0">
                        <a:latin typeface="Cambria Math" panose="02040503050406030204" pitchFamily="18" charset="0"/>
                      </a:rPr>
                      <m:t>=</m:t>
                    </m:r>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sin</m:t>
                        </m:r>
                      </m:fName>
                      <m:e>
                        <m:d>
                          <m:dPr>
                            <m:ctrlPr>
                              <a:rPr lang="en-GB" b="0" i="1" smtClean="0">
                                <a:latin typeface="Cambria Math" panose="02040503050406030204" pitchFamily="18" charset="0"/>
                              </a:rPr>
                            </m:ctrlPr>
                          </m:dPr>
                          <m:e>
                            <m:r>
                              <a:rPr lang="en-GB" b="0" i="1" smtClean="0">
                                <a:latin typeface="Cambria Math" panose="02040503050406030204" pitchFamily="18" charset="0"/>
                              </a:rPr>
                              <m:t>90</m:t>
                            </m:r>
                            <m:r>
                              <a:rPr lang="en-GB" b="0" i="1" smtClean="0">
                                <a:latin typeface="Cambria Math" panose="02040503050406030204" pitchFamily="18" charset="0"/>
                              </a:rPr>
                              <m:t>𝑛</m:t>
                            </m:r>
                            <m:r>
                              <a:rPr lang="en-GB" b="0" i="1" smtClean="0">
                                <a:latin typeface="Cambria Math" panose="02040503050406030204" pitchFamily="18" charset="0"/>
                              </a:rPr>
                              <m:t>°</m:t>
                            </m:r>
                          </m:e>
                        </m:d>
                      </m:e>
                    </m:func>
                  </m:oMath>
                </a14:m>
                <a:r>
                  <a:rPr lang="en-GB" dirty="0"/>
                  <a:t>                           Terms: 1, 0, -1, 0, 1, 0, … Periodic, order 4.</a:t>
                </a:r>
              </a:p>
            </p:txBody>
          </p:sp>
        </mc:Choice>
        <mc:Fallback xmlns="">
          <p:sp>
            <p:nvSpPr>
              <p:cNvPr id="6" name="TextBox 5">
                <a:extLst>
                  <a:ext uri="{FF2B5EF4-FFF2-40B4-BE49-F238E27FC236}">
                    <a16:creationId xmlns:a16="http://schemas.microsoft.com/office/drawing/2014/main" id="{A1DCC72C-F558-4B77-8280-A2A727DC474C}"/>
                  </a:ext>
                </a:extLst>
              </p:cNvPr>
              <p:cNvSpPr txBox="1">
                <a:spLocks noRot="1" noChangeAspect="1" noMove="1" noResize="1" noEditPoints="1" noAdjustHandles="1" noChangeArrowheads="1" noChangeShapeType="1" noTextEdit="1"/>
              </p:cNvSpPr>
              <p:nvPr/>
            </p:nvSpPr>
            <p:spPr>
              <a:xfrm>
                <a:off x="632316" y="4084367"/>
                <a:ext cx="7717909" cy="2147319"/>
              </a:xfrm>
              <a:prstGeom prst="rect">
                <a:avLst/>
              </a:prstGeom>
              <a:blipFill>
                <a:blip r:embed="rId3"/>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7" name="Rectangle 6">
            <a:extLst>
              <a:ext uri="{FF2B5EF4-FFF2-40B4-BE49-F238E27FC236}">
                <a16:creationId xmlns:a16="http://schemas.microsoft.com/office/drawing/2014/main" id="{DF91CF0D-9415-475F-A2D9-613608983462}"/>
              </a:ext>
            </a:extLst>
          </p:cNvPr>
          <p:cNvSpPr/>
          <p:nvPr/>
        </p:nvSpPr>
        <p:spPr>
          <a:xfrm>
            <a:off x="4171558" y="5131982"/>
            <a:ext cx="4064793" cy="35226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8" name="Rectangle 7">
            <a:extLst>
              <a:ext uri="{FF2B5EF4-FFF2-40B4-BE49-F238E27FC236}">
                <a16:creationId xmlns:a16="http://schemas.microsoft.com/office/drawing/2014/main" id="{6B7DD1A6-EF5F-4A83-8EFA-D114D4620FAB}"/>
              </a:ext>
            </a:extLst>
          </p:cNvPr>
          <p:cNvSpPr/>
          <p:nvPr/>
        </p:nvSpPr>
        <p:spPr>
          <a:xfrm>
            <a:off x="4171558" y="5484249"/>
            <a:ext cx="4064793" cy="40264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9" name="Rectangle 8">
            <a:extLst>
              <a:ext uri="{FF2B5EF4-FFF2-40B4-BE49-F238E27FC236}">
                <a16:creationId xmlns:a16="http://schemas.microsoft.com/office/drawing/2014/main" id="{06747CE8-588F-497F-842E-4161664D9A88}"/>
              </a:ext>
            </a:extLst>
          </p:cNvPr>
          <p:cNvSpPr/>
          <p:nvPr/>
        </p:nvSpPr>
        <p:spPr>
          <a:xfrm>
            <a:off x="4171558" y="5887590"/>
            <a:ext cx="4064793" cy="29701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sz="2800" dirty="0"/>
              <a:t>?</a:t>
            </a:r>
          </a:p>
        </p:txBody>
      </p:sp>
      <p:sp>
        <p:nvSpPr>
          <p:cNvPr id="10" name="TextBox 9">
            <a:extLst>
              <a:ext uri="{FF2B5EF4-FFF2-40B4-BE49-F238E27FC236}">
                <a16:creationId xmlns:a16="http://schemas.microsoft.com/office/drawing/2014/main" id="{D48FC500-20E6-468C-8728-D61BBCEBA9F4}"/>
              </a:ext>
            </a:extLst>
          </p:cNvPr>
          <p:cNvSpPr txBox="1"/>
          <p:nvPr/>
        </p:nvSpPr>
        <p:spPr>
          <a:xfrm>
            <a:off x="6876256" y="1484784"/>
            <a:ext cx="1872208" cy="954107"/>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dirty="0"/>
              <a:t>Textbook Error</a:t>
            </a:r>
            <a:r>
              <a:rPr lang="en-GB" sz="1400" dirty="0"/>
              <a:t>: It uses the term ‘increasing’ when it means ‘strictly increasing’.</a:t>
            </a:r>
          </a:p>
        </p:txBody>
      </p:sp>
      <p:cxnSp>
        <p:nvCxnSpPr>
          <p:cNvPr id="12" name="Straight Arrow Connector 11">
            <a:extLst>
              <a:ext uri="{FF2B5EF4-FFF2-40B4-BE49-F238E27FC236}">
                <a16:creationId xmlns:a16="http://schemas.microsoft.com/office/drawing/2014/main" id="{EB675C32-594D-4290-A840-888E2024367B}"/>
              </a:ext>
            </a:extLst>
          </p:cNvPr>
          <p:cNvCxnSpPr/>
          <p:nvPr/>
        </p:nvCxnSpPr>
        <p:spPr>
          <a:xfrm flipH="1" flipV="1">
            <a:off x="5508104" y="1484784"/>
            <a:ext cx="1368152" cy="3600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53021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Effect transition="in" filter="fade">
                                      <p:cBhvr>
                                        <p:cTn id="25" dur="500"/>
                                        <p:tgtEl>
                                          <p:spTgt spid="5">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
                                            <p:txEl>
                                              <p:pRg st="6" end="6"/>
                                            </p:txEl>
                                          </p:spTgt>
                                        </p:tgtEl>
                                        <p:attrNameLst>
                                          <p:attrName>style.visibility</p:attrName>
                                        </p:attrNameLst>
                                      </p:cBhvr>
                                      <p:to>
                                        <p:strVal val="visible"/>
                                      </p:to>
                                    </p:set>
                                    <p:animEffect transition="in" filter="fade">
                                      <p:cBhvr>
                                        <p:cTn id="30" dur="500"/>
                                        <p:tgtEl>
                                          <p:spTgt spid="5">
                                            <p:txEl>
                                              <p:pRg st="6" end="6"/>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5">
                                            <p:txEl>
                                              <p:pRg st="7" end="7"/>
                                            </p:txEl>
                                          </p:spTgt>
                                        </p:tgtEl>
                                        <p:attrNameLst>
                                          <p:attrName>style.visibility</p:attrName>
                                        </p:attrNameLst>
                                      </p:cBhvr>
                                      <p:to>
                                        <p:strVal val="visible"/>
                                      </p:to>
                                    </p:set>
                                    <p:animEffect transition="in" filter="fade">
                                      <p:cBhvr>
                                        <p:cTn id="33" dur="500"/>
                                        <p:tgtEl>
                                          <p:spTgt spid="5">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1" nodeType="clickEffect">
                                  <p:stCondLst>
                                    <p:cond delay="0"/>
                                  </p:stCondLst>
                                  <p:childTnLst>
                                    <p:set>
                                      <p:cBhvr>
                                        <p:cTn id="37" dur="1" fill="hold">
                                          <p:stCondLst>
                                            <p:cond delay="0"/>
                                          </p:stCondLst>
                                        </p:cTn>
                                        <p:tgtEl>
                                          <p:spTgt spid="7"/>
                                        </p:tgtEl>
                                        <p:attrNameLst>
                                          <p:attrName>style.visibility</p:attrName>
                                        </p:attrNameLst>
                                      </p:cBhvr>
                                      <p:to>
                                        <p:strVal val="visible"/>
                                      </p:to>
                                    </p:set>
                                  </p:childTnLst>
                                </p:cTn>
                              </p:par>
                              <p:par>
                                <p:cTn id="38" presetID="1" presetClass="entr" presetSubtype="0" fill="hold" grpId="1" nodeType="withEffect">
                                  <p:stCondLst>
                                    <p:cond delay="0"/>
                                  </p:stCondLst>
                                  <p:childTnLst>
                                    <p:set>
                                      <p:cBhvr>
                                        <p:cTn id="39" dur="1" fill="hold">
                                          <p:stCondLst>
                                            <p:cond delay="0"/>
                                          </p:stCondLst>
                                        </p:cTn>
                                        <p:tgtEl>
                                          <p:spTgt spid="8"/>
                                        </p:tgtEl>
                                        <p:attrNameLst>
                                          <p:attrName>style.visibility</p:attrName>
                                        </p:attrNameLst>
                                      </p:cBhvr>
                                      <p:to>
                                        <p:strVal val="visible"/>
                                      </p:to>
                                    </p:set>
                                  </p:childTnLst>
                                </p:cTn>
                              </p:par>
                              <p:par>
                                <p:cTn id="40" presetID="1" presetClass="entr" presetSubtype="0" fill="hold" grpId="1" nodeType="withEffect">
                                  <p:stCondLst>
                                    <p:cond delay="0"/>
                                  </p:stCondLst>
                                  <p:childTnLst>
                                    <p:set>
                                      <p:cBhvr>
                                        <p:cTn id="41" dur="1" fill="hold">
                                          <p:stCondLst>
                                            <p:cond delay="0"/>
                                          </p:stCondLst>
                                        </p:cTn>
                                        <p:tgtEl>
                                          <p:spTgt spid="9"/>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4" restart="whenNotActive" fill="hold" evtFilter="cancelBubble" nodeType="interactiveSeq">
                <p:stCondLst>
                  <p:cond evt="onClick" delay="0">
                    <p:tgtEl>
                      <p:spTgt spid="7"/>
                    </p:tgtEl>
                  </p:cond>
                </p:stCondLst>
                <p:endSync evt="end" delay="0">
                  <p:rtn val="all"/>
                </p:endSync>
                <p:childTnLst>
                  <p:par>
                    <p:cTn id="45" fill="hold">
                      <p:stCondLst>
                        <p:cond delay="0"/>
                      </p:stCondLst>
                      <p:childTnLst>
                        <p:par>
                          <p:cTn id="46" fill="hold">
                            <p:stCondLst>
                              <p:cond delay="0"/>
                            </p:stCondLst>
                            <p:childTnLst>
                              <p:par>
                                <p:cTn id="47" presetID="10" presetClass="exit" presetSubtype="0" fill="hold" grpId="0" nodeType="clickEffect">
                                  <p:stCondLst>
                                    <p:cond delay="0"/>
                                  </p:stCondLst>
                                  <p:childTnLst>
                                    <p:animEffect transition="out" filter="fade">
                                      <p:cBhvr>
                                        <p:cTn id="48" dur="500"/>
                                        <p:tgtEl>
                                          <p:spTgt spid="7"/>
                                        </p:tgtEl>
                                      </p:cBhvr>
                                    </p:animEffect>
                                    <p:set>
                                      <p:cBhvr>
                                        <p:cTn id="49" dur="1" fill="hold">
                                          <p:stCondLst>
                                            <p:cond delay="499"/>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7"/>
                  </p:tgtEl>
                </p:cond>
              </p:nextCondLst>
            </p:seq>
            <p:seq concurrent="1" nextAc="seek">
              <p:cTn id="50" restart="whenNotActive" fill="hold" evtFilter="cancelBubble" nodeType="interactiveSeq">
                <p:stCondLst>
                  <p:cond evt="onClick" delay="0">
                    <p:tgtEl>
                      <p:spTgt spid="8"/>
                    </p:tgtEl>
                  </p:cond>
                </p:stCondLst>
                <p:endSync evt="end" delay="0">
                  <p:rtn val="all"/>
                </p:endSync>
                <p:childTnLst>
                  <p:par>
                    <p:cTn id="51" fill="hold">
                      <p:stCondLst>
                        <p:cond delay="0"/>
                      </p:stCondLst>
                      <p:childTnLst>
                        <p:par>
                          <p:cTn id="52" fill="hold">
                            <p:stCondLst>
                              <p:cond delay="0"/>
                            </p:stCondLst>
                            <p:childTnLst>
                              <p:par>
                                <p:cTn id="53" presetID="10" presetClass="exit" presetSubtype="0" fill="hold" grpId="0" nodeType="clickEffect">
                                  <p:stCondLst>
                                    <p:cond delay="0"/>
                                  </p:stCondLst>
                                  <p:childTnLst>
                                    <p:animEffect transition="out" filter="fade">
                                      <p:cBhvr>
                                        <p:cTn id="54" dur="500"/>
                                        <p:tgtEl>
                                          <p:spTgt spid="8"/>
                                        </p:tgtEl>
                                      </p:cBhvr>
                                    </p:animEffect>
                                    <p:set>
                                      <p:cBhvr>
                                        <p:cTn id="55"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8"/>
                  </p:tgtEl>
                </p:cond>
              </p:nextCondLst>
            </p:seq>
            <p:seq concurrent="1" nextAc="seek">
              <p:cTn id="56" restart="whenNotActive" fill="hold" evtFilter="cancelBubble" nodeType="interactiveSeq">
                <p:stCondLst>
                  <p:cond evt="onClick" delay="0">
                    <p:tgtEl>
                      <p:spTgt spid="9"/>
                    </p:tgtEl>
                  </p:cond>
                </p:stCondLst>
                <p:endSync evt="end" delay="0">
                  <p:rtn val="all"/>
                </p:endSync>
                <p:childTnLst>
                  <p:par>
                    <p:cTn id="57" fill="hold">
                      <p:stCondLst>
                        <p:cond delay="0"/>
                      </p:stCondLst>
                      <p:childTnLst>
                        <p:par>
                          <p:cTn id="58" fill="hold">
                            <p:stCondLst>
                              <p:cond delay="0"/>
                            </p:stCondLst>
                            <p:childTnLst>
                              <p:par>
                                <p:cTn id="59" presetID="10" presetClass="exit" presetSubtype="0" fill="hold" grpId="0" nodeType="clickEffect">
                                  <p:stCondLst>
                                    <p:cond delay="0"/>
                                  </p:stCondLst>
                                  <p:childTnLst>
                                    <p:animEffect transition="out" filter="fade">
                                      <p:cBhvr>
                                        <p:cTn id="60" dur="500"/>
                                        <p:tgtEl>
                                          <p:spTgt spid="9"/>
                                        </p:tgtEl>
                                      </p:cBhvr>
                                    </p:animEffect>
                                    <p:set>
                                      <p:cBhvr>
                                        <p:cTn id="61"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childTnLst>
        </p:cTn>
      </p:par>
    </p:tnLst>
    <p:bldLst>
      <p:bldP spid="6" grpId="0" animBg="1"/>
      <p:bldP spid="7" grpId="0" animBg="1"/>
      <p:bldP spid="7" grpId="1" animBg="1"/>
      <p:bldP spid="8" grpId="0" animBg="1"/>
      <p:bldP spid="8" grpId="1" animBg="1"/>
      <p:bldP spid="9" grpId="0" animBg="1"/>
      <p:bldP spid="9" grpId="1"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t>Homework Exercise</a:t>
              </a:r>
            </a:p>
          </p:txBody>
        </p:sp>
        <p:cxnSp>
          <p:nvCxnSpPr>
            <p:cNvPr id="4" name="Straight Connector 3"/>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pic>
        <p:nvPicPr>
          <p:cNvPr id="6" name="Picture 5">
            <a:extLst>
              <a:ext uri="{FF2B5EF4-FFF2-40B4-BE49-F238E27FC236}">
                <a16:creationId xmlns:a16="http://schemas.microsoft.com/office/drawing/2014/main" id="{5065AD43-76D4-C6EE-2B63-0C6ECDEB7A4B}"/>
              </a:ext>
            </a:extLst>
          </p:cNvPr>
          <p:cNvPicPr>
            <a:picLocks noChangeAspect="1"/>
          </p:cNvPicPr>
          <p:nvPr/>
        </p:nvPicPr>
        <p:blipFill>
          <a:blip r:embed="rId2"/>
          <a:stretch>
            <a:fillRect/>
          </a:stretch>
        </p:blipFill>
        <p:spPr>
          <a:xfrm>
            <a:off x="637603" y="764704"/>
            <a:ext cx="7867650" cy="5972175"/>
          </a:xfrm>
          <a:prstGeom prst="rect">
            <a:avLst/>
          </a:prstGeom>
        </p:spPr>
      </p:pic>
    </p:spTree>
    <p:extLst>
      <p:ext uri="{BB962C8B-B14F-4D97-AF65-F5344CB8AC3E}">
        <p14:creationId xmlns:p14="http://schemas.microsoft.com/office/powerpoint/2010/main" val="3896053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033AC-846C-1B51-B0D6-66FCEF5199DF}"/>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8A33E61B-5971-C1CA-63B6-84D4E8CD15B9}"/>
              </a:ext>
            </a:extLst>
          </p:cNvPr>
          <p:cNvGrpSpPr/>
          <p:nvPr/>
        </p:nvGrpSpPr>
        <p:grpSpPr>
          <a:xfrm>
            <a:off x="0" y="0"/>
            <a:ext cx="9143074" cy="599127"/>
            <a:chOff x="0" y="13335"/>
            <a:chExt cx="9144218" cy="599127"/>
          </a:xfrm>
        </p:grpSpPr>
        <p:sp>
          <p:nvSpPr>
            <p:cNvPr id="3" name="TextBox 32">
              <a:extLst>
                <a:ext uri="{FF2B5EF4-FFF2-40B4-BE49-F238E27FC236}">
                  <a16:creationId xmlns:a16="http://schemas.microsoft.com/office/drawing/2014/main" id="{91569A6F-F775-6BAD-E18A-F451C7CF95D5}"/>
                </a:ext>
              </a:extLst>
            </p:cNvPr>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t>Homework Exercise</a:t>
              </a:r>
            </a:p>
          </p:txBody>
        </p:sp>
        <p:cxnSp>
          <p:nvCxnSpPr>
            <p:cNvPr id="4" name="Straight Connector 3">
              <a:extLst>
                <a:ext uri="{FF2B5EF4-FFF2-40B4-BE49-F238E27FC236}">
                  <a16:creationId xmlns:a16="http://schemas.microsoft.com/office/drawing/2014/main" id="{24CF18F9-8040-27F2-298F-E639F1017697}"/>
                </a:ext>
              </a:extLst>
            </p:cNvPr>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pic>
        <p:nvPicPr>
          <p:cNvPr id="6" name="Picture 5">
            <a:extLst>
              <a:ext uri="{FF2B5EF4-FFF2-40B4-BE49-F238E27FC236}">
                <a16:creationId xmlns:a16="http://schemas.microsoft.com/office/drawing/2014/main" id="{5B27F829-8BE5-8D7D-AA99-AD3428A9596C}"/>
              </a:ext>
            </a:extLst>
          </p:cNvPr>
          <p:cNvPicPr>
            <a:picLocks noChangeAspect="1"/>
          </p:cNvPicPr>
          <p:nvPr/>
        </p:nvPicPr>
        <p:blipFill>
          <a:blip r:embed="rId2"/>
          <a:stretch>
            <a:fillRect/>
          </a:stretch>
        </p:blipFill>
        <p:spPr>
          <a:xfrm>
            <a:off x="539552" y="764704"/>
            <a:ext cx="7734300" cy="4943475"/>
          </a:xfrm>
          <a:prstGeom prst="rect">
            <a:avLst/>
          </a:prstGeom>
        </p:spPr>
      </p:pic>
    </p:spTree>
    <p:extLst>
      <p:ext uri="{BB962C8B-B14F-4D97-AF65-F5344CB8AC3E}">
        <p14:creationId xmlns:p14="http://schemas.microsoft.com/office/powerpoint/2010/main" val="4091202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0FF53-D376-6E8C-D0FD-1D517FE5997A}"/>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6BC62057-5111-B8A6-4E80-4193E055911B}"/>
              </a:ext>
            </a:extLst>
          </p:cNvPr>
          <p:cNvGrpSpPr/>
          <p:nvPr/>
        </p:nvGrpSpPr>
        <p:grpSpPr>
          <a:xfrm>
            <a:off x="0" y="0"/>
            <a:ext cx="9143074" cy="599127"/>
            <a:chOff x="0" y="13335"/>
            <a:chExt cx="9144218" cy="599127"/>
          </a:xfrm>
        </p:grpSpPr>
        <p:sp>
          <p:nvSpPr>
            <p:cNvPr id="3" name="TextBox 32">
              <a:extLst>
                <a:ext uri="{FF2B5EF4-FFF2-40B4-BE49-F238E27FC236}">
                  <a16:creationId xmlns:a16="http://schemas.microsoft.com/office/drawing/2014/main" id="{B0E89DB0-01D1-BE2B-F9D3-8CB397834D7E}"/>
                </a:ext>
              </a:extLst>
            </p:cNvPr>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t>Homework Exercise</a:t>
              </a:r>
            </a:p>
          </p:txBody>
        </p:sp>
        <p:cxnSp>
          <p:nvCxnSpPr>
            <p:cNvPr id="4" name="Straight Connector 3">
              <a:extLst>
                <a:ext uri="{FF2B5EF4-FFF2-40B4-BE49-F238E27FC236}">
                  <a16:creationId xmlns:a16="http://schemas.microsoft.com/office/drawing/2014/main" id="{713F8B5A-9D24-B9B4-CD6B-9A26C85DC691}"/>
                </a:ext>
              </a:extLst>
            </p:cNvPr>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pic>
        <p:nvPicPr>
          <p:cNvPr id="8" name="Picture 7">
            <a:extLst>
              <a:ext uri="{FF2B5EF4-FFF2-40B4-BE49-F238E27FC236}">
                <a16:creationId xmlns:a16="http://schemas.microsoft.com/office/drawing/2014/main" id="{23990EA6-01AF-28A9-332B-7065A9C07883}"/>
              </a:ext>
            </a:extLst>
          </p:cNvPr>
          <p:cNvPicPr>
            <a:picLocks noChangeAspect="1"/>
          </p:cNvPicPr>
          <p:nvPr/>
        </p:nvPicPr>
        <p:blipFill>
          <a:blip r:embed="rId2"/>
          <a:stretch>
            <a:fillRect/>
          </a:stretch>
        </p:blipFill>
        <p:spPr>
          <a:xfrm>
            <a:off x="794765" y="980728"/>
            <a:ext cx="7553325" cy="4286250"/>
          </a:xfrm>
          <a:prstGeom prst="rect">
            <a:avLst/>
          </a:prstGeom>
        </p:spPr>
      </p:pic>
    </p:spTree>
    <p:extLst>
      <p:ext uri="{BB962C8B-B14F-4D97-AF65-F5344CB8AC3E}">
        <p14:creationId xmlns:p14="http://schemas.microsoft.com/office/powerpoint/2010/main" val="3826585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DA9E8-9285-4010-D59E-9EE40F972795}"/>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C7199323-C765-69DB-C39F-D4B4064F60D9}"/>
              </a:ext>
            </a:extLst>
          </p:cNvPr>
          <p:cNvGrpSpPr/>
          <p:nvPr/>
        </p:nvGrpSpPr>
        <p:grpSpPr>
          <a:xfrm>
            <a:off x="0" y="0"/>
            <a:ext cx="9143074" cy="599127"/>
            <a:chOff x="0" y="13335"/>
            <a:chExt cx="9144218" cy="599127"/>
          </a:xfrm>
        </p:grpSpPr>
        <p:sp>
          <p:nvSpPr>
            <p:cNvPr id="3" name="TextBox 32">
              <a:extLst>
                <a:ext uri="{FF2B5EF4-FFF2-40B4-BE49-F238E27FC236}">
                  <a16:creationId xmlns:a16="http://schemas.microsoft.com/office/drawing/2014/main" id="{9AC29A7F-5A51-F02B-39EA-49043AC21A51}"/>
                </a:ext>
              </a:extLst>
            </p:cNvPr>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t>Homework Exercise</a:t>
              </a:r>
            </a:p>
          </p:txBody>
        </p:sp>
        <p:cxnSp>
          <p:nvCxnSpPr>
            <p:cNvPr id="4" name="Straight Connector 3">
              <a:extLst>
                <a:ext uri="{FF2B5EF4-FFF2-40B4-BE49-F238E27FC236}">
                  <a16:creationId xmlns:a16="http://schemas.microsoft.com/office/drawing/2014/main" id="{315681C4-E287-01E2-F972-112CE69A5800}"/>
                </a:ext>
              </a:extLst>
            </p:cNvPr>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pic>
        <p:nvPicPr>
          <p:cNvPr id="9" name="Picture 8">
            <a:extLst>
              <a:ext uri="{FF2B5EF4-FFF2-40B4-BE49-F238E27FC236}">
                <a16:creationId xmlns:a16="http://schemas.microsoft.com/office/drawing/2014/main" id="{C98FA593-12D6-DAF7-E8E6-04651ADF313E}"/>
              </a:ext>
            </a:extLst>
          </p:cNvPr>
          <p:cNvPicPr>
            <a:picLocks noChangeAspect="1"/>
          </p:cNvPicPr>
          <p:nvPr/>
        </p:nvPicPr>
        <p:blipFill>
          <a:blip r:embed="rId2"/>
          <a:stretch>
            <a:fillRect/>
          </a:stretch>
        </p:blipFill>
        <p:spPr>
          <a:xfrm>
            <a:off x="604265" y="908720"/>
            <a:ext cx="7934325" cy="4343400"/>
          </a:xfrm>
          <a:prstGeom prst="rect">
            <a:avLst/>
          </a:prstGeom>
        </p:spPr>
      </p:pic>
    </p:spTree>
    <p:extLst>
      <p:ext uri="{BB962C8B-B14F-4D97-AF65-F5344CB8AC3E}">
        <p14:creationId xmlns:p14="http://schemas.microsoft.com/office/powerpoint/2010/main" val="3510359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87744"/>
            <a:chOff x="0" y="13335"/>
            <a:chExt cx="9144218" cy="587744"/>
          </a:xfrm>
        </p:grpSpPr>
        <p:sp>
          <p:nvSpPr>
            <p:cNvPr id="3" name="TextBox 32"/>
            <p:cNvSpPr txBox="1"/>
            <p:nvPr/>
          </p:nvSpPr>
          <p:spPr>
            <a:xfrm>
              <a:off x="0" y="13335"/>
              <a:ext cx="9144000" cy="584775"/>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a:t>Homework</a:t>
              </a:r>
              <a:r>
                <a:rPr lang="en-GB" sz="3200">
                  <a:latin typeface="+mj-lt"/>
                </a:rPr>
                <a:t> </a:t>
              </a:r>
              <a:r>
                <a:rPr lang="en-GB" sz="3200" dirty="0">
                  <a:latin typeface="+mj-lt"/>
                </a:rPr>
                <a:t>Answers</a:t>
              </a:r>
              <a:endParaRPr lang="en-GB" sz="3200" dirty="0"/>
            </a:p>
          </p:txBody>
        </p:sp>
        <p:cxnSp>
          <p:nvCxnSpPr>
            <p:cNvPr id="4" name="Straight Connector 3"/>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pic>
        <p:nvPicPr>
          <p:cNvPr id="6" name="Picture 5">
            <a:extLst>
              <a:ext uri="{FF2B5EF4-FFF2-40B4-BE49-F238E27FC236}">
                <a16:creationId xmlns:a16="http://schemas.microsoft.com/office/drawing/2014/main" id="{709DAD9B-18FE-E8DD-B714-4B5772E8EF5B}"/>
              </a:ext>
            </a:extLst>
          </p:cNvPr>
          <p:cNvPicPr>
            <a:picLocks noChangeAspect="1"/>
          </p:cNvPicPr>
          <p:nvPr/>
        </p:nvPicPr>
        <p:blipFill>
          <a:blip r:embed="rId2"/>
          <a:stretch>
            <a:fillRect/>
          </a:stretch>
        </p:blipFill>
        <p:spPr>
          <a:xfrm>
            <a:off x="827584" y="1124744"/>
            <a:ext cx="4524375" cy="4791075"/>
          </a:xfrm>
          <a:prstGeom prst="rect">
            <a:avLst/>
          </a:prstGeom>
        </p:spPr>
      </p:pic>
    </p:spTree>
    <p:extLst>
      <p:ext uri="{BB962C8B-B14F-4D97-AF65-F5344CB8AC3E}">
        <p14:creationId xmlns:p14="http://schemas.microsoft.com/office/powerpoint/2010/main" val="34586998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0CC18-388A-D791-BD8C-B4F964CF1C39}"/>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AE7F01EA-0633-F206-2359-D81F0A434E3E}"/>
              </a:ext>
            </a:extLst>
          </p:cNvPr>
          <p:cNvGrpSpPr/>
          <p:nvPr/>
        </p:nvGrpSpPr>
        <p:grpSpPr>
          <a:xfrm>
            <a:off x="0" y="0"/>
            <a:ext cx="9143074" cy="587744"/>
            <a:chOff x="0" y="13335"/>
            <a:chExt cx="9144218" cy="587744"/>
          </a:xfrm>
        </p:grpSpPr>
        <p:sp>
          <p:nvSpPr>
            <p:cNvPr id="3" name="TextBox 32">
              <a:extLst>
                <a:ext uri="{FF2B5EF4-FFF2-40B4-BE49-F238E27FC236}">
                  <a16:creationId xmlns:a16="http://schemas.microsoft.com/office/drawing/2014/main" id="{60A9E226-99AD-F974-6305-7281F3EE1D40}"/>
                </a:ext>
              </a:extLst>
            </p:cNvPr>
            <p:cNvSpPr txBox="1"/>
            <p:nvPr/>
          </p:nvSpPr>
          <p:spPr>
            <a:xfrm>
              <a:off x="0" y="13335"/>
              <a:ext cx="9144000" cy="584775"/>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a:t>Homework</a:t>
              </a:r>
              <a:r>
                <a:rPr lang="en-GB" sz="3200">
                  <a:latin typeface="+mj-lt"/>
                </a:rPr>
                <a:t> </a:t>
              </a:r>
              <a:r>
                <a:rPr lang="en-GB" sz="3200" dirty="0">
                  <a:latin typeface="+mj-lt"/>
                </a:rPr>
                <a:t>Answers</a:t>
              </a:r>
              <a:endParaRPr lang="en-GB" sz="3200" dirty="0"/>
            </a:p>
          </p:txBody>
        </p:sp>
        <p:cxnSp>
          <p:nvCxnSpPr>
            <p:cNvPr id="4" name="Straight Connector 3">
              <a:extLst>
                <a:ext uri="{FF2B5EF4-FFF2-40B4-BE49-F238E27FC236}">
                  <a16:creationId xmlns:a16="http://schemas.microsoft.com/office/drawing/2014/main" id="{C27722CE-8429-DC51-558C-3C088CC9A7C2}"/>
                </a:ext>
              </a:extLst>
            </p:cNvPr>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pic>
        <p:nvPicPr>
          <p:cNvPr id="6" name="Picture 5">
            <a:extLst>
              <a:ext uri="{FF2B5EF4-FFF2-40B4-BE49-F238E27FC236}">
                <a16:creationId xmlns:a16="http://schemas.microsoft.com/office/drawing/2014/main" id="{0E276FBD-2DD5-6204-343E-B6DDEDD663B0}"/>
              </a:ext>
            </a:extLst>
          </p:cNvPr>
          <p:cNvPicPr>
            <a:picLocks noChangeAspect="1"/>
          </p:cNvPicPr>
          <p:nvPr/>
        </p:nvPicPr>
        <p:blipFill>
          <a:blip r:embed="rId2"/>
          <a:stretch>
            <a:fillRect/>
          </a:stretch>
        </p:blipFill>
        <p:spPr>
          <a:xfrm>
            <a:off x="679698" y="1026765"/>
            <a:ext cx="4324350" cy="4562475"/>
          </a:xfrm>
          <a:prstGeom prst="rect">
            <a:avLst/>
          </a:prstGeom>
        </p:spPr>
      </p:pic>
    </p:spTree>
    <p:extLst>
      <p:ext uri="{BB962C8B-B14F-4D97-AF65-F5344CB8AC3E}">
        <p14:creationId xmlns:p14="http://schemas.microsoft.com/office/powerpoint/2010/main" val="25319567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faa1ecaf-a1aa-4fc9-8c75-2805352e1f65">
      <Terms xmlns="http://schemas.microsoft.com/office/infopath/2007/PartnerControls"/>
    </lcf76f155ced4ddcb4097134ff3c332f>
    <TaxCatchAll xmlns="f9cd3b9a-9a6c-485a-81b7-4082693b516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2145CED0C8C3544A5BCCC2783BB773D" ma:contentTypeVersion="18" ma:contentTypeDescription="Create a new document." ma:contentTypeScope="" ma:versionID="071d80e8befb16289be70b0ed95d7a13">
  <xsd:schema xmlns:xsd="http://www.w3.org/2001/XMLSchema" xmlns:xs="http://www.w3.org/2001/XMLSchema" xmlns:p="http://schemas.microsoft.com/office/2006/metadata/properties" xmlns:ns2="faa1ecaf-a1aa-4fc9-8c75-2805352e1f65" xmlns:ns3="f9cd3b9a-9a6c-485a-81b7-4082693b5161" targetNamespace="http://schemas.microsoft.com/office/2006/metadata/properties" ma:root="true" ma:fieldsID="bfedc4b824bdcf7bc3afcdacf96d42fb" ns2:_="" ns3:_="">
    <xsd:import namespace="faa1ecaf-a1aa-4fc9-8c75-2805352e1f65"/>
    <xsd:import namespace="f9cd3b9a-9a6c-485a-81b7-4082693b516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AutoKeyPoints" minOccurs="0"/>
                <xsd:element ref="ns2:MediaServiceKeyPoints" minOccurs="0"/>
                <xsd:element ref="ns2:MediaServiceGenerationTime" minOccurs="0"/>
                <xsd:element ref="ns2:MediaServiceEventHashCode" minOccurs="0"/>
                <xsd:element ref="ns2:MediaLengthInSeconds" minOccurs="0"/>
                <xsd:element ref="ns2:MediaServiceObjectDetectorVersions" minOccurs="0"/>
                <xsd:element ref="ns2:lcf76f155ced4ddcb4097134ff3c332f" minOccurs="0"/>
                <xsd:element ref="ns3:TaxCatchAll"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a1ecaf-a1aa-4fc9-8c75-2805352e1f6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MediaServic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35c9266d-873e-4384-88ad-117b2e21bbbb" ma:termSetId="09814cd3-568e-fe90-9814-8d621ff8fb84" ma:anchorId="fba54fb3-c3e1-fe81-a776-ca4b69148c4d" ma:open="true" ma:isKeyword="false">
      <xsd:complexType>
        <xsd:sequence>
          <xsd:element ref="pc:Terms" minOccurs="0" maxOccurs="1"/>
        </xsd:sequence>
      </xsd:complex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9cd3b9a-9a6c-485a-81b7-4082693b516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37dd2894-802d-4a2b-8969-adc31d00c97c}" ma:internalName="TaxCatchAll" ma:showField="CatchAllData" ma:web="f9cd3b9a-9a6c-485a-81b7-4082693b516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A78994C-A71F-42AC-8C1A-2D47B8B074D2}">
  <ds:schemaRefs>
    <ds:schemaRef ds:uri="http://schemas.microsoft.com/office/2006/metadata/properties"/>
    <ds:schemaRef ds:uri="http://schemas.microsoft.com/office/infopath/2007/PartnerControls"/>
    <ds:schemaRef ds:uri="faa1ecaf-a1aa-4fc9-8c75-2805352e1f65"/>
    <ds:schemaRef ds:uri="f9cd3b9a-9a6c-485a-81b7-4082693b5161"/>
  </ds:schemaRefs>
</ds:datastoreItem>
</file>

<file path=customXml/itemProps2.xml><?xml version="1.0" encoding="utf-8"?>
<ds:datastoreItem xmlns:ds="http://schemas.openxmlformats.org/officeDocument/2006/customXml" ds:itemID="{C9CFC61B-804A-451F-96CB-09693B40877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aa1ecaf-a1aa-4fc9-8c75-2805352e1f65"/>
    <ds:schemaRef ds:uri="f9cd3b9a-9a6c-485a-81b7-4082693b516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8F9F0BF-CA8C-4D24-90A1-67BA839288E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61757</TotalTime>
  <Words>908</Words>
  <Application>Microsoft Office PowerPoint</Application>
  <PresentationFormat>On-screen Show (4:3)</PresentationFormat>
  <Paragraphs>93</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 Math</vt:lpstr>
      <vt:lpstr>Office Theme</vt:lpstr>
      <vt:lpstr>P2 Chapter 3: Sequences and Series  Recurrence Relations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RM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Frost J</dc:creator>
  <cp:lastModifiedBy>Dieter Beaven</cp:lastModifiedBy>
  <cp:revision>1284</cp:revision>
  <dcterms:created xsi:type="dcterms:W3CDTF">2013-02-28T07:36:55Z</dcterms:created>
  <dcterms:modified xsi:type="dcterms:W3CDTF">2025-10-23T10:58:24Z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0x010100E2145CED0C8C3544A5BCCC2783BB773D</vt:lpwstr>
  </property>
</Properties>
</file>