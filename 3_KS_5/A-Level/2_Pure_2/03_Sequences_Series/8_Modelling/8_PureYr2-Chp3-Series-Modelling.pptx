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547" r:id="rId5"/>
    <p:sldId id="616" r:id="rId6"/>
    <p:sldId id="619" r:id="rId7"/>
    <p:sldId id="621" r:id="rId8"/>
    <p:sldId id="549" r:id="rId9"/>
    <p:sldId id="543" r:id="rId10"/>
    <p:sldId id="550" r:id="rId11"/>
    <p:sldId id="551" r:id="rId12"/>
    <p:sldId id="622" r:id="rId13"/>
    <p:sldId id="54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47E2571F-5BED-477F-B8B6-2D7CC2C853B4}"/>
    <pc:docChg chg="modSld">
      <pc:chgData name="Dieter Beaven" userId="9bbdb69f-69d0-4759-aa9b-5c090a2da237" providerId="ADAL" clId="{47E2571F-5BED-477F-B8B6-2D7CC2C853B4}" dt="2025-05-20T14:54:39.278" v="30" actId="14100"/>
      <pc:docMkLst>
        <pc:docMk/>
      </pc:docMkLst>
      <pc:sldChg chg="modSp mod">
        <pc:chgData name="Dieter Beaven" userId="9bbdb69f-69d0-4759-aa9b-5c090a2da237" providerId="ADAL" clId="{47E2571F-5BED-477F-B8B6-2D7CC2C853B4}" dt="2025-05-20T14:54:05.202" v="23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47E2571F-5BED-477F-B8B6-2D7CC2C853B4}" dt="2025-05-20T14:54:39.278" v="30" actId="14100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49683DA4-FF6A-4DD9-A9B4-79545BEB630B}"/>
    <pc:docChg chg="addSld delSld modSld">
      <pc:chgData name="Dieter Beaven" userId="9bbdb69f-69d0-4759-aa9b-5c090a2da237" providerId="ADAL" clId="{49683DA4-FF6A-4DD9-A9B4-79545BEB630B}" dt="2025-05-20T14:35:03.254" v="10" actId="1035"/>
      <pc:docMkLst>
        <pc:docMk/>
      </pc:docMkLst>
      <pc:sldChg chg="addSp modSp mod modAnim">
        <pc:chgData name="Dieter Beaven" userId="9bbdb69f-69d0-4759-aa9b-5c090a2da237" providerId="ADAL" clId="{49683DA4-FF6A-4DD9-A9B4-79545BEB630B}" dt="2025-05-20T14:35:03.254" v="10" actId="1035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49683DA4-FF6A-4DD9-A9B4-79545BEB630B}" dt="2025-05-20T14:33:27.876" v="0"/>
        <pc:sldMkLst>
          <pc:docMk/>
          <pc:sldMk cId="92104930" sldId="616"/>
        </pc:sldMkLst>
      </pc:sldChg>
      <pc:sldChg chg="add">
        <pc:chgData name="Dieter Beaven" userId="9bbdb69f-69d0-4759-aa9b-5c090a2da237" providerId="ADAL" clId="{49683DA4-FF6A-4DD9-A9B4-79545BEB630B}" dt="2025-05-20T14:33:27.876" v="0"/>
        <pc:sldMkLst>
          <pc:docMk/>
          <pc:sldMk cId="3163718491" sldId="619"/>
        </pc:sldMkLst>
      </pc:sldChg>
      <pc:sldChg chg="add del">
        <pc:chgData name="Dieter Beaven" userId="9bbdb69f-69d0-4759-aa9b-5c090a2da237" providerId="ADAL" clId="{49683DA4-FF6A-4DD9-A9B4-79545BEB630B}" dt="2025-05-20T14:34:43.603" v="2" actId="47"/>
        <pc:sldMkLst>
          <pc:docMk/>
          <pc:sldMk cId="848565586" sldId="620"/>
        </pc:sldMkLst>
      </pc:sldChg>
      <pc:sldChg chg="add">
        <pc:chgData name="Dieter Beaven" userId="9bbdb69f-69d0-4759-aa9b-5c090a2da237" providerId="ADAL" clId="{49683DA4-FF6A-4DD9-A9B4-79545BEB630B}" dt="2025-05-20T14:33:27.876" v="0"/>
        <pc:sldMkLst>
          <pc:docMk/>
          <pc:sldMk cId="1874450227" sldId="621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9D425F22-416C-4F44-A282-D7FAB5F5CE93}"/>
    <pc:docChg chg="modSld">
      <pc:chgData name="Dieter Beaven" userId="9bbdb69f-69d0-4759-aa9b-5c090a2da237" providerId="ADAL" clId="{9D425F22-416C-4F44-A282-D7FAB5F5CE93}" dt="2025-04-25T15:29:48.921" v="3" actId="20577"/>
      <pc:docMkLst>
        <pc:docMk/>
      </pc:docMkLst>
      <pc:sldChg chg="modSp mod">
        <pc:chgData name="Dieter Beaven" userId="9bbdb69f-69d0-4759-aa9b-5c090a2da237" providerId="ADAL" clId="{9D425F22-416C-4F44-A282-D7FAB5F5CE93}" dt="2025-04-25T15:29:45.609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9D425F22-416C-4F44-A282-D7FAB5F5CE93}" dt="2025-04-25T15:29:48.921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AF4429DE-69D1-4CF8-841D-B9C26A2A5A21}"/>
    <pc:docChg chg="delSld modSld">
      <pc:chgData name="Dieter Beaven" userId="9bbdb69f-69d0-4759-aa9b-5c090a2da237" providerId="ADAL" clId="{AF4429DE-69D1-4CF8-841D-B9C26A2A5A21}" dt="2025-10-23T11:02:26.673" v="2" actId="47"/>
      <pc:docMkLst>
        <pc:docMk/>
      </pc:docMkLst>
      <pc:sldChg chg="addSp modSp mod">
        <pc:chgData name="Dieter Beaven" userId="9bbdb69f-69d0-4759-aa9b-5c090a2da237" providerId="ADAL" clId="{AF4429DE-69D1-4CF8-841D-B9C26A2A5A21}" dt="2025-10-23T11:02:25.538" v="1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1:02:25.538" v="1" actId="1076"/>
          <ac:picMkLst>
            <pc:docMk/>
            <pc:sldMk cId="3458699803" sldId="545"/>
            <ac:picMk id="6" creationId="{5AA58AB1-B17A-BC7E-E3DD-1F1E44F4B2C2}"/>
          </ac:picMkLst>
        </pc:picChg>
      </pc:sldChg>
      <pc:sldChg chg="del">
        <pc:chgData name="Dieter Beaven" userId="9bbdb69f-69d0-4759-aa9b-5c090a2da237" providerId="ADAL" clId="{AF4429DE-69D1-4CF8-841D-B9C26A2A5A21}" dt="2025-10-23T11:02:26.673" v="2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EACD58EA-9647-4D1B-87AA-06A61C48ACA9}"/>
    <pc:docChg chg="addSld delSld modSld">
      <pc:chgData name="Dieter Beaven" userId="9bbdb69f-69d0-4759-aa9b-5c090a2da237" providerId="ADAL" clId="{EACD58EA-9647-4D1B-87AA-06A61C48ACA9}" dt="2025-08-27T10:45:57.028" v="9" actId="47"/>
      <pc:docMkLst>
        <pc:docMk/>
      </pc:docMkLst>
      <pc:sldChg chg="addSp modSp mod">
        <pc:chgData name="Dieter Beaven" userId="9bbdb69f-69d0-4759-aa9b-5c090a2da237" providerId="ADAL" clId="{EACD58EA-9647-4D1B-87AA-06A61C48ACA9}" dt="2025-08-27T10:43:02.583" v="1" actId="1076"/>
        <pc:sldMkLst>
          <pc:docMk/>
          <pc:sldMk cId="3896053727" sldId="543"/>
        </pc:sldMkLst>
      </pc:sldChg>
      <pc:sldChg chg="addSp mod">
        <pc:chgData name="Dieter Beaven" userId="9bbdb69f-69d0-4759-aa9b-5c090a2da237" providerId="ADAL" clId="{EACD58EA-9647-4D1B-87AA-06A61C48ACA9}" dt="2025-08-27T10:43:44.529" v="2" actId="22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EACD58EA-9647-4D1B-87AA-06A61C48ACA9}" dt="2025-08-27T10:45:18.428" v="6" actId="1076"/>
        <pc:sldMkLst>
          <pc:docMk/>
          <pc:sldMk cId="3826585799" sldId="551"/>
        </pc:sldMkLst>
      </pc:sldChg>
      <pc:sldChg chg="addSp modSp add mod">
        <pc:chgData name="Dieter Beaven" userId="9bbdb69f-69d0-4759-aa9b-5c090a2da237" providerId="ADAL" clId="{EACD58EA-9647-4D1B-87AA-06A61C48ACA9}" dt="2025-08-27T10:45:55.739" v="8" actId="1076"/>
        <pc:sldMkLst>
          <pc:docMk/>
          <pc:sldMk cId="2321918870" sldId="622"/>
        </pc:sldMkLst>
      </pc:sldChg>
      <pc:sldChg chg="add del">
        <pc:chgData name="Dieter Beaven" userId="9bbdb69f-69d0-4759-aa9b-5c090a2da237" providerId="ADAL" clId="{EACD58EA-9647-4D1B-87AA-06A61C48ACA9}" dt="2025-08-27T10:45:57.028" v="9" actId="47"/>
        <pc:sldMkLst>
          <pc:docMk/>
          <pc:sldMk cId="3818974971" sldId="623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95AD2C3-895E-469A-ABEC-6A0C933707BF}"/>
    <pc:docChg chg="modSld">
      <pc:chgData name="Dieter Beaven" userId="9bbdb69f-69d0-4759-aa9b-5c090a2da237" providerId="ADAL" clId="{595AD2C3-895E-469A-ABEC-6A0C933707BF}" dt="2025-04-29T13:40:17.006" v="33" actId="20577"/>
      <pc:docMkLst>
        <pc:docMk/>
      </pc:docMkLst>
      <pc:sldChg chg="modSp mod">
        <pc:chgData name="Dieter Beaven" userId="9bbdb69f-69d0-4759-aa9b-5c090a2da237" providerId="ADAL" clId="{595AD2C3-895E-469A-ABEC-6A0C933707BF}" dt="2025-04-29T13:40:17.006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3: </a:t>
            </a:r>
            <a:r>
              <a:rPr lang="en-GB" dirty="0">
                <a:solidFill>
                  <a:schemeClr val="accent5"/>
                </a:solidFill>
              </a:rPr>
              <a:t>Sequences and Series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Modelling with Series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09A6AE0-5E4E-41F6-877A-2CA3855FBE0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899A39F-7D74-4481-B166-82462D68909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Modelling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7A3124B-4FAD-49CC-A396-C85495C046A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5EE704-F70C-481D-933D-97B96FDC0D27}"/>
                  </a:ext>
                </a:extLst>
              </p:cNvPr>
              <p:cNvSpPr txBox="1"/>
              <p:nvPr/>
            </p:nvSpPr>
            <p:spPr>
              <a:xfrm>
                <a:off x="251520" y="836712"/>
                <a:ext cx="727280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Anything involving compound changes (e.g. bank interest) will form a geometric sequence, as there is a constant ratio between terms.</a:t>
                </a:r>
              </a:p>
              <a:p>
                <a:r>
                  <a:rPr lang="en-GB" dirty="0"/>
                  <a:t>We can therefore use formulae such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to solve problems.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5EE704-F70C-481D-933D-97B96FDC0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836712"/>
                <a:ext cx="7272808" cy="923330"/>
              </a:xfrm>
              <a:prstGeom prst="rect">
                <a:avLst/>
              </a:prstGeom>
              <a:blipFill>
                <a:blip r:embed="rId2"/>
                <a:stretch>
                  <a:fillRect l="-671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1A35D65-D05A-43A0-A0D8-8A74AB8CA16E}"/>
              </a:ext>
            </a:extLst>
          </p:cNvPr>
          <p:cNvSpPr txBox="1"/>
          <p:nvPr/>
        </p:nvSpPr>
        <p:spPr>
          <a:xfrm>
            <a:off x="342030" y="1912667"/>
            <a:ext cx="8586070" cy="2308324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[Textbook] Bruce starts a new company. In year 1 his profits will be £20 000. He predicts his profits to increase by £5000 each year, so that his profits in year 2 are modelled to be £25 000, in year 3, £30 000 and so on. He predicts this will continue until he reaches annual profits of £100 000. He then models his annual profits to remain at £100 000.</a:t>
            </a:r>
          </a:p>
          <a:p>
            <a:pPr marL="342900" indent="-342900">
              <a:buAutoNum type="alphaLcParenR"/>
            </a:pPr>
            <a:r>
              <a:rPr lang="en-GB" dirty="0"/>
              <a:t>Calculate the profits for Bruce’s business in the first 20 years.</a:t>
            </a:r>
          </a:p>
          <a:p>
            <a:pPr marL="342900" indent="-342900">
              <a:buAutoNum type="alphaLcParenR"/>
            </a:pPr>
            <a:r>
              <a:rPr lang="en-GB" dirty="0"/>
              <a:t>State one reason why this may not be a suitable model.</a:t>
            </a:r>
          </a:p>
          <a:p>
            <a:pPr marL="342900" indent="-342900">
              <a:buAutoNum type="alphaLcParenR"/>
            </a:pPr>
            <a:r>
              <a:rPr lang="en-GB" dirty="0"/>
              <a:t>Bruce’s financial advisor says the yearly profits are likely to increase by 5% per annum. Using this model, calculate the profits for Bruce’s business in the first 20 years.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D8D2B4-169B-4F42-8380-01C65FD3A215}"/>
                  </a:ext>
                </a:extLst>
              </p:cNvPr>
              <p:cNvSpPr txBox="1"/>
              <p:nvPr/>
            </p:nvSpPr>
            <p:spPr>
              <a:xfrm>
                <a:off x="539924" y="4250928"/>
                <a:ext cx="4155256" cy="2645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The sequence is arithmetic up until £100 000, but stops increasing thereafter. We need to know the position of this term.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𝟓𝟎𝟎𝟎</m:t>
                      </m:r>
                    </m:oMath>
                  </m:oMathPara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   →   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𝟏𝟎𝟎𝟎𝟎𝟎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𝟐𝟎𝟎𝟎𝟎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𝟏𝟕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First find sum of first 17 terms (where sequence is arithmetic):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sub>
                      </m:sSub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𝟐𝟎𝟎𝟎𝟎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𝟓𝟎𝟎𝟎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𝟎𝟐𝟎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sub>
                      </m:sSub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𝟎𝟐𝟎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𝟎𝟎𝟎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𝟑𝟐𝟎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D8D2B4-169B-4F42-8380-01C65FD3A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24" y="4250928"/>
                <a:ext cx="4155256" cy="2645148"/>
              </a:xfrm>
              <a:prstGeom prst="rect">
                <a:avLst/>
              </a:prstGeom>
              <a:blipFill>
                <a:blip r:embed="rId3"/>
                <a:stretch>
                  <a:fillRect l="-441" t="-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2D3219B-7FE9-4878-ACDF-61B68FE3A184}"/>
              </a:ext>
            </a:extLst>
          </p:cNvPr>
          <p:cNvSpPr/>
          <p:nvPr/>
        </p:nvSpPr>
        <p:spPr>
          <a:xfrm>
            <a:off x="342030" y="4313313"/>
            <a:ext cx="4353150" cy="25446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E0DD97-7B20-460C-8A3B-CEB7FCD8C084}"/>
                  </a:ext>
                </a:extLst>
              </p:cNvPr>
              <p:cNvSpPr txBox="1"/>
              <p:nvPr/>
            </p:nvSpPr>
            <p:spPr>
              <a:xfrm>
                <a:off x="5148064" y="4437112"/>
                <a:ext cx="3240360" cy="2310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It is unlikely that Bruce’s profits will increase by exactly the same amount each year.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=20 000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=1.05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20000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1.05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1.05−1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=£ 661 319.08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E0DD97-7B20-460C-8A3B-CEB7FCD8C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4437112"/>
                <a:ext cx="3240360" cy="2310184"/>
              </a:xfrm>
              <a:prstGeom prst="rect">
                <a:avLst/>
              </a:prstGeom>
              <a:blipFill>
                <a:blip r:embed="rId4"/>
                <a:stretch>
                  <a:fillRect l="-1504" t="-1583" r="-22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77AE175-112B-4168-8CDD-E2922FBB5C8D}"/>
              </a:ext>
            </a:extLst>
          </p:cNvPr>
          <p:cNvSpPr/>
          <p:nvPr/>
        </p:nvSpPr>
        <p:spPr>
          <a:xfrm>
            <a:off x="4893074" y="4313313"/>
            <a:ext cx="4035026" cy="11319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6B7C50-3CC3-4E9A-A035-4185467F9B3A}"/>
              </a:ext>
            </a:extLst>
          </p:cNvPr>
          <p:cNvSpPr/>
          <p:nvPr/>
        </p:nvSpPr>
        <p:spPr>
          <a:xfrm>
            <a:off x="4893074" y="5521397"/>
            <a:ext cx="4035026" cy="13496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D93B0E-3CA5-41DB-A508-C0A71E2AED8B}"/>
              </a:ext>
            </a:extLst>
          </p:cNvPr>
          <p:cNvSpPr/>
          <p:nvPr/>
        </p:nvSpPr>
        <p:spPr>
          <a:xfrm>
            <a:off x="107504" y="4313313"/>
            <a:ext cx="234526" cy="26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00FF6F-0E0E-4E19-853A-BBA44AC04F4D}"/>
              </a:ext>
            </a:extLst>
          </p:cNvPr>
          <p:cNvSpPr/>
          <p:nvPr/>
        </p:nvSpPr>
        <p:spPr>
          <a:xfrm>
            <a:off x="4676864" y="4313313"/>
            <a:ext cx="234526" cy="26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E802E7-48AC-47E4-8C42-FCCD353D5DA7}"/>
              </a:ext>
            </a:extLst>
          </p:cNvPr>
          <p:cNvSpPr/>
          <p:nvPr/>
        </p:nvSpPr>
        <p:spPr>
          <a:xfrm>
            <a:off x="4666869" y="5534531"/>
            <a:ext cx="234526" cy="26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210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EE0DAA-BEA9-4640-BE03-AAEA4B76D14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21B0F1C-871B-4FCF-8589-5989CFF28062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Geometric Modelling Example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142E2C-0965-4A68-A141-8588E628AE3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65F2787-E620-4059-98D6-45B7CC192CAB}"/>
              </a:ext>
            </a:extLst>
          </p:cNvPr>
          <p:cNvSpPr txBox="1"/>
          <p:nvPr/>
        </p:nvSpPr>
        <p:spPr>
          <a:xfrm>
            <a:off x="303930" y="769667"/>
            <a:ext cx="8586070" cy="1477328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[Textbook] A piece of A4 paper is folded in half repeatedly. The thickness of the A4 paper is 0.5 mm.</a:t>
            </a:r>
          </a:p>
          <a:p>
            <a:pPr marL="342900" indent="-342900">
              <a:buAutoNum type="alphaLcParenBoth"/>
            </a:pPr>
            <a:r>
              <a:rPr lang="en-GB" dirty="0"/>
              <a:t>Work out the thickness of the paper after four folds.</a:t>
            </a:r>
          </a:p>
          <a:p>
            <a:pPr marL="342900" indent="-342900">
              <a:buAutoNum type="alphaLcParenBoth"/>
            </a:pPr>
            <a:r>
              <a:rPr lang="en-GB" dirty="0"/>
              <a:t>Work out the thickness of the paper after 20 folds.</a:t>
            </a:r>
          </a:p>
          <a:p>
            <a:pPr marL="342900" indent="-342900">
              <a:buAutoNum type="alphaLcParenBoth"/>
            </a:pPr>
            <a:r>
              <a:rPr lang="en-GB" dirty="0"/>
              <a:t>State one reason why this might be an unrealistic model.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57BE96-0350-4A0A-B9D5-43C5DB61A67E}"/>
                  </a:ext>
                </a:extLst>
              </p:cNvPr>
              <p:cNvSpPr txBox="1"/>
              <p:nvPr/>
            </p:nvSpPr>
            <p:spPr>
              <a:xfrm>
                <a:off x="899592" y="2564904"/>
                <a:ext cx="453650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=0.5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After 4 folds: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=0.5×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After 20 folds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=0.5×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=524 288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It is impossible to fold the paper that many times so the model is unrealistic.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57BE96-0350-4A0A-B9D5-43C5DB61A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564904"/>
                <a:ext cx="4536504" cy="2585323"/>
              </a:xfrm>
              <a:prstGeom prst="rect">
                <a:avLst/>
              </a:prstGeom>
              <a:blipFill>
                <a:blip r:embed="rId2"/>
                <a:stretch>
                  <a:fillRect l="-1210" b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7C2A1D7A-84FE-4470-99D7-8B105AB5637E}"/>
              </a:ext>
            </a:extLst>
          </p:cNvPr>
          <p:cNvSpPr/>
          <p:nvPr/>
        </p:nvSpPr>
        <p:spPr>
          <a:xfrm>
            <a:off x="442153" y="2605014"/>
            <a:ext cx="30763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E6678C-0D21-4EC0-8E30-718775CC53E8}"/>
              </a:ext>
            </a:extLst>
          </p:cNvPr>
          <p:cNvSpPr/>
          <p:nvPr/>
        </p:nvSpPr>
        <p:spPr>
          <a:xfrm>
            <a:off x="455870" y="3713549"/>
            <a:ext cx="30763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DF6D46-6D9B-4FFB-9400-59EB07FBEEB2}"/>
              </a:ext>
            </a:extLst>
          </p:cNvPr>
          <p:cNvSpPr/>
          <p:nvPr/>
        </p:nvSpPr>
        <p:spPr>
          <a:xfrm>
            <a:off x="439400" y="4580321"/>
            <a:ext cx="30763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9996A4-ECA2-48C4-986B-5BAD31A409D7}"/>
              </a:ext>
            </a:extLst>
          </p:cNvPr>
          <p:cNvSpPr/>
          <p:nvPr/>
        </p:nvSpPr>
        <p:spPr>
          <a:xfrm>
            <a:off x="745049" y="2605014"/>
            <a:ext cx="4691047" cy="89599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64808C-7099-443F-A43C-6A31319C2D65}"/>
              </a:ext>
            </a:extLst>
          </p:cNvPr>
          <p:cNvSpPr/>
          <p:nvPr/>
        </p:nvSpPr>
        <p:spPr>
          <a:xfrm>
            <a:off x="745049" y="3713549"/>
            <a:ext cx="4691047" cy="6989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30506-08C9-413C-A4E1-391C750C10DC}"/>
              </a:ext>
            </a:extLst>
          </p:cNvPr>
          <p:cNvSpPr/>
          <p:nvPr/>
        </p:nvSpPr>
        <p:spPr>
          <a:xfrm>
            <a:off x="745049" y="4580321"/>
            <a:ext cx="4691047" cy="6989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371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674B99-AEEB-4172-B0F3-2D288BC70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34037"/>
            <a:ext cx="5958200" cy="24389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52EF2AF-8E87-490A-8039-C12963E7EBF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>
              <a:extLst>
                <a:ext uri="{FF2B5EF4-FFF2-40B4-BE49-F238E27FC236}">
                  <a16:creationId xmlns:a16="http://schemas.microsoft.com/office/drawing/2014/main" id="{D445B884-6E8D-4759-A223-EFA52894EB8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6758CFF-BC8C-47CC-9F6C-31C5322D91D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DF6D3D7-EC8F-47B6-88A8-5891CCE168FA}"/>
              </a:ext>
            </a:extLst>
          </p:cNvPr>
          <p:cNvSpPr txBox="1"/>
          <p:nvPr/>
        </p:nvSpPr>
        <p:spPr>
          <a:xfrm>
            <a:off x="395536" y="764704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Jan 2013 Q3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DDD235-447A-4743-8ACF-79BE512C1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80" y="3697262"/>
            <a:ext cx="4572000" cy="3098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4E13E2-22C8-4A28-92A7-22962D291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4134508"/>
            <a:ext cx="4210816" cy="64351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A799D23-F0B2-4BAC-A8A9-94892D897D91}"/>
              </a:ext>
            </a:extLst>
          </p:cNvPr>
          <p:cNvSpPr/>
          <p:nvPr/>
        </p:nvSpPr>
        <p:spPr>
          <a:xfrm>
            <a:off x="543031" y="3710800"/>
            <a:ext cx="4188458" cy="61665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7EB11F-51F4-44DB-8B41-7EC825A77EF2}"/>
              </a:ext>
            </a:extLst>
          </p:cNvPr>
          <p:cNvSpPr/>
          <p:nvPr/>
        </p:nvSpPr>
        <p:spPr>
          <a:xfrm>
            <a:off x="543031" y="4327451"/>
            <a:ext cx="4188458" cy="24822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5CD9BB-4CE1-43D8-8265-B40A76E5B2AE}"/>
              </a:ext>
            </a:extLst>
          </p:cNvPr>
          <p:cNvSpPr/>
          <p:nvPr/>
        </p:nvSpPr>
        <p:spPr>
          <a:xfrm>
            <a:off x="5145537" y="4107927"/>
            <a:ext cx="3997319" cy="7612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</a:t>
            </a:r>
          </a:p>
        </p:txBody>
      </p:sp>
    </p:spTree>
    <p:extLst>
      <p:ext uri="{BB962C8B-B14F-4D97-AF65-F5344CB8AC3E}">
        <p14:creationId xmlns:p14="http://schemas.microsoft.com/office/powerpoint/2010/main" val="187445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3.8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15923" y="653381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26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AED4C5C-6712-D990-49A4-D7F0842F7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53" y="2462465"/>
            <a:ext cx="4248472" cy="1527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AF0253-C646-DBF8-8FA8-FD7151A911D6}"/>
              </a:ext>
            </a:extLst>
          </p:cNvPr>
          <p:cNvSpPr txBox="1"/>
          <p:nvPr/>
        </p:nvSpPr>
        <p:spPr>
          <a:xfrm>
            <a:off x="342372" y="2132856"/>
            <a:ext cx="178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 [AEA 2007 Q5]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F7A6B8-E967-2082-7192-85C92554238A}"/>
                  </a:ext>
                </a:extLst>
              </p:cNvPr>
              <p:cNvSpPr txBox="1"/>
              <p:nvPr/>
            </p:nvSpPr>
            <p:spPr>
              <a:xfrm>
                <a:off x="4499992" y="1700808"/>
                <a:ext cx="4542059" cy="2402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figure shows part of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GB" sz="1200" dirty="0"/>
                  <a:t>, of model snowflakes. The first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dirty="0"/>
                  <a:t> consist of a single square of side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200" dirty="0"/>
                  <a:t>.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dirty="0"/>
                  <a:t>, the middle third of each edge is replaced with a new square, of side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200" dirty="0"/>
                  <a:t>, as shown. Subsequent terms are added by replacing the middle third of each external edge of a new square formed in the previous snowflake, by a square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200" dirty="0"/>
                  <a:t> of the size, as illustrated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1200" dirty="0"/>
                  <a:t>.</a:t>
                </a:r>
              </a:p>
              <a:p>
                <a:endParaRPr lang="en-GB" sz="1200" dirty="0"/>
              </a:p>
              <a:p>
                <a:r>
                  <a:rPr lang="en-GB" sz="1200" dirty="0"/>
                  <a:t>a) Deduce that to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sz="1200" dirty="0"/>
                  <a:t>, 36 new squares of side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lang="en-GB" sz="1200" dirty="0"/>
                  <a:t> must be added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1200" dirty="0"/>
                  <a:t>.</a:t>
                </a:r>
              </a:p>
              <a:p>
                <a:r>
                  <a:rPr lang="en-GB" sz="1200" dirty="0"/>
                  <a:t>b) Show that the perimeters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1200" dirty="0"/>
                  <a:t>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200" dirty="0"/>
                  <a:t> respectively.</a:t>
                </a:r>
              </a:p>
              <a:p>
                <a:r>
                  <a:rPr lang="en-GB" sz="1200" dirty="0"/>
                  <a:t>c) Find the perimeter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200" dirty="0"/>
                  <a:t>.</a:t>
                </a:r>
                <a:endParaRPr lang="en-GB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F7A6B8-E967-2082-7192-85C925542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1700808"/>
                <a:ext cx="4542059" cy="2402068"/>
              </a:xfrm>
              <a:prstGeom prst="rect">
                <a:avLst/>
              </a:prstGeom>
              <a:blipFill>
                <a:blip r:embed="rId3"/>
                <a:stretch>
                  <a:fillRect b="-12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8FEBD930-0223-1C21-3122-E4FB9A860F43}"/>
              </a:ext>
            </a:extLst>
          </p:cNvPr>
          <p:cNvSpPr/>
          <p:nvPr/>
        </p:nvSpPr>
        <p:spPr>
          <a:xfrm>
            <a:off x="139401" y="2241088"/>
            <a:ext cx="213604" cy="1855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ED6D99-90B6-E0F9-7588-C4C7957087BB}"/>
              </a:ext>
            </a:extLst>
          </p:cNvPr>
          <p:cNvSpPr txBox="1"/>
          <p:nvPr/>
        </p:nvSpPr>
        <p:spPr>
          <a:xfrm>
            <a:off x="415923" y="1772816"/>
            <a:ext cx="278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4703CC-E796-4C2F-8A26-F173E4D46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871" y="4160996"/>
            <a:ext cx="6312558" cy="27132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15F98EA-F720-B47D-640F-A102C2C42F70}"/>
              </a:ext>
            </a:extLst>
          </p:cNvPr>
          <p:cNvSpPr/>
          <p:nvPr/>
        </p:nvSpPr>
        <p:spPr>
          <a:xfrm>
            <a:off x="1267563" y="4151087"/>
            <a:ext cx="6323408" cy="271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3ECA97B-6A68-A72C-3541-66E17D88A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90" y="628650"/>
            <a:ext cx="791527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57AD7FC-6D7B-408D-940A-07365F649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957262"/>
            <a:ext cx="762952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96B83A6-69D3-504D-1BEC-B20B47D2A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03" y="849395"/>
            <a:ext cx="786765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B8E15-0ACE-16FC-E646-98AF9627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0C63106-2DCC-AD8C-3040-562796F35D4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CCAC925-8DAA-9019-E7A4-91398247C93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1CCA91-85F9-4619-4B9C-FC2B0D72FBB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19D9FF5-AEFF-B31D-53C9-7F2C91248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40" y="908720"/>
            <a:ext cx="78771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18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AA58AB1-B17A-BC7E-E3DD-1F1E44F4B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65" y="1052736"/>
            <a:ext cx="701992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61755</TotalTime>
  <Words>619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P2 Chapter 3: Sequences and Series  Modelling with Series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2025-10-23T11:02:28Z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