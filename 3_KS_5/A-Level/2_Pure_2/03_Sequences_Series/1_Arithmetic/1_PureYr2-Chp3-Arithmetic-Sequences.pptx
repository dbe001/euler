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569" r:id="rId6"/>
    <p:sldId id="570" r:id="rId7"/>
    <p:sldId id="571" r:id="rId8"/>
    <p:sldId id="573" r:id="rId9"/>
    <p:sldId id="574" r:id="rId10"/>
    <p:sldId id="549" r:id="rId11"/>
    <p:sldId id="543" r:id="rId12"/>
    <p:sldId id="550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0:44:23.014" v="6" actId="1035"/>
      <pc:docMkLst>
        <pc:docMk/>
      </pc:docMkLst>
      <pc:sldChg chg="addSp modSp mod">
        <pc:chgData name="Dieter Beaven" userId="9bbdb69f-69d0-4759-aa9b-5c090a2da237" providerId="ADAL" clId="{AF4429DE-69D1-4CF8-841D-B9C26A2A5A21}" dt="2025-10-23T10:44:23.014" v="6" actId="1035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44:23.014" v="6" actId="1035"/>
          <ac:picMkLst>
            <pc:docMk/>
            <pc:sldMk cId="3458699803" sldId="545"/>
            <ac:picMk id="6" creationId="{74B0290B-60DF-9FB7-098B-AA5726CF4E93}"/>
          </ac:picMkLst>
        </pc:picChg>
      </pc:sldChg>
      <pc:sldChg chg="del">
        <pc:chgData name="Dieter Beaven" userId="9bbdb69f-69d0-4759-aa9b-5c090a2da237" providerId="ADAL" clId="{AF4429DE-69D1-4CF8-841D-B9C26A2A5A21}" dt="2025-10-23T10:43:20.031" v="0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AF4429DE-69D1-4CF8-841D-B9C26A2A5A21}" dt="2025-10-23T10:44:20.004" v="3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F9281DAC-C8AC-4603-BB7D-0E92AFA611F5}"/>
    <pc:docChg chg="modSld">
      <pc:chgData name="Dieter Beaven" userId="9bbdb69f-69d0-4759-aa9b-5c090a2da237" providerId="ADAL" clId="{F9281DAC-C8AC-4603-BB7D-0E92AFA611F5}" dt="2025-08-27T10:18:03.579" v="5" actId="1076"/>
      <pc:docMkLst>
        <pc:docMk/>
      </pc:docMkLst>
      <pc:sldChg chg="addSp modSp mod">
        <pc:chgData name="Dieter Beaven" userId="9bbdb69f-69d0-4759-aa9b-5c090a2da237" providerId="ADAL" clId="{F9281DAC-C8AC-4603-BB7D-0E92AFA611F5}" dt="2025-08-27T10:18:03.579" v="5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F9281DAC-C8AC-4603-BB7D-0E92AFA611F5}" dt="2025-08-27T10:18:01.321" v="4" actId="1076"/>
        <pc:sldMkLst>
          <pc:docMk/>
          <pc:sldMk cId="4091202299" sldId="550"/>
        </pc:sldMkLst>
      </pc:sldChg>
    </pc:docChg>
  </pc:docChgLst>
  <pc:docChgLst>
    <pc:chgData name="Dieter Beaven" userId="9bbdb69f-69d0-4759-aa9b-5c090a2da237" providerId="ADAL" clId="{64E889FB-5445-45BB-93F7-0F0245019CEE}"/>
    <pc:docChg chg="undo custSel addSld delSld modSld">
      <pc:chgData name="Dieter Beaven" userId="9bbdb69f-69d0-4759-aa9b-5c090a2da237" providerId="ADAL" clId="{64E889FB-5445-45BB-93F7-0F0245019CEE}" dt="2025-05-20T14:03:39.904" v="27" actId="20577"/>
      <pc:docMkLst>
        <pc:docMk/>
      </pc:docMkLst>
      <pc:sldChg chg="add del">
        <pc:chgData name="Dieter Beaven" userId="9bbdb69f-69d0-4759-aa9b-5c090a2da237" providerId="ADAL" clId="{64E889FB-5445-45BB-93F7-0F0245019CEE}" dt="2025-05-20T14:03:29.502" v="25" actId="47"/>
        <pc:sldMkLst>
          <pc:docMk/>
          <pc:sldMk cId="2377282328" sldId="530"/>
        </pc:sldMkLst>
      </pc:sldChg>
      <pc:sldChg chg="modSp mod">
        <pc:chgData name="Dieter Beaven" userId="9bbdb69f-69d0-4759-aa9b-5c090a2da237" providerId="ADAL" clId="{64E889FB-5445-45BB-93F7-0F0245019CEE}" dt="2025-05-20T14:03:03.860" v="20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64E889FB-5445-45BB-93F7-0F0245019CEE}" dt="2025-05-20T14:03:39.904" v="27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64E889FB-5445-45BB-93F7-0F0245019CEE}" dt="2025-05-20T14:02:38.410" v="0"/>
        <pc:sldMkLst>
          <pc:docMk/>
          <pc:sldMk cId="3977966209" sldId="569"/>
        </pc:sldMkLst>
      </pc:sldChg>
      <pc:sldChg chg="add">
        <pc:chgData name="Dieter Beaven" userId="9bbdb69f-69d0-4759-aa9b-5c090a2da237" providerId="ADAL" clId="{64E889FB-5445-45BB-93F7-0F0245019CEE}" dt="2025-05-20T14:02:38.410" v="0"/>
        <pc:sldMkLst>
          <pc:docMk/>
          <pc:sldMk cId="2107522188" sldId="570"/>
        </pc:sldMkLst>
      </pc:sldChg>
      <pc:sldChg chg="add">
        <pc:chgData name="Dieter Beaven" userId="9bbdb69f-69d0-4759-aa9b-5c090a2da237" providerId="ADAL" clId="{64E889FB-5445-45BB-93F7-0F0245019CEE}" dt="2025-05-20T14:02:38.410" v="0"/>
        <pc:sldMkLst>
          <pc:docMk/>
          <pc:sldMk cId="2186641333" sldId="571"/>
        </pc:sldMkLst>
      </pc:sldChg>
      <pc:sldChg chg="add">
        <pc:chgData name="Dieter Beaven" userId="9bbdb69f-69d0-4759-aa9b-5c090a2da237" providerId="ADAL" clId="{64E889FB-5445-45BB-93F7-0F0245019CEE}" dt="2025-05-20T14:02:38.410" v="0"/>
        <pc:sldMkLst>
          <pc:docMk/>
          <pc:sldMk cId="1635032420" sldId="573"/>
        </pc:sldMkLst>
      </pc:sldChg>
      <pc:sldChg chg="add">
        <pc:chgData name="Dieter Beaven" userId="9bbdb69f-69d0-4759-aa9b-5c090a2da237" providerId="ADAL" clId="{64E889FB-5445-45BB-93F7-0F0245019CEE}" dt="2025-05-20T14:02:38.410" v="0"/>
        <pc:sldMkLst>
          <pc:docMk/>
          <pc:sldMk cId="3268987614" sldId="574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5" Type="http://schemas.openxmlformats.org/officeDocument/2006/relationships/image" Target="../media/image511.png"/><Relationship Id="rId4" Type="http://schemas.openxmlformats.org/officeDocument/2006/relationships/image" Target="../media/image4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7" Type="http://schemas.openxmlformats.org/officeDocument/2006/relationships/image" Target="../media/image12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4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3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Arithmetic Series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Types of sequences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38125" y="1983811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2, 5, 8, 11, 14, …</a:t>
            </a:r>
          </a:p>
        </p:txBody>
      </p:sp>
      <p:sp>
        <p:nvSpPr>
          <p:cNvPr id="8" name="Freeform 7"/>
          <p:cNvSpPr/>
          <p:nvPr/>
        </p:nvSpPr>
        <p:spPr>
          <a:xfrm>
            <a:off x="1238794" y="1789363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1906277" y="1789362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 9"/>
          <p:cNvSpPr/>
          <p:nvPr/>
        </p:nvSpPr>
        <p:spPr>
          <a:xfrm>
            <a:off x="2594386" y="1789362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259329" y="1433367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6335" y="1422900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386" y="1389340"/>
            <a:ext cx="53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8765" y="1433367"/>
            <a:ext cx="2016224" cy="36933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This is 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7977" y="2137699"/>
            <a:ext cx="332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Arithmetic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7977" y="2033219"/>
            <a:ext cx="3139115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0892" y="4358162"/>
            <a:ext cx="3343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Geometric Sequence</a:t>
            </a:r>
          </a:p>
          <a:p>
            <a:pPr algn="ctr"/>
            <a:r>
              <a:rPr lang="en-GB" sz="1400" dirty="0"/>
              <a:t>(We will explore these later in the chapter)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74803" y="4176754"/>
            <a:ext cx="3345347" cy="9286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401" y="4446881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3, 6, 12, 24, 48, …</a:t>
            </a:r>
          </a:p>
        </p:txBody>
      </p:sp>
      <p:sp>
        <p:nvSpPr>
          <p:cNvPr id="20" name="Freeform 19"/>
          <p:cNvSpPr/>
          <p:nvPr/>
        </p:nvSpPr>
        <p:spPr>
          <a:xfrm>
            <a:off x="1084070" y="4252433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1751553" y="4252432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 21"/>
          <p:cNvSpPr/>
          <p:nvPr/>
        </p:nvSpPr>
        <p:spPr>
          <a:xfrm>
            <a:off x="2439662" y="4252432"/>
            <a:ext cx="536027" cy="388895"/>
          </a:xfrm>
          <a:custGeom>
            <a:avLst/>
            <a:gdLst>
              <a:gd name="connsiteX0" fmla="*/ 0 w 536027"/>
              <a:gd name="connsiteY0" fmla="*/ 388895 h 388895"/>
              <a:gd name="connsiteX1" fmla="*/ 241738 w 536027"/>
              <a:gd name="connsiteY1" fmla="*/ 12 h 388895"/>
              <a:gd name="connsiteX2" fmla="*/ 536027 w 536027"/>
              <a:gd name="connsiteY2" fmla="*/ 378384 h 38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027" h="388895">
                <a:moveTo>
                  <a:pt x="0" y="388895"/>
                </a:moveTo>
                <a:cubicBezTo>
                  <a:pt x="76200" y="195329"/>
                  <a:pt x="152400" y="1764"/>
                  <a:pt x="241738" y="12"/>
                </a:cubicBezTo>
                <a:cubicBezTo>
                  <a:pt x="331076" y="-1740"/>
                  <a:pt x="433551" y="188322"/>
                  <a:pt x="536027" y="37838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04605" y="3896437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05" y="3896437"/>
                <a:ext cx="536027" cy="400110"/>
              </a:xfrm>
              <a:prstGeom prst="rect">
                <a:avLst/>
              </a:prstGeom>
              <a:blipFill rotWithShape="1">
                <a:blip r:embed="rId2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731611" y="3885970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611" y="3885970"/>
                <a:ext cx="536027" cy="400110"/>
              </a:xfrm>
              <a:prstGeom prst="rect">
                <a:avLst/>
              </a:prstGeom>
              <a:blipFill rotWithShape="1"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11654" y="3896437"/>
                <a:ext cx="5360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×2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54" y="3896437"/>
                <a:ext cx="536027" cy="400110"/>
              </a:xfrm>
              <a:prstGeom prst="rect">
                <a:avLst/>
              </a:prstGeom>
              <a:blipFill rotWithShape="1">
                <a:blip r:embed="rId4"/>
                <a:stretch>
                  <a:fillRect r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530824" y="791878"/>
                <a:ext cx="235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common difference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𝑑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824" y="791878"/>
                <a:ext cx="2353702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H="1">
            <a:off x="1640632" y="1074129"/>
            <a:ext cx="358992" cy="359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506807" y="3476384"/>
            <a:ext cx="358992" cy="359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372618" y="3107052"/>
                <a:ext cx="1757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common ratio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𝑟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18" y="3107052"/>
                <a:ext cx="175779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686302" y="791878"/>
            <a:ext cx="2198223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34576" y="3107052"/>
            <a:ext cx="1954156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111" y="5681231"/>
            <a:ext cx="4445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1, 1, 2, 3, 5, 8,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32" y="5391062"/>
            <a:ext cx="4104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This is the </a:t>
            </a:r>
            <a:r>
              <a:rPr lang="en-GB" sz="1600" b="1" dirty="0"/>
              <a:t>Fibonacci Sequence</a:t>
            </a:r>
            <a:r>
              <a:rPr lang="en-GB" sz="1600" dirty="0"/>
              <a:t>. The terms follow a </a:t>
            </a:r>
            <a:r>
              <a:rPr lang="en-GB" sz="1600" b="1" dirty="0"/>
              <a:t>recurrence relation</a:t>
            </a:r>
            <a:r>
              <a:rPr lang="en-GB" sz="1600" dirty="0"/>
              <a:t> because each term can be generated using the previous ones.</a:t>
            </a:r>
          </a:p>
          <a:p>
            <a:r>
              <a:rPr lang="en-GB" sz="1600" dirty="0"/>
              <a:t>We will encounter recurrence relations later in the chapter.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2260" y="5354510"/>
            <a:ext cx="4092228" cy="13599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7B051-DC83-46CE-9985-149C417B53CD}"/>
              </a:ext>
            </a:extLst>
          </p:cNvPr>
          <p:cNvSpPr txBox="1"/>
          <p:nvPr/>
        </p:nvSpPr>
        <p:spPr>
          <a:xfrm>
            <a:off x="5148064" y="2851360"/>
            <a:ext cx="3700310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An arithmetic sequence is one which has a common difference between terms.</a:t>
            </a:r>
          </a:p>
        </p:txBody>
      </p:sp>
    </p:spTree>
    <p:extLst>
      <p:ext uri="{BB962C8B-B14F-4D97-AF65-F5344CB8AC3E}">
        <p14:creationId xmlns:p14="http://schemas.microsoft.com/office/powerpoint/2010/main" val="397796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31" grpId="0" animBg="1"/>
      <p:bldP spid="32" grpId="0" animBg="1"/>
      <p:bldP spid="34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The fundamentals of sequences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18052" y="1199013"/>
                <a:ext cx="11521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052" y="1199013"/>
                <a:ext cx="115212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70180" y="1260568"/>
                <a:ext cx="29523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baseline="30000" dirty="0"/>
                  <a:t>th</a:t>
                </a:r>
                <a:r>
                  <a:rPr lang="en-GB" sz="2000" dirty="0"/>
                  <a:t> </a:t>
                </a:r>
                <a:r>
                  <a:rPr lang="en-GB" sz="2000" b="1" dirty="0"/>
                  <a:t>term</a:t>
                </a:r>
                <a:r>
                  <a:rPr lang="en-GB" sz="2000" dirty="0"/>
                  <a:t>.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000" dirty="0"/>
                  <a:t> would refer to the 3</a:t>
                </a:r>
                <a:r>
                  <a:rPr lang="en-GB" sz="2000" baseline="30000" dirty="0"/>
                  <a:t>rd</a:t>
                </a:r>
                <a:r>
                  <a:rPr lang="en-GB" sz="2000" dirty="0"/>
                  <a:t> term.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180" y="1260568"/>
                <a:ext cx="2952328" cy="707886"/>
              </a:xfrm>
              <a:prstGeom prst="rect">
                <a:avLst/>
              </a:prstGeom>
              <a:blipFill>
                <a:blip r:embed="rId3"/>
                <a:stretch>
                  <a:fillRect l="-2273" t="-5172" r="-1446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21539" y="2207126"/>
                <a:ext cx="11521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39" y="2207126"/>
                <a:ext cx="115212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391636" y="2319481"/>
            <a:ext cx="2448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</a:t>
            </a:r>
            <a:r>
              <a:rPr lang="en-GB" sz="2000" b="1" dirty="0"/>
              <a:t>position </a:t>
            </a:r>
            <a:r>
              <a:rPr lang="en-GB" sz="2000" dirty="0"/>
              <a:t>of the term in the sequence.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00083" y="4852049"/>
                <a:ext cx="30963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2, 5, 8, 11, 14, …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83" y="4852049"/>
                <a:ext cx="309634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4143113" y="4121278"/>
            <a:ext cx="719508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58574" y="3833244"/>
                <a:ext cx="12247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𝑛</m:t>
                      </m:r>
                      <m:r>
                        <a:rPr lang="en-GB" sz="2400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74" y="3833244"/>
                <a:ext cx="122470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71006" y="3890445"/>
                <a:ext cx="12247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006" y="3890445"/>
                <a:ext cx="1224708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3567049" y="4294910"/>
            <a:ext cx="432048" cy="6184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19872" y="1186871"/>
            <a:ext cx="2758047" cy="7586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7035" y="2281839"/>
            <a:ext cx="2760883" cy="7455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Meaning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156" y="3757408"/>
            <a:ext cx="504056" cy="5375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6444" y="3814609"/>
            <a:ext cx="432048" cy="5375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5798" y="4130515"/>
            <a:ext cx="259651" cy="3984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0752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 sz="3200" i="1" dirty="0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GB" sz="3200" baseline="30000" dirty="0"/>
                    <a:t>th</a:t>
                  </a:r>
                  <a:r>
                    <a:rPr lang="en-GB" sz="3200" dirty="0"/>
                    <a:t> term of an arithmetic sequence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908720"/>
                <a:ext cx="76328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dirty="0"/>
                  <a:t> to denote the </a:t>
                </a:r>
                <a:r>
                  <a:rPr lang="en-GB" b="1" dirty="0"/>
                  <a:t>first term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GB" dirty="0"/>
                  <a:t> is the </a:t>
                </a:r>
                <a:r>
                  <a:rPr lang="en-GB" b="1" dirty="0"/>
                  <a:t>difference</a:t>
                </a:r>
                <a:r>
                  <a:rPr lang="en-GB" dirty="0"/>
                  <a:t> between terms,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/>
                  <a:t> is the </a:t>
                </a:r>
                <a:r>
                  <a:rPr lang="en-GB" b="1" dirty="0"/>
                  <a:t>position</a:t>
                </a:r>
                <a:r>
                  <a:rPr lang="en-GB" dirty="0"/>
                  <a:t> of the term we’re interested in. Therefore: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7632848" cy="646331"/>
              </a:xfrm>
              <a:prstGeom prst="rect">
                <a:avLst/>
              </a:prstGeom>
              <a:blipFill>
                <a:blip r:embed="rId3"/>
                <a:stretch>
                  <a:fillRect l="-639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95536" y="1700808"/>
            <a:ext cx="16561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1720" y="1700808"/>
            <a:ext cx="16561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7904" y="1700808"/>
            <a:ext cx="16561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88224" y="1700808"/>
                <a:ext cx="230425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i="0" baseline="30000" dirty="0">
                    <a:latin typeface="+mj-lt"/>
                  </a:rPr>
                  <a:t>th</a:t>
                </a:r>
                <a:r>
                  <a:rPr lang="en-GB" dirty="0"/>
                  <a:t> term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700808"/>
                <a:ext cx="2304256" cy="369332"/>
              </a:xfrm>
              <a:prstGeom prst="rect">
                <a:avLst/>
              </a:prstGeom>
              <a:blipFill>
                <a:blip r:embed="rId4"/>
                <a:stretch>
                  <a:fillRect t="-4615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728886" y="167914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9552" y="2276872"/>
                <a:ext cx="13681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76872"/>
                <a:ext cx="136815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95736" y="2276872"/>
                <a:ext cx="13681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latin typeface="Cambria Math"/>
                        </a:rPr>
                        <m:t>𝑎</m:t>
                      </m:r>
                      <m:r>
                        <a:rPr lang="en-GB" sz="2800" b="0" i="1" dirty="0" smtClean="0">
                          <a:latin typeface="Cambria Math"/>
                        </a:rPr>
                        <m:t>+</m:t>
                      </m:r>
                      <m:r>
                        <a:rPr lang="en-GB" sz="2800" b="0" i="1" dirty="0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2276872"/>
                <a:ext cx="136815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51920" y="2276872"/>
                <a:ext cx="13681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latin typeface="Cambria Math"/>
                        </a:rPr>
                        <m:t>𝑎</m:t>
                      </m:r>
                      <m:r>
                        <a:rPr lang="en-GB" sz="2800" b="0" i="1" dirty="0" smtClean="0">
                          <a:latin typeface="Cambria Math"/>
                        </a:rPr>
                        <m:t>+2</m:t>
                      </m:r>
                      <m:r>
                        <a:rPr lang="en-GB" sz="2800" b="0" i="1" dirty="0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2276872"/>
                <a:ext cx="136815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60232" y="2276872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 dirty="0" smtClean="0">
                          <a:latin typeface="Cambria Math"/>
                        </a:rPr>
                        <m:t>𝑎</m:t>
                      </m:r>
                      <m:r>
                        <a:rPr lang="en-GB" sz="2800" b="0" i="1" dirty="0" smtClean="0">
                          <a:latin typeface="Cambria Math"/>
                        </a:rPr>
                        <m:t>+(</m:t>
                      </m:r>
                      <m:r>
                        <a:rPr lang="en-GB" sz="2800" b="0" i="1" dirty="0" smtClean="0">
                          <a:latin typeface="Cambria Math"/>
                        </a:rPr>
                        <m:t>𝑛</m:t>
                      </m:r>
                      <m:r>
                        <a:rPr lang="en-GB" sz="2800" b="0" i="1" dirty="0" smtClean="0">
                          <a:latin typeface="Cambria Math"/>
                        </a:rPr>
                        <m:t>−1)</m:t>
                      </m:r>
                      <m:r>
                        <a:rPr lang="en-GB" sz="2800" b="0" i="1" dirty="0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276872"/>
                <a:ext cx="22322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95536" y="2070140"/>
            <a:ext cx="1656184" cy="854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1720" y="2070140"/>
            <a:ext cx="1656184" cy="854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7904" y="2070140"/>
            <a:ext cx="1656184" cy="854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8224" y="2076393"/>
            <a:ext cx="2298964" cy="854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729780" y="3066293"/>
                <a:ext cx="5443140" cy="76944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latin typeface="Wingdings" panose="05000000000000000000" pitchFamily="2" charset="2"/>
                  </a:rPr>
                  <a:t>!</a:t>
                </a:r>
                <a:r>
                  <a:rPr lang="en-GB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2000" b="1" baseline="30000" dirty="0">
                    <a:latin typeface="+mj-lt"/>
                  </a:rPr>
                  <a:t>th</a:t>
                </a:r>
                <a:r>
                  <a:rPr lang="en-GB" sz="2000" b="1" dirty="0">
                    <a:latin typeface="+mj-lt"/>
                  </a:rPr>
                  <a:t> term of arithmetic sequence: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r>
                        <a:rPr lang="en-GB" sz="2400" b="0" i="1" smtClean="0">
                          <a:latin typeface="Cambria Math"/>
                        </a:rPr>
                        <m:t>𝑎</m:t>
                      </m:r>
                      <m:r>
                        <a:rPr lang="en-GB" sz="24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80" y="3066293"/>
                <a:ext cx="5443140" cy="769441"/>
              </a:xfrm>
              <a:prstGeom prst="rect">
                <a:avLst/>
              </a:prstGeom>
              <a:blipFill>
                <a:blip r:embed="rId9"/>
                <a:stretch>
                  <a:fillRect l="-1003" t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728886" y="231287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 . 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AB990-A80C-4AE2-9FD4-F0F6FECFA323}"/>
              </a:ext>
            </a:extLst>
          </p:cNvPr>
          <p:cNvSpPr txBox="1"/>
          <p:nvPr/>
        </p:nvSpPr>
        <p:spPr>
          <a:xfrm>
            <a:off x="291840" y="3936168"/>
            <a:ext cx="1404156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7FB6F1-B2E4-4920-B02C-EBED9E1E664A}"/>
                  </a:ext>
                </a:extLst>
              </p:cNvPr>
              <p:cNvSpPr txBox="1"/>
              <p:nvPr/>
            </p:nvSpPr>
            <p:spPr>
              <a:xfrm>
                <a:off x="209104" y="4327252"/>
                <a:ext cx="4032448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th term of an arithmetic sequence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=55−2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Write down the first 3 terms of the sequence.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Find the first term in the sequence that is negative.</a:t>
                </a:r>
              </a:p>
              <a:p>
                <a:pPr marL="342900" indent="-342900">
                  <a:buAutoNum type="alphaLcParenR"/>
                </a:pPr>
                <a:endParaRPr lang="en-GB" sz="1600" dirty="0"/>
              </a:p>
              <a:p>
                <a:r>
                  <a:rPr lang="en-GB" sz="1400" b="1" dirty="0"/>
                  <a:t>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𝟓𝟑</m:t>
                    </m:r>
                  </m:oMath>
                </a14:m>
                <a:r>
                  <a:rPr lang="en-GB" sz="1400" b="1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GB" sz="14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GB" sz="1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dirty="0" smtClean="0">
                        <a:latin typeface="Cambria Math" panose="02040503050406030204" pitchFamily="18" charset="0"/>
                      </a:rPr>
                      <m:t>𝟒𝟗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b)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    → 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𝟐𝟕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   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𝟐𝟖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𝟐𝟖</m:t>
                        </m:r>
                      </m:sub>
                    </m:sSub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𝟐𝟖</m:t>
                        </m:r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7FB6F1-B2E4-4920-B02C-EBED9E1E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4" y="4327252"/>
                <a:ext cx="4032448" cy="2462213"/>
              </a:xfrm>
              <a:prstGeom prst="rect">
                <a:avLst/>
              </a:prstGeom>
              <a:blipFill>
                <a:blip r:embed="rId10"/>
                <a:stretch>
                  <a:fillRect l="-755" t="-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424D725-2B88-4BA1-9722-456C9AA337FC}"/>
              </a:ext>
            </a:extLst>
          </p:cNvPr>
          <p:cNvSpPr/>
          <p:nvPr/>
        </p:nvSpPr>
        <p:spPr>
          <a:xfrm>
            <a:off x="493192" y="5918199"/>
            <a:ext cx="3291408" cy="3549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0DD23-9158-49C6-9BC3-86167C371E4C}"/>
              </a:ext>
            </a:extLst>
          </p:cNvPr>
          <p:cNvSpPr/>
          <p:nvPr/>
        </p:nvSpPr>
        <p:spPr>
          <a:xfrm>
            <a:off x="493192" y="6287075"/>
            <a:ext cx="3291408" cy="4566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926430-A337-4F62-97FD-4F3DE9E8A3AC}"/>
              </a:ext>
            </a:extLst>
          </p:cNvPr>
          <p:cNvSpPr txBox="1"/>
          <p:nvPr/>
        </p:nvSpPr>
        <p:spPr>
          <a:xfrm>
            <a:off x="4324730" y="3942763"/>
            <a:ext cx="1404156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42D924-30D3-4946-84BB-142DEFB80D1D}"/>
                  </a:ext>
                </a:extLst>
              </p:cNvPr>
              <p:cNvSpPr txBox="1"/>
              <p:nvPr/>
            </p:nvSpPr>
            <p:spPr>
              <a:xfrm>
                <a:off x="4241552" y="4305500"/>
                <a:ext cx="4032448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Find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th term of each arithmetic sequence.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6, 20, 34, 48, 62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101, 94, 87, 80, 73</a:t>
                </a:r>
              </a:p>
              <a:p>
                <a:pPr marL="342900" indent="-342900">
                  <a:buAutoNum type="alphaLcParenR"/>
                </a:pPr>
                <a:endParaRPr lang="en-GB" sz="1400" dirty="0"/>
              </a:p>
              <a:p>
                <a:pPr/>
                <a:r>
                  <a:rPr lang="en-GB" sz="1400" b="1" dirty="0"/>
                  <a:t>a)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br>
                  <a:rPr lang="en-GB" sz="14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1400" b="1" dirty="0"/>
              </a:p>
              <a:p>
                <a:pPr/>
                <a:r>
                  <a:rPr lang="en-GB" sz="1400" b="1" dirty="0"/>
                  <a:t>b)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br>
                  <a:rPr lang="en-GB" sz="14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𝟕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𝟏𝟎𝟖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42D924-30D3-4946-84BB-142DEFB80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552" y="4305500"/>
                <a:ext cx="4032448" cy="2523768"/>
              </a:xfrm>
              <a:prstGeom prst="rect">
                <a:avLst/>
              </a:prstGeom>
              <a:blipFill>
                <a:blip r:embed="rId11"/>
                <a:stretch>
                  <a:fillRect l="-908" t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6CE839-C400-4D14-9677-5B321CAE4698}"/>
                  </a:ext>
                </a:extLst>
              </p:cNvPr>
              <p:cNvSpPr txBox="1"/>
              <p:nvPr/>
            </p:nvSpPr>
            <p:spPr>
              <a:xfrm>
                <a:off x="7325679" y="4766101"/>
                <a:ext cx="165618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Fro Tip</a:t>
                </a:r>
                <a:r>
                  <a:rPr lang="en-GB" sz="1200" dirty="0"/>
                  <a:t>: Always write out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=,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dirty="0"/>
                  <a:t> first.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6CE839-C400-4D14-9677-5B321CAE4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5679" y="4766101"/>
                <a:ext cx="1656184" cy="461665"/>
              </a:xfrm>
              <a:prstGeom prst="rect">
                <a:avLst/>
              </a:prstGeom>
              <a:blipFill>
                <a:blip r:embed="rId1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845E13-2692-483F-96C5-FFF10599C740}"/>
              </a:ext>
            </a:extLst>
          </p:cNvPr>
          <p:cNvCxnSpPr>
            <a:cxnSpLocks/>
          </p:cNvCxnSpPr>
          <p:nvPr/>
        </p:nvCxnSpPr>
        <p:spPr>
          <a:xfrm flipH="1">
            <a:off x="6953250" y="4872885"/>
            <a:ext cx="398948" cy="194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0791CF8-10BD-4A52-BAE1-8450BAD93D8C}"/>
              </a:ext>
            </a:extLst>
          </p:cNvPr>
          <p:cNvSpPr/>
          <p:nvPr/>
        </p:nvSpPr>
        <p:spPr>
          <a:xfrm>
            <a:off x="4507446" y="5230731"/>
            <a:ext cx="3291408" cy="6271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EB012A-5F8A-4E4A-A680-AD2CD0589AFE}"/>
              </a:ext>
            </a:extLst>
          </p:cNvPr>
          <p:cNvSpPr/>
          <p:nvPr/>
        </p:nvSpPr>
        <p:spPr>
          <a:xfrm>
            <a:off x="4507446" y="5857875"/>
            <a:ext cx="3291408" cy="6271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664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6" grpId="0"/>
      <p:bldP spid="27" grpId="0" animBg="1"/>
      <p:bldP spid="31" grpId="0" animBg="1"/>
      <p:bldP spid="31" grpId="1" animBg="1"/>
      <p:bldP spid="33" grpId="0" animBg="1"/>
      <p:bldP spid="3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3AB6E5A-202C-4C20-9BB1-D22EB23C948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F9903E2-1497-4FD8-8356-7F524AAEF74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C22FC80-68AF-4B34-8083-38BB807C239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ED0218-725F-4FEC-A2A5-6F21F08DEDCC}"/>
                  </a:ext>
                </a:extLst>
              </p:cNvPr>
              <p:cNvSpPr txBox="1"/>
              <p:nvPr/>
            </p:nvSpPr>
            <p:spPr>
              <a:xfrm>
                <a:off x="674936" y="921420"/>
                <a:ext cx="6993408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A sequence is generated by the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constants to be found.</a:t>
                </a:r>
              </a:p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GB" dirty="0"/>
                  <a:t>, find the values of the constants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ED0218-725F-4FEC-A2A5-6F21F08DE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36" y="921420"/>
                <a:ext cx="6993408" cy="923330"/>
              </a:xfrm>
              <a:prstGeom prst="rect">
                <a:avLst/>
              </a:prstGeom>
              <a:blipFill>
                <a:blip r:embed="rId2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CE1AB-122D-4E48-9969-F4A1D9F4AAE0}"/>
                  </a:ext>
                </a:extLst>
              </p:cNvPr>
              <p:cNvSpPr txBox="1"/>
              <p:nvPr/>
            </p:nvSpPr>
            <p:spPr>
              <a:xfrm>
                <a:off x="831652" y="2433588"/>
                <a:ext cx="525658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   →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=20  →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Solving simultaneously,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CE1AB-122D-4E48-9969-F4A1D9F4A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52" y="2433588"/>
                <a:ext cx="5256584" cy="1569660"/>
              </a:xfrm>
              <a:prstGeom prst="rect">
                <a:avLst/>
              </a:prstGeom>
              <a:blipFill>
                <a:blip r:embed="rId3"/>
                <a:stretch>
                  <a:fillRect l="-1738" b="-7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E375B78-6207-44B7-9C26-3DB931840457}"/>
              </a:ext>
            </a:extLst>
          </p:cNvPr>
          <p:cNvSpPr/>
          <p:nvPr/>
        </p:nvSpPr>
        <p:spPr>
          <a:xfrm>
            <a:off x="674936" y="1844751"/>
            <a:ext cx="6993408" cy="21530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7CC591E-1CF5-43B7-9494-53AAE0E834C9}"/>
                  </a:ext>
                </a:extLst>
              </p:cNvPr>
              <p:cNvSpPr/>
              <p:nvPr/>
            </p:nvSpPr>
            <p:spPr>
              <a:xfrm>
                <a:off x="1318103" y="5029602"/>
                <a:ext cx="5836505" cy="1606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b="1" dirty="0">
                    <a:latin typeface="+mj-lt"/>
                  </a:rPr>
                  <a:t>Remember that an arithmetic sequence is one where there is a common difference between terms.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→  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600" b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/>
                        </a:rPr>
                        <m:t>𝒙</m:t>
                      </m:r>
                      <m:r>
                        <a:rPr lang="en-GB" sz="16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sz="1600" b="1" i="1">
                          <a:latin typeface="Cambria Math"/>
                        </a:rPr>
                        <m:t>, </m:t>
                      </m:r>
                      <m:r>
                        <a:rPr lang="en-GB" sz="1600" b="1" i="1">
                          <a:latin typeface="Cambria Math"/>
                        </a:rPr>
                        <m:t>𝒙</m:t>
                      </m:r>
                      <m:r>
                        <a:rPr lang="en-GB" sz="1600" b="1" i="1">
                          <a:latin typeface="Cambria Math"/>
                        </a:rPr>
                        <m:t>=</m:t>
                      </m:r>
                      <m:r>
                        <a:rPr lang="en-GB" sz="1600" b="1" i="1"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7CC591E-1CF5-43B7-9494-53AAE0E83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03" y="5029602"/>
                <a:ext cx="5836505" cy="1606978"/>
              </a:xfrm>
              <a:prstGeom prst="rect">
                <a:avLst/>
              </a:prstGeom>
              <a:blipFill>
                <a:blip r:embed="rId4"/>
                <a:stretch>
                  <a:fillRect l="-522" t="-1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093BAD3-1523-46F0-9AEF-EBE0AD4B7701}"/>
                  </a:ext>
                </a:extLst>
              </p:cNvPr>
              <p:cNvSpPr/>
              <p:nvPr/>
            </p:nvSpPr>
            <p:spPr>
              <a:xfrm>
                <a:off x="645019" y="4294583"/>
                <a:ext cx="677540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For which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would the expression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−8, 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17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form the first three terms of an arithmetic sequence.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093BAD3-1523-46F0-9AEF-EBE0AD4B7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9" y="4294583"/>
                <a:ext cx="6775404" cy="646331"/>
              </a:xfrm>
              <a:prstGeom prst="rect">
                <a:avLst/>
              </a:prstGeom>
              <a:blipFill>
                <a:blip r:embed="rId5"/>
                <a:stretch>
                  <a:fillRect b="-152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9A04BAD-7D3F-41AC-9FAA-A9AA892C9AF3}"/>
              </a:ext>
            </a:extLst>
          </p:cNvPr>
          <p:cNvSpPr/>
          <p:nvPr/>
        </p:nvSpPr>
        <p:spPr>
          <a:xfrm>
            <a:off x="645019" y="4940914"/>
            <a:ext cx="6775404" cy="1575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50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BD908-8465-4679-BFB8-8221D9C4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68" y="1131415"/>
            <a:ext cx="5667375" cy="3848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523B610-6563-4A3B-BD9B-7001CE32B30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>
              <a:extLst>
                <a:ext uri="{FF2B5EF4-FFF2-40B4-BE49-F238E27FC236}">
                  <a16:creationId xmlns:a16="http://schemas.microsoft.com/office/drawing/2014/main" id="{589E0FBF-81B7-4767-BF2B-DA06381820A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8B03A0-54AD-44BE-8F84-18B4C2835B0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24FEE0-144E-4E7C-B44D-512558CF0D8F}"/>
              </a:ext>
            </a:extLst>
          </p:cNvPr>
          <p:cNvSpPr txBox="1"/>
          <p:nvPr/>
        </p:nvSpPr>
        <p:spPr>
          <a:xfrm>
            <a:off x="445468" y="746183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2014(R) Q10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3DE1A-A8AB-4576-9D9E-AA0F184FC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085185"/>
            <a:ext cx="6684758" cy="17728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2581C0-CE73-44E9-86F6-4A125C4E80AC}"/>
              </a:ext>
            </a:extLst>
          </p:cNvPr>
          <p:cNvSpPr/>
          <p:nvPr/>
        </p:nvSpPr>
        <p:spPr>
          <a:xfrm>
            <a:off x="1475656" y="5054599"/>
            <a:ext cx="6563444" cy="9169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E6DD73-C66F-48F9-A92C-2DD7EB541171}"/>
              </a:ext>
            </a:extLst>
          </p:cNvPr>
          <p:cNvSpPr/>
          <p:nvPr/>
        </p:nvSpPr>
        <p:spPr>
          <a:xfrm>
            <a:off x="1475656" y="5956300"/>
            <a:ext cx="6563444" cy="9169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6898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3.1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17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E3C078-C7E0-6554-A454-CFF7E8F559A6}"/>
              </a:ext>
            </a:extLst>
          </p:cNvPr>
          <p:cNvSpPr txBox="1"/>
          <p:nvPr/>
        </p:nvSpPr>
        <p:spPr>
          <a:xfrm>
            <a:off x="330862" y="176356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F81F84-D2AA-184B-698A-8FCD45B4A762}"/>
                  </a:ext>
                </a:extLst>
              </p:cNvPr>
              <p:cNvSpPr txBox="1"/>
              <p:nvPr/>
            </p:nvSpPr>
            <p:spPr>
              <a:xfrm>
                <a:off x="576627" y="2093373"/>
                <a:ext cx="4066800" cy="4632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[STEP I 2004 Q5] The positive integers can be split into five distinct arithmetic progressions, as shown:</a:t>
                </a:r>
              </a:p>
              <a:p>
                <a:endParaRPr lang="en-GB" sz="700" dirty="0"/>
              </a:p>
              <a:p>
                <a:r>
                  <a:rPr lang="en-GB" sz="1400" dirty="0"/>
                  <a:t>A: 1, 6, 11, 16, …</a:t>
                </a:r>
              </a:p>
              <a:p>
                <a:r>
                  <a:rPr lang="en-GB" sz="1400" dirty="0"/>
                  <a:t>B: 2, 7, 12, 17, …</a:t>
                </a:r>
              </a:p>
              <a:p>
                <a:r>
                  <a:rPr lang="en-GB" sz="1400" dirty="0"/>
                  <a:t>C: 3, 8, 13, 18, …</a:t>
                </a:r>
              </a:p>
              <a:p>
                <a:r>
                  <a:rPr lang="en-GB" sz="1400" dirty="0"/>
                  <a:t>D: 4, 9, 14, 19, …</a:t>
                </a:r>
              </a:p>
              <a:p>
                <a:r>
                  <a:rPr lang="en-GB" sz="1400" dirty="0"/>
                  <a:t>E: 5, 10, 15, 20, …</a:t>
                </a:r>
              </a:p>
              <a:p>
                <a:endParaRPr lang="en-GB" sz="800" dirty="0"/>
              </a:p>
              <a:p>
                <a:r>
                  <a:rPr lang="en-GB" sz="1400" dirty="0"/>
                  <a:t>Write down an expression for the value of the general term in each of the five progressions. Hence prove that the sum of any term in B and any term in C is a term in E.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Prove also that the square of every term in B is a term in D. State and prove a similar claim about the square of every term in C.</a:t>
                </a:r>
              </a:p>
              <a:p>
                <a:endParaRPr lang="en-GB" sz="1400" dirty="0"/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Prove that there are no positive integers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=243723</m:t>
                    </m:r>
                  </m:oMath>
                </a14:m>
                <a:endParaRPr lang="en-GB" sz="1400" dirty="0"/>
              </a:p>
              <a:p>
                <a:pPr marL="400050" indent="-400050">
                  <a:buAutoNum type="romanLcParenR"/>
                </a:pPr>
                <a:r>
                  <a:rPr lang="en-GB" sz="1400" dirty="0"/>
                  <a:t>Prove also that there are no positive integers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such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=26081974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F81F84-D2AA-184B-698A-8FCD45B4A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27" y="2093373"/>
                <a:ext cx="4066800" cy="4632037"/>
              </a:xfrm>
              <a:prstGeom prst="rect">
                <a:avLst/>
              </a:prstGeom>
              <a:blipFill>
                <a:blip r:embed="rId2"/>
                <a:stretch>
                  <a:fillRect l="-600" t="-132" r="-1199" b="-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E5E79B9-1EB3-5EC0-051F-B642F46B04FA}"/>
              </a:ext>
            </a:extLst>
          </p:cNvPr>
          <p:cNvSpPr/>
          <p:nvPr/>
        </p:nvSpPr>
        <p:spPr>
          <a:xfrm>
            <a:off x="278942" y="2195976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45430F-2D18-95E2-9816-E4ACE0898B41}"/>
                  </a:ext>
                </a:extLst>
              </p:cNvPr>
              <p:cNvSpPr txBox="1"/>
              <p:nvPr/>
            </p:nvSpPr>
            <p:spPr>
              <a:xfrm>
                <a:off x="4688114" y="1674982"/>
                <a:ext cx="4406439" cy="5138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A: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200" b="1" dirty="0"/>
                  <a:t>            B: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1200" b="1" dirty="0"/>
                  <a:t>          C: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sz="1200" b="1" dirty="0"/>
              </a:p>
              <a:p>
                <a:r>
                  <a:rPr lang="en-GB" sz="1200" b="1" dirty="0"/>
                  <a:t>D: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200" b="1" dirty="0"/>
                  <a:t>            E: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GB" sz="1200" b="1" dirty="0"/>
              </a:p>
              <a:p>
                <a:endParaRPr lang="en-GB" sz="1200" b="1" dirty="0"/>
              </a:p>
              <a:p>
                <a:r>
                  <a:rPr lang="en-GB" sz="1200" b="1" dirty="0"/>
                  <a:t>Term in B + Term in C (note that the positions in each sequence could be different, so use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200" b="1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1200" b="1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hence a term in E.</a:t>
                </a:r>
              </a:p>
              <a:p>
                <a:endParaRPr lang="en-GB" sz="1200" b="1" dirty="0"/>
              </a:p>
              <a:p>
                <a:r>
                  <a:rPr lang="en-GB" sz="1200" b="1" dirty="0"/>
                  <a:t>Square of term in B: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𝟐𝟓</m:t>
                      </m:r>
                      <m:sSup>
                        <m:sSup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hence a term in D.</a:t>
                </a:r>
              </a:p>
              <a:p>
                <a:endParaRPr lang="en-GB" sz="1200" b="1" dirty="0"/>
              </a:p>
              <a:p>
                <a:r>
                  <a:rPr lang="en-GB" sz="1200" b="1" dirty="0"/>
                  <a:t>Square of term in C: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𝟐𝟓</m:t>
                      </m:r>
                      <m:sSup>
                        <m:sSup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sSup>
                            <m:sSup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hence also a term in D.</a:t>
                </a:r>
              </a:p>
              <a:p>
                <a:endParaRPr lang="en-GB" sz="1200" b="1" dirty="0"/>
              </a:p>
              <a:p>
                <a:r>
                  <a:rPr lang="en-GB" sz="1200" b="1" dirty="0" err="1"/>
                  <a:t>i</a:t>
                </a:r>
                <a:r>
                  <a:rPr lang="en-GB" sz="1200" b="1" dirty="0"/>
                  <a:t>) 243723 is a term in C. Note that whatever sequence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200" b="1" dirty="0"/>
                  <a:t> is in, adding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200" b="1" dirty="0"/>
                  <a:t> will keep it in the same sequence as it is a multiple of 5. So we need to prove no term squared can give a term in C.</a:t>
                </a:r>
                <a:br>
                  <a:rPr lang="en-GB" sz="1200" b="1" dirty="0"/>
                </a:br>
                <a:r>
                  <a:rPr lang="en-GB" sz="1200" b="1" dirty="0"/>
                  <a:t>We have already proved a term in B or in C, squared, gives a term in D. We can similarly show a term in A, squared, stays in A, and a term in E squared stays in E. Finally, a term in D squared gives a term in A. Since the sequences A, B, C, D, E clearly span all positive integers, there cannot be any integer solutions to the equation.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45430F-2D18-95E2-9816-E4ACE089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114" y="1674982"/>
                <a:ext cx="4406439" cy="5138394"/>
              </a:xfrm>
              <a:prstGeom prst="rect">
                <a:avLst/>
              </a:prstGeom>
              <a:blipFill>
                <a:blip r:embed="rId3"/>
                <a:stretch>
                  <a:fillRect t="-119" r="-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1419B7B9-07DB-9D01-B3EA-40BA33209461}"/>
              </a:ext>
            </a:extLst>
          </p:cNvPr>
          <p:cNvSpPr/>
          <p:nvPr/>
        </p:nvSpPr>
        <p:spPr>
          <a:xfrm>
            <a:off x="4648201" y="1714952"/>
            <a:ext cx="4452256" cy="50328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7810389-5FE1-E60E-343F-E86710F68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836712"/>
            <a:ext cx="78581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A7B35B6-8474-DBBC-0FA7-882751A24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3861"/>
            <a:ext cx="78200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4B0290B-60DF-9FB7-098B-AA5726CF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52736"/>
            <a:ext cx="46767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1075</Words>
  <Application>Microsoft Office PowerPoint</Application>
  <PresentationFormat>On-screen Show (4:3)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 Theme</vt:lpstr>
      <vt:lpstr>P2 Chapter 3: Sequences and Series  Arithmetic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