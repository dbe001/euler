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547" r:id="rId5"/>
    <p:sldId id="584" r:id="rId6"/>
    <p:sldId id="585" r:id="rId7"/>
    <p:sldId id="586" r:id="rId8"/>
    <p:sldId id="588" r:id="rId9"/>
    <p:sldId id="587" r:id="rId10"/>
    <p:sldId id="589" r:id="rId11"/>
    <p:sldId id="580" r:id="rId12"/>
    <p:sldId id="549" r:id="rId13"/>
    <p:sldId id="543" r:id="rId14"/>
    <p:sldId id="550" r:id="rId15"/>
    <p:sldId id="551" r:id="rId16"/>
    <p:sldId id="54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AF4429DE-69D1-4CF8-841D-B9C26A2A5A21}"/>
    <pc:docChg chg="delSld modSld">
      <pc:chgData name="Dieter Beaven" userId="9bbdb69f-69d0-4759-aa9b-5c090a2da237" providerId="ADAL" clId="{AF4429DE-69D1-4CF8-841D-B9C26A2A5A21}" dt="2025-10-23T10:46:43.449" v="9" actId="1037"/>
      <pc:docMkLst>
        <pc:docMk/>
      </pc:docMkLst>
      <pc:sldChg chg="addSp modSp mod">
        <pc:chgData name="Dieter Beaven" userId="9bbdb69f-69d0-4759-aa9b-5c090a2da237" providerId="ADAL" clId="{AF4429DE-69D1-4CF8-841D-B9C26A2A5A21}" dt="2025-10-23T10:46:43.449" v="9" actId="1037"/>
        <pc:sldMkLst>
          <pc:docMk/>
          <pc:sldMk cId="3458699803" sldId="545"/>
        </pc:sldMkLst>
        <pc:picChg chg="add mod">
          <ac:chgData name="Dieter Beaven" userId="9bbdb69f-69d0-4759-aa9b-5c090a2da237" providerId="ADAL" clId="{AF4429DE-69D1-4CF8-841D-B9C26A2A5A21}" dt="2025-10-23T10:46:43.449" v="9" actId="1037"/>
          <ac:picMkLst>
            <pc:docMk/>
            <pc:sldMk cId="3458699803" sldId="545"/>
            <ac:picMk id="6" creationId="{8A512BA3-CFB6-7683-58C6-C4DA9EA6973C}"/>
          </ac:picMkLst>
        </pc:picChg>
      </pc:sldChg>
      <pc:sldChg chg="del">
        <pc:chgData name="Dieter Beaven" userId="9bbdb69f-69d0-4759-aa9b-5c090a2da237" providerId="ADAL" clId="{AF4429DE-69D1-4CF8-841D-B9C26A2A5A21}" dt="2025-10-23T10:46:32.803" v="2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9D425F22-416C-4F44-A282-D7FAB5F5CE93}"/>
    <pc:docChg chg="modSld">
      <pc:chgData name="Dieter Beaven" userId="9bbdb69f-69d0-4759-aa9b-5c090a2da237" providerId="ADAL" clId="{9D425F22-416C-4F44-A282-D7FAB5F5CE93}" dt="2025-04-25T15:29:48.921" v="3" actId="20577"/>
      <pc:docMkLst>
        <pc:docMk/>
      </pc:docMkLst>
      <pc:sldChg chg="modSp mod">
        <pc:chgData name="Dieter Beaven" userId="9bbdb69f-69d0-4759-aa9b-5c090a2da237" providerId="ADAL" clId="{9D425F22-416C-4F44-A282-D7FAB5F5CE93}" dt="2025-04-25T15:29:45.609" v="1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9D425F22-416C-4F44-A282-D7FAB5F5CE93}" dt="2025-04-25T15:29:48.921" v="3" actId="20577"/>
        <pc:sldMkLst>
          <pc:docMk/>
          <pc:sldMk cId="3055658135" sldId="549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A32DFB7-F650-47E2-8502-DE608BB9ADC4}"/>
    <pc:docChg chg="modSld">
      <pc:chgData name="Dieter Beaven" userId="9bbdb69f-69d0-4759-aa9b-5c090a2da237" providerId="ADAL" clId="{1A32DFB7-F650-47E2-8502-DE608BB9ADC4}" dt="2025-08-27T10:25:26.515" v="6" actId="1076"/>
      <pc:docMkLst>
        <pc:docMk/>
      </pc:docMkLst>
      <pc:sldChg chg="addSp modSp mod">
        <pc:chgData name="Dieter Beaven" userId="9bbdb69f-69d0-4759-aa9b-5c090a2da237" providerId="ADAL" clId="{1A32DFB7-F650-47E2-8502-DE608BB9ADC4}" dt="2025-08-27T10:23:59.574" v="2" actId="1076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1A32DFB7-F650-47E2-8502-DE608BB9ADC4}" dt="2025-08-27T10:25:03.941" v="4" actId="1076"/>
        <pc:sldMkLst>
          <pc:docMk/>
          <pc:sldMk cId="4091202299" sldId="550"/>
        </pc:sldMkLst>
      </pc:sldChg>
      <pc:sldChg chg="addSp modSp mod">
        <pc:chgData name="Dieter Beaven" userId="9bbdb69f-69d0-4759-aa9b-5c090a2da237" providerId="ADAL" clId="{1A32DFB7-F650-47E2-8502-DE608BB9ADC4}" dt="2025-08-27T10:25:26.515" v="6" actId="1076"/>
        <pc:sldMkLst>
          <pc:docMk/>
          <pc:sldMk cId="3826585799" sldId="551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595AD2C3-895E-469A-ABEC-6A0C933707BF}"/>
    <pc:docChg chg="modSld">
      <pc:chgData name="Dieter Beaven" userId="9bbdb69f-69d0-4759-aa9b-5c090a2da237" providerId="ADAL" clId="{595AD2C3-895E-469A-ABEC-6A0C933707BF}" dt="2025-04-29T13:40:17.006" v="33" actId="20577"/>
      <pc:docMkLst>
        <pc:docMk/>
      </pc:docMkLst>
      <pc:sldChg chg="modSp mod">
        <pc:chgData name="Dieter Beaven" userId="9bbdb69f-69d0-4759-aa9b-5c090a2da237" providerId="ADAL" clId="{595AD2C3-895E-469A-ABEC-6A0C933707BF}" dt="2025-04-29T13:40:17.006" v="33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  <pc:docChgLst>
    <pc:chgData name="Dieter Beaven" userId="9bbdb69f-69d0-4759-aa9b-5c090a2da237" providerId="ADAL" clId="{19B5DCDC-92B1-4B6F-801A-081957728ABE}"/>
    <pc:docChg chg="addSld modSld">
      <pc:chgData name="Dieter Beaven" userId="9bbdb69f-69d0-4759-aa9b-5c090a2da237" providerId="ADAL" clId="{19B5DCDC-92B1-4B6F-801A-081957728ABE}" dt="2025-05-20T14:08:02.178" v="28" actId="20577"/>
      <pc:docMkLst>
        <pc:docMk/>
      </pc:docMkLst>
      <pc:sldChg chg="modSp mod">
        <pc:chgData name="Dieter Beaven" userId="9bbdb69f-69d0-4759-aa9b-5c090a2da237" providerId="ADAL" clId="{19B5DCDC-92B1-4B6F-801A-081957728ABE}" dt="2025-05-20T14:08:02.178" v="28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9B5DCDC-92B1-4B6F-801A-081957728ABE}" dt="2025-05-20T14:07:42.807" v="6" actId="20577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9B5DCDC-92B1-4B6F-801A-081957728ABE}" dt="2025-05-20T14:07:26.883" v="0"/>
        <pc:sldMkLst>
          <pc:docMk/>
          <pc:sldMk cId="2991879540" sldId="580"/>
        </pc:sldMkLst>
      </pc:sldChg>
      <pc:sldChg chg="add">
        <pc:chgData name="Dieter Beaven" userId="9bbdb69f-69d0-4759-aa9b-5c090a2da237" providerId="ADAL" clId="{19B5DCDC-92B1-4B6F-801A-081957728ABE}" dt="2025-05-20T14:07:26.883" v="0"/>
        <pc:sldMkLst>
          <pc:docMk/>
          <pc:sldMk cId="2637061763" sldId="584"/>
        </pc:sldMkLst>
      </pc:sldChg>
      <pc:sldChg chg="add">
        <pc:chgData name="Dieter Beaven" userId="9bbdb69f-69d0-4759-aa9b-5c090a2da237" providerId="ADAL" clId="{19B5DCDC-92B1-4B6F-801A-081957728ABE}" dt="2025-05-20T14:07:26.883" v="0"/>
        <pc:sldMkLst>
          <pc:docMk/>
          <pc:sldMk cId="2392713844" sldId="585"/>
        </pc:sldMkLst>
      </pc:sldChg>
      <pc:sldChg chg="add">
        <pc:chgData name="Dieter Beaven" userId="9bbdb69f-69d0-4759-aa9b-5c090a2da237" providerId="ADAL" clId="{19B5DCDC-92B1-4B6F-801A-081957728ABE}" dt="2025-05-20T14:07:26.883" v="0"/>
        <pc:sldMkLst>
          <pc:docMk/>
          <pc:sldMk cId="4034121593" sldId="586"/>
        </pc:sldMkLst>
      </pc:sldChg>
      <pc:sldChg chg="add">
        <pc:chgData name="Dieter Beaven" userId="9bbdb69f-69d0-4759-aa9b-5c090a2da237" providerId="ADAL" clId="{19B5DCDC-92B1-4B6F-801A-081957728ABE}" dt="2025-05-20T14:07:26.883" v="0"/>
        <pc:sldMkLst>
          <pc:docMk/>
          <pc:sldMk cId="2715384205" sldId="587"/>
        </pc:sldMkLst>
      </pc:sldChg>
      <pc:sldChg chg="add">
        <pc:chgData name="Dieter Beaven" userId="9bbdb69f-69d0-4759-aa9b-5c090a2da237" providerId="ADAL" clId="{19B5DCDC-92B1-4B6F-801A-081957728ABE}" dt="2025-05-20T14:07:26.883" v="0"/>
        <pc:sldMkLst>
          <pc:docMk/>
          <pc:sldMk cId="710675531" sldId="588"/>
        </pc:sldMkLst>
      </pc:sldChg>
      <pc:sldChg chg="add">
        <pc:chgData name="Dieter Beaven" userId="9bbdb69f-69d0-4759-aa9b-5c090a2da237" providerId="ADAL" clId="{19B5DCDC-92B1-4B6F-801A-081957728ABE}" dt="2025-05-20T14:07:26.883" v="0"/>
        <pc:sldMkLst>
          <pc:docMk/>
          <pc:sldMk cId="3319602895" sldId="5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1.png"/><Relationship Id="rId5" Type="http://schemas.openxmlformats.org/officeDocument/2006/relationships/image" Target="../media/image512.png"/><Relationship Id="rId4" Type="http://schemas.openxmlformats.org/officeDocument/2006/relationships/image" Target="../media/image4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0.png"/><Relationship Id="rId13" Type="http://schemas.openxmlformats.org/officeDocument/2006/relationships/image" Target="../media/image187.png"/><Relationship Id="rId3" Type="http://schemas.openxmlformats.org/officeDocument/2006/relationships/image" Target="../media/image810.png"/><Relationship Id="rId7" Type="http://schemas.openxmlformats.org/officeDocument/2006/relationships/image" Target="../media/image1210.png"/><Relationship Id="rId12" Type="http://schemas.openxmlformats.org/officeDocument/2006/relationships/image" Target="../media/image177.png"/><Relationship Id="rId2" Type="http://schemas.openxmlformats.org/officeDocument/2006/relationships/image" Target="../media/image710.png"/><Relationship Id="rId16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0.png"/><Relationship Id="rId11" Type="http://schemas.openxmlformats.org/officeDocument/2006/relationships/image" Target="../media/image163.png"/><Relationship Id="rId5" Type="http://schemas.openxmlformats.org/officeDocument/2006/relationships/image" Target="../media/image1010.png"/><Relationship Id="rId15" Type="http://schemas.openxmlformats.org/officeDocument/2006/relationships/image" Target="../media/image200.png"/><Relationship Id="rId10" Type="http://schemas.openxmlformats.org/officeDocument/2006/relationships/image" Target="../media/image1510.png"/><Relationship Id="rId4" Type="http://schemas.openxmlformats.org/officeDocument/2006/relationships/image" Target="../media/image910.png"/><Relationship Id="rId9" Type="http://schemas.openxmlformats.org/officeDocument/2006/relationships/image" Target="../media/image145.png"/><Relationship Id="rId14" Type="http://schemas.openxmlformats.org/officeDocument/2006/relationships/image" Target="../media/image19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3: </a:t>
            </a:r>
            <a:r>
              <a:rPr lang="en-GB" dirty="0">
                <a:solidFill>
                  <a:schemeClr val="accent5"/>
                </a:solidFill>
              </a:rPr>
              <a:t>Sequences and Series</a:t>
            </a:r>
            <a:br>
              <a:rPr lang="en-GB" dirty="0"/>
            </a:br>
            <a:br>
              <a:rPr lang="en-GB"/>
            </a:br>
            <a:r>
              <a:rPr lang="en-GB"/>
              <a:t>Geometric Sequences </a:t>
            </a:r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Recap of Arithmetic vs Geometric Sequences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560262" y="2466474"/>
            <a:ext cx="5184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/>
              <a:t>2, 5, 8, 11, 14, …</a:t>
            </a:r>
          </a:p>
        </p:txBody>
      </p:sp>
      <p:sp>
        <p:nvSpPr>
          <p:cNvPr id="8" name="Freeform 7"/>
          <p:cNvSpPr/>
          <p:nvPr/>
        </p:nvSpPr>
        <p:spPr>
          <a:xfrm>
            <a:off x="1260931" y="2272026"/>
            <a:ext cx="536027" cy="388895"/>
          </a:xfrm>
          <a:custGeom>
            <a:avLst/>
            <a:gdLst>
              <a:gd name="connsiteX0" fmla="*/ 0 w 536027"/>
              <a:gd name="connsiteY0" fmla="*/ 388895 h 388895"/>
              <a:gd name="connsiteX1" fmla="*/ 241738 w 536027"/>
              <a:gd name="connsiteY1" fmla="*/ 12 h 388895"/>
              <a:gd name="connsiteX2" fmla="*/ 536027 w 536027"/>
              <a:gd name="connsiteY2" fmla="*/ 378384 h 38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6027" h="388895">
                <a:moveTo>
                  <a:pt x="0" y="388895"/>
                </a:moveTo>
                <a:cubicBezTo>
                  <a:pt x="76200" y="195329"/>
                  <a:pt x="152400" y="1764"/>
                  <a:pt x="241738" y="12"/>
                </a:cubicBezTo>
                <a:cubicBezTo>
                  <a:pt x="331076" y="-1740"/>
                  <a:pt x="433551" y="188322"/>
                  <a:pt x="536027" y="378384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/>
          <p:cNvSpPr/>
          <p:nvPr/>
        </p:nvSpPr>
        <p:spPr>
          <a:xfrm>
            <a:off x="1928414" y="2272025"/>
            <a:ext cx="536027" cy="388895"/>
          </a:xfrm>
          <a:custGeom>
            <a:avLst/>
            <a:gdLst>
              <a:gd name="connsiteX0" fmla="*/ 0 w 536027"/>
              <a:gd name="connsiteY0" fmla="*/ 388895 h 388895"/>
              <a:gd name="connsiteX1" fmla="*/ 241738 w 536027"/>
              <a:gd name="connsiteY1" fmla="*/ 12 h 388895"/>
              <a:gd name="connsiteX2" fmla="*/ 536027 w 536027"/>
              <a:gd name="connsiteY2" fmla="*/ 378384 h 38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6027" h="388895">
                <a:moveTo>
                  <a:pt x="0" y="388895"/>
                </a:moveTo>
                <a:cubicBezTo>
                  <a:pt x="76200" y="195329"/>
                  <a:pt x="152400" y="1764"/>
                  <a:pt x="241738" y="12"/>
                </a:cubicBezTo>
                <a:cubicBezTo>
                  <a:pt x="331076" y="-1740"/>
                  <a:pt x="433551" y="188322"/>
                  <a:pt x="536027" y="378384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form 9"/>
          <p:cNvSpPr/>
          <p:nvPr/>
        </p:nvSpPr>
        <p:spPr>
          <a:xfrm>
            <a:off x="2616523" y="2272025"/>
            <a:ext cx="536027" cy="388895"/>
          </a:xfrm>
          <a:custGeom>
            <a:avLst/>
            <a:gdLst>
              <a:gd name="connsiteX0" fmla="*/ 0 w 536027"/>
              <a:gd name="connsiteY0" fmla="*/ 388895 h 388895"/>
              <a:gd name="connsiteX1" fmla="*/ 241738 w 536027"/>
              <a:gd name="connsiteY1" fmla="*/ 12 h 388895"/>
              <a:gd name="connsiteX2" fmla="*/ 536027 w 536027"/>
              <a:gd name="connsiteY2" fmla="*/ 378384 h 38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6027" h="388895">
                <a:moveTo>
                  <a:pt x="0" y="388895"/>
                </a:moveTo>
                <a:cubicBezTo>
                  <a:pt x="76200" y="195329"/>
                  <a:pt x="152400" y="1764"/>
                  <a:pt x="241738" y="12"/>
                </a:cubicBezTo>
                <a:cubicBezTo>
                  <a:pt x="331076" y="-1740"/>
                  <a:pt x="433551" y="188322"/>
                  <a:pt x="536027" y="378384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1281466" y="1916030"/>
            <a:ext cx="53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+3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8472" y="1905563"/>
            <a:ext cx="53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+3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6523" y="1872003"/>
            <a:ext cx="53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+3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0902" y="1916030"/>
            <a:ext cx="201622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This is 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2014" y="2633062"/>
            <a:ext cx="335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Arithmetic Sequence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58272" y="2571426"/>
            <a:ext cx="3130128" cy="5760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0414" y="5108833"/>
            <a:ext cx="3503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Geometric Sequence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4250" y="5005993"/>
            <a:ext cx="3113350" cy="5760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538" y="4929544"/>
            <a:ext cx="5184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/>
              <a:t>3, 6, 12, 24, 48, …</a:t>
            </a:r>
          </a:p>
        </p:txBody>
      </p:sp>
      <p:sp>
        <p:nvSpPr>
          <p:cNvPr id="20" name="Freeform 19"/>
          <p:cNvSpPr/>
          <p:nvPr/>
        </p:nvSpPr>
        <p:spPr>
          <a:xfrm>
            <a:off x="1106207" y="4735096"/>
            <a:ext cx="536027" cy="388895"/>
          </a:xfrm>
          <a:custGeom>
            <a:avLst/>
            <a:gdLst>
              <a:gd name="connsiteX0" fmla="*/ 0 w 536027"/>
              <a:gd name="connsiteY0" fmla="*/ 388895 h 388895"/>
              <a:gd name="connsiteX1" fmla="*/ 241738 w 536027"/>
              <a:gd name="connsiteY1" fmla="*/ 12 h 388895"/>
              <a:gd name="connsiteX2" fmla="*/ 536027 w 536027"/>
              <a:gd name="connsiteY2" fmla="*/ 378384 h 38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6027" h="388895">
                <a:moveTo>
                  <a:pt x="0" y="388895"/>
                </a:moveTo>
                <a:cubicBezTo>
                  <a:pt x="76200" y="195329"/>
                  <a:pt x="152400" y="1764"/>
                  <a:pt x="241738" y="12"/>
                </a:cubicBezTo>
                <a:cubicBezTo>
                  <a:pt x="331076" y="-1740"/>
                  <a:pt x="433551" y="188322"/>
                  <a:pt x="536027" y="378384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 20"/>
          <p:cNvSpPr/>
          <p:nvPr/>
        </p:nvSpPr>
        <p:spPr>
          <a:xfrm>
            <a:off x="1773690" y="4735095"/>
            <a:ext cx="536027" cy="388895"/>
          </a:xfrm>
          <a:custGeom>
            <a:avLst/>
            <a:gdLst>
              <a:gd name="connsiteX0" fmla="*/ 0 w 536027"/>
              <a:gd name="connsiteY0" fmla="*/ 388895 h 388895"/>
              <a:gd name="connsiteX1" fmla="*/ 241738 w 536027"/>
              <a:gd name="connsiteY1" fmla="*/ 12 h 388895"/>
              <a:gd name="connsiteX2" fmla="*/ 536027 w 536027"/>
              <a:gd name="connsiteY2" fmla="*/ 378384 h 38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6027" h="388895">
                <a:moveTo>
                  <a:pt x="0" y="388895"/>
                </a:moveTo>
                <a:cubicBezTo>
                  <a:pt x="76200" y="195329"/>
                  <a:pt x="152400" y="1764"/>
                  <a:pt x="241738" y="12"/>
                </a:cubicBezTo>
                <a:cubicBezTo>
                  <a:pt x="331076" y="-1740"/>
                  <a:pt x="433551" y="188322"/>
                  <a:pt x="536027" y="378384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eform 21"/>
          <p:cNvSpPr/>
          <p:nvPr/>
        </p:nvSpPr>
        <p:spPr>
          <a:xfrm>
            <a:off x="2461799" y="4735095"/>
            <a:ext cx="536027" cy="388895"/>
          </a:xfrm>
          <a:custGeom>
            <a:avLst/>
            <a:gdLst>
              <a:gd name="connsiteX0" fmla="*/ 0 w 536027"/>
              <a:gd name="connsiteY0" fmla="*/ 388895 h 388895"/>
              <a:gd name="connsiteX1" fmla="*/ 241738 w 536027"/>
              <a:gd name="connsiteY1" fmla="*/ 12 h 388895"/>
              <a:gd name="connsiteX2" fmla="*/ 536027 w 536027"/>
              <a:gd name="connsiteY2" fmla="*/ 378384 h 38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6027" h="388895">
                <a:moveTo>
                  <a:pt x="0" y="388895"/>
                </a:moveTo>
                <a:cubicBezTo>
                  <a:pt x="76200" y="195329"/>
                  <a:pt x="152400" y="1764"/>
                  <a:pt x="241738" y="12"/>
                </a:cubicBezTo>
                <a:cubicBezTo>
                  <a:pt x="331076" y="-1740"/>
                  <a:pt x="433551" y="188322"/>
                  <a:pt x="536027" y="378384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126742" y="4379100"/>
                <a:ext cx="5360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/>
                        </a:rPr>
                        <m:t>×2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742" y="4379100"/>
                <a:ext cx="536027" cy="400110"/>
              </a:xfrm>
              <a:prstGeom prst="rect">
                <a:avLst/>
              </a:prstGeom>
              <a:blipFill rotWithShape="1">
                <a:blip r:embed="rId2"/>
                <a:stretch>
                  <a:fillRect r="-34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753748" y="4368633"/>
                <a:ext cx="5360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/>
                        </a:rPr>
                        <m:t>×2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748" y="4368633"/>
                <a:ext cx="536027" cy="400110"/>
              </a:xfrm>
              <a:prstGeom prst="rect">
                <a:avLst/>
              </a:prstGeom>
              <a:blipFill rotWithShape="1">
                <a:blip r:embed="rId3"/>
                <a:stretch>
                  <a:fillRect r="-34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433791" y="4379100"/>
                <a:ext cx="5360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/>
                        </a:rPr>
                        <m:t>×2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791" y="4379100"/>
                <a:ext cx="536027" cy="400110"/>
              </a:xfrm>
              <a:prstGeom prst="rect">
                <a:avLst/>
              </a:prstGeom>
              <a:blipFill rotWithShape="1">
                <a:blip r:embed="rId4"/>
                <a:stretch>
                  <a:fillRect r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552961" y="1274541"/>
                <a:ext cx="2353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common difference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𝑑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961" y="1274541"/>
                <a:ext cx="2353702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 flipH="1">
            <a:off x="1662769" y="1556792"/>
            <a:ext cx="358992" cy="3592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1528944" y="3959047"/>
            <a:ext cx="358992" cy="3592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394755" y="3589715"/>
                <a:ext cx="1757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common ratio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𝑟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4755" y="3589715"/>
                <a:ext cx="1757795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347" t="-8333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1708439" y="1274541"/>
            <a:ext cx="2198223" cy="36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56713" y="3589715"/>
            <a:ext cx="1954156" cy="36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38F468-E141-4764-A97A-E17D70E47227}"/>
              </a:ext>
            </a:extLst>
          </p:cNvPr>
          <p:cNvSpPr txBox="1"/>
          <p:nvPr/>
        </p:nvSpPr>
        <p:spPr>
          <a:xfrm>
            <a:off x="1966266" y="5956941"/>
            <a:ext cx="5235874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latin typeface="Wingdings" panose="05000000000000000000" pitchFamily="2" charset="2"/>
              </a:rPr>
              <a:t>!</a:t>
            </a:r>
            <a:r>
              <a:rPr lang="en-GB" dirty="0"/>
              <a:t> A geometric sequence is one in which there is a </a:t>
            </a:r>
            <a:r>
              <a:rPr lang="en-GB" b="1" dirty="0"/>
              <a:t>common ratio </a:t>
            </a:r>
            <a:r>
              <a:rPr lang="en-GB" dirty="0"/>
              <a:t>between terms.</a:t>
            </a:r>
          </a:p>
        </p:txBody>
      </p:sp>
    </p:spTree>
    <p:extLst>
      <p:ext uri="{BB962C8B-B14F-4D97-AF65-F5344CB8AC3E}">
        <p14:creationId xmlns:p14="http://schemas.microsoft.com/office/powerpoint/2010/main" val="263706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31" grpId="0" animBg="1"/>
      <p:bldP spid="32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Quickfire Common Ratio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817787"/>
                <a:ext cx="61926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/>
                  <a:t>Identify the common ratio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GB" sz="2800" dirty="0"/>
                  <a:t>: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817787"/>
                <a:ext cx="6192688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969" t="-10465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71600" y="1770743"/>
                <a:ext cx="35283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1, 2, 4, 8, 16, 32, 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770743"/>
                <a:ext cx="3528392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08104" y="1759008"/>
                <a:ext cx="16561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𝑟</m:t>
                      </m:r>
                      <m:r>
                        <a:rPr lang="en-GB" sz="2800" b="0" i="1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1759008"/>
                <a:ext cx="1656184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79512" y="1835952"/>
            <a:ext cx="64807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71600" y="2504631"/>
                <a:ext cx="35283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2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800" b="0" i="1" smtClean="0">
                          <a:latin typeface="Cambria Math"/>
                        </a:rPr>
                        <m:t>, 18, 12, 8, 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2504631"/>
                <a:ext cx="3528392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508104" y="2504631"/>
                <a:ext cx="16561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𝑟</m:t>
                      </m:r>
                      <m:r>
                        <a:rPr lang="en-GB" sz="2800" b="0" i="1" smtClean="0">
                          <a:latin typeface="Cambria Math"/>
                        </a:rPr>
                        <m:t>=2/3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504631"/>
                <a:ext cx="1656184" cy="5232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79512" y="2569840"/>
            <a:ext cx="64807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97113" y="3296719"/>
                <a:ext cx="35283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10, 5, 2.5, 1.25, 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113" y="3296719"/>
                <a:ext cx="3528392" cy="52322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533617" y="3284984"/>
                <a:ext cx="16561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𝑟</m:t>
                      </m:r>
                      <m:r>
                        <a:rPr lang="en-GB" sz="2800" b="0" i="1" smtClean="0">
                          <a:latin typeface="Cambria Math"/>
                        </a:rPr>
                        <m:t>=1/2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617" y="3284984"/>
                <a:ext cx="1656184" cy="52322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205025" y="3361928"/>
            <a:ext cx="64807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997113" y="4016799"/>
                <a:ext cx="35283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5, −5, 5, −5, 5, −5, 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113" y="4016799"/>
                <a:ext cx="3528392" cy="52322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533617" y="4005064"/>
                <a:ext cx="16561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𝑟</m:t>
                      </m:r>
                      <m:r>
                        <a:rPr lang="en-GB" sz="2800" b="0" i="1" smtClean="0">
                          <a:latin typeface="Cambria Math"/>
                        </a:rPr>
                        <m:t>=−1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617" y="4005064"/>
                <a:ext cx="1656184" cy="52322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205025" y="4082008"/>
            <a:ext cx="64807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997113" y="4736879"/>
                <a:ext cx="35283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𝑥</m:t>
                      </m:r>
                      <m:r>
                        <a:rPr lang="en-GB" sz="2800" b="0" i="1" smtClean="0">
                          <a:latin typeface="Cambria Math"/>
                        </a:rPr>
                        <m:t>, −2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800" b="0" i="1" smtClean="0">
                          <a:latin typeface="Cambria Math"/>
                        </a:rPr>
                        <m:t>, 4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113" y="4736879"/>
                <a:ext cx="3528392" cy="52322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533617" y="4725144"/>
                <a:ext cx="16561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𝑟</m:t>
                      </m:r>
                      <m:r>
                        <a:rPr lang="en-GB" sz="2800" b="0" i="1" smtClean="0">
                          <a:latin typeface="Cambria Math"/>
                        </a:rPr>
                        <m:t>=−2</m:t>
                      </m:r>
                      <m:r>
                        <a:rPr lang="en-GB" sz="2800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617" y="4725144"/>
                <a:ext cx="1656184" cy="52322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205025" y="4802088"/>
            <a:ext cx="64807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997113" y="5456959"/>
                <a:ext cx="35283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1, </m:t>
                      </m:r>
                      <m:r>
                        <a:rPr lang="en-GB" sz="2800" b="0" i="1" smtClean="0">
                          <a:latin typeface="Cambria Math"/>
                        </a:rPr>
                        <m:t>𝑝</m:t>
                      </m:r>
                      <m:r>
                        <a:rPr lang="en-GB" sz="2800" b="0" i="1" smtClean="0">
                          <a:latin typeface="Cambria Math"/>
                        </a:rPr>
                        <m:t>, 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𝑝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800" b="0" i="1" smtClean="0">
                          <a:latin typeface="Cambria Math"/>
                        </a:rPr>
                        <m:t>, 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𝑝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GB" sz="2800" b="0" i="1" smtClean="0">
                          <a:latin typeface="Cambria Math"/>
                        </a:rPr>
                        <m:t>, 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113" y="5456959"/>
                <a:ext cx="3528392" cy="52322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533617" y="5445224"/>
                <a:ext cx="16561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𝑟</m:t>
                      </m:r>
                      <m:r>
                        <a:rPr lang="en-GB" sz="2800" b="0" i="1" smtClean="0">
                          <a:latin typeface="Cambria Math"/>
                        </a:rPr>
                        <m:t>=</m:t>
                      </m:r>
                      <m:r>
                        <a:rPr lang="en-GB" sz="2800" b="0" i="1" smtClean="0"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617" y="5445224"/>
                <a:ext cx="1656184" cy="523220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205025" y="5522168"/>
            <a:ext cx="64807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97112" y="6105031"/>
                <a:ext cx="38629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4, −1, 0.25, −0.0625, 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112" y="6105031"/>
                <a:ext cx="3862919" cy="52322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533616" y="6093296"/>
                <a:ext cx="20627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𝑟</m:t>
                      </m:r>
                      <m:r>
                        <a:rPr lang="en-GB" sz="2800" b="0" i="1" smtClean="0">
                          <a:latin typeface="Cambria Math"/>
                        </a:rPr>
                        <m:t>=−0.25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616" y="6093296"/>
                <a:ext cx="2062719" cy="523220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205025" y="6170240"/>
            <a:ext cx="64807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6176" y="1759008"/>
            <a:ext cx="1224136" cy="46294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4688" y="2558603"/>
            <a:ext cx="1224136" cy="46294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6176" y="3326855"/>
            <a:ext cx="1224136" cy="46294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6176" y="4037044"/>
            <a:ext cx="1224136" cy="46294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56176" y="4766004"/>
            <a:ext cx="1224136" cy="46294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6176" y="5433116"/>
            <a:ext cx="1224136" cy="46294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56176" y="6097314"/>
            <a:ext cx="1224136" cy="46294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4B6683-32CE-4836-BA41-97416F8CBE2E}"/>
              </a:ext>
            </a:extLst>
          </p:cNvPr>
          <p:cNvSpPr txBox="1"/>
          <p:nvPr/>
        </p:nvSpPr>
        <p:spPr>
          <a:xfrm>
            <a:off x="7596335" y="3429000"/>
            <a:ext cx="1446065" cy="18158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An </a:t>
            </a:r>
            <a:r>
              <a:rPr lang="en-GB" sz="1600" b="1" dirty="0"/>
              <a:t>alternating sequence</a:t>
            </a:r>
            <a:r>
              <a:rPr lang="en-GB" sz="1600" dirty="0"/>
              <a:t> is one which oscillates between positive and negative.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7391C28-FD1F-44D5-90C0-65844EC8391A}"/>
              </a:ext>
            </a:extLst>
          </p:cNvPr>
          <p:cNvCxnSpPr/>
          <p:nvPr/>
        </p:nvCxnSpPr>
        <p:spPr>
          <a:xfrm flipH="1" flipV="1">
            <a:off x="7416800" y="4521200"/>
            <a:ext cx="165100" cy="292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71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r>
                        <a:rPr lang="en-GB" sz="3200" i="1" dirty="0" smtClean="0"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GB" sz="3200" baseline="30000" dirty="0"/>
                    <a:t>th</a:t>
                  </a:r>
                  <a:r>
                    <a:rPr lang="en-GB" sz="3200" dirty="0"/>
                    <a:t> term</a:t>
                  </a:r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12245" b="-316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980728"/>
            <a:ext cx="3528392" cy="52322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/>
              <a:t>Arithmetic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2612" y="980728"/>
            <a:ext cx="3528392" cy="52322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/>
              <a:t>Geometric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5536" y="1772816"/>
                <a:ext cx="32403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GB" sz="2800" b="0" i="1" smtClean="0">
                          <a:latin typeface="Cambria Math"/>
                        </a:rPr>
                        <m:t>=</m:t>
                      </m:r>
                      <m:r>
                        <a:rPr lang="en-GB" sz="2800" b="0" i="1" smtClean="0">
                          <a:latin typeface="Cambria Math"/>
                        </a:rPr>
                        <m:t>𝑎</m:t>
                      </m:r>
                      <m:r>
                        <a:rPr lang="en-GB" sz="2800" b="0" i="1" smtClean="0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sz="2800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GB" sz="2800" b="0" i="1" smtClean="0"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772816"/>
                <a:ext cx="324036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220072" y="1772816"/>
                <a:ext cx="32403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GB" sz="2800" b="0" i="1" smtClean="0">
                          <a:latin typeface="Cambria Math"/>
                        </a:rPr>
                        <m:t>=</m:t>
                      </m:r>
                      <m:r>
                        <a:rPr lang="en-GB" sz="2800" b="0" i="1" smtClean="0">
                          <a:latin typeface="Cambria Math"/>
                        </a:rPr>
                        <m:t>𝑎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sz="2800" b="0" i="1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1772816"/>
                <a:ext cx="324036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 flipH="1">
            <a:off x="218" y="2708920"/>
            <a:ext cx="9143782" cy="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95536" y="2924944"/>
                <a:ext cx="77768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/>
                  <a:t>Determine the 10</a:t>
                </a:r>
                <a:r>
                  <a:rPr lang="en-GB" sz="2800" baseline="30000" dirty="0"/>
                  <a:t>th</a:t>
                </a:r>
                <a:r>
                  <a:rPr lang="en-GB" sz="2800" dirty="0"/>
                  <a:t> and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800" baseline="30000" dirty="0"/>
                  <a:t>th</a:t>
                </a:r>
                <a:r>
                  <a:rPr lang="en-GB" sz="2800" dirty="0"/>
                  <a:t> terms of the following: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924944"/>
                <a:ext cx="7776864" cy="523220"/>
              </a:xfrm>
              <a:prstGeom prst="rect">
                <a:avLst/>
              </a:prstGeom>
              <a:blipFill>
                <a:blip r:embed="rId5"/>
                <a:stretch>
                  <a:fillRect l="-1646" t="-11628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539552" y="3874683"/>
            <a:ext cx="3384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3, 6, 12, 24, 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552" y="4838846"/>
            <a:ext cx="3384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40, -20, 10, -5, 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30165" y="1772343"/>
            <a:ext cx="2611262" cy="648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7600" y="1696143"/>
            <a:ext cx="1604504" cy="648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3967925-D3EE-43ED-B948-664A82370446}"/>
              </a:ext>
            </a:extLst>
          </p:cNvPr>
          <p:cNvSpPr/>
          <p:nvPr/>
        </p:nvSpPr>
        <p:spPr>
          <a:xfrm>
            <a:off x="3661296" y="4009292"/>
            <a:ext cx="792088" cy="27549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CA2047-9D02-43FE-B6DB-CADEAE106E1D}"/>
                  </a:ext>
                </a:extLst>
              </p:cNvPr>
              <p:cNvSpPr txBox="1"/>
              <p:nvPr/>
            </p:nvSpPr>
            <p:spPr>
              <a:xfrm>
                <a:off x="5041470" y="3598912"/>
                <a:ext cx="282169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=3,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=3×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=1536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CA2047-9D02-43FE-B6DB-CADEAE106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470" y="3598912"/>
                <a:ext cx="2821690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4B1E983-CA75-4D20-A8AD-3775408A7902}"/>
                  </a:ext>
                </a:extLst>
              </p:cNvPr>
              <p:cNvSpPr txBox="1"/>
              <p:nvPr/>
            </p:nvSpPr>
            <p:spPr>
              <a:xfrm>
                <a:off x="4694739" y="4783021"/>
                <a:ext cx="4134376" cy="2003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=40,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=40×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64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sz="2000" i="1">
                              <a:latin typeface="Cambria Math"/>
                            </a:rPr>
                            <m:t>𝑛</m:t>
                          </m:r>
                          <m:r>
                            <a:rPr lang="en-GB" sz="20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GB" sz="2000" i="1">
                          <a:latin typeface="Cambria Math"/>
                        </a:rPr>
                        <m:t>×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/>
                            </a:rPr>
                            <m:t>5</m:t>
                          </m:r>
                        </m:num>
                        <m:den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GB" sz="2000" i="1">
                                  <a:latin typeface="Cambria Math"/>
                                </a:rPr>
                                <m:t>−4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4B1E983-CA75-4D20-A8AD-3775408A7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739" y="4783021"/>
                <a:ext cx="4134376" cy="20033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Arrow: Right 27">
            <a:extLst>
              <a:ext uri="{FF2B5EF4-FFF2-40B4-BE49-F238E27FC236}">
                <a16:creationId xmlns:a16="http://schemas.microsoft.com/office/drawing/2014/main" id="{5CE52821-81DD-4857-8135-7080A3DBDC32}"/>
              </a:ext>
            </a:extLst>
          </p:cNvPr>
          <p:cNvSpPr/>
          <p:nvPr/>
        </p:nvSpPr>
        <p:spPr>
          <a:xfrm>
            <a:off x="3675995" y="5035472"/>
            <a:ext cx="792088" cy="27549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517AC4-55DA-43B7-87FE-F5F6D3C78AF8}"/>
                  </a:ext>
                </a:extLst>
              </p:cNvPr>
              <p:cNvSpPr txBox="1"/>
              <p:nvPr/>
            </p:nvSpPr>
            <p:spPr>
              <a:xfrm>
                <a:off x="555506" y="5661248"/>
                <a:ext cx="2920419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Fro Tip</a:t>
                </a:r>
                <a:r>
                  <a:rPr lang="en-GB" dirty="0"/>
                  <a:t>: As before, write out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 first before substituting.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517AC4-55DA-43B7-87FE-F5F6D3C78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06" y="5661248"/>
                <a:ext cx="2920419" cy="923330"/>
              </a:xfrm>
              <a:prstGeom prst="rect">
                <a:avLst/>
              </a:prstGeom>
              <a:blipFill>
                <a:blip r:embed="rId8"/>
                <a:stretch>
                  <a:fillRect l="-1242" t="-2581" b="-83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A5E50CD9-9927-4882-A613-F02F5A2976A4}"/>
              </a:ext>
            </a:extLst>
          </p:cNvPr>
          <p:cNvSpPr/>
          <p:nvPr/>
        </p:nvSpPr>
        <p:spPr>
          <a:xfrm>
            <a:off x="5146684" y="3598912"/>
            <a:ext cx="3514716" cy="11127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F98390-3135-4308-9506-F660AC38F97F}"/>
              </a:ext>
            </a:extLst>
          </p:cNvPr>
          <p:cNvSpPr/>
          <p:nvPr/>
        </p:nvSpPr>
        <p:spPr>
          <a:xfrm>
            <a:off x="5146684" y="4805672"/>
            <a:ext cx="3514716" cy="19801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3412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9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>
            <a:extLst>
              <a:ext uri="{FF2B5EF4-FFF2-40B4-BE49-F238E27FC236}">
                <a16:creationId xmlns:a16="http://schemas.microsoft.com/office/drawing/2014/main" id="{C124CA42-A274-41E3-AE1F-90F0080B2858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B223CCF-CB00-40A2-ABD0-5A512326CC67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Further Example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B81DA9C-E8CE-488F-A810-DC31502AFD8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5A6A3FE-F438-43B7-83DC-BC8111817953}"/>
              </a:ext>
            </a:extLst>
          </p:cNvPr>
          <p:cNvSpPr txBox="1"/>
          <p:nvPr/>
        </p:nvSpPr>
        <p:spPr>
          <a:xfrm>
            <a:off x="374328" y="760359"/>
            <a:ext cx="7370216" cy="163121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[Textbook] The second term of a geometric sequence is 4 and the 4</a:t>
            </a:r>
            <a:r>
              <a:rPr lang="en-GB" sz="2000" baseline="30000" dirty="0"/>
              <a:t>th</a:t>
            </a:r>
            <a:r>
              <a:rPr lang="en-GB" sz="2000" dirty="0"/>
              <a:t> term is 8. The common ratio is positive. Find the exact values of:</a:t>
            </a:r>
          </a:p>
          <a:p>
            <a:pPr marL="342900" indent="-342900">
              <a:buAutoNum type="alphaLcParenR"/>
            </a:pPr>
            <a:r>
              <a:rPr lang="en-GB" sz="2000" dirty="0"/>
              <a:t>The common ratio.</a:t>
            </a:r>
          </a:p>
          <a:p>
            <a:pPr marL="342900" indent="-342900">
              <a:buAutoNum type="alphaLcParenR"/>
            </a:pPr>
            <a:r>
              <a:rPr lang="en-GB" sz="2000" dirty="0"/>
              <a:t>The first term.</a:t>
            </a:r>
          </a:p>
          <a:p>
            <a:pPr marL="342900" indent="-342900">
              <a:buAutoNum type="alphaLcParenR"/>
            </a:pPr>
            <a:r>
              <a:rPr lang="en-GB" sz="2000" dirty="0"/>
              <a:t>The 10</a:t>
            </a:r>
            <a:r>
              <a:rPr lang="en-GB" sz="2000" baseline="30000" dirty="0"/>
              <a:t>th</a:t>
            </a:r>
            <a:r>
              <a:rPr lang="en-GB" sz="2000" dirty="0"/>
              <a:t> term.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CD6E6B-988D-49C2-A123-D68D603328BD}"/>
                  </a:ext>
                </a:extLst>
              </p:cNvPr>
              <p:cNvSpPr txBox="1"/>
              <p:nvPr/>
            </p:nvSpPr>
            <p:spPr>
              <a:xfrm>
                <a:off x="1007250" y="2852936"/>
                <a:ext cx="7128792" cy="2922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GB" sz="2800" b="0" i="1" smtClean="0">
                          <a:latin typeface="Cambria Math"/>
                        </a:rPr>
                        <m:t>=4     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800" b="0" i="1" smtClean="0">
                          <a:latin typeface="Cambria Math"/>
                        </a:rPr>
                        <m:t>   </m:t>
                      </m:r>
                      <m:r>
                        <a:rPr lang="en-GB" sz="2800" b="0" i="1" smtClean="0">
                          <a:latin typeface="Cambria Math"/>
                        </a:rPr>
                        <m:t>𝑎𝑟</m:t>
                      </m:r>
                      <m:r>
                        <a:rPr lang="en-GB" sz="2800" b="0" i="1" smtClean="0">
                          <a:latin typeface="Cambria Math"/>
                        </a:rPr>
                        <m:t>=4  (1)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GB" sz="2800" b="0" i="1" smtClean="0">
                          <a:latin typeface="Cambria Math"/>
                        </a:rPr>
                        <m:t>=8     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800" b="0" i="1" smtClean="0">
                          <a:latin typeface="Cambria Math"/>
                        </a:rPr>
                        <m:t>   </m:t>
                      </m:r>
                      <m:r>
                        <a:rPr lang="en-GB" sz="2800" b="0" i="1" smtClean="0">
                          <a:latin typeface="Cambria Math"/>
                        </a:rPr>
                        <m:t>𝑎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GB" sz="2800" b="0" i="1" smtClean="0">
                          <a:latin typeface="Cambria Math"/>
                        </a:rPr>
                        <m:t>=8   (2)</m:t>
                      </m:r>
                    </m:oMath>
                  </m:oMathPara>
                </a14:m>
                <a:endParaRPr lang="en-GB" sz="2800" dirty="0"/>
              </a:p>
              <a:p>
                <a:endParaRPr lang="en-GB" sz="2800" dirty="0"/>
              </a:p>
              <a:p>
                <a:pPr marL="342900" indent="-342900">
                  <a:buAutoNum type="alphaLcParenR"/>
                </a:pPr>
                <a:r>
                  <a:rPr lang="en-GB" sz="2800" dirty="0"/>
                  <a:t>Dividing (2) by (1) gives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GB" sz="28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sz="2800" b="0" i="1" smtClean="0">
                        <a:latin typeface="Cambria Math"/>
                      </a:rPr>
                      <m:t>=2, </m:t>
                    </m:r>
                    <m:r>
                      <a:rPr lang="en-GB" sz="2800" b="0" i="1" smtClean="0">
                        <a:latin typeface="Cambria Math"/>
                      </a:rPr>
                      <m:t>𝑠𝑜</m:t>
                    </m:r>
                    <m:r>
                      <a:rPr lang="en-GB" sz="2800" b="0" i="1" smtClean="0">
                        <a:latin typeface="Cambria Math"/>
                      </a:rPr>
                      <m:t> </m:t>
                    </m:r>
                    <m:r>
                      <a:rPr lang="en-GB" sz="2800" b="0" i="1" smtClean="0">
                        <a:latin typeface="Cambria Math"/>
                      </a:rPr>
                      <m:t>𝑟</m:t>
                    </m:r>
                    <m:r>
                      <a:rPr lang="en-GB" sz="2800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800" b="0" i="1" smtClean="0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endParaRPr lang="en-GB" sz="2800" dirty="0"/>
              </a:p>
              <a:p>
                <a:pPr marL="342900" indent="-342900">
                  <a:buAutoNum type="alphaLcParenR"/>
                </a:pPr>
                <a:r>
                  <a:rPr lang="en-GB" sz="2800" dirty="0"/>
                  <a:t>Substituting,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𝑎</m:t>
                    </m:r>
                    <m:r>
                      <a:rPr lang="en-GB" sz="2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GB" sz="2800" b="0" i="1" smtClean="0">
                            <a:latin typeface="Cambria Math"/>
                          </a:rPr>
                          <m:t>𝑟</m:t>
                        </m:r>
                      </m:den>
                    </m:f>
                    <m:r>
                      <a:rPr lang="en-GB" sz="2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800" b="0" i="1" smtClean="0">
                                <a:latin typeface="Cambria Math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GB" sz="2800" b="0" i="1" smtClean="0">
                        <a:latin typeface="Cambria Math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800" b="0" i="1" smtClean="0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endParaRPr lang="en-GB" sz="2800" b="0" dirty="0"/>
              </a:p>
              <a:p>
                <a:pPr marL="342900" indent="-342900">
                  <a:buAutoNum type="alphaLcParenR"/>
                </a:pPr>
                <a:r>
                  <a:rPr lang="en-GB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sz="2800" b="0" i="1" smtClean="0">
                            <a:latin typeface="Cambria Math"/>
                          </a:rPr>
                          <m:t>10</m:t>
                        </m:r>
                      </m:sub>
                    </m:sSub>
                    <m:r>
                      <a:rPr lang="en-GB" sz="2800" b="0" i="1" smtClean="0">
                        <a:latin typeface="Cambria Math"/>
                      </a:rPr>
                      <m:t>=</m:t>
                    </m:r>
                    <m:r>
                      <a:rPr lang="en-GB" sz="2800" b="0" i="1" smtClean="0">
                        <a:latin typeface="Cambria Math"/>
                      </a:rPr>
                      <m:t>𝑎</m:t>
                    </m:r>
                    <m:sSup>
                      <m:sSup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GB" sz="2800" b="0" i="1" smtClean="0">
                            <a:latin typeface="Cambria Math"/>
                          </a:rPr>
                          <m:t>9</m:t>
                        </m:r>
                      </m:sup>
                    </m:sSup>
                    <m:r>
                      <a:rPr lang="en-GB" sz="2800" b="0" i="1" smtClean="0">
                        <a:latin typeface="Cambria Math"/>
                      </a:rPr>
                      <m:t>=64</m:t>
                    </m:r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CD6E6B-988D-49C2-A123-D68D60332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250" y="2852936"/>
                <a:ext cx="7128792" cy="2922467"/>
              </a:xfrm>
              <a:prstGeom prst="rect">
                <a:avLst/>
              </a:prstGeom>
              <a:blipFill>
                <a:blip r:embed="rId2"/>
                <a:stretch>
                  <a:fillRect l="-1795" b="-54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24BE63-13DD-4B54-A026-667518B6CC12}"/>
                  </a:ext>
                </a:extLst>
              </p:cNvPr>
              <p:cNvSpPr txBox="1"/>
              <p:nvPr/>
            </p:nvSpPr>
            <p:spPr>
              <a:xfrm>
                <a:off x="350438" y="6021288"/>
                <a:ext cx="8614050" cy="70788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000" b="1" dirty="0"/>
                  <a:t>F</a:t>
                </a:r>
                <a:r>
                  <a:rPr lang="en-GB" sz="2000" b="1" dirty="0" err="1"/>
                  <a:t>ro</a:t>
                </a:r>
                <a:r>
                  <a:rPr lang="en-GB" sz="2000" b="1" dirty="0"/>
                  <a:t> Tip: </a:t>
                </a:r>
                <a:r>
                  <a:rPr lang="en-GB" sz="2000" dirty="0"/>
                  <a:t>Explicitly writing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GB" sz="2000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GB" sz="2000" dirty="0"/>
                  <a:t> first helps you avoid confusing the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baseline="30000" dirty="0"/>
                  <a:t>th</a:t>
                </a:r>
                <a:r>
                  <a:rPr lang="en-GB" sz="2000" dirty="0"/>
                  <a:t> term with the ‘sum of the first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/>
                  <a:t> terms’ (the latter of which we’ll get onto).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24BE63-13DD-4B54-A026-667518B6C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38" y="6021288"/>
                <a:ext cx="8614050" cy="707886"/>
              </a:xfrm>
              <a:prstGeom prst="rect">
                <a:avLst/>
              </a:prstGeom>
              <a:blipFill>
                <a:blip r:embed="rId3"/>
                <a:stretch>
                  <a:fillRect l="-564" t="-3333" r="-141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9E57293F-46DB-4DD7-9362-5015916674CE}"/>
              </a:ext>
            </a:extLst>
          </p:cNvPr>
          <p:cNvSpPr/>
          <p:nvPr/>
        </p:nvSpPr>
        <p:spPr>
          <a:xfrm>
            <a:off x="374328" y="2737199"/>
            <a:ext cx="8590160" cy="31539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1067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Further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5536" y="836712"/>
                <a:ext cx="7632848" cy="193899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[Textbook] The numbers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/>
                      </a:rPr>
                      <m:t>3, </m:t>
                    </m:r>
                    <m:r>
                      <a:rPr lang="en-GB" sz="24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/>
                      </a:rPr>
                      <m:t>𝑥</m:t>
                    </m:r>
                    <m:r>
                      <a:rPr lang="en-GB" sz="2400" b="0" i="1" smtClean="0">
                        <a:latin typeface="Cambria Math"/>
                      </a:rPr>
                      <m:t>+6</m:t>
                    </m:r>
                  </m:oMath>
                </a14:m>
                <a:r>
                  <a:rPr lang="en-GB" sz="2400" dirty="0"/>
                  <a:t> form the first three terms of a positive geometric sequence. Find: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a) The value of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r>
                  <a:rPr lang="en-GB" sz="2400" dirty="0"/>
                  <a:t>b) The 10</a:t>
                </a:r>
                <a:r>
                  <a:rPr lang="en-GB" sz="2400" baseline="30000" dirty="0"/>
                  <a:t>th</a:t>
                </a:r>
                <a:r>
                  <a:rPr lang="en-GB" sz="2400" dirty="0"/>
                  <a:t> term in the sequence.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836712"/>
                <a:ext cx="7632848" cy="1938992"/>
              </a:xfrm>
              <a:prstGeom prst="rect">
                <a:avLst/>
              </a:prstGeom>
              <a:blipFill>
                <a:blip r:embed="rId2"/>
                <a:stretch>
                  <a:fillRect b="-173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166788" y="3102992"/>
                <a:ext cx="4704621" cy="30954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+6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   →   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+18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−18=0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20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/>
                        </a:rPr>
                        <m:t>𝑥</m:t>
                      </m:r>
                      <m:r>
                        <a:rPr lang="en-GB" sz="2000" b="0" i="1" smtClean="0">
                          <a:latin typeface="Cambria Math"/>
                        </a:rPr>
                        <m:t>=6 </m:t>
                      </m:r>
                      <m:r>
                        <a:rPr lang="en-GB" sz="2000" b="0" i="1" smtClean="0">
                          <a:latin typeface="Cambria Math"/>
                        </a:rPr>
                        <m:t>𝑜𝑟</m:t>
                      </m:r>
                      <m:r>
                        <a:rPr lang="en-GB" sz="2000" b="0" i="1" smtClean="0">
                          <a:latin typeface="Cambria Math"/>
                        </a:rPr>
                        <m:t> −3</m:t>
                      </m:r>
                    </m:oMath>
                  </m:oMathPara>
                </a14:m>
                <a:endParaRPr lang="en-GB" sz="2000" dirty="0"/>
              </a:p>
              <a:p>
                <a:r>
                  <a:rPr lang="en-GB" sz="2000" dirty="0"/>
                  <a:t>But there are no negative terms so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latin typeface="Cambria Math"/>
                      </a:rPr>
                      <m:t>=6</m:t>
                    </m:r>
                  </m:oMath>
                </a14:m>
                <a:endParaRPr lang="en-GB" sz="2000" dirty="0"/>
              </a:p>
              <a:p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/>
                        </a:rPr>
                        <m:t>𝑟</m:t>
                      </m:r>
                      <m:r>
                        <a:rPr lang="en-GB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GB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/>
                            </a:rPr>
                            <m:t>6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GB" sz="2000" b="0" i="1" smtClean="0">
                          <a:latin typeface="Cambria Math"/>
                        </a:rPr>
                        <m:t>=2       </m:t>
                      </m:r>
                      <m:r>
                        <a:rPr lang="en-GB" sz="2000" b="0" i="1" smtClean="0">
                          <a:latin typeface="Cambria Math"/>
                        </a:rPr>
                        <m:t>𝑎</m:t>
                      </m:r>
                      <m:r>
                        <a:rPr lang="en-GB" sz="2000" b="0" i="1" smtClean="0">
                          <a:latin typeface="Cambria Math"/>
                        </a:rPr>
                        <m:t>=3       </m:t>
                      </m:r>
                      <m:r>
                        <a:rPr lang="en-GB" sz="2000" b="0" i="1" smtClean="0">
                          <a:latin typeface="Cambria Math"/>
                        </a:rPr>
                        <m:t>𝑛</m:t>
                      </m:r>
                      <m:r>
                        <a:rPr lang="en-GB" sz="2000" b="0" i="1" smtClean="0">
                          <a:latin typeface="Cambria Math"/>
                        </a:rPr>
                        <m:t>=10</m:t>
                      </m:r>
                    </m:oMath>
                  </m:oMathPara>
                </a14:m>
                <a:endParaRPr lang="en-GB" sz="20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/>
                            </a:rPr>
                            <m:t>10</m:t>
                          </m:r>
                        </m:sub>
                      </m:sSub>
                      <m:r>
                        <a:rPr lang="en-GB" sz="2000" b="0" i="1" smtClean="0">
                          <a:latin typeface="Cambria Math"/>
                        </a:rPr>
                        <m:t>=3×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/>
                            </a:rPr>
                            <m:t>9</m:t>
                          </m:r>
                        </m:sup>
                      </m:sSup>
                      <m:r>
                        <a:rPr lang="en-GB" sz="2000" b="0" i="1" smtClean="0">
                          <a:latin typeface="Cambria Math"/>
                        </a:rPr>
                        <m:t>=1536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788" y="3102992"/>
                <a:ext cx="4704621" cy="3095463"/>
              </a:xfrm>
              <a:prstGeom prst="rect">
                <a:avLst/>
              </a:prstGeom>
              <a:blipFill>
                <a:blip r:embed="rId3"/>
                <a:stretch>
                  <a:fillRect l="-12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006872" y="3039597"/>
            <a:ext cx="4784328" cy="33612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3B179B-E41F-432D-9D28-2C0CF7AABF09}"/>
                  </a:ext>
                </a:extLst>
              </p:cNvPr>
              <p:cNvSpPr txBox="1"/>
              <p:nvPr/>
            </p:nvSpPr>
            <p:spPr>
              <a:xfrm>
                <a:off x="5859512" y="1649884"/>
                <a:ext cx="3096344" cy="160377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Hint</a:t>
                </a:r>
                <a:r>
                  <a:rPr lang="en-GB" dirty="0"/>
                  <a:t>: You’re told it’s a geometric sequence, which means the ratio between successive terms must be the same. Consequently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3B179B-E41F-432D-9D28-2C0CF7AAB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512" y="1649884"/>
                <a:ext cx="3096344" cy="1603772"/>
              </a:xfrm>
              <a:prstGeom prst="rect">
                <a:avLst/>
              </a:prstGeom>
              <a:blipFill>
                <a:blip r:embed="rId4"/>
                <a:stretch>
                  <a:fillRect l="-1172" t="-14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0376ABB-F634-4C64-8B80-D0D017500BA6}"/>
              </a:ext>
            </a:extLst>
          </p:cNvPr>
          <p:cNvSpPr txBox="1"/>
          <p:nvPr/>
        </p:nvSpPr>
        <p:spPr>
          <a:xfrm>
            <a:off x="5609084" y="6205591"/>
            <a:ext cx="3096344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Exam Note</a:t>
            </a:r>
            <a:r>
              <a:rPr lang="en-GB" sz="1400" dirty="0"/>
              <a:t>: This kind of question has appeared in the exam multiple times.</a:t>
            </a:r>
          </a:p>
        </p:txBody>
      </p:sp>
    </p:spTree>
    <p:extLst>
      <p:ext uri="{BB962C8B-B14F-4D97-AF65-F5344CB8AC3E}">
        <p14:creationId xmlns:p14="http://schemas.microsoft.com/office/powerpoint/2010/main" val="271538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r>
                        <a:rPr lang="en-GB" sz="3200" b="0" i="1" smtClean="0"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GB" sz="3200" baseline="30000" dirty="0"/>
                    <a:t>th</a:t>
                  </a:r>
                  <a:r>
                    <a:rPr lang="en-GB" sz="3200" dirty="0"/>
                    <a:t> term with inequalities</a:t>
                  </a:r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12245" b="-316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1520" y="908719"/>
                <a:ext cx="8496944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[Textbook] What is the first term in the geometric progression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/>
                      </a:rPr>
                      <m:t>3, 6, 12, 24, …</m:t>
                    </m:r>
                  </m:oMath>
                </a14:m>
                <a:r>
                  <a:rPr lang="en-GB" sz="2400" dirty="0"/>
                  <a:t> to exceed 1 million?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908719"/>
                <a:ext cx="8496944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1560" y="1916832"/>
                <a:ext cx="7344816" cy="4335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GB" sz="2400" b="0" i="1" smtClean="0">
                          <a:latin typeface="Cambria Math"/>
                        </a:rPr>
                        <m:t>&gt;1000000</m:t>
                      </m:r>
                      <m:r>
                        <a:rPr lang="en-GB" sz="2400" b="0" i="0" smtClean="0">
                          <a:latin typeface="Cambria Math"/>
                        </a:rPr>
                        <m:t>        </m:t>
                      </m:r>
                      <m:r>
                        <a:rPr lang="en-GB" sz="2400" b="0" i="1" smtClean="0">
                          <a:latin typeface="Cambria Math"/>
                        </a:rPr>
                        <m:t>𝑎</m:t>
                      </m:r>
                      <m:r>
                        <a:rPr lang="en-GB" sz="2400" b="0" i="1" smtClean="0">
                          <a:latin typeface="Cambria Math"/>
                        </a:rPr>
                        <m:t>=3, </m:t>
                      </m:r>
                      <m:r>
                        <a:rPr lang="en-GB" sz="2400" b="0" i="1" smtClean="0">
                          <a:latin typeface="Cambria Math"/>
                        </a:rPr>
                        <m:t>𝑟</m:t>
                      </m:r>
                      <m:r>
                        <a:rPr lang="en-GB" sz="2400" b="0" i="1" smtClean="0">
                          <a:latin typeface="Cambria Math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2400" b="0" i="1" smtClean="0">
                          <a:latin typeface="Cambria Math"/>
                        </a:rPr>
                        <m:t> 3×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GB" sz="2400" b="0" i="1" smtClean="0">
                          <a:latin typeface="Cambria Math"/>
                        </a:rPr>
                        <m:t>&gt;1000000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GB" sz="2400" b="0" i="1" smtClean="0">
                          <a:latin typeface="Cambria Math"/>
                        </a:rPr>
                        <m:t>&gt;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/>
                            </a:rPr>
                            <m:t>1000000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/>
                            </a:rPr>
                            <m:t>&gt;</m:t>
                          </m:r>
                          <m:func>
                            <m:func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1000000</m:t>
                                  </m:r>
                                </m:num>
                                <m:den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/>
                        </a:rPr>
                        <m:t>𝑛</m:t>
                      </m:r>
                      <m:r>
                        <a:rPr lang="en-GB" sz="2400" b="0" i="1" smtClean="0">
                          <a:latin typeface="Cambria Math"/>
                        </a:rPr>
                        <m:t>−1&gt;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400" b="0" i="1" smtClean="0">
                                          <a:latin typeface="Cambria Math"/>
                                        </a:rPr>
                                        <m:t>1000000</m:t>
                                      </m:r>
                                    </m:num>
                                    <m:den>
                                      <m:r>
                                        <a:rPr lang="en-GB" sz="2400" b="0" i="1" smtClean="0">
                                          <a:latin typeface="Cambria Math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GB" sz="2400" b="0" i="1" smtClean="0">
                              <a:latin typeface="Cambria Math"/>
                            </a:rPr>
                            <m:t>𝑙𝑜𝑔</m:t>
                          </m:r>
                          <m:r>
                            <a:rPr lang="en-GB" sz="24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/>
                        </a:rPr>
                        <m:t>𝑛</m:t>
                      </m:r>
                      <m:r>
                        <a:rPr lang="en-GB" sz="2400" b="0" i="1" smtClean="0">
                          <a:latin typeface="Cambria Math"/>
                        </a:rPr>
                        <m:t>−1&gt;18.35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/>
                        </a:rPr>
                        <m:t>𝑛</m:t>
                      </m:r>
                      <m:r>
                        <a:rPr lang="en-GB" sz="2400" b="0" i="1" smtClean="0">
                          <a:latin typeface="Cambria Math"/>
                        </a:rPr>
                        <m:t>&gt;19.35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/>
                        </a:rPr>
                        <m:t>𝑛</m:t>
                      </m:r>
                      <m:r>
                        <a:rPr lang="en-GB" sz="2400" b="0" i="1" smtClean="0">
                          <a:latin typeface="Cambria Math"/>
                        </a:rPr>
                        <m:t>=20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916832"/>
                <a:ext cx="7344816" cy="43356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979712" y="1916832"/>
            <a:ext cx="5400600" cy="47158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19602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>
            <a:extLst>
              <a:ext uri="{FF2B5EF4-FFF2-40B4-BE49-F238E27FC236}">
                <a16:creationId xmlns:a16="http://schemas.microsoft.com/office/drawing/2014/main" id="{E2E001CD-9152-4B6F-A1BB-77803D587794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D87128F-FDC4-4E76-A929-A8853463D214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E66D7BC-30AE-4683-8191-7C73B12C8C6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FF2B3E0-1696-4001-97A7-EC5AA17E99BC}"/>
              </a:ext>
            </a:extLst>
          </p:cNvPr>
          <p:cNvSpPr txBox="1"/>
          <p:nvPr/>
        </p:nvSpPr>
        <p:spPr>
          <a:xfrm>
            <a:off x="539552" y="898810"/>
            <a:ext cx="7848872" cy="646331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All the terms in a geometric sequence are positive.</a:t>
            </a:r>
          </a:p>
          <a:p>
            <a:r>
              <a:rPr lang="en-GB" dirty="0"/>
              <a:t>The third term of the sequence is 20 and the fifth term 80. What is the 20</a:t>
            </a:r>
            <a:r>
              <a:rPr lang="en-GB" baseline="30000" dirty="0"/>
              <a:t>th</a:t>
            </a:r>
            <a:r>
              <a:rPr lang="en-GB" dirty="0"/>
              <a:t> term?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490000-9D4E-4036-9E3D-A0250E989648}"/>
                  </a:ext>
                </a:extLst>
              </p:cNvPr>
              <p:cNvSpPr txBox="1"/>
              <p:nvPr/>
            </p:nvSpPr>
            <p:spPr>
              <a:xfrm>
                <a:off x="1742108" y="1679724"/>
                <a:ext cx="4248472" cy="1599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=20   →  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=80    → 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=80</m:t>
                      </m:r>
                    </m:oMath>
                  </m:oMathPara>
                </a14:m>
                <a:endParaRPr lang="en-GB" sz="1600" dirty="0"/>
              </a:p>
              <a:p>
                <a:endParaRPr lang="en-GB" sz="200" dirty="0"/>
              </a:p>
              <a:p>
                <a:r>
                  <a:rPr lang="en-GB" sz="1600" dirty="0"/>
                  <a:t>Dividing: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=4,  ∴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=5×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=2621440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490000-9D4E-4036-9E3D-A0250E989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108" y="1679724"/>
                <a:ext cx="4248472" cy="1599797"/>
              </a:xfrm>
              <a:prstGeom prst="rect">
                <a:avLst/>
              </a:prstGeom>
              <a:blipFill>
                <a:blip r:embed="rId2"/>
                <a:stretch>
                  <a:fillRect l="-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8EB6DF-417D-4D04-87CA-B27544999067}"/>
                  </a:ext>
                </a:extLst>
              </p:cNvPr>
              <p:cNvSpPr txBox="1"/>
              <p:nvPr/>
            </p:nvSpPr>
            <p:spPr>
              <a:xfrm>
                <a:off x="511651" y="3371630"/>
                <a:ext cx="7848872" cy="135421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The second, third and fourth term of a geometric sequence are the following: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+6,  5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a) Determine the possible values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b) Given the common ratio is positive, find the common ratio.</a:t>
                </a:r>
              </a:p>
              <a:p>
                <a:r>
                  <a:rPr lang="en-GB" sz="1600" dirty="0"/>
                  <a:t>c) Hence determine the possible values for the first term of the sequence.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8EB6DF-417D-4D04-87CA-B27544999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51" y="3371630"/>
                <a:ext cx="7848872" cy="13542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8989B7-6B3F-4F8A-AE2E-005B642C4AB6}"/>
                  </a:ext>
                </a:extLst>
              </p:cNvPr>
              <p:cNvSpPr txBox="1"/>
              <p:nvPr/>
            </p:nvSpPr>
            <p:spPr>
              <a:xfrm>
                <a:off x="1593238" y="4907135"/>
                <a:ext cx="2944192" cy="1795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+6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+6</m:t>
                          </m:r>
                        </m:den>
                      </m:f>
                    </m:oMath>
                  </m:oMathPara>
                </a14:m>
                <a:br>
                  <a:rPr lang="en-GB" sz="1600" b="0" dirty="0"/>
                </a:br>
                <a:endParaRPr lang="en-GB" sz="16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+6</m:t>
                              </m:r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e>
                      </m:d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+36=5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−18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−36=0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−9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−18=0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8989B7-6B3F-4F8A-AE2E-005B642C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238" y="4907135"/>
                <a:ext cx="2944192" cy="17951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CD0E9E-A1A8-4990-9A0E-29493E43065E}"/>
                  </a:ext>
                </a:extLst>
              </p:cNvPr>
              <p:cNvSpPr txBox="1"/>
              <p:nvPr/>
            </p:nvSpPr>
            <p:spPr>
              <a:xfrm>
                <a:off x="5050575" y="4790176"/>
                <a:ext cx="2448272" cy="1969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+6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6+6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𝑎𝑟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CD0E9E-A1A8-4990-9A0E-29493E430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575" y="4790176"/>
                <a:ext cx="2448272" cy="19694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FA5A58-A88E-4091-9C76-1287B4251BF5}"/>
              </a:ext>
            </a:extLst>
          </p:cNvPr>
          <p:cNvCxnSpPr/>
          <p:nvPr/>
        </p:nvCxnSpPr>
        <p:spPr>
          <a:xfrm>
            <a:off x="4580103" y="4907135"/>
            <a:ext cx="0" cy="16332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AE2547A-41FE-4D39-B666-5CAE8677D54F}"/>
              </a:ext>
            </a:extLst>
          </p:cNvPr>
          <p:cNvSpPr/>
          <p:nvPr/>
        </p:nvSpPr>
        <p:spPr>
          <a:xfrm>
            <a:off x="548498" y="1545142"/>
            <a:ext cx="7839926" cy="167507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CA55FF-6576-474E-B361-2BB104E86625}"/>
              </a:ext>
            </a:extLst>
          </p:cNvPr>
          <p:cNvSpPr/>
          <p:nvPr/>
        </p:nvSpPr>
        <p:spPr>
          <a:xfrm>
            <a:off x="520597" y="4725847"/>
            <a:ext cx="7839926" cy="20065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9187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3.3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20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D197886-8FB5-D817-FEBD-377245378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752627"/>
            <a:ext cx="7743825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F0B8EAF-AB58-6FBE-E894-778D6E2F9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03" y="980728"/>
            <a:ext cx="771525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8CC47DF-F04A-2AD4-7384-D0ECF3190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80728"/>
            <a:ext cx="78867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A512BA3-CFB6-7683-58C6-C4DA9EA69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805011"/>
            <a:ext cx="4638675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61750</TotalTime>
  <Words>911</Words>
  <Application>Microsoft Office PowerPoint</Application>
  <PresentationFormat>On-screen Show (4:3)</PresentationFormat>
  <Paragraphs>123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Wingdings</vt:lpstr>
      <vt:lpstr>Office Theme</vt:lpstr>
      <vt:lpstr>P2 Chapter 3: Sequences and Series  Geometric Sequences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2025-10-23T10:46:49Z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