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603" r:id="rId6"/>
    <p:sldId id="604" r:id="rId7"/>
    <p:sldId id="606" r:id="rId8"/>
    <p:sldId id="608" r:id="rId9"/>
    <p:sldId id="549" r:id="rId10"/>
    <p:sldId id="543" r:id="rId11"/>
    <p:sldId id="550" r:id="rId12"/>
    <p:sldId id="551" r:id="rId13"/>
    <p:sldId id="545" r:id="rId14"/>
    <p:sldId id="55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C51B9E31-9C4B-4ED2-B153-2B87ADF5D6B7}"/>
    <pc:docChg chg="custSel modSld">
      <pc:chgData name="Dieter Beaven" userId="9bbdb69f-69d0-4759-aa9b-5c090a2da237" providerId="ADAL" clId="{C51B9E31-9C4B-4ED2-B153-2B87ADF5D6B7}" dt="2025-05-20T14:51:54.638" v="54" actId="20577"/>
      <pc:docMkLst>
        <pc:docMk/>
      </pc:docMkLst>
      <pc:sldChg chg="modSp mod">
        <pc:chgData name="Dieter Beaven" userId="9bbdb69f-69d0-4759-aa9b-5c090a2da237" providerId="ADAL" clId="{C51B9E31-9C4B-4ED2-B153-2B87ADF5D6B7}" dt="2025-05-20T14:50:16.796" v="18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C51B9E31-9C4B-4ED2-B153-2B87ADF5D6B7}" dt="2025-05-20T14:51:54.638" v="54" actId="20577"/>
        <pc:sldMkLst>
          <pc:docMk/>
          <pc:sldMk cId="3055658135" sldId="549"/>
        </pc:sldMkLst>
      </pc:sldChg>
      <pc:sldChg chg="delSp modSp mod">
        <pc:chgData name="Dieter Beaven" userId="9bbdb69f-69d0-4759-aa9b-5c090a2da237" providerId="ADAL" clId="{C51B9E31-9C4B-4ED2-B153-2B87ADF5D6B7}" dt="2025-05-20T14:51:25.561" v="53" actId="1076"/>
        <pc:sldMkLst>
          <pc:docMk/>
          <pc:sldMk cId="1896190751" sldId="608"/>
        </pc:sldMkLst>
      </pc:sldChg>
    </pc:docChg>
  </pc:docChgLst>
  <pc:docChgLst>
    <pc:chgData name="Dieter Beaven" userId="9bbdb69f-69d0-4759-aa9b-5c090a2da237" providerId="ADAL" clId="{9D425F22-416C-4F44-A282-D7FAB5F5CE93}"/>
    <pc:docChg chg="modSld">
      <pc:chgData name="Dieter Beaven" userId="9bbdb69f-69d0-4759-aa9b-5c090a2da237" providerId="ADAL" clId="{9D425F22-416C-4F44-A282-D7FAB5F5CE93}" dt="2025-04-25T15:29:48.921" v="3" actId="20577"/>
      <pc:docMkLst>
        <pc:docMk/>
      </pc:docMkLst>
      <pc:sldChg chg="modSp mod">
        <pc:chgData name="Dieter Beaven" userId="9bbdb69f-69d0-4759-aa9b-5c090a2da237" providerId="ADAL" clId="{9D425F22-416C-4F44-A282-D7FAB5F5CE93}" dt="2025-04-25T15:29:45.609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9D425F22-416C-4F44-A282-D7FAB5F5CE93}" dt="2025-04-25T15:29:48.921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0D25E198-F34A-4592-B8F7-C4ED42DC2547}"/>
    <pc:docChg chg="undo custSel modSld">
      <pc:chgData name="Dieter Beaven" userId="9bbdb69f-69d0-4759-aa9b-5c090a2da237" providerId="ADAL" clId="{0D25E198-F34A-4592-B8F7-C4ED42DC2547}" dt="2025-08-27T10:37:24.304" v="22" actId="1076"/>
      <pc:docMkLst>
        <pc:docMk/>
      </pc:docMkLst>
      <pc:sldChg chg="addSp delSp modSp mod">
        <pc:chgData name="Dieter Beaven" userId="9bbdb69f-69d0-4759-aa9b-5c090a2da237" providerId="ADAL" clId="{0D25E198-F34A-4592-B8F7-C4ED42DC2547}" dt="2025-08-27T10:37:24.304" v="22" actId="1076"/>
        <pc:sldMkLst>
          <pc:docMk/>
          <pc:sldMk cId="3896053727" sldId="543"/>
        </pc:sldMkLst>
      </pc:sldChg>
      <pc:sldChg chg="addSp delSp modSp mod">
        <pc:chgData name="Dieter Beaven" userId="9bbdb69f-69d0-4759-aa9b-5c090a2da237" providerId="ADAL" clId="{0D25E198-F34A-4592-B8F7-C4ED42DC2547}" dt="2025-08-27T10:36:43.336" v="16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0D25E198-F34A-4592-B8F7-C4ED42DC2547}" dt="2025-08-27T10:36:49.572" v="18" actId="1076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AF4429DE-69D1-4CF8-841D-B9C26A2A5A21}"/>
    <pc:docChg chg="modSld">
      <pc:chgData name="Dieter Beaven" userId="9bbdb69f-69d0-4759-aa9b-5c090a2da237" providerId="ADAL" clId="{AF4429DE-69D1-4CF8-841D-B9C26A2A5A21}" dt="2025-10-23T10:54:39.162" v="2" actId="1076"/>
      <pc:docMkLst>
        <pc:docMk/>
      </pc:docMkLst>
      <pc:sldChg chg="addSp mod">
        <pc:chgData name="Dieter Beaven" userId="9bbdb69f-69d0-4759-aa9b-5c090a2da237" providerId="ADAL" clId="{AF4429DE-69D1-4CF8-841D-B9C26A2A5A21}" dt="2025-10-23T10:54:17.068" v="0" actId="22"/>
        <pc:sldMkLst>
          <pc:docMk/>
          <pc:sldMk cId="3458699803" sldId="545"/>
        </pc:sldMkLst>
        <pc:picChg chg="add">
          <ac:chgData name="Dieter Beaven" userId="9bbdb69f-69d0-4759-aa9b-5c090a2da237" providerId="ADAL" clId="{AF4429DE-69D1-4CF8-841D-B9C26A2A5A21}" dt="2025-10-23T10:54:17.068" v="0" actId="22"/>
          <ac:picMkLst>
            <pc:docMk/>
            <pc:sldMk cId="3458699803" sldId="545"/>
            <ac:picMk id="6" creationId="{51460755-3A81-6487-5A7D-D40342A5DB4A}"/>
          </ac:picMkLst>
        </pc:picChg>
      </pc:sldChg>
      <pc:sldChg chg="addSp modSp mod">
        <pc:chgData name="Dieter Beaven" userId="9bbdb69f-69d0-4759-aa9b-5c090a2da237" providerId="ADAL" clId="{AF4429DE-69D1-4CF8-841D-B9C26A2A5A21}" dt="2025-10-23T10:54:39.162" v="2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AF4429DE-69D1-4CF8-841D-B9C26A2A5A21}" dt="2025-10-23T10:54:39.162" v="2" actId="1076"/>
          <ac:picMkLst>
            <pc:docMk/>
            <pc:sldMk cId="2531956736" sldId="552"/>
            <ac:picMk id="6" creationId="{2CB1003C-89E4-BD84-4539-909009199F93}"/>
          </ac:picMkLst>
        </pc:pic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95AD2C3-895E-469A-ABEC-6A0C933707BF}"/>
    <pc:docChg chg="modSld">
      <pc:chgData name="Dieter Beaven" userId="9bbdb69f-69d0-4759-aa9b-5c090a2da237" providerId="ADAL" clId="{595AD2C3-895E-469A-ABEC-6A0C933707BF}" dt="2025-04-29T13:40:17.006" v="33" actId="20577"/>
      <pc:docMkLst>
        <pc:docMk/>
      </pc:docMkLst>
      <pc:sldChg chg="modSp mod">
        <pc:chgData name="Dieter Beaven" userId="9bbdb69f-69d0-4759-aa9b-5c090a2da237" providerId="ADAL" clId="{595AD2C3-895E-469A-ABEC-6A0C933707BF}" dt="2025-04-29T13:40:17.006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BCAD57BE-9BA8-4B3A-AAA2-FBA84085A481}"/>
    <pc:docChg chg="addSld modSld">
      <pc:chgData name="Dieter Beaven" userId="9bbdb69f-69d0-4759-aa9b-5c090a2da237" providerId="ADAL" clId="{BCAD57BE-9BA8-4B3A-AAA2-FBA84085A481}" dt="2025-05-20T14:28:47.577" v="5" actId="6549"/>
      <pc:docMkLst>
        <pc:docMk/>
      </pc:docMkLst>
      <pc:sldChg chg="modSp mod">
        <pc:chgData name="Dieter Beaven" userId="9bbdb69f-69d0-4759-aa9b-5c090a2da237" providerId="ADAL" clId="{BCAD57BE-9BA8-4B3A-AAA2-FBA84085A481}" dt="2025-05-20T14:28:47.577" v="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BCAD57BE-9BA8-4B3A-AAA2-FBA84085A481}" dt="2025-05-20T14:28:31.693" v="0"/>
        <pc:sldMkLst>
          <pc:docMk/>
          <pc:sldMk cId="3810813623" sldId="603"/>
        </pc:sldMkLst>
      </pc:sldChg>
      <pc:sldChg chg="add">
        <pc:chgData name="Dieter Beaven" userId="9bbdb69f-69d0-4759-aa9b-5c090a2da237" providerId="ADAL" clId="{BCAD57BE-9BA8-4B3A-AAA2-FBA84085A481}" dt="2025-05-20T14:28:31.693" v="0"/>
        <pc:sldMkLst>
          <pc:docMk/>
          <pc:sldMk cId="4123895351" sldId="604"/>
        </pc:sldMkLst>
      </pc:sldChg>
      <pc:sldChg chg="add">
        <pc:chgData name="Dieter Beaven" userId="9bbdb69f-69d0-4759-aa9b-5c090a2da237" providerId="ADAL" clId="{BCAD57BE-9BA8-4B3A-AAA2-FBA84085A481}" dt="2025-05-20T14:28:31.693" v="0"/>
        <pc:sldMkLst>
          <pc:docMk/>
          <pc:sldMk cId="1638553532" sldId="606"/>
        </pc:sldMkLst>
      </pc:sldChg>
      <pc:sldChg chg="add">
        <pc:chgData name="Dieter Beaven" userId="9bbdb69f-69d0-4759-aa9b-5c090a2da237" providerId="ADAL" clId="{BCAD57BE-9BA8-4B3A-AAA2-FBA84085A481}" dt="2025-05-20T14:28:31.693" v="0"/>
        <pc:sldMkLst>
          <pc:docMk/>
          <pc:sldMk cId="1896190751" sldId="6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image" Target="../media/image96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Sigma Notation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FD72D4-6B23-4FEC-A678-52956E9381F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2AB1B41-69EC-44EB-9209-D0BB28C60F6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Sigma Notation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A4F3148-9AD5-45FC-9BFD-487ACB81F58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6061C2-00F7-4AA1-A702-B0F4BF79589A}"/>
                  </a:ext>
                </a:extLst>
              </p:cNvPr>
              <p:cNvSpPr txBox="1"/>
              <p:nvPr/>
            </p:nvSpPr>
            <p:spPr>
              <a:xfrm>
                <a:off x="1036862" y="1731751"/>
                <a:ext cx="6730548" cy="1819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4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40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6061C2-00F7-4AA1-A702-B0F4BF795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62" y="1731751"/>
                <a:ext cx="6730548" cy="1819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15E561D-5C23-467F-B69C-49ED4F4B640E}"/>
              </a:ext>
            </a:extLst>
          </p:cNvPr>
          <p:cNvSpPr txBox="1"/>
          <p:nvPr/>
        </p:nvSpPr>
        <p:spPr>
          <a:xfrm>
            <a:off x="323528" y="764704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each bit of this expression mean?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EC6FF-B2E7-4316-8487-500442DC3CC6}"/>
              </a:ext>
            </a:extLst>
          </p:cNvPr>
          <p:cNvSpPr txBox="1"/>
          <p:nvPr/>
        </p:nvSpPr>
        <p:spPr>
          <a:xfrm>
            <a:off x="505673" y="1674834"/>
            <a:ext cx="1594370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The Greek letter, capital sigma, means ‘sum’.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04E668-8A29-4E1B-A4F6-7E50082099CC}"/>
              </a:ext>
            </a:extLst>
          </p:cNvPr>
          <p:cNvCxnSpPr>
            <a:stCxn id="7" idx="3"/>
          </p:cNvCxnSpPr>
          <p:nvPr/>
        </p:nvCxnSpPr>
        <p:spPr>
          <a:xfrm>
            <a:off x="2100043" y="2090333"/>
            <a:ext cx="983399" cy="408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B757BD-5058-4354-BAAB-E17A10CF4B9D}"/>
                  </a:ext>
                </a:extLst>
              </p:cNvPr>
              <p:cNvSpPr txBox="1"/>
              <p:nvPr/>
            </p:nvSpPr>
            <p:spPr>
              <a:xfrm>
                <a:off x="611560" y="3043294"/>
                <a:ext cx="1908356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numbers top and bottom tells us what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/>
                  <a:t> varies between. It goes up by 1 each time.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B757BD-5058-4354-BAAB-E17A10CF4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043294"/>
                <a:ext cx="1908356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59D4D0-AC4F-4A72-9B1F-043C8F7FE323}"/>
              </a:ext>
            </a:extLst>
          </p:cNvPr>
          <p:cNvCxnSpPr>
            <a:cxnSpLocks/>
          </p:cNvCxnSpPr>
          <p:nvPr/>
        </p:nvCxnSpPr>
        <p:spPr>
          <a:xfrm flipV="1">
            <a:off x="2532937" y="3349256"/>
            <a:ext cx="486710" cy="178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E516DF-89F7-474A-8A15-E36E3E54354B}"/>
                  </a:ext>
                </a:extLst>
              </p:cNvPr>
              <p:cNvSpPr txBox="1"/>
              <p:nvPr/>
            </p:nvSpPr>
            <p:spPr>
              <a:xfrm>
                <a:off x="6390243" y="2534041"/>
                <a:ext cx="1908356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work out this expression for each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/>
                  <a:t> (between 1 and 5), and add them together.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E516DF-89F7-474A-8A15-E36E3E543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243" y="2534041"/>
                <a:ext cx="1908356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BD1883-6E04-4D9A-BCE3-AC5597263F1E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794744" y="2870791"/>
            <a:ext cx="595499" cy="32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1B9EA3-C021-4D31-B787-86F6CDEE354A}"/>
                  </a:ext>
                </a:extLst>
              </p:cNvPr>
              <p:cNvSpPr txBox="1"/>
              <p:nvPr/>
            </p:nvSpPr>
            <p:spPr>
              <a:xfrm>
                <a:off x="910225" y="5048446"/>
                <a:ext cx="10142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1B9EA3-C021-4D31-B787-86F6CDEE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25" y="5048446"/>
                <a:ext cx="101426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B76D91-55A1-4ABD-93D7-E88707DA1DB4}"/>
                  </a:ext>
                </a:extLst>
              </p:cNvPr>
              <p:cNvSpPr txBox="1"/>
              <p:nvPr/>
            </p:nvSpPr>
            <p:spPr>
              <a:xfrm>
                <a:off x="1240787" y="4770094"/>
                <a:ext cx="792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B76D91-55A1-4ABD-93D7-E88707DA1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787" y="4770094"/>
                <a:ext cx="792088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A2F3D94-1943-4C38-A082-74136BC96AF0}"/>
                  </a:ext>
                </a:extLst>
              </p:cNvPr>
              <p:cNvSpPr txBox="1"/>
              <p:nvPr/>
            </p:nvSpPr>
            <p:spPr>
              <a:xfrm>
                <a:off x="2007723" y="5059079"/>
                <a:ext cx="10142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A2F3D94-1943-4C38-A082-74136BC96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23" y="5059079"/>
                <a:ext cx="1014268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16F5D4-84EB-4E47-A367-EABB77D52623}"/>
                  </a:ext>
                </a:extLst>
              </p:cNvPr>
              <p:cNvSpPr txBox="1"/>
              <p:nvPr/>
            </p:nvSpPr>
            <p:spPr>
              <a:xfrm>
                <a:off x="2088094" y="4770094"/>
                <a:ext cx="792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16F5D4-84EB-4E47-A367-EABB77D52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094" y="4770094"/>
                <a:ext cx="792088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D530DF-8F38-4721-9CDD-CC77A67BC119}"/>
                  </a:ext>
                </a:extLst>
              </p:cNvPr>
              <p:cNvSpPr txBox="1"/>
              <p:nvPr/>
            </p:nvSpPr>
            <p:spPr>
              <a:xfrm>
                <a:off x="3105221" y="5048446"/>
                <a:ext cx="10142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D530DF-8F38-4721-9CDD-CC77A67BC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221" y="5048446"/>
                <a:ext cx="101426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EA3E2A-35E1-469A-872C-09AE57B46894}"/>
                  </a:ext>
                </a:extLst>
              </p:cNvPr>
              <p:cNvSpPr txBox="1"/>
              <p:nvPr/>
            </p:nvSpPr>
            <p:spPr>
              <a:xfrm>
                <a:off x="3185592" y="4759461"/>
                <a:ext cx="792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EA3E2A-35E1-469A-872C-09AE57B46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592" y="4759461"/>
                <a:ext cx="792088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789C2A-A15B-4548-BD6F-C2C9528C418A}"/>
                  </a:ext>
                </a:extLst>
              </p:cNvPr>
              <p:cNvSpPr txBox="1"/>
              <p:nvPr/>
            </p:nvSpPr>
            <p:spPr>
              <a:xfrm>
                <a:off x="4116129" y="5031704"/>
                <a:ext cx="10142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789C2A-A15B-4548-BD6F-C2C9528C4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129" y="5031704"/>
                <a:ext cx="1014268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628FFB-A459-4F76-A5DA-ACEC69BA7EB2}"/>
                  </a:ext>
                </a:extLst>
              </p:cNvPr>
              <p:cNvSpPr txBox="1"/>
              <p:nvPr/>
            </p:nvSpPr>
            <p:spPr>
              <a:xfrm>
                <a:off x="4196500" y="4742719"/>
                <a:ext cx="792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628FFB-A459-4F76-A5DA-ACEC69BA7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500" y="4742719"/>
                <a:ext cx="792088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C1BCB4D-55A6-4774-818F-00E438EDF7A9}"/>
                  </a:ext>
                </a:extLst>
              </p:cNvPr>
              <p:cNvSpPr txBox="1"/>
              <p:nvPr/>
            </p:nvSpPr>
            <p:spPr>
              <a:xfrm>
                <a:off x="5065716" y="5022179"/>
                <a:ext cx="10142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+11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C1BCB4D-55A6-4774-818F-00E438EDF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716" y="5022179"/>
                <a:ext cx="1014268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57AF4E-4B0F-43D6-904E-3BFF3E87BB23}"/>
                  </a:ext>
                </a:extLst>
              </p:cNvPr>
              <p:cNvSpPr txBox="1"/>
              <p:nvPr/>
            </p:nvSpPr>
            <p:spPr>
              <a:xfrm>
                <a:off x="5127037" y="4742719"/>
                <a:ext cx="792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57AF4E-4B0F-43D6-904E-3BFF3E87B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37" y="4742719"/>
                <a:ext cx="792088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C919BB-4F42-4D60-9D13-C865D462443F}"/>
                  </a:ext>
                </a:extLst>
              </p:cNvPr>
              <p:cNvSpPr txBox="1"/>
              <p:nvPr/>
            </p:nvSpPr>
            <p:spPr>
              <a:xfrm>
                <a:off x="6441753" y="4994480"/>
                <a:ext cx="10142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=35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C919BB-4F42-4D60-9D13-C865D462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753" y="4994480"/>
                <a:ext cx="1014268" cy="646331"/>
              </a:xfrm>
              <a:prstGeom prst="rect">
                <a:avLst/>
              </a:prstGeom>
              <a:blipFill>
                <a:blip r:embed="rId15"/>
                <a:stretch>
                  <a:fillRect r="-2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56D679-C0A5-4944-8129-1E81574EDDAE}"/>
                  </a:ext>
                </a:extLst>
              </p:cNvPr>
              <p:cNvSpPr txBox="1"/>
              <p:nvPr/>
            </p:nvSpPr>
            <p:spPr>
              <a:xfrm>
                <a:off x="1543596" y="5750272"/>
                <a:ext cx="646290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the expression being summed (in this case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) is </a:t>
                </a:r>
                <a:r>
                  <a:rPr lang="en-GB" b="1" dirty="0"/>
                  <a:t>linear</a:t>
                </a:r>
                <a:r>
                  <a:rPr lang="en-GB" dirty="0"/>
                  <a:t>, we get an </a:t>
                </a:r>
                <a:r>
                  <a:rPr lang="en-GB" b="1" dirty="0"/>
                  <a:t>arithmetic series</a:t>
                </a:r>
                <a:r>
                  <a:rPr lang="en-GB" dirty="0"/>
                  <a:t>. We can therefore apply our usual approach of establishing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before applying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formula.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56D679-C0A5-4944-8129-1E81574E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596" y="5750272"/>
                <a:ext cx="6462903" cy="923330"/>
              </a:xfrm>
              <a:prstGeom prst="rect">
                <a:avLst/>
              </a:prstGeom>
              <a:blipFill>
                <a:blip r:embed="rId16"/>
                <a:stretch>
                  <a:fillRect l="-755" t="-3289" r="-755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81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Determining the value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8811" y="1822414"/>
                <a:ext cx="1367798" cy="955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0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b="0" i="1" smtClean="0">
                              <a:latin typeface="Cambria Math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1" y="1822414"/>
                <a:ext cx="1367798" cy="9558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280" y="2784597"/>
                <a:ext cx="1698724" cy="962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GB" sz="2000" b="0" i="1" smtClean="0">
                              <a:latin typeface="Cambria Math"/>
                            </a:rPr>
                            <m:t>=5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/>
                            </a:rPr>
                            <m:t>15</m:t>
                          </m:r>
                        </m:sup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/>
                                </a:rPr>
                                <m:t>10−2</m:t>
                              </m:r>
                              <m:r>
                                <a:rPr lang="en-GB" sz="20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0" y="2784597"/>
                <a:ext cx="1698724" cy="962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BE1D580-9CBA-40CD-BC74-629ED08DACF9}"/>
              </a:ext>
            </a:extLst>
          </p:cNvPr>
          <p:cNvSpPr txBox="1"/>
          <p:nvPr/>
        </p:nvSpPr>
        <p:spPr>
          <a:xfrm>
            <a:off x="1753054" y="1071581"/>
            <a:ext cx="2674929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First few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F1D8C9-7AE8-4C3E-8FFC-05DE6FEA7208}"/>
                  </a:ext>
                </a:extLst>
              </p:cNvPr>
              <p:cNvSpPr txBox="1"/>
              <p:nvPr/>
            </p:nvSpPr>
            <p:spPr>
              <a:xfrm>
                <a:off x="4427984" y="1077054"/>
                <a:ext cx="245366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F1D8C9-7AE8-4C3E-8FFC-05DE6FEA7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1077054"/>
                <a:ext cx="2453666" cy="369332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9E93A4-DAAF-45DF-8024-CC67D5C99F50}"/>
                  </a:ext>
                </a:extLst>
              </p:cNvPr>
              <p:cNvSpPr txBox="1"/>
              <p:nvPr/>
            </p:nvSpPr>
            <p:spPr>
              <a:xfrm>
                <a:off x="1677674" y="2053551"/>
                <a:ext cx="24247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+6+9+…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9E93A4-DAAF-45DF-8024-CC67D5C99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74" y="2053551"/>
                <a:ext cx="242473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B73255-FE34-450C-9236-8A33EEE2996D}"/>
                  </a:ext>
                </a:extLst>
              </p:cNvPr>
              <p:cNvSpPr txBox="1"/>
              <p:nvPr/>
            </p:nvSpPr>
            <p:spPr>
              <a:xfrm>
                <a:off x="4554863" y="2072725"/>
                <a:ext cx="2424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B73255-FE34-450C-9236-8A33EEE29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863" y="2072725"/>
                <a:ext cx="24247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29A2109-963E-4A7F-BCA9-E69487CE4710}"/>
              </a:ext>
            </a:extLst>
          </p:cNvPr>
          <p:cNvSpPr txBox="1"/>
          <p:nvPr/>
        </p:nvSpPr>
        <p:spPr>
          <a:xfrm>
            <a:off x="6881650" y="1077054"/>
            <a:ext cx="217729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Final result?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56692C-435C-4CD8-94A7-47FC87033CCD}"/>
                  </a:ext>
                </a:extLst>
              </p:cNvPr>
              <p:cNvSpPr txBox="1"/>
              <p:nvPr/>
            </p:nvSpPr>
            <p:spPr>
              <a:xfrm>
                <a:off x="6969939" y="1897698"/>
                <a:ext cx="1956860" cy="797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6+6×3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=84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56692C-435C-4CD8-94A7-47FC87033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939" y="1897698"/>
                <a:ext cx="1956860" cy="797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8F6ABDF-EDEE-4097-A32B-D74F04AE96A8}"/>
                  </a:ext>
                </a:extLst>
              </p:cNvPr>
              <p:cNvSpPr/>
              <p:nvPr/>
            </p:nvSpPr>
            <p:spPr>
              <a:xfrm>
                <a:off x="1760059" y="3095478"/>
                <a:ext cx="26132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=0+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8F6ABDF-EDEE-4097-A32B-D74F04AE96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59" y="3095478"/>
                <a:ext cx="261327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C4D1FD-14A6-4273-A929-E75C4F90D1AB}"/>
                  </a:ext>
                </a:extLst>
              </p:cNvPr>
              <p:cNvSpPr txBox="1"/>
              <p:nvPr/>
            </p:nvSpPr>
            <p:spPr>
              <a:xfrm>
                <a:off x="4497317" y="3003522"/>
                <a:ext cx="2424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C4D1FD-14A6-4273-A929-E75C4F90D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317" y="3003522"/>
                <a:ext cx="242473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3878DD2-3650-44ED-9639-51CB84661B28}"/>
              </a:ext>
            </a:extLst>
          </p:cNvPr>
          <p:cNvSpPr txBox="1"/>
          <p:nvPr/>
        </p:nvSpPr>
        <p:spPr>
          <a:xfrm>
            <a:off x="4688385" y="3369117"/>
            <a:ext cx="1944788" cy="6001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Be careful, there are 11 numbers between 5 and 15 inclusive. Subtract and +1.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DFB5FD-E1E8-4373-9EBB-4438D3095336}"/>
                  </a:ext>
                </a:extLst>
              </p:cNvPr>
              <p:cNvSpPr txBox="1"/>
              <p:nvPr/>
            </p:nvSpPr>
            <p:spPr>
              <a:xfrm>
                <a:off x="6901434" y="2875098"/>
                <a:ext cx="2274462" cy="799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0+10×−2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=−110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DFB5FD-E1E8-4373-9EBB-4438D3095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434" y="2875098"/>
                <a:ext cx="2274462" cy="7995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1653B8-EA9F-436C-B5BC-B1F0C29B0962}"/>
              </a:ext>
            </a:extLst>
          </p:cNvPr>
          <p:cNvCxnSpPr/>
          <p:nvPr/>
        </p:nvCxnSpPr>
        <p:spPr>
          <a:xfrm>
            <a:off x="4415869" y="1449970"/>
            <a:ext cx="0" cy="4355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1168A5-C490-42FE-BD53-B62640B4C4F9}"/>
              </a:ext>
            </a:extLst>
          </p:cNvPr>
          <p:cNvCxnSpPr/>
          <p:nvPr/>
        </p:nvCxnSpPr>
        <p:spPr>
          <a:xfrm>
            <a:off x="6869537" y="1442564"/>
            <a:ext cx="0" cy="4355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EB4B2B-63A1-4055-8D2F-26579C32C44E}"/>
                  </a:ext>
                </a:extLst>
              </p:cNvPr>
              <p:cNvSpPr txBox="1"/>
              <p:nvPr/>
            </p:nvSpPr>
            <p:spPr>
              <a:xfrm>
                <a:off x="66280" y="4033008"/>
                <a:ext cx="1698724" cy="962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GB" sz="20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5×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EB4B2B-63A1-4055-8D2F-26579C32C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0" y="4033008"/>
                <a:ext cx="1698724" cy="9623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9120358-C71D-48D2-971E-05F9C97975F8}"/>
                  </a:ext>
                </a:extLst>
              </p:cNvPr>
              <p:cNvSpPr/>
              <p:nvPr/>
            </p:nvSpPr>
            <p:spPr>
              <a:xfrm>
                <a:off x="1738165" y="4371491"/>
                <a:ext cx="21403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=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+15+45+…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9120358-C71D-48D2-971E-05F9C9797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65" y="4371491"/>
                <a:ext cx="21403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41F7F1A-27A0-414F-B329-43F008D410EA}"/>
                  </a:ext>
                </a:extLst>
              </p:cNvPr>
              <p:cNvSpPr txBox="1"/>
              <p:nvPr/>
            </p:nvSpPr>
            <p:spPr>
              <a:xfrm>
                <a:off x="4496258" y="4342252"/>
                <a:ext cx="2424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41F7F1A-27A0-414F-B329-43F008D41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258" y="4342252"/>
                <a:ext cx="242473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B91F69D-9390-4BB8-A91D-97FBA6969BDB}"/>
                  </a:ext>
                </a:extLst>
              </p:cNvPr>
              <p:cNvSpPr txBox="1"/>
              <p:nvPr/>
            </p:nvSpPr>
            <p:spPr>
              <a:xfrm>
                <a:off x="6885825" y="4311795"/>
                <a:ext cx="2274462" cy="832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1−3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=1328600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B91F69D-9390-4BB8-A91D-97FBA6969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825" y="4311795"/>
                <a:ext cx="2274462" cy="8326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C2CAF1-1B02-4B92-80E1-E18A69CB60CA}"/>
              </a:ext>
            </a:extLst>
          </p:cNvPr>
          <p:cNvCxnSpPr/>
          <p:nvPr/>
        </p:nvCxnSpPr>
        <p:spPr>
          <a:xfrm>
            <a:off x="1742151" y="1449970"/>
            <a:ext cx="0" cy="4355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41548E-99F9-4CB9-B619-BDAAB0F37333}"/>
                  </a:ext>
                </a:extLst>
              </p:cNvPr>
              <p:cNvSpPr txBox="1"/>
              <p:nvPr/>
            </p:nvSpPr>
            <p:spPr>
              <a:xfrm>
                <a:off x="54330" y="4999686"/>
                <a:ext cx="1698724" cy="962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GB" sz="20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5×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41548E-99F9-4CB9-B619-BDAAB0F37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0" y="4999686"/>
                <a:ext cx="1698724" cy="96231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6FA626-86FC-4169-96B4-F294BECA263B}"/>
                  </a:ext>
                </a:extLst>
              </p:cNvPr>
              <p:cNvSpPr txBox="1"/>
              <p:nvPr/>
            </p:nvSpPr>
            <p:spPr>
              <a:xfrm>
                <a:off x="1886439" y="5216147"/>
                <a:ext cx="6912768" cy="15539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Note: You can either find from scratch by finding the first few terms (the first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600" dirty="0"/>
                  <a:t>), or by calculating: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latin typeface="Cambria Math"/>
                            </a:rPr>
                            <m:t>𝑘</m:t>
                          </m:r>
                          <m:r>
                            <a:rPr lang="en-GB" sz="1600" i="1">
                              <a:latin typeface="Cambria Math"/>
                            </a:rPr>
                            <m:t>=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5×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latin typeface="Cambria Math"/>
                            </a:rPr>
                            <m:t>𝑘</m:t>
                          </m:r>
                          <m:r>
                            <a:rPr lang="en-GB" sz="1600" i="1">
                              <a:latin typeface="Cambria Math"/>
                            </a:rPr>
                            <m:t>=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5×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i.e. We start with the first 12 terms, and subtract the first 4 terms.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6FA626-86FC-4169-96B4-F294BECA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439" y="5216147"/>
                <a:ext cx="6912768" cy="1553952"/>
              </a:xfrm>
              <a:prstGeom prst="rect">
                <a:avLst/>
              </a:prstGeom>
              <a:blipFill>
                <a:blip r:embed="rId16"/>
                <a:stretch>
                  <a:fillRect l="-441" t="-1176" b="-2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DF9C9658-FF49-483D-A329-BDAF05AC9423}"/>
              </a:ext>
            </a:extLst>
          </p:cNvPr>
          <p:cNvSpPr/>
          <p:nvPr/>
        </p:nvSpPr>
        <p:spPr>
          <a:xfrm>
            <a:off x="1753053" y="1837138"/>
            <a:ext cx="2674929" cy="856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09C08B-D5BC-4D42-8C8D-B14F47AE1D07}"/>
              </a:ext>
            </a:extLst>
          </p:cNvPr>
          <p:cNvSpPr/>
          <p:nvPr/>
        </p:nvSpPr>
        <p:spPr>
          <a:xfrm>
            <a:off x="4407217" y="1837670"/>
            <a:ext cx="2474433" cy="856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68E422-970F-4A48-831C-BCF554DEE7F4}"/>
              </a:ext>
            </a:extLst>
          </p:cNvPr>
          <p:cNvSpPr/>
          <p:nvPr/>
        </p:nvSpPr>
        <p:spPr>
          <a:xfrm>
            <a:off x="6869537" y="1837138"/>
            <a:ext cx="2189403" cy="856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1E9457-C3C1-49F4-B837-E79E0A5F10EA}"/>
              </a:ext>
            </a:extLst>
          </p:cNvPr>
          <p:cNvSpPr/>
          <p:nvPr/>
        </p:nvSpPr>
        <p:spPr>
          <a:xfrm>
            <a:off x="1753053" y="2677112"/>
            <a:ext cx="2674929" cy="1490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56F3E1-2F11-46AA-8D92-352FDB4195D7}"/>
              </a:ext>
            </a:extLst>
          </p:cNvPr>
          <p:cNvSpPr/>
          <p:nvPr/>
        </p:nvSpPr>
        <p:spPr>
          <a:xfrm>
            <a:off x="4407217" y="2677644"/>
            <a:ext cx="2474433" cy="1490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C20A0B-5F26-4FCE-A1F8-BF94A9AA75BC}"/>
              </a:ext>
            </a:extLst>
          </p:cNvPr>
          <p:cNvSpPr/>
          <p:nvPr/>
        </p:nvSpPr>
        <p:spPr>
          <a:xfrm>
            <a:off x="6869537" y="2677112"/>
            <a:ext cx="2189403" cy="1490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1933F2-337D-4831-A6BA-342A7440FA39}"/>
              </a:ext>
            </a:extLst>
          </p:cNvPr>
          <p:cNvSpPr/>
          <p:nvPr/>
        </p:nvSpPr>
        <p:spPr>
          <a:xfrm>
            <a:off x="1753053" y="4164729"/>
            <a:ext cx="2674929" cy="9495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543C21-1F60-4A58-96BF-535FB4BD14A4}"/>
              </a:ext>
            </a:extLst>
          </p:cNvPr>
          <p:cNvSpPr/>
          <p:nvPr/>
        </p:nvSpPr>
        <p:spPr>
          <a:xfrm>
            <a:off x="4407217" y="4165261"/>
            <a:ext cx="2474433" cy="9495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5C5287-CCF6-4DF4-BDC5-45AC7FB87EF7}"/>
              </a:ext>
            </a:extLst>
          </p:cNvPr>
          <p:cNvSpPr/>
          <p:nvPr/>
        </p:nvSpPr>
        <p:spPr>
          <a:xfrm>
            <a:off x="6869537" y="4164729"/>
            <a:ext cx="2189403" cy="9495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495F3D-8F69-4A69-AC8F-12E87115C421}"/>
              </a:ext>
            </a:extLst>
          </p:cNvPr>
          <p:cNvSpPr/>
          <p:nvPr/>
        </p:nvSpPr>
        <p:spPr>
          <a:xfrm>
            <a:off x="1753053" y="5114260"/>
            <a:ext cx="7305887" cy="16558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389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82F8C2-A63E-4D28-B71F-C41BEF035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51" y="1324799"/>
            <a:ext cx="2943314" cy="12695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9C3C75-AE14-4106-BEA1-B67ED840F22F}"/>
              </a:ext>
            </a:extLst>
          </p:cNvPr>
          <p:cNvSpPr txBox="1"/>
          <p:nvPr/>
        </p:nvSpPr>
        <p:spPr>
          <a:xfrm>
            <a:off x="408952" y="847026"/>
            <a:ext cx="2938913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Solomon Paper A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7FCEE4C5-5DCF-40D7-AD81-36B6AC1F915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>
              <a:extLst>
                <a:ext uri="{FF2B5EF4-FFF2-40B4-BE49-F238E27FC236}">
                  <a16:creationId xmlns:a16="http://schemas.microsoft.com/office/drawing/2014/main" id="{905C7C92-B59E-4716-9FC6-5D8898DE84E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Testing Your Understanding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B4EC83-E86D-4CC0-9B85-534B5ABF3F2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77297-57E6-48D6-853D-B987A826792B}"/>
                  </a:ext>
                </a:extLst>
              </p:cNvPr>
              <p:cNvSpPr txBox="1"/>
              <p:nvPr/>
            </p:nvSpPr>
            <p:spPr>
              <a:xfrm>
                <a:off x="487735" y="3328417"/>
                <a:ext cx="3569915" cy="2220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1: Direct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i="1">
                              <a:latin typeface="Cambria Math"/>
                            </a:rPr>
                            <m:t>=1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p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7+2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27+29+31+…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=27,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54+20×2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=987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577297-57E6-48D6-853D-B987A8267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" y="3328417"/>
                <a:ext cx="3569915" cy="2220929"/>
              </a:xfrm>
              <a:prstGeom prst="rect">
                <a:avLst/>
              </a:prstGeom>
              <a:blipFill>
                <a:blip r:embed="rId3"/>
                <a:stretch>
                  <a:fillRect l="-1365" t="-13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6CEC2-CA43-43EF-81CC-7E87F163688B}"/>
                  </a:ext>
                </a:extLst>
              </p:cNvPr>
              <p:cNvSpPr txBox="1"/>
              <p:nvPr/>
            </p:nvSpPr>
            <p:spPr>
              <a:xfrm>
                <a:off x="4296916" y="3233167"/>
                <a:ext cx="4675634" cy="3516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2: Subtraction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i="1">
                              <a:latin typeface="Cambria Math"/>
                            </a:rPr>
                            <m:t>=1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p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7+2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i="1">
                              <a:latin typeface="Cambria Math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30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7+2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i="1">
                              <a:latin typeface="Cambria Math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7+2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i="1">
                              <a:latin typeface="Cambria Math"/>
                            </a:rPr>
                            <m:t>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30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7+2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=9+11+13+…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=9,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18+29×2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=1140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18+8×2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=153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1140−153=987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6CEC2-CA43-43EF-81CC-7E87F1636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16" y="3233167"/>
                <a:ext cx="4675634" cy="3516797"/>
              </a:xfrm>
              <a:prstGeom prst="rect">
                <a:avLst/>
              </a:prstGeom>
              <a:blipFill>
                <a:blip r:embed="rId4"/>
                <a:stretch>
                  <a:fillRect l="-1173" t="-8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6A0546C-8374-47DF-9D1F-F50CA1DF73F2}"/>
              </a:ext>
            </a:extLst>
          </p:cNvPr>
          <p:cNvSpPr/>
          <p:nvPr/>
        </p:nvSpPr>
        <p:spPr>
          <a:xfrm>
            <a:off x="531054" y="3655778"/>
            <a:ext cx="3526595" cy="19984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E7EBC2-495A-401E-96A7-3F95F799A5AC}"/>
              </a:ext>
            </a:extLst>
          </p:cNvPr>
          <p:cNvSpPr/>
          <p:nvPr/>
        </p:nvSpPr>
        <p:spPr>
          <a:xfrm>
            <a:off x="4560871" y="3550891"/>
            <a:ext cx="4210989" cy="31582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855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8039BE31-59C7-49DF-8CAC-5D7A9D1EE56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6F6A5CB-C9CA-485B-A190-40FA4F75F79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On your calculator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5F13604-DFCC-404A-B44A-0E7EEB97C10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2" descr="Image result for casio fx991ex">
            <a:extLst>
              <a:ext uri="{FF2B5EF4-FFF2-40B4-BE49-F238E27FC236}">
                <a16:creationId xmlns:a16="http://schemas.microsoft.com/office/drawing/2014/main" id="{4DF89848-FB28-44C4-9026-EE220B8A5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600" y="836712"/>
            <a:ext cx="5472608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769DF6-1FF8-4307-9649-6DADCB6938EA}"/>
                  </a:ext>
                </a:extLst>
              </p:cNvPr>
              <p:cNvSpPr txBox="1"/>
              <p:nvPr/>
            </p:nvSpPr>
            <p:spPr>
              <a:xfrm>
                <a:off x="3851920" y="1813465"/>
                <a:ext cx="3600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Casio calculator has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GB" dirty="0"/>
                  <a:t> button.</a:t>
                </a:r>
              </a:p>
              <a:p>
                <a:endParaRPr lang="en-GB" dirty="0"/>
              </a:p>
              <a:p>
                <a:r>
                  <a:rPr lang="en-GB" dirty="0"/>
                  <a:t>Use it to find: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769DF6-1FF8-4307-9649-6DADCB693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1813465"/>
                <a:ext cx="3600400" cy="923330"/>
              </a:xfrm>
              <a:prstGeom prst="rect">
                <a:avLst/>
              </a:prstGeom>
              <a:blipFill>
                <a:blip r:embed="rId4"/>
                <a:stretch>
                  <a:fillRect l="-1525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25CBF99-A437-485B-9EA7-04256AA217D7}"/>
                  </a:ext>
                </a:extLst>
              </p:cNvPr>
              <p:cNvSpPr/>
              <p:nvPr/>
            </p:nvSpPr>
            <p:spPr>
              <a:xfrm>
                <a:off x="5143652" y="2861278"/>
                <a:ext cx="1593000" cy="11309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/>
                            </a:rPr>
                            <m:t>𝑘</m:t>
                          </m:r>
                          <m:r>
                            <a:rPr lang="en-GB" sz="2400" i="1">
                              <a:latin typeface="Cambria Math"/>
                            </a:rPr>
                            <m:t>=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2×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25CBF99-A437-485B-9EA7-04256AA217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652" y="2861278"/>
                <a:ext cx="1593000" cy="11309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619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3.6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23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1D55FF1-6BE2-B4B0-3E9F-EC35B9E3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53" y="908720"/>
            <a:ext cx="760095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F75E82-EA5D-ABC6-368D-2E1331E07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0" y="908720"/>
            <a:ext cx="761047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4686877-8AF5-23DA-BC8F-C29A6F6C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83915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1460755-3A81-6487-5A7D-D40342A5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895350"/>
            <a:ext cx="84010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CB1003C-89E4-BD84-4539-909009199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24744"/>
            <a:ext cx="40195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61756</TotalTime>
  <Words>426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P2 Chapter 3: Sequences and Series  Sigma Notation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