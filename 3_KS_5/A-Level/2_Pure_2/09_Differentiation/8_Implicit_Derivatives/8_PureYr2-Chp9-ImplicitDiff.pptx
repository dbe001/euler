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717" r:id="rId5"/>
    <p:sldId id="602" r:id="rId6"/>
    <p:sldId id="603" r:id="rId7"/>
    <p:sldId id="604" r:id="rId8"/>
    <p:sldId id="605" r:id="rId9"/>
    <p:sldId id="531" r:id="rId10"/>
    <p:sldId id="533" r:id="rId11"/>
    <p:sldId id="718" r:id="rId12"/>
    <p:sldId id="70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CF99361C-FD80-417F-A9CE-C8836F686A9B}"/>
    <pc:docChg chg="addSld modSld">
      <pc:chgData name="Dieter Beaven" userId="9bbdb69f-69d0-4759-aa9b-5c090a2da237" providerId="ADAL" clId="{CF99361C-FD80-417F-A9CE-C8836F686A9B}" dt="2024-12-12T15:08:56.116" v="38"/>
      <pc:docMkLst>
        <pc:docMk/>
      </pc:docMkLst>
      <pc:sldChg chg="add">
        <pc:chgData name="Dieter Beaven" userId="9bbdb69f-69d0-4759-aa9b-5c090a2da237" providerId="ADAL" clId="{CF99361C-FD80-417F-A9CE-C8836F686A9B}" dt="2024-12-12T15:08:56.116" v="38"/>
        <pc:sldMkLst>
          <pc:docMk/>
          <pc:sldMk cId="1917333321" sldId="602"/>
        </pc:sldMkLst>
      </pc:sldChg>
      <pc:sldChg chg="add">
        <pc:chgData name="Dieter Beaven" userId="9bbdb69f-69d0-4759-aa9b-5c090a2da237" providerId="ADAL" clId="{CF99361C-FD80-417F-A9CE-C8836F686A9B}" dt="2024-12-12T15:08:56.116" v="38"/>
        <pc:sldMkLst>
          <pc:docMk/>
          <pc:sldMk cId="1458076806" sldId="603"/>
        </pc:sldMkLst>
      </pc:sldChg>
      <pc:sldChg chg="add">
        <pc:chgData name="Dieter Beaven" userId="9bbdb69f-69d0-4759-aa9b-5c090a2da237" providerId="ADAL" clId="{CF99361C-FD80-417F-A9CE-C8836F686A9B}" dt="2024-12-12T15:08:56.116" v="38"/>
        <pc:sldMkLst>
          <pc:docMk/>
          <pc:sldMk cId="1614584047" sldId="604"/>
        </pc:sldMkLst>
      </pc:sldChg>
      <pc:sldChg chg="add">
        <pc:chgData name="Dieter Beaven" userId="9bbdb69f-69d0-4759-aa9b-5c090a2da237" providerId="ADAL" clId="{CF99361C-FD80-417F-A9CE-C8836F686A9B}" dt="2024-12-12T15:08:56.116" v="38"/>
        <pc:sldMkLst>
          <pc:docMk/>
          <pc:sldMk cId="3385642010" sldId="605"/>
        </pc:sldMkLst>
      </pc:sldChg>
      <pc:sldChg chg="modSp mod">
        <pc:chgData name="Dieter Beaven" userId="9bbdb69f-69d0-4759-aa9b-5c090a2da237" providerId="ADAL" clId="{CF99361C-FD80-417F-A9CE-C8836F686A9B}" dt="2024-12-12T15:07:43.601" v="37" actId="20577"/>
        <pc:sldMkLst>
          <pc:docMk/>
          <pc:sldMk cId="938785864" sldId="717"/>
        </pc:sldMkLst>
        <pc:spChg chg="mod">
          <ac:chgData name="Dieter Beaven" userId="9bbdb69f-69d0-4759-aa9b-5c090a2da237" providerId="ADAL" clId="{CF99361C-FD80-417F-A9CE-C8836F686A9B}" dt="2024-12-12T15:07:43.601" v="37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39D88517-2A1A-4B7C-ADDC-773AA8221FE4}"/>
    <pc:docChg chg="custSel modSld">
      <pc:chgData name="Dieter Beaven" userId="9bbdb69f-69d0-4759-aa9b-5c090a2da237" providerId="ADAL" clId="{39D88517-2A1A-4B7C-ADDC-773AA8221FE4}" dt="2025-01-07T17:46:27.132" v="15" actId="1076"/>
      <pc:docMkLst>
        <pc:docMk/>
      </pc:docMkLst>
      <pc:sldChg chg="addSp delSp modSp mod">
        <pc:chgData name="Dieter Beaven" userId="9bbdb69f-69d0-4759-aa9b-5c090a2da237" providerId="ADAL" clId="{39D88517-2A1A-4B7C-ADDC-773AA8221FE4}" dt="2025-01-07T17:45:16.938" v="10" actId="1076"/>
        <pc:sldMkLst>
          <pc:docMk/>
          <pc:sldMk cId="173887519" sldId="533"/>
        </pc:sldMkLst>
        <pc:picChg chg="add del mod">
          <ac:chgData name="Dieter Beaven" userId="9bbdb69f-69d0-4759-aa9b-5c090a2da237" providerId="ADAL" clId="{39D88517-2A1A-4B7C-ADDC-773AA8221FE4}" dt="2025-01-07T17:43:54.104" v="2" actId="478"/>
          <ac:picMkLst>
            <pc:docMk/>
            <pc:sldMk cId="173887519" sldId="533"/>
            <ac:picMk id="6" creationId="{A03F802A-878A-A61B-D1B3-E47B296EC1EB}"/>
          </ac:picMkLst>
        </pc:picChg>
        <pc:picChg chg="add del">
          <ac:chgData name="Dieter Beaven" userId="9bbdb69f-69d0-4759-aa9b-5c090a2da237" providerId="ADAL" clId="{39D88517-2A1A-4B7C-ADDC-773AA8221FE4}" dt="2025-01-07T17:44:04.300" v="4" actId="478"/>
          <ac:picMkLst>
            <pc:docMk/>
            <pc:sldMk cId="173887519" sldId="533"/>
            <ac:picMk id="8" creationId="{BDD56B03-E183-AEA8-6E39-C72092657D39}"/>
          </ac:picMkLst>
        </pc:picChg>
        <pc:picChg chg="add mod">
          <ac:chgData name="Dieter Beaven" userId="9bbdb69f-69d0-4759-aa9b-5c090a2da237" providerId="ADAL" clId="{39D88517-2A1A-4B7C-ADDC-773AA8221FE4}" dt="2025-01-07T17:45:16.938" v="10" actId="1076"/>
          <ac:picMkLst>
            <pc:docMk/>
            <pc:sldMk cId="173887519" sldId="533"/>
            <ac:picMk id="10" creationId="{8365FE4D-5889-EEEC-4CF1-21939C4F11D2}"/>
          </ac:picMkLst>
        </pc:picChg>
      </pc:sldChg>
      <pc:sldChg chg="addSp modSp mod">
        <pc:chgData name="Dieter Beaven" userId="9bbdb69f-69d0-4759-aa9b-5c090a2da237" providerId="ADAL" clId="{39D88517-2A1A-4B7C-ADDC-773AA8221FE4}" dt="2025-01-07T17:46:27.132" v="15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39D88517-2A1A-4B7C-ADDC-773AA8221FE4}" dt="2025-01-07T17:46:27.132" v="15" actId="1076"/>
          <ac:picMkLst>
            <pc:docMk/>
            <pc:sldMk cId="464788855" sldId="701"/>
            <ac:picMk id="6" creationId="{365E055F-98DA-6C35-EE20-460188EBA7DF}"/>
          </ac:picMkLst>
        </pc:picChg>
      </pc:sldChg>
      <pc:sldChg chg="addSp modSp mod">
        <pc:chgData name="Dieter Beaven" userId="9bbdb69f-69d0-4759-aa9b-5c090a2da237" providerId="ADAL" clId="{39D88517-2A1A-4B7C-ADDC-773AA8221FE4}" dt="2025-01-07T17:45:19.923" v="11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39D88517-2A1A-4B7C-ADDC-773AA8221FE4}" dt="2025-01-07T17:45:19.923" v="11" actId="1076"/>
          <ac:picMkLst>
            <pc:docMk/>
            <pc:sldMk cId="3902928920" sldId="718"/>
            <ac:picMk id="6" creationId="{64183A8D-208A-0010-6F19-E500831C2D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png"/><Relationship Id="rId11" Type="http://schemas.openxmlformats.org/officeDocument/2006/relationships/image" Target="../media/image220.png"/><Relationship Id="rId5" Type="http://schemas.openxmlformats.org/officeDocument/2006/relationships/image" Target="../media/image214.png"/><Relationship Id="rId10" Type="http://schemas.openxmlformats.org/officeDocument/2006/relationships/image" Target="../media/image219.png"/><Relationship Id="rId4" Type="http://schemas.openxmlformats.org/officeDocument/2006/relationships/image" Target="../media/image213.png"/><Relationship Id="rId9" Type="http://schemas.openxmlformats.org/officeDocument/2006/relationships/image" Target="../media/image2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Implicit Differentiation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FDA283C-7427-4A97-8414-101A76E9457A}"/>
              </a:ext>
            </a:extLst>
          </p:cNvPr>
          <p:cNvSpPr/>
          <p:nvPr/>
        </p:nvSpPr>
        <p:spPr>
          <a:xfrm>
            <a:off x="899592" y="2564904"/>
            <a:ext cx="7567459" cy="2166593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CDA07D-DF38-4EB6-A699-555A7A02CC6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154174-21F6-474B-8CCB-49571A3B15C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Implicit Differentiation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B228316-C16D-4951-91B6-3EEF29CCE16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4189D-D5F8-4E4F-9CE8-8B50A7A92DDF}"/>
                  </a:ext>
                </a:extLst>
              </p:cNvPr>
              <p:cNvSpPr txBox="1"/>
              <p:nvPr/>
            </p:nvSpPr>
            <p:spPr>
              <a:xfrm>
                <a:off x="251520" y="764704"/>
                <a:ext cx="86409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You’re used to differentiating expressions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the subject,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 The relationship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‘explicit’ in the sense we can directly calculate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But what about </a:t>
                </a:r>
                <a:r>
                  <a:rPr lang="en-GB" b="1" dirty="0"/>
                  <a:t>implicit</a:t>
                </a:r>
                <a:r>
                  <a:rPr lang="en-GB" dirty="0"/>
                  <a:t> relations, </a:t>
                </a:r>
                <a:r>
                  <a:rPr lang="en-GB" dirty="0" err="1"/>
                  <a:t>e.g</a:t>
                </a:r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4189D-D5F8-4E4F-9CE8-8B50A7A92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8640960" cy="1200329"/>
              </a:xfrm>
              <a:prstGeom prst="rect">
                <a:avLst/>
              </a:prstGeom>
              <a:blipFill>
                <a:blip r:embed="rId2"/>
                <a:stretch>
                  <a:fillRect l="-564" t="-2538" b="-15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xplosion: 8 Points 5">
            <a:extLst>
              <a:ext uri="{FF2B5EF4-FFF2-40B4-BE49-F238E27FC236}">
                <a16:creationId xmlns:a16="http://schemas.microsoft.com/office/drawing/2014/main" id="{B5D5495A-28AC-4F5A-BCD5-281E19BC48AE}"/>
              </a:ext>
            </a:extLst>
          </p:cNvPr>
          <p:cNvSpPr/>
          <p:nvPr/>
        </p:nvSpPr>
        <p:spPr>
          <a:xfrm>
            <a:off x="608501" y="2548525"/>
            <a:ext cx="3096344" cy="1656184"/>
          </a:xfrm>
          <a:prstGeom prst="irregularSeal1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MIND-BLOWING MOMENT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A7997-7162-4C40-BADB-77B99E9A70EA}"/>
                  </a:ext>
                </a:extLst>
              </p:cNvPr>
              <p:cNvSpPr txBox="1"/>
              <p:nvPr/>
            </p:nvSpPr>
            <p:spPr>
              <a:xfrm>
                <a:off x="3498500" y="2643265"/>
                <a:ext cx="3960440" cy="89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A7997-7162-4C40-BADB-77B99E9A7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00" y="2643265"/>
                <a:ext cx="3960440" cy="895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D6EDF55-26D3-4ED6-AB3A-13E4F4FBEF0D}"/>
              </a:ext>
            </a:extLst>
          </p:cNvPr>
          <p:cNvSpPr/>
          <p:nvPr/>
        </p:nvSpPr>
        <p:spPr>
          <a:xfrm>
            <a:off x="4825899" y="2978277"/>
            <a:ext cx="139823" cy="311150"/>
          </a:xfrm>
          <a:custGeom>
            <a:avLst/>
            <a:gdLst>
              <a:gd name="connsiteX0" fmla="*/ 133473 w 133473"/>
              <a:gd name="connsiteY0" fmla="*/ 0 h 457200"/>
              <a:gd name="connsiteX1" fmla="*/ 123 w 133473"/>
              <a:gd name="connsiteY1" fmla="*/ 247650 h 457200"/>
              <a:gd name="connsiteX2" fmla="*/ 114423 w 133473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473" h="457200">
                <a:moveTo>
                  <a:pt x="133473" y="0"/>
                </a:moveTo>
                <a:cubicBezTo>
                  <a:pt x="68385" y="85725"/>
                  <a:pt x="3298" y="171450"/>
                  <a:pt x="123" y="247650"/>
                </a:cubicBezTo>
                <a:cubicBezTo>
                  <a:pt x="-3052" y="323850"/>
                  <a:pt x="55685" y="390525"/>
                  <a:pt x="114423" y="45720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4B761E9-111A-41BB-9DC7-D868F33FBCF9}"/>
              </a:ext>
            </a:extLst>
          </p:cNvPr>
          <p:cNvSpPr/>
          <p:nvPr/>
        </p:nvSpPr>
        <p:spPr>
          <a:xfrm flipH="1">
            <a:off x="5958269" y="2939929"/>
            <a:ext cx="103051" cy="311150"/>
          </a:xfrm>
          <a:custGeom>
            <a:avLst/>
            <a:gdLst>
              <a:gd name="connsiteX0" fmla="*/ 133473 w 133473"/>
              <a:gd name="connsiteY0" fmla="*/ 0 h 457200"/>
              <a:gd name="connsiteX1" fmla="*/ 123 w 133473"/>
              <a:gd name="connsiteY1" fmla="*/ 247650 h 457200"/>
              <a:gd name="connsiteX2" fmla="*/ 114423 w 133473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473" h="457200">
                <a:moveTo>
                  <a:pt x="133473" y="0"/>
                </a:moveTo>
                <a:cubicBezTo>
                  <a:pt x="68385" y="85725"/>
                  <a:pt x="3298" y="171450"/>
                  <a:pt x="123" y="247650"/>
                </a:cubicBezTo>
                <a:cubicBezTo>
                  <a:pt x="-3052" y="323850"/>
                  <a:pt x="55685" y="390525"/>
                  <a:pt x="114423" y="45720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AF990B-6C1A-41A7-AF5A-60F2AD760B05}"/>
                  </a:ext>
                </a:extLst>
              </p:cNvPr>
              <p:cNvSpPr txBox="1"/>
              <p:nvPr/>
            </p:nvSpPr>
            <p:spPr>
              <a:xfrm>
                <a:off x="4521838" y="2916563"/>
                <a:ext cx="194448" cy="413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AF990B-6C1A-41A7-AF5A-60F2AD760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838" y="2916563"/>
                <a:ext cx="194448" cy="413703"/>
              </a:xfrm>
              <a:prstGeom prst="rect">
                <a:avLst/>
              </a:prstGeom>
              <a:blipFill>
                <a:blip r:embed="rId4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FCEA81-CF8A-4020-801E-50BD48A874AB}"/>
                  </a:ext>
                </a:extLst>
              </p:cNvPr>
              <p:cNvSpPr txBox="1"/>
              <p:nvPr/>
            </p:nvSpPr>
            <p:spPr>
              <a:xfrm>
                <a:off x="6110481" y="2927000"/>
                <a:ext cx="194448" cy="413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FCEA81-CF8A-4020-801E-50BD48A87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481" y="2927000"/>
                <a:ext cx="194448" cy="413703"/>
              </a:xfrm>
              <a:prstGeom prst="rect">
                <a:avLst/>
              </a:prstGeom>
              <a:blipFill>
                <a:blip r:embed="rId5"/>
                <a:stretch>
                  <a:fillRect r="-5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91F4F9-638B-4775-B490-838286101A3F}"/>
                  </a:ext>
                </a:extLst>
              </p:cNvPr>
              <p:cNvSpPr txBox="1"/>
              <p:nvPr/>
            </p:nvSpPr>
            <p:spPr>
              <a:xfrm>
                <a:off x="3659894" y="3559774"/>
                <a:ext cx="4680520" cy="1048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When seeing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 and differentiating, you probably think you’re just differentiating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. But in fact, you’re differentiating </a:t>
                </a:r>
                <a:r>
                  <a:rPr lang="en-GB" sz="1400" b="1" dirty="0"/>
                  <a:t>both</a:t>
                </a:r>
                <a:r>
                  <a:rPr lang="en-GB" sz="1400" dirty="0"/>
                  <a:t> sides of the equation! (with respect to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(by definition) differentiates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91F4F9-638B-4775-B490-83828610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894" y="3559774"/>
                <a:ext cx="4680520" cy="1048942"/>
              </a:xfrm>
              <a:prstGeom prst="rect">
                <a:avLst/>
              </a:prstGeom>
              <a:blipFill>
                <a:blip r:embed="rId6"/>
                <a:stretch>
                  <a:fillRect l="-391" t="-581" b="-1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FACD0E-DFFC-4F37-8036-0473071AC95E}"/>
                  </a:ext>
                </a:extLst>
              </p:cNvPr>
              <p:cNvSpPr txBox="1"/>
              <p:nvPr/>
            </p:nvSpPr>
            <p:spPr>
              <a:xfrm>
                <a:off x="467544" y="5204035"/>
                <a:ext cx="8424936" cy="1045286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To differentiate implicitly you only need to know 2 things: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Differentiate each side of the equation (using chain rule if necessary).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Remember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differentiated 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is, by definition,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FACD0E-DFFC-4F37-8036-0473071AC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204035"/>
                <a:ext cx="8424936" cy="10452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33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/>
      <p:bldP spid="8" grpId="0" animBg="1"/>
      <p:bldP spid="11" grpId="0" animBg="1"/>
      <p:bldP spid="12" grpId="0"/>
      <p:bldP spid="13" grpId="0"/>
      <p:bldP spid="14" grpId="0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31E6BB-2BEF-4C6F-BB55-F9F209A1F17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A047797-D151-4487-9F47-7503387C9BD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FCBDA8B-83B0-4ACE-AAA6-31660418D8D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C63461-1685-4905-9B31-9A6DC8C28117}"/>
                  </a:ext>
                </a:extLst>
              </p:cNvPr>
              <p:cNvSpPr txBox="1"/>
              <p:nvPr/>
            </p:nvSpPr>
            <p:spPr>
              <a:xfrm>
                <a:off x="238976" y="1191571"/>
                <a:ext cx="2664296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C63461-1685-4905-9B31-9A6DC8C28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76" y="1191571"/>
                <a:ext cx="2664296" cy="7936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29533-3B30-4A25-97CF-F5E2BC53DE9E}"/>
                  </a:ext>
                </a:extLst>
              </p:cNvPr>
              <p:cNvSpPr txBox="1"/>
              <p:nvPr/>
            </p:nvSpPr>
            <p:spPr>
              <a:xfrm>
                <a:off x="3018567" y="729509"/>
                <a:ext cx="2904462" cy="1264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Use chain rule. “</a:t>
                </a:r>
                <a:r>
                  <a:rPr lang="en-GB" sz="1400" dirty="0" err="1"/>
                  <a:t>bla</a:t>
                </a:r>
                <a:r>
                  <a:rPr lang="en-GB" sz="1400" dirty="0"/>
                  <a:t> squared” differentiated is “2 </a:t>
                </a:r>
                <a:r>
                  <a:rPr lang="en-GB" sz="1400" dirty="0" err="1"/>
                  <a:t>bla</a:t>
                </a:r>
                <a:r>
                  <a:rPr lang="en-GB" sz="1400" dirty="0"/>
                  <a:t>” (i.e.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). And the inner function (i.e. just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) differentiated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. Multiply them together and hey presto.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29533-3B30-4A25-97CF-F5E2BC53D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567" y="729509"/>
                <a:ext cx="2904462" cy="1264385"/>
              </a:xfrm>
              <a:prstGeom prst="rect">
                <a:avLst/>
              </a:prstGeom>
              <a:blipFill>
                <a:blip r:embed="rId3"/>
                <a:stretch>
                  <a:fillRect l="-629" t="-966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12DA3D-5636-4F73-A5CF-42186BD261E0}"/>
                  </a:ext>
                </a:extLst>
              </p:cNvPr>
              <p:cNvSpPr txBox="1"/>
              <p:nvPr/>
            </p:nvSpPr>
            <p:spPr>
              <a:xfrm>
                <a:off x="6050413" y="2125594"/>
                <a:ext cx="2916433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12DA3D-5636-4F73-A5CF-42186BD26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413" y="2125594"/>
                <a:ext cx="2916433" cy="793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819686-59FE-435D-AC3C-BEB745FEBFE5}"/>
                  </a:ext>
                </a:extLst>
              </p:cNvPr>
              <p:cNvSpPr txBox="1"/>
              <p:nvPr/>
            </p:nvSpPr>
            <p:spPr>
              <a:xfrm>
                <a:off x="-3820" y="5484685"/>
                <a:ext cx="3995931" cy="676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0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819686-59FE-435D-AC3C-BEB745FEB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20" y="5484685"/>
                <a:ext cx="3995931" cy="676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0EB8B3-0BF5-4EDE-A22B-2BD9BAC9FC5E}"/>
                  </a:ext>
                </a:extLst>
              </p:cNvPr>
              <p:cNvSpPr txBox="1"/>
              <p:nvPr/>
            </p:nvSpPr>
            <p:spPr>
              <a:xfrm>
                <a:off x="53895" y="3406159"/>
                <a:ext cx="4896545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f>
                            <m:f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𝒅𝒚</m:t>
                              </m:r>
                            </m:num>
                            <m:den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den>
                          </m:f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𝒙𝒚</m:t>
                          </m:r>
                        </m:e>
                      </m:d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sSup>
                            <m:sSup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0EB8B3-0BF5-4EDE-A22B-2BD9BAC9F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5" y="3406159"/>
                <a:ext cx="4896545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EB16F3-4C98-411E-867A-2891839B69FB}"/>
                  </a:ext>
                </a:extLst>
              </p:cNvPr>
              <p:cNvSpPr txBox="1"/>
              <p:nvPr/>
            </p:nvSpPr>
            <p:spPr>
              <a:xfrm>
                <a:off x="65549" y="4411851"/>
                <a:ext cx="568863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𝒅𝒚</m:t>
                              </m:r>
                            </m:num>
                            <m:den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e>
                            <m:sup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EB16F3-4C98-411E-867A-2891839B6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9" y="4411851"/>
                <a:ext cx="5688632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17692A4-4B85-4D18-9F68-220EBE395593}"/>
              </a:ext>
            </a:extLst>
          </p:cNvPr>
          <p:cNvSpPr/>
          <p:nvPr/>
        </p:nvSpPr>
        <p:spPr>
          <a:xfrm>
            <a:off x="1808106" y="1116238"/>
            <a:ext cx="1093562" cy="8689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47281-CC5D-403C-A238-7869474DBAEB}"/>
              </a:ext>
            </a:extLst>
          </p:cNvPr>
          <p:cNvSpPr/>
          <p:nvPr/>
        </p:nvSpPr>
        <p:spPr>
          <a:xfrm>
            <a:off x="7644943" y="2124276"/>
            <a:ext cx="1237602" cy="8689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6030D6-D476-40F7-96D1-EFA7EADE8E88}"/>
              </a:ext>
            </a:extLst>
          </p:cNvPr>
          <p:cNvSpPr/>
          <p:nvPr/>
        </p:nvSpPr>
        <p:spPr>
          <a:xfrm>
            <a:off x="2009765" y="3361079"/>
            <a:ext cx="2664296" cy="9338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0C8259-BC09-4A2A-B7C2-CF04D679736E}"/>
              </a:ext>
            </a:extLst>
          </p:cNvPr>
          <p:cNvSpPr/>
          <p:nvPr/>
        </p:nvSpPr>
        <p:spPr>
          <a:xfrm>
            <a:off x="2246655" y="5336924"/>
            <a:ext cx="1756895" cy="9338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4C3434-3D87-4D9A-941E-D550F8F8DB9E}"/>
              </a:ext>
            </a:extLst>
          </p:cNvPr>
          <p:cNvSpPr/>
          <p:nvPr/>
        </p:nvSpPr>
        <p:spPr>
          <a:xfrm>
            <a:off x="2621489" y="4397935"/>
            <a:ext cx="3132692" cy="9338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B87F25-632E-4B9F-97EB-4B801D4DA29E}"/>
                  </a:ext>
                </a:extLst>
              </p:cNvPr>
              <p:cNvSpPr txBox="1"/>
              <p:nvPr/>
            </p:nvSpPr>
            <p:spPr>
              <a:xfrm>
                <a:off x="6001682" y="3454385"/>
                <a:ext cx="2376264" cy="2662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You might be wondering, “If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en-GB" sz="1600" dirty="0"/>
                  <a:t> differentiates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(where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a constant), why doesn’t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1600" dirty="0"/>
                  <a:t> differentiate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?”</a:t>
                </a:r>
              </a:p>
              <a:p>
                <a:r>
                  <a:rPr lang="en-GB" sz="1600" dirty="0"/>
                  <a:t>It’s because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is </a:t>
                </a:r>
                <a:r>
                  <a:rPr lang="en-GB" sz="1600" b="1" dirty="0"/>
                  <a:t>not a constant</a:t>
                </a:r>
                <a:r>
                  <a:rPr lang="en-GB" sz="1600" dirty="0"/>
                  <a:t>.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Exam Note</a:t>
                </a:r>
                <a:r>
                  <a:rPr lang="en-GB" sz="16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is incredibly common.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B87F25-632E-4B9F-97EB-4B801D4DA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682" y="3454385"/>
                <a:ext cx="2376264" cy="2662908"/>
              </a:xfrm>
              <a:prstGeom prst="rect">
                <a:avLst/>
              </a:prstGeom>
              <a:blipFill>
                <a:blip r:embed="rId8"/>
                <a:stretch>
                  <a:fillRect l="-1542" t="-688" b="-2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8EE119-6D25-477F-A88E-3841F410EC9F}"/>
              </a:ext>
            </a:extLst>
          </p:cNvPr>
          <p:cNvCxnSpPr>
            <a:cxnSpLocks/>
          </p:cNvCxnSpPr>
          <p:nvPr/>
        </p:nvCxnSpPr>
        <p:spPr>
          <a:xfrm flipV="1">
            <a:off x="7431114" y="3077834"/>
            <a:ext cx="0" cy="376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376F88-3D8D-4476-B3ED-E629D3F3ECD6}"/>
                  </a:ext>
                </a:extLst>
              </p:cNvPr>
              <p:cNvSpPr txBox="1"/>
              <p:nvPr/>
            </p:nvSpPr>
            <p:spPr>
              <a:xfrm>
                <a:off x="5873224" y="668645"/>
                <a:ext cx="3168352" cy="14068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general, when differentiating a function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, but with respect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, slap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 on the end. i.e.</a:t>
                </a:r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376F88-3D8D-4476-B3ED-E629D3F3E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224" y="668645"/>
                <a:ext cx="3168352" cy="1406860"/>
              </a:xfrm>
              <a:prstGeom prst="rect">
                <a:avLst/>
              </a:prstGeom>
              <a:blipFill>
                <a:blip r:embed="rId9"/>
                <a:stretch>
                  <a:fillRect l="-573" t="-427" r="-9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8D09D0-FAA2-42FF-85E6-91DA0DDA9224}"/>
                  </a:ext>
                </a:extLst>
              </p:cNvPr>
              <p:cNvSpPr txBox="1"/>
              <p:nvPr/>
            </p:nvSpPr>
            <p:spPr>
              <a:xfrm>
                <a:off x="150076" y="2206917"/>
                <a:ext cx="3177324" cy="793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8D09D0-FAA2-42FF-85E6-91DA0DDA9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76" y="2206917"/>
                <a:ext cx="3177324" cy="793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4092754E-63CA-426E-BDDC-243907FAFEDD}"/>
              </a:ext>
            </a:extLst>
          </p:cNvPr>
          <p:cNvSpPr/>
          <p:nvPr/>
        </p:nvSpPr>
        <p:spPr>
          <a:xfrm>
            <a:off x="1984250" y="2129167"/>
            <a:ext cx="1190750" cy="8689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A2C21F-41CC-4EE9-B94A-0E22FEF908CC}"/>
                  </a:ext>
                </a:extLst>
              </p:cNvPr>
              <p:cNvSpPr txBox="1"/>
              <p:nvPr/>
            </p:nvSpPr>
            <p:spPr>
              <a:xfrm>
                <a:off x="2937200" y="2143094"/>
                <a:ext cx="3177324" cy="793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</m:sSup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A2C21F-41CC-4EE9-B94A-0E22FEF90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200" y="2143094"/>
                <a:ext cx="3177324" cy="7938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F98ED57-30F2-4CDE-871F-545D76B0E99A}"/>
              </a:ext>
            </a:extLst>
          </p:cNvPr>
          <p:cNvSpPr/>
          <p:nvPr/>
        </p:nvSpPr>
        <p:spPr>
          <a:xfrm>
            <a:off x="4839471" y="2125820"/>
            <a:ext cx="888229" cy="8689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5807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9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BEE4B1-1D11-4949-95C6-2BA5FA48B3F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33A4BB4-A92D-4B73-B223-5D4787B5E90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Meatier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D2B6CC7-10C0-4A0C-B86C-4C5D38373A8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F38830-E66D-4963-839A-FA5C8B9D56F2}"/>
                  </a:ext>
                </a:extLst>
              </p:cNvPr>
              <p:cNvSpPr txBox="1"/>
              <p:nvPr/>
            </p:nvSpPr>
            <p:spPr>
              <a:xfrm>
                <a:off x="308829" y="741033"/>
                <a:ext cx="6817768" cy="44691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F38830-E66D-4963-839A-FA5C8B9D5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29" y="741033"/>
                <a:ext cx="6817768" cy="4469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115951-C6EC-4370-ACFA-D78165333777}"/>
                  </a:ext>
                </a:extLst>
              </p:cNvPr>
              <p:cNvSpPr txBox="1"/>
              <p:nvPr/>
            </p:nvSpPr>
            <p:spPr>
              <a:xfrm>
                <a:off x="703880" y="1335928"/>
                <a:ext cx="3325860" cy="2031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+1+3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115951-C6EC-4370-ACFA-D78165333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80" y="1335928"/>
                <a:ext cx="3325860" cy="2031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29D94D-FC43-4265-A119-748C54108D03}"/>
                  </a:ext>
                </a:extLst>
              </p:cNvPr>
              <p:cNvSpPr txBox="1"/>
              <p:nvPr/>
            </p:nvSpPr>
            <p:spPr>
              <a:xfrm>
                <a:off x="4617903" y="1474152"/>
                <a:ext cx="4104456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Differentiate both sides of the equation with respect to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(</a:t>
                </a:r>
                <a:r>
                  <a:rPr lang="en-GB" sz="1400" b="1" dirty="0"/>
                  <a:t>Common error</a:t>
                </a:r>
                <a:r>
                  <a:rPr lang="en-GB" sz="1400" dirty="0"/>
                  <a:t>: Forgetting the 6 becomes 0)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29D94D-FC43-4265-A119-748C54108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903" y="1474152"/>
                <a:ext cx="4104456" cy="523220"/>
              </a:xfrm>
              <a:prstGeom prst="rect">
                <a:avLst/>
              </a:prstGeom>
              <a:blipFill>
                <a:blip r:embed="rId4"/>
                <a:stretch>
                  <a:fillRect l="-148" b="-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66F27E-C902-41A0-86ED-6526B1A1A4CA}"/>
                  </a:ext>
                </a:extLst>
              </p:cNvPr>
              <p:cNvSpPr txBox="1"/>
              <p:nvPr/>
            </p:nvSpPr>
            <p:spPr>
              <a:xfrm>
                <a:off x="4629720" y="2145351"/>
                <a:ext cx="2649107" cy="61805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the subject (in the manner you would do at GCSE)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66F27E-C902-41A0-86ED-6526B1A1A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720" y="2145351"/>
                <a:ext cx="2649107" cy="618054"/>
              </a:xfrm>
              <a:prstGeom prst="rect">
                <a:avLst/>
              </a:prstGeom>
              <a:blipFill>
                <a:blip r:embed="rId5"/>
                <a:stretch>
                  <a:fillRect l="-228" b="-76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E58D71-F6D0-43B3-B6B3-809E106639A6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3891516" y="1669312"/>
            <a:ext cx="726387" cy="66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BF86E5-8717-4F1C-8B6D-2D44FD8289DF}"/>
              </a:ext>
            </a:extLst>
          </p:cNvPr>
          <p:cNvCxnSpPr>
            <a:cxnSpLocks/>
          </p:cNvCxnSpPr>
          <p:nvPr/>
        </p:nvCxnSpPr>
        <p:spPr>
          <a:xfrm flipH="1" flipV="1">
            <a:off x="3870251" y="2190307"/>
            <a:ext cx="747653" cy="25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0AB0B-2245-47C5-AF5B-985077CF13BB}"/>
                  </a:ext>
                </a:extLst>
              </p:cNvPr>
              <p:cNvSpPr txBox="1"/>
              <p:nvPr/>
            </p:nvSpPr>
            <p:spPr>
              <a:xfrm>
                <a:off x="296654" y="3585806"/>
                <a:ext cx="6817768" cy="44691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Find the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 at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sz="16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0AB0B-2245-47C5-AF5B-985077CF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54" y="3585806"/>
                <a:ext cx="6817768" cy="4469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3332AF-A88A-4F26-8C0F-2114E7D4F58B}"/>
                  </a:ext>
                </a:extLst>
              </p:cNvPr>
              <p:cNvSpPr txBox="1"/>
              <p:nvPr/>
            </p:nvSpPr>
            <p:spPr>
              <a:xfrm>
                <a:off x="533759" y="4177168"/>
                <a:ext cx="4084144" cy="2846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3332AF-A88A-4F26-8C0F-2114E7D4F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59" y="4177168"/>
                <a:ext cx="4084144" cy="2846420"/>
              </a:xfrm>
              <a:prstGeom prst="rect">
                <a:avLst/>
              </a:prstGeom>
              <a:blipFill>
                <a:blip r:embed="rId7"/>
                <a:stretch>
                  <a:fillRect l="-13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D04C52-07D7-44EA-B242-6B3DE507CB79}"/>
                  </a:ext>
                </a:extLst>
              </p:cNvPr>
              <p:cNvSpPr txBox="1"/>
              <p:nvPr/>
            </p:nvSpPr>
            <p:spPr>
              <a:xfrm>
                <a:off x="5494433" y="4515535"/>
                <a:ext cx="2649107" cy="8334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 Tip</a:t>
                </a:r>
                <a:r>
                  <a:rPr lang="en-GB" sz="1400" dirty="0"/>
                  <a:t>: Substitute in sooner rather than later. (i.e. No need to make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the subject first)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D04C52-07D7-44EA-B242-6B3DE507C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433" y="4515535"/>
                <a:ext cx="2649107" cy="833498"/>
              </a:xfrm>
              <a:prstGeom prst="rect">
                <a:avLst/>
              </a:prstGeom>
              <a:blipFill>
                <a:blip r:embed="rId8"/>
                <a:stretch>
                  <a:fillRect l="-228" b="-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820A4D-9D23-4CDE-8A8F-5F540729A4DA}"/>
              </a:ext>
            </a:extLst>
          </p:cNvPr>
          <p:cNvCxnSpPr>
            <a:cxnSpLocks/>
          </p:cNvCxnSpPr>
          <p:nvPr/>
        </p:nvCxnSpPr>
        <p:spPr>
          <a:xfrm flipH="1">
            <a:off x="4816549" y="4761546"/>
            <a:ext cx="677885" cy="16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C1B888-378F-46E0-B6B7-8708309EEF17}"/>
                  </a:ext>
                </a:extLst>
              </p:cNvPr>
              <p:cNvSpPr txBox="1"/>
              <p:nvPr/>
            </p:nvSpPr>
            <p:spPr>
              <a:xfrm>
                <a:off x="4338084" y="5848648"/>
                <a:ext cx="4502700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Frobservation</a:t>
                </a:r>
                <a:r>
                  <a:rPr lang="en-GB" sz="1400" dirty="0"/>
                  <a:t>: In Year 1 differentiation, you only ever needed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value to calculate the gradient a particular point. In Year 2 the gradient can depend 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C1B888-378F-46E0-B6B7-8708309EE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084" y="5848648"/>
                <a:ext cx="4502700" cy="738664"/>
              </a:xfrm>
              <a:prstGeom prst="rect">
                <a:avLst/>
              </a:prstGeom>
              <a:blipFill>
                <a:blip r:embed="rId9"/>
                <a:stretch>
                  <a:fillRect l="-135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CD508FA5-F0B8-4D64-8979-6E40C71D7F2E}"/>
              </a:ext>
            </a:extLst>
          </p:cNvPr>
          <p:cNvSpPr/>
          <p:nvPr/>
        </p:nvSpPr>
        <p:spPr>
          <a:xfrm>
            <a:off x="296654" y="1191763"/>
            <a:ext cx="8544130" cy="20596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FB5180-B97B-4AD1-8A82-F0CFF58D2D69}"/>
              </a:ext>
            </a:extLst>
          </p:cNvPr>
          <p:cNvSpPr/>
          <p:nvPr/>
        </p:nvSpPr>
        <p:spPr>
          <a:xfrm>
            <a:off x="272380" y="4016814"/>
            <a:ext cx="8568404" cy="2692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1458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9C241FF-C558-4A6C-BE01-ED8FF67C4547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9618411-C5D7-4DB6-97CA-AC12F8067A5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F938134-757A-4822-8B86-E9DD472413F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D74DC4C-66CE-4516-96E5-DA8A072F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5" y="908720"/>
            <a:ext cx="4464495" cy="12422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FFF422-9731-42D8-BC4D-C230B358C650}"/>
              </a:ext>
            </a:extLst>
          </p:cNvPr>
          <p:cNvSpPr txBox="1"/>
          <p:nvPr/>
        </p:nvSpPr>
        <p:spPr>
          <a:xfrm>
            <a:off x="2764466" y="649483"/>
            <a:ext cx="177217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Jan 2008 Q5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E2CF0B-A321-4BA8-9386-89515C84CC39}"/>
                  </a:ext>
                </a:extLst>
              </p:cNvPr>
              <p:cNvSpPr txBox="1"/>
              <p:nvPr/>
            </p:nvSpPr>
            <p:spPr>
              <a:xfrm>
                <a:off x="107504" y="2452842"/>
                <a:ext cx="2952328" cy="2391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:r>
                  <a:rPr lang="en-GB" sz="1200" b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−512−4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=−96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br>
                  <a:rPr lang="en-GB" sz="1200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−24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+128=0</m:t>
                    </m:r>
                  </m:oMath>
                </a14:m>
                <a:br>
                  <a:rPr lang="en-GB" sz="1200" b="0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−16</m:t>
                        </m:r>
                      </m:e>
                    </m:d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GB" sz="1200" b="0" dirty="0"/>
                </a:br>
                <a:r>
                  <a:rPr lang="en-GB" sz="1200" b="0" dirty="0"/>
                  <a:t>Gives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−8,16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−8,8</m:t>
                        </m:r>
                      </m:e>
                    </m:d>
                  </m:oMath>
                </a14:m>
                <a:br>
                  <a:rPr lang="en-GB" sz="1200" b="0" dirty="0"/>
                </a:br>
                <a:endParaRPr lang="en-GB" sz="1200" b="0" dirty="0"/>
              </a:p>
              <a:p>
                <a:pPr marL="342900" indent="-342900">
                  <a:buAutoNum type="alphaLcParenR"/>
                </a:pPr>
                <a:r>
                  <a:rPr lang="en-GB" sz="1200" dirty="0"/>
                  <a:t>Implicitly differentiating:</a:t>
                </a:r>
                <a:br>
                  <a:rPr lang="en-GB" sz="1200" dirty="0"/>
                </a:b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−8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br>
                  <a:rPr lang="en-GB" sz="1200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200" dirty="0"/>
                  <a:t> not needed, but it’s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+8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GB" sz="1200" dirty="0"/>
              </a:p>
              <a:p>
                <a:r>
                  <a:rPr lang="en-GB" sz="1200" dirty="0"/>
                  <a:t>        If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=−8,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=16,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200" dirty="0"/>
              </a:p>
              <a:p>
                <a:r>
                  <a:rPr lang="en-GB" sz="1200" dirty="0"/>
                  <a:t>       If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=−8,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=8,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E2CF0B-A321-4BA8-9386-89515C84C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452842"/>
                <a:ext cx="2952328" cy="2391617"/>
              </a:xfrm>
              <a:prstGeom prst="rect">
                <a:avLst/>
              </a:prstGeom>
              <a:blipFill>
                <a:blip r:embed="rId3"/>
                <a:stretch>
                  <a:fillRect l="-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13F7CE9-1134-420E-90BC-B8BA0CF2B470}"/>
              </a:ext>
            </a:extLst>
          </p:cNvPr>
          <p:cNvSpPr/>
          <p:nvPr/>
        </p:nvSpPr>
        <p:spPr>
          <a:xfrm>
            <a:off x="438994" y="2462560"/>
            <a:ext cx="2325472" cy="8654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4A1643-DA58-4A72-83D0-2FD296D7F65C}"/>
              </a:ext>
            </a:extLst>
          </p:cNvPr>
          <p:cNvSpPr/>
          <p:nvPr/>
        </p:nvSpPr>
        <p:spPr>
          <a:xfrm>
            <a:off x="438994" y="3327991"/>
            <a:ext cx="2325472" cy="163796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140041-E17A-4DC0-8666-CAB40C395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163" y="1172408"/>
            <a:ext cx="4341887" cy="11519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C47C97-015E-461F-8E3A-56800DBDFB0F}"/>
              </a:ext>
            </a:extLst>
          </p:cNvPr>
          <p:cNvSpPr txBox="1"/>
          <p:nvPr/>
        </p:nvSpPr>
        <p:spPr>
          <a:xfrm>
            <a:off x="4745333" y="868921"/>
            <a:ext cx="24482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2014(R) Q3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76C614-7A71-43F4-8616-3775EDAC500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116" y="2410252"/>
            <a:ext cx="5721666" cy="3971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7A724D-6166-4409-B228-010771BE7560}"/>
              </a:ext>
            </a:extLst>
          </p:cNvPr>
          <p:cNvSpPr/>
          <p:nvPr/>
        </p:nvSpPr>
        <p:spPr>
          <a:xfrm>
            <a:off x="3779912" y="2410252"/>
            <a:ext cx="5364088" cy="18828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52CE63-7E83-4B62-82C9-3AE027FA4FF4}"/>
              </a:ext>
            </a:extLst>
          </p:cNvPr>
          <p:cNvSpPr/>
          <p:nvPr/>
        </p:nvSpPr>
        <p:spPr>
          <a:xfrm>
            <a:off x="3779912" y="4293096"/>
            <a:ext cx="5364088" cy="20882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E3C375-8C46-4E92-A724-063F037B9108}"/>
              </a:ext>
            </a:extLst>
          </p:cNvPr>
          <p:cNvSpPr txBox="1"/>
          <p:nvPr/>
        </p:nvSpPr>
        <p:spPr>
          <a:xfrm>
            <a:off x="7308304" y="599127"/>
            <a:ext cx="15841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Hint for (b): Solve simultaneously with original equation.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E1087A-CF96-43DA-BF8A-573336F4EC75}"/>
              </a:ext>
            </a:extLst>
          </p:cNvPr>
          <p:cNvSpPr txBox="1"/>
          <p:nvPr/>
        </p:nvSpPr>
        <p:spPr>
          <a:xfrm>
            <a:off x="3701143" y="6453900"/>
            <a:ext cx="525108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Exam Note</a:t>
            </a:r>
            <a:r>
              <a:rPr lang="en-GB" dirty="0"/>
              <a:t>: This type of question was quite common.</a:t>
            </a:r>
          </a:p>
        </p:txBody>
      </p:sp>
    </p:spTree>
    <p:extLst>
      <p:ext uri="{BB962C8B-B14F-4D97-AF65-F5344CB8AC3E}">
        <p14:creationId xmlns:p14="http://schemas.microsoft.com/office/powerpoint/2010/main" val="338564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365FE4D-5889-EEEC-4CF1-21939C4F1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5" y="764704"/>
            <a:ext cx="614362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4183A8D-208A-0010-6F19-E500831C2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603" y="908720"/>
            <a:ext cx="63436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65E055F-98DA-6C35-EE20-460188EBA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7321772" cy="446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22503</TotalTime>
  <Words>686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9: Differentiation  Implicit Differentiation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2025-01-07T17:46:33Z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