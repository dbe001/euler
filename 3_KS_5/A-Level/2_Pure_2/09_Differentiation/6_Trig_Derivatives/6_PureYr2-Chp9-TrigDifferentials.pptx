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717" r:id="rId5"/>
    <p:sldId id="591" r:id="rId6"/>
    <p:sldId id="592" r:id="rId7"/>
    <p:sldId id="593" r:id="rId8"/>
    <p:sldId id="594" r:id="rId9"/>
    <p:sldId id="595" r:id="rId10"/>
    <p:sldId id="596" r:id="rId11"/>
    <p:sldId id="531" r:id="rId12"/>
    <p:sldId id="533" r:id="rId13"/>
    <p:sldId id="718" r:id="rId14"/>
    <p:sldId id="70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61D3F-3F22-4637-9DF3-398ECFDA6340}" v="2" dt="2024-12-10T16:47:24.4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AD461D3F-3F22-4637-9DF3-398ECFDA6340}"/>
    <pc:docChg chg="addSld delSld modSld">
      <pc:chgData name="Dieter Beaven" userId="9bbdb69f-69d0-4759-aa9b-5c090a2da237" providerId="ADAL" clId="{AD461D3F-3F22-4637-9DF3-398ECFDA6340}" dt="2024-12-10T16:47:31.305" v="110" actId="47"/>
      <pc:docMkLst>
        <pc:docMk/>
      </pc:docMkLst>
      <pc:sldChg chg="addSp modSp mod">
        <pc:chgData name="Dieter Beaven" userId="9bbdb69f-69d0-4759-aa9b-5c090a2da237" providerId="ADAL" clId="{AD461D3F-3F22-4637-9DF3-398ECFDA6340}" dt="2024-12-10T16:47:27.805" v="109" actId="1035"/>
        <pc:sldMkLst>
          <pc:docMk/>
          <pc:sldMk cId="2586607706" sldId="531"/>
        </pc:sldMkLst>
        <pc:spChg chg="mod">
          <ac:chgData name="Dieter Beaven" userId="9bbdb69f-69d0-4759-aa9b-5c090a2da237" providerId="ADAL" clId="{AD461D3F-3F22-4637-9DF3-398ECFDA6340}" dt="2024-12-10T16:46:41.838" v="96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AD461D3F-3F22-4637-9DF3-398ECFDA6340}" dt="2024-12-10T16:46:45.323" v="98" actId="20577"/>
          <ac:spMkLst>
            <pc:docMk/>
            <pc:sldMk cId="2586607706" sldId="531"/>
            <ac:spMk id="5" creationId="{00000000-0000-0000-0000-000000000000}"/>
          </ac:spMkLst>
        </pc:spChg>
        <pc:spChg chg="add mod">
          <ac:chgData name="Dieter Beaven" userId="9bbdb69f-69d0-4759-aa9b-5c090a2da237" providerId="ADAL" clId="{AD461D3F-3F22-4637-9DF3-398ECFDA6340}" dt="2024-12-10T16:47:27.805" v="109" actId="1035"/>
          <ac:spMkLst>
            <pc:docMk/>
            <pc:sldMk cId="2586607706" sldId="531"/>
            <ac:spMk id="7" creationId="{09732FA7-DFE9-9469-8F3E-0638EC895146}"/>
          </ac:spMkLst>
        </pc:spChg>
        <pc:spChg chg="add mod">
          <ac:chgData name="Dieter Beaven" userId="9bbdb69f-69d0-4759-aa9b-5c090a2da237" providerId="ADAL" clId="{AD461D3F-3F22-4637-9DF3-398ECFDA6340}" dt="2024-12-10T16:47:27.805" v="109" actId="1035"/>
          <ac:spMkLst>
            <pc:docMk/>
            <pc:sldMk cId="2586607706" sldId="531"/>
            <ac:spMk id="8" creationId="{DA7F4F5C-34E2-9891-8EC9-EEAD5C113231}"/>
          </ac:spMkLst>
        </pc:spChg>
      </pc:sldChg>
      <pc:sldChg chg="addSp modSp mod">
        <pc:chgData name="Dieter Beaven" userId="9bbdb69f-69d0-4759-aa9b-5c090a2da237" providerId="ADAL" clId="{AD461D3F-3F22-4637-9DF3-398ECFDA6340}" dt="2024-12-10T16:27:10.588" v="1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AD461D3F-3F22-4637-9DF3-398ECFDA6340}" dt="2024-12-10T16:27:10.588" v="1" actId="1076"/>
          <ac:picMkLst>
            <pc:docMk/>
            <pc:sldMk cId="173887519" sldId="533"/>
            <ac:picMk id="6" creationId="{ECC5C544-572B-E59A-68E4-49623B076410}"/>
          </ac:picMkLst>
        </pc:picChg>
      </pc:sldChg>
      <pc:sldChg chg="add">
        <pc:chgData name="Dieter Beaven" userId="9bbdb69f-69d0-4759-aa9b-5c090a2da237" providerId="ADAL" clId="{AD461D3F-3F22-4637-9DF3-398ECFDA6340}" dt="2024-12-10T16:47:14.883" v="99"/>
        <pc:sldMkLst>
          <pc:docMk/>
          <pc:sldMk cId="2382573189" sldId="591"/>
        </pc:sldMkLst>
      </pc:sldChg>
      <pc:sldChg chg="add">
        <pc:chgData name="Dieter Beaven" userId="9bbdb69f-69d0-4759-aa9b-5c090a2da237" providerId="ADAL" clId="{AD461D3F-3F22-4637-9DF3-398ECFDA6340}" dt="2024-12-10T16:47:14.883" v="99"/>
        <pc:sldMkLst>
          <pc:docMk/>
          <pc:sldMk cId="3174094295" sldId="592"/>
        </pc:sldMkLst>
      </pc:sldChg>
      <pc:sldChg chg="add">
        <pc:chgData name="Dieter Beaven" userId="9bbdb69f-69d0-4759-aa9b-5c090a2da237" providerId="ADAL" clId="{AD461D3F-3F22-4637-9DF3-398ECFDA6340}" dt="2024-12-10T16:47:14.883" v="99"/>
        <pc:sldMkLst>
          <pc:docMk/>
          <pc:sldMk cId="2539428975" sldId="593"/>
        </pc:sldMkLst>
      </pc:sldChg>
      <pc:sldChg chg="add">
        <pc:chgData name="Dieter Beaven" userId="9bbdb69f-69d0-4759-aa9b-5c090a2da237" providerId="ADAL" clId="{AD461D3F-3F22-4637-9DF3-398ECFDA6340}" dt="2024-12-10T16:47:14.883" v="99"/>
        <pc:sldMkLst>
          <pc:docMk/>
          <pc:sldMk cId="2050771075" sldId="594"/>
        </pc:sldMkLst>
      </pc:sldChg>
      <pc:sldChg chg="add">
        <pc:chgData name="Dieter Beaven" userId="9bbdb69f-69d0-4759-aa9b-5c090a2da237" providerId="ADAL" clId="{AD461D3F-3F22-4637-9DF3-398ECFDA6340}" dt="2024-12-10T16:47:14.883" v="99"/>
        <pc:sldMkLst>
          <pc:docMk/>
          <pc:sldMk cId="2628270233" sldId="595"/>
        </pc:sldMkLst>
      </pc:sldChg>
      <pc:sldChg chg="add">
        <pc:chgData name="Dieter Beaven" userId="9bbdb69f-69d0-4759-aa9b-5c090a2da237" providerId="ADAL" clId="{AD461D3F-3F22-4637-9DF3-398ECFDA6340}" dt="2024-12-10T16:47:14.883" v="99"/>
        <pc:sldMkLst>
          <pc:docMk/>
          <pc:sldMk cId="2291303418" sldId="596"/>
        </pc:sldMkLst>
      </pc:sldChg>
      <pc:sldChg chg="add del">
        <pc:chgData name="Dieter Beaven" userId="9bbdb69f-69d0-4759-aa9b-5c090a2da237" providerId="ADAL" clId="{AD461D3F-3F22-4637-9DF3-398ECFDA6340}" dt="2024-12-10T16:47:31.305" v="110" actId="47"/>
        <pc:sldMkLst>
          <pc:docMk/>
          <pc:sldMk cId="358179712" sldId="597"/>
        </pc:sldMkLst>
      </pc:sldChg>
      <pc:sldChg chg="addSp modSp mod">
        <pc:chgData name="Dieter Beaven" userId="9bbdb69f-69d0-4759-aa9b-5c090a2da237" providerId="ADAL" clId="{AD461D3F-3F22-4637-9DF3-398ECFDA6340}" dt="2024-12-10T16:37:09.151" v="6" actId="14100"/>
        <pc:sldMkLst>
          <pc:docMk/>
          <pc:sldMk cId="464788855" sldId="701"/>
        </pc:sldMkLst>
        <pc:picChg chg="add mod">
          <ac:chgData name="Dieter Beaven" userId="9bbdb69f-69d0-4759-aa9b-5c090a2da237" providerId="ADAL" clId="{AD461D3F-3F22-4637-9DF3-398ECFDA6340}" dt="2024-12-10T16:37:09.151" v="6" actId="14100"/>
          <ac:picMkLst>
            <pc:docMk/>
            <pc:sldMk cId="464788855" sldId="701"/>
            <ac:picMk id="6" creationId="{D8268FDA-2336-C089-0F85-4B1ADA6AB746}"/>
          </ac:picMkLst>
        </pc:picChg>
      </pc:sldChg>
      <pc:sldChg chg="modSp mod">
        <pc:chgData name="Dieter Beaven" userId="9bbdb69f-69d0-4759-aa9b-5c090a2da237" providerId="ADAL" clId="{AD461D3F-3F22-4637-9DF3-398ECFDA6340}" dt="2024-12-10T16:46:32.651" v="94" actId="20577"/>
        <pc:sldMkLst>
          <pc:docMk/>
          <pc:sldMk cId="938785864" sldId="717"/>
        </pc:sldMkLst>
        <pc:spChg chg="mod">
          <ac:chgData name="Dieter Beaven" userId="9bbdb69f-69d0-4759-aa9b-5c090a2da237" providerId="ADAL" clId="{AD461D3F-3F22-4637-9DF3-398ECFDA6340}" dt="2024-12-10T16:46:32.651" v="94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modSp mod">
        <pc:chgData name="Dieter Beaven" userId="9bbdb69f-69d0-4759-aa9b-5c090a2da237" providerId="ADAL" clId="{AD461D3F-3F22-4637-9DF3-398ECFDA6340}" dt="2024-12-10T16:27:57.353" v="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AD461D3F-3F22-4637-9DF3-398ECFDA6340}" dt="2024-12-10T16:27:57.353" v="3" actId="1076"/>
          <ac:picMkLst>
            <pc:docMk/>
            <pc:sldMk cId="3902928920" sldId="718"/>
            <ac:picMk id="6" creationId="{855C8F48-922C-3370-0D77-E162D1099AED}"/>
          </ac:picMkLst>
        </pc:pic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image" Target="../media/image16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7" Type="http://schemas.openxmlformats.org/officeDocument/2006/relationships/image" Target="../media/image190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Trigonometric Gradient Functions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6F23A9C-9D02-4B01-A339-8330342AD64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691E0A1-ADBC-4733-A5AF-9DD054C0718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Differentiating other trigonometric functions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E5A64FD-7DCB-4C02-9785-CCD6E9C35C6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A16A1E-16FD-4CF2-9C30-F67DD6CC7B9B}"/>
                  </a:ext>
                </a:extLst>
              </p:cNvPr>
              <p:cNvSpPr txBox="1"/>
              <p:nvPr/>
            </p:nvSpPr>
            <p:spPr>
              <a:xfrm>
                <a:off x="387028" y="842366"/>
                <a:ext cx="267280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Differentiate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A16A1E-16FD-4CF2-9C30-F67DD6CC7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28" y="842366"/>
                <a:ext cx="2672804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35BAB-7EF8-4EF8-9CE7-04D4F3F2BADB}"/>
                  </a:ext>
                </a:extLst>
              </p:cNvPr>
              <p:cNvSpPr txBox="1"/>
              <p:nvPr/>
            </p:nvSpPr>
            <p:spPr>
              <a:xfrm>
                <a:off x="543868" y="1387376"/>
                <a:ext cx="4392488" cy="1967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35BAB-7EF8-4EF8-9CE7-04D4F3F2B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68" y="1387376"/>
                <a:ext cx="4392488" cy="1967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11F8DA-DE27-431D-9E77-EC58BE26D5A6}"/>
                  </a:ext>
                </a:extLst>
              </p:cNvPr>
              <p:cNvSpPr txBox="1"/>
              <p:nvPr/>
            </p:nvSpPr>
            <p:spPr>
              <a:xfrm>
                <a:off x="4432176" y="1412900"/>
                <a:ext cx="2376264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Use definition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11F8DA-DE27-431D-9E77-EC58BE26D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176" y="1412900"/>
                <a:ext cx="2376264" cy="369332"/>
              </a:xfrm>
              <a:prstGeom prst="rect">
                <a:avLst/>
              </a:prstGeom>
              <a:blipFill>
                <a:blip r:embed="rId4"/>
                <a:stretch>
                  <a:fillRect l="-1523" t="-6250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A09F27A-2891-4F3C-A7C2-2AED6AD8DC4D}"/>
              </a:ext>
            </a:extLst>
          </p:cNvPr>
          <p:cNvSpPr txBox="1"/>
          <p:nvPr/>
        </p:nvSpPr>
        <p:spPr>
          <a:xfrm>
            <a:off x="4432176" y="1957910"/>
            <a:ext cx="237626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Use quotient rule.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CE2CB2-0E72-4190-823D-4CEEDBC8965B}"/>
                  </a:ext>
                </a:extLst>
              </p:cNvPr>
              <p:cNvSpPr txBox="1"/>
              <p:nvPr/>
            </p:nvSpPr>
            <p:spPr>
              <a:xfrm>
                <a:off x="697012" y="3700196"/>
                <a:ext cx="4460304" cy="4912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More generally: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𝑘𝑥</m:t>
                            </m:r>
                          </m:e>
                        </m:func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𝑘𝑥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CE2CB2-0E72-4190-823D-4CEEDBC89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12" y="3700196"/>
                <a:ext cx="4460304" cy="491288"/>
              </a:xfrm>
              <a:prstGeom prst="rect">
                <a:avLst/>
              </a:prstGeom>
              <a:blipFill>
                <a:blip r:embed="rId5"/>
                <a:stretch>
                  <a:fillRect l="-815" b="-4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942497-7622-48FD-9341-931F53EF2A41}"/>
                  </a:ext>
                </a:extLst>
              </p:cNvPr>
              <p:cNvSpPr txBox="1"/>
              <p:nvPr/>
            </p:nvSpPr>
            <p:spPr>
              <a:xfrm>
                <a:off x="254360" y="4581128"/>
                <a:ext cx="267280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Differentiate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942497-7622-48FD-9341-931F53EF2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60" y="4581128"/>
                <a:ext cx="2672804" cy="369332"/>
              </a:xfrm>
              <a:prstGeom prst="rect">
                <a:avLst/>
              </a:prstGeom>
              <a:blipFill>
                <a:blip r:embed="rId6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F7CE84-A004-4F93-BCAA-A3D70E908EE3}"/>
                  </a:ext>
                </a:extLst>
              </p:cNvPr>
              <p:cNvSpPr txBox="1"/>
              <p:nvPr/>
            </p:nvSpPr>
            <p:spPr>
              <a:xfrm>
                <a:off x="692076" y="5079399"/>
                <a:ext cx="5256584" cy="1655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F7CE84-A004-4F93-BCAA-A3D70E908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76" y="5079399"/>
                <a:ext cx="5256584" cy="16553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9D9ACE-5219-4FDF-9AB1-DCD1B46FED66}"/>
                  </a:ext>
                </a:extLst>
              </p:cNvPr>
              <p:cNvSpPr txBox="1"/>
              <p:nvPr/>
            </p:nvSpPr>
            <p:spPr>
              <a:xfrm>
                <a:off x="4144516" y="4988560"/>
                <a:ext cx="4426840" cy="828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Fro Tip</a:t>
                </a:r>
                <a:r>
                  <a:rPr lang="en-GB" sz="1400" dirty="0"/>
                  <a:t>: We could have always used the quotient rule 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</m:oMath>
                </a14:m>
                <a:r>
                  <a:rPr lang="en-GB" sz="1400" dirty="0"/>
                  <a:t>. However, I tend to the find the chain rule is marginally simpler if the numerator is a constant.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9D9ACE-5219-4FDF-9AB1-DCD1B46FE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516" y="4988560"/>
                <a:ext cx="4426840" cy="828560"/>
              </a:xfrm>
              <a:prstGeom prst="rect">
                <a:avLst/>
              </a:prstGeom>
              <a:blipFill>
                <a:blip r:embed="rId8"/>
                <a:stretch>
                  <a:fillRect l="-413" t="-735" b="-7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B2F56B-C7D3-4FFF-A305-12E59BEB9EE2}"/>
              </a:ext>
            </a:extLst>
          </p:cNvPr>
          <p:cNvCxnSpPr>
            <a:cxnSpLocks/>
          </p:cNvCxnSpPr>
          <p:nvPr/>
        </p:nvCxnSpPr>
        <p:spPr>
          <a:xfrm flipH="1">
            <a:off x="3632200" y="5373216"/>
            <a:ext cx="512316" cy="125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D7D606C-655B-4553-B258-11D21470B76B}"/>
              </a:ext>
            </a:extLst>
          </p:cNvPr>
          <p:cNvSpPr txBox="1"/>
          <p:nvPr/>
        </p:nvSpPr>
        <p:spPr>
          <a:xfrm>
            <a:off x="5508104" y="3707739"/>
            <a:ext cx="32721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Fro Tip</a:t>
            </a:r>
            <a:r>
              <a:rPr lang="en-GB" sz="1400" dirty="0"/>
              <a:t>: This is in the formula booklet, but I HIGHLY encourage your to memorise it to save you time in the exam.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6D0FA59-8623-4CD4-96EC-01101D40A306}"/>
                  </a:ext>
                </a:extLst>
              </p:cNvPr>
              <p:cNvSpPr txBox="1"/>
              <p:nvPr/>
            </p:nvSpPr>
            <p:spPr>
              <a:xfrm>
                <a:off x="5233056" y="5928678"/>
                <a:ext cx="3541500" cy="76828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More generally: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𝑘𝑥</m:t>
                            </m:r>
                          </m:e>
                        </m:func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𝑘𝑥</m:t>
                        </m:r>
                      </m:e>
                    </m:func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𝑘𝑥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6D0FA59-8623-4CD4-96EC-01101D40A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056" y="5928678"/>
                <a:ext cx="3541500" cy="768287"/>
              </a:xfrm>
              <a:prstGeom prst="rect">
                <a:avLst/>
              </a:prstGeom>
              <a:blipFill>
                <a:blip r:embed="rId9"/>
                <a:stretch>
                  <a:fillRect l="-10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459475A0-B82B-4481-95DC-3F36EEFF89E3}"/>
              </a:ext>
            </a:extLst>
          </p:cNvPr>
          <p:cNvSpPr/>
          <p:nvPr/>
        </p:nvSpPr>
        <p:spPr>
          <a:xfrm>
            <a:off x="237604" y="4950461"/>
            <a:ext cx="8536952" cy="17842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86F200-4598-4407-809C-76677EF445CA}"/>
              </a:ext>
            </a:extLst>
          </p:cNvPr>
          <p:cNvCxnSpPr/>
          <p:nvPr/>
        </p:nvCxnSpPr>
        <p:spPr>
          <a:xfrm flipH="1">
            <a:off x="3707904" y="1597566"/>
            <a:ext cx="724272" cy="118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3F7449-9D93-419F-8A25-CA3A4576B883}"/>
              </a:ext>
            </a:extLst>
          </p:cNvPr>
          <p:cNvCxnSpPr>
            <a:cxnSpLocks/>
          </p:cNvCxnSpPr>
          <p:nvPr/>
        </p:nvCxnSpPr>
        <p:spPr>
          <a:xfrm flipH="1" flipV="1">
            <a:off x="3733800" y="2082800"/>
            <a:ext cx="723638" cy="6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AF6DC8B-4E21-419B-BD4D-14EE52FAA169}"/>
              </a:ext>
            </a:extLst>
          </p:cNvPr>
          <p:cNvSpPr/>
          <p:nvPr/>
        </p:nvSpPr>
        <p:spPr>
          <a:xfrm>
            <a:off x="387028" y="1211698"/>
            <a:ext cx="6601296" cy="22722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8257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9" grpId="0" animBg="1"/>
      <p:bldP spid="18" grpId="0"/>
      <p:bldP spid="20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49DB6D0-B8F7-4259-B50B-443CC651634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10635A7-E484-4D2D-992D-07C4D8DA567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Differentiating other trigonometric functions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6543C2A-FE4E-4E6B-8283-9A80EB4241D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899094-47E2-4E00-95F3-120B537A6CBD}"/>
                  </a:ext>
                </a:extLst>
              </p:cNvPr>
              <p:cNvSpPr txBox="1"/>
              <p:nvPr/>
            </p:nvSpPr>
            <p:spPr>
              <a:xfrm>
                <a:off x="247452" y="718468"/>
                <a:ext cx="4007048" cy="1494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899094-47E2-4E00-95F3-120B537A6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52" y="718468"/>
                <a:ext cx="4007048" cy="14948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EC7C4A-5B69-40FF-BF5D-BF7DEB28851B}"/>
                  </a:ext>
                </a:extLst>
              </p:cNvPr>
              <p:cNvSpPr txBox="1"/>
              <p:nvPr/>
            </p:nvSpPr>
            <p:spPr>
              <a:xfrm>
                <a:off x="4055244" y="707086"/>
                <a:ext cx="4752528" cy="1494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cosec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cosec</m:t>
                              </m:r>
                            </m:fNam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𝑐𝑜</m:t>
                          </m:r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EC7C4A-5B69-40FF-BF5D-BF7DEB288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244" y="707086"/>
                <a:ext cx="4752528" cy="1494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FE5ACEF-8B2C-4095-BAE8-24B8FA151AD7}"/>
              </a:ext>
            </a:extLst>
          </p:cNvPr>
          <p:cNvSpPr txBox="1"/>
          <p:nvPr/>
        </p:nvSpPr>
        <p:spPr>
          <a:xfrm>
            <a:off x="4233044" y="2488952"/>
            <a:ext cx="42484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Memory Tip</a:t>
            </a:r>
            <a:r>
              <a:rPr lang="en-GB" sz="1400" dirty="0"/>
              <a:t>: To memorise the two on the right, notice that when we ‘co’ the two on the left, it ‘</a:t>
            </a:r>
            <a:r>
              <a:rPr lang="en-GB" sz="1400" dirty="0" err="1"/>
              <a:t>co’s</a:t>
            </a:r>
            <a:r>
              <a:rPr lang="en-GB" sz="1400" dirty="0"/>
              <a:t> each term in the derivative, but also negates it.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F63E01-6C65-46DF-803B-60984019242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357280" y="2133600"/>
            <a:ext cx="30820" cy="355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8DE952-C267-4D8E-9991-85178001451A}"/>
                  </a:ext>
                </a:extLst>
              </p:cNvPr>
              <p:cNvSpPr txBox="1"/>
              <p:nvPr/>
            </p:nvSpPr>
            <p:spPr>
              <a:xfrm>
                <a:off x="539552" y="3573016"/>
                <a:ext cx="2672804" cy="103951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Differentiate </a:t>
                </a:r>
                <a:endParaRPr lang="en-GB" b="0" dirty="0"/>
              </a:p>
              <a:p>
                <a:pPr marL="342900" indent="-342900">
                  <a:buAutoNum type="alphaLcParenBoth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𝑐𝑜𝑠𝑒𝑐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 dirty="0"/>
              </a:p>
              <a:p>
                <a:pPr marL="342900" indent="-342900">
                  <a:buAutoNum type="alphaLcParenBoth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8DE952-C267-4D8E-9991-851780014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573016"/>
                <a:ext cx="2672804" cy="1039515"/>
              </a:xfrm>
              <a:prstGeom prst="rect">
                <a:avLst/>
              </a:prstGeom>
              <a:blipFill>
                <a:blip r:embed="rId4"/>
                <a:stretch>
                  <a:fillRect b="-5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238EBE-1120-492E-96B4-B11C2A4246AD}"/>
                  </a:ext>
                </a:extLst>
              </p:cNvPr>
              <p:cNvSpPr txBox="1"/>
              <p:nvPr/>
            </p:nvSpPr>
            <p:spPr>
              <a:xfrm>
                <a:off x="617612" y="4927724"/>
                <a:ext cx="4392488" cy="1451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𝑐𝑜𝑠𝑒𝑐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𝑐𝑜𝑠𝑒𝑐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𝑐𝑜𝑠𝑒𝑐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𝑐𝑜𝑠𝑒𝑐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238EBE-1120-492E-96B4-B11C2A424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12" y="4927724"/>
                <a:ext cx="4392488" cy="14510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99B3F8F3-569C-441B-BEC1-5AD12F515E74}"/>
              </a:ext>
            </a:extLst>
          </p:cNvPr>
          <p:cNvSpPr/>
          <p:nvPr/>
        </p:nvSpPr>
        <p:spPr>
          <a:xfrm>
            <a:off x="293812" y="4966568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2FE6EB-20D2-4165-9336-621913AD5121}"/>
              </a:ext>
            </a:extLst>
          </p:cNvPr>
          <p:cNvSpPr/>
          <p:nvPr/>
        </p:nvSpPr>
        <p:spPr>
          <a:xfrm>
            <a:off x="4866084" y="3758074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B833D4-708C-453D-BDE8-0AEDA388C42F}"/>
                  </a:ext>
                </a:extLst>
              </p:cNvPr>
              <p:cNvSpPr txBox="1"/>
              <p:nvPr/>
            </p:nvSpPr>
            <p:spPr>
              <a:xfrm>
                <a:off x="5292080" y="3758074"/>
                <a:ext cx="3515692" cy="1172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B833D4-708C-453D-BDE8-0AEDA388C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3758074"/>
                <a:ext cx="3515692" cy="11722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11F827-FEE7-42B7-8EAF-56AF165F6000}"/>
                  </a:ext>
                </a:extLst>
              </p:cNvPr>
              <p:cNvSpPr txBox="1"/>
              <p:nvPr/>
            </p:nvSpPr>
            <p:spPr>
              <a:xfrm>
                <a:off x="5491212" y="5068168"/>
                <a:ext cx="3024336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Observation</a:t>
                </a:r>
                <a:r>
                  <a:rPr lang="en-GB" sz="1400" dirty="0"/>
                  <a:t>: Notice that when differentiating a power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𝑠𝑒𝑐</m:t>
                    </m:r>
                  </m:oMath>
                </a14:m>
                <a:r>
                  <a:rPr lang="en-GB" sz="1400" dirty="0"/>
                  <a:t>, the power stays the same. This will be relevant when we come to integration.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11F827-FEE7-42B7-8EAF-56AF165F6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212" y="5068168"/>
                <a:ext cx="3024336" cy="954107"/>
              </a:xfrm>
              <a:prstGeom prst="rect">
                <a:avLst/>
              </a:prstGeom>
              <a:blipFill>
                <a:blip r:embed="rId7"/>
                <a:stretch>
                  <a:fillRect l="-200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2A7F723F-721C-4222-9A38-C2E35E20C8C2}"/>
              </a:ext>
            </a:extLst>
          </p:cNvPr>
          <p:cNvSpPr/>
          <p:nvPr/>
        </p:nvSpPr>
        <p:spPr>
          <a:xfrm>
            <a:off x="581844" y="4966568"/>
            <a:ext cx="4428256" cy="16307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AF85AB-ED2F-4B8C-8234-7DC1B7A3CEF1}"/>
              </a:ext>
            </a:extLst>
          </p:cNvPr>
          <p:cNvSpPr/>
          <p:nvPr/>
        </p:nvSpPr>
        <p:spPr>
          <a:xfrm>
            <a:off x="5154116" y="3761172"/>
            <a:ext cx="3653656" cy="24041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74094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43091F9-694C-4DA3-9F60-0BEE0BB34F6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4D47910-4FF8-4993-A81C-7ED707E6643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 So Far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8681B59-9E74-4A0E-AC5C-39CD0E43453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D7130CD-1528-4239-B7BC-D1D57AEBB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68760"/>
            <a:ext cx="5267325" cy="14192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DA92BE-CFE2-49B4-9EED-82A7C83DB641}"/>
              </a:ext>
            </a:extLst>
          </p:cNvPr>
          <p:cNvSpPr txBox="1"/>
          <p:nvPr/>
        </p:nvSpPr>
        <p:spPr>
          <a:xfrm>
            <a:off x="323528" y="888046"/>
            <a:ext cx="295232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C3 June 2013(R) Q5b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9DA6AD-8B74-49CB-8F22-43C50051F46F}"/>
                  </a:ext>
                </a:extLst>
              </p:cNvPr>
              <p:cNvSpPr txBox="1"/>
              <p:nvPr/>
            </p:nvSpPr>
            <p:spPr>
              <a:xfrm>
                <a:off x="1115616" y="3023399"/>
                <a:ext cx="5256584" cy="1449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b="0" i="0" smtClean="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fName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×3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9DA6AD-8B74-49CB-8F22-43C50051F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3023399"/>
                <a:ext cx="5256584" cy="1449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6149530-B5A1-4F5B-8F02-095094D06BA7}"/>
              </a:ext>
            </a:extLst>
          </p:cNvPr>
          <p:cNvSpPr/>
          <p:nvPr/>
        </p:nvSpPr>
        <p:spPr>
          <a:xfrm>
            <a:off x="323528" y="2841858"/>
            <a:ext cx="7056784" cy="16307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3942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2406190-0EE9-4866-9AFA-E0AA729023D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1F36120E-B3F7-432F-81EE-5AC6FB45824F}"/>
                    </a:ext>
                  </a:extLst>
                </p:cNvPr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>
                      <a:latin typeface="+mj-lt"/>
                    </a:rPr>
                    <a:t>Making use of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𝑑𝑦</m:t>
                      </m:r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1F36120E-B3F7-432F-81EE-5AC6FB458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1FB54CD-2627-4E3B-AFBF-AB9EC8DCC95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EFD550-DD17-46AD-A96F-43424E2471B9}"/>
                  </a:ext>
                </a:extLst>
              </p:cNvPr>
              <p:cNvSpPr txBox="1"/>
              <p:nvPr/>
            </p:nvSpPr>
            <p:spPr>
              <a:xfrm>
                <a:off x="395536" y="908720"/>
                <a:ext cx="8064896" cy="1322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Often in exam questions, you will be 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but want to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b="1" dirty="0"/>
                  <a:t>The key is to make use of an appropriate trig identity, </a:t>
                </a:r>
                <a:r>
                  <a:rPr lang="en-GB" b="1" dirty="0" err="1"/>
                  <a:t>e.g</a:t>
                </a:r>
                <a:r>
                  <a:rPr lang="en-GB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𝐬𝐞𝐜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EFD550-DD17-46AD-A96F-43424E247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08720"/>
                <a:ext cx="8064896" cy="1322285"/>
              </a:xfrm>
              <a:prstGeom prst="rect">
                <a:avLst/>
              </a:prstGeom>
              <a:blipFill>
                <a:blip r:embed="rId3"/>
                <a:stretch>
                  <a:fillRect l="-6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382276-FFC9-44CB-BD4D-A5D531ECF069}"/>
                  </a:ext>
                </a:extLst>
              </p:cNvPr>
              <p:cNvSpPr txBox="1"/>
              <p:nvPr/>
            </p:nvSpPr>
            <p:spPr>
              <a:xfrm>
                <a:off x="430968" y="2708920"/>
                <a:ext cx="8389504" cy="49128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dirty="0"/>
                  <a:t>, express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382276-FFC9-44CB-BD4D-A5D531ECF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68" y="2708920"/>
                <a:ext cx="8389504" cy="4912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46CAA5-41DB-4310-8DB9-BCE6C0CC596A}"/>
                  </a:ext>
                </a:extLst>
              </p:cNvPr>
              <p:cNvSpPr txBox="1"/>
              <p:nvPr/>
            </p:nvSpPr>
            <p:spPr>
              <a:xfrm>
                <a:off x="332408" y="3446016"/>
                <a:ext cx="3384376" cy="2083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b="0" dirty="0"/>
              </a:p>
              <a:p>
                <a:pPr/>
                <a:r>
                  <a:rPr lang="en-GB" dirty="0"/>
                  <a:t>Note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1+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46CAA5-41DB-4310-8DB9-BCE6C0CC5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8" y="3446016"/>
                <a:ext cx="3384376" cy="2083519"/>
              </a:xfrm>
              <a:prstGeom prst="rect">
                <a:avLst/>
              </a:prstGeom>
              <a:blipFill>
                <a:blip r:embed="rId5"/>
                <a:stretch>
                  <a:fillRect l="-16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43F7B3-B55A-479A-81B9-FA5D68A0F2B0}"/>
                  </a:ext>
                </a:extLst>
              </p:cNvPr>
              <p:cNvSpPr txBox="1"/>
              <p:nvPr/>
            </p:nvSpPr>
            <p:spPr>
              <a:xfrm>
                <a:off x="4461768" y="4022080"/>
                <a:ext cx="4214688" cy="8334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You might be tempted to put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400" dirty="0"/>
                  <a:t>, but there’s not a relationship between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400" dirty="0"/>
                  <a:t> that would enable us to later get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into the equation.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43F7B3-B55A-479A-81B9-FA5D68A0F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68" y="4022080"/>
                <a:ext cx="4214688" cy="833498"/>
              </a:xfrm>
              <a:prstGeom prst="rect">
                <a:avLst/>
              </a:prstGeom>
              <a:blipFill>
                <a:blip r:embed="rId6"/>
                <a:stretch>
                  <a:fillRect l="-144" r="-863" b="-49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8FFE27-800E-4E65-8F03-382DE4974D5A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3491880" y="4437112"/>
            <a:ext cx="969888" cy="1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C80D11-F6D0-4B9D-B5B1-DA136D97F96F}"/>
                  </a:ext>
                </a:extLst>
              </p:cNvPr>
              <p:cNvSpPr txBox="1"/>
              <p:nvPr/>
            </p:nvSpPr>
            <p:spPr>
              <a:xfrm>
                <a:off x="4461768" y="4987835"/>
                <a:ext cx="4214688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Using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1+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400" dirty="0"/>
                  <a:t> is sensible because we know that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C80D11-F6D0-4B9D-B5B1-DA136D97F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68" y="4987835"/>
                <a:ext cx="4214688" cy="523220"/>
              </a:xfrm>
              <a:prstGeom prst="rect">
                <a:avLst/>
              </a:prstGeom>
              <a:blipFill>
                <a:blip r:embed="rId7"/>
                <a:stretch>
                  <a:fillRect l="-144" r="-719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6B7E41-7E2E-4769-B7F1-79FAB824F142}"/>
              </a:ext>
            </a:extLst>
          </p:cNvPr>
          <p:cNvCxnSpPr>
            <a:cxnSpLocks/>
          </p:cNvCxnSpPr>
          <p:nvPr/>
        </p:nvCxnSpPr>
        <p:spPr>
          <a:xfrm flipH="1" flipV="1">
            <a:off x="3568700" y="4787900"/>
            <a:ext cx="901204" cy="440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886B01A-4BF3-40A0-90A2-6C4F13E1535E}"/>
              </a:ext>
            </a:extLst>
          </p:cNvPr>
          <p:cNvSpPr/>
          <p:nvPr/>
        </p:nvSpPr>
        <p:spPr>
          <a:xfrm>
            <a:off x="430968" y="3202669"/>
            <a:ext cx="8389504" cy="26683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5077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0F7303C-26B1-45E6-A781-29784C3BB51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1170D18-AE5F-423E-B176-1DD74434300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Further 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EE28CB-784B-4F04-B6F6-A00F1DCC6D5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8029D4-06AF-4FBF-8092-E90C0787BDB8}"/>
                  </a:ext>
                </a:extLst>
              </p:cNvPr>
              <p:cNvSpPr txBox="1"/>
              <p:nvPr/>
            </p:nvSpPr>
            <p:spPr>
              <a:xfrm>
                <a:off x="412552" y="892820"/>
                <a:ext cx="4951536" cy="50334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Show that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arcsin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8029D4-06AF-4FBF-8092-E90C0787B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52" y="892820"/>
                <a:ext cx="4951536" cy="5033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9F73B2-CA2D-4373-80AC-8C84F06E6307}"/>
                  </a:ext>
                </a:extLst>
              </p:cNvPr>
              <p:cNvSpPr txBox="1"/>
              <p:nvPr/>
            </p:nvSpPr>
            <p:spPr>
              <a:xfrm>
                <a:off x="683568" y="1459508"/>
                <a:ext cx="3748732" cy="2707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𝐚𝐫𝐜𝐬𝐢𝐧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:r>
                  <a:rPr lang="en-GB" b="1" dirty="0"/>
                  <a:t>We know that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𝒔𝒊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𝒄𝒐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br>
                  <a:rPr lang="en-GB" b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 i="0" smtClean="0">
                                          <a:latin typeface="Cambria Math" panose="02040503050406030204" pitchFamily="18" charset="0"/>
                                        </a:rPr>
                                        <m:t>𝐬𝐢𝐧</m:t>
                                      </m:r>
                                    </m:e>
                                    <m:sup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func>
                            </m:e>
                          </m:ra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9F73B2-CA2D-4373-80AC-8C84F06E6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59508"/>
                <a:ext cx="3748732" cy="2707151"/>
              </a:xfrm>
              <a:prstGeom prst="rect">
                <a:avLst/>
              </a:prstGeom>
              <a:blipFill>
                <a:blip r:embed="rId3"/>
                <a:stretch>
                  <a:fillRect l="-13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0C68B1-6A1F-4F43-A3C6-3400A7A539B3}"/>
                  </a:ext>
                </a:extLst>
              </p:cNvPr>
              <p:cNvSpPr txBox="1"/>
              <p:nvPr/>
            </p:nvSpPr>
            <p:spPr>
              <a:xfrm>
                <a:off x="4614168" y="2155180"/>
                <a:ext cx="4214688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Remember that we’re trying to turn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400" dirty="0"/>
                  <a:t> into an expression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; we have to use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400" dirty="0"/>
                  <a:t> in some way.  You then might think “Oh, I know an identity that relates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400" dirty="0"/>
                  <a:t>!”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0C68B1-6A1F-4F43-A3C6-3400A7A53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168" y="2155180"/>
                <a:ext cx="4214688" cy="954107"/>
              </a:xfrm>
              <a:prstGeom prst="rect">
                <a:avLst/>
              </a:prstGeom>
              <a:blipFill>
                <a:blip r:embed="rId4"/>
                <a:stretch>
                  <a:fillRect l="-144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0F8188-C957-4AAF-A159-742DA5048C2B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517900" y="2632234"/>
            <a:ext cx="1096268" cy="237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608CF3-3C51-4034-AF78-7752BDEE7070}"/>
                  </a:ext>
                </a:extLst>
              </p:cNvPr>
              <p:cNvSpPr txBox="1"/>
              <p:nvPr/>
            </p:nvSpPr>
            <p:spPr>
              <a:xfrm>
                <a:off x="432148" y="4510241"/>
                <a:ext cx="4000152" cy="49128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arcsin</m:t>
                        </m:r>
                      </m:fName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GB" dirty="0"/>
                  <a:t>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608CF3-3C51-4034-AF78-7752BDEE7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48" y="4510241"/>
                <a:ext cx="4000152" cy="4912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4CAC29-8BD1-42D1-871F-7E5357870449}"/>
                  </a:ext>
                </a:extLst>
              </p:cNvPr>
              <p:cNvSpPr txBox="1"/>
              <p:nvPr/>
            </p:nvSpPr>
            <p:spPr>
              <a:xfrm>
                <a:off x="5300464" y="3505324"/>
                <a:ext cx="3528392" cy="20508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arcsin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arccos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arctan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4CAC29-8BD1-42D1-871F-7E5357870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64" y="3505324"/>
                <a:ext cx="3528392" cy="2050818"/>
              </a:xfrm>
              <a:prstGeom prst="rect">
                <a:avLst/>
              </a:prstGeom>
              <a:blipFill>
                <a:blip r:embed="rId6"/>
                <a:stretch>
                  <a:fillRect l="-1029" t="-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EB5DF4-8C9A-4504-AA06-1CD13BCADDBF}"/>
                  </a:ext>
                </a:extLst>
              </p:cNvPr>
              <p:cNvSpPr txBox="1"/>
              <p:nvPr/>
            </p:nvSpPr>
            <p:spPr>
              <a:xfrm>
                <a:off x="444848" y="5114900"/>
                <a:ext cx="4000152" cy="1583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the chain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EB5DF4-8C9A-4504-AA06-1CD13BCAD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48" y="5114900"/>
                <a:ext cx="4000152" cy="1583832"/>
              </a:xfrm>
              <a:prstGeom prst="rect">
                <a:avLst/>
              </a:prstGeom>
              <a:blipFill>
                <a:blip r:embed="rId7"/>
                <a:stretch>
                  <a:fillRect l="-1372" t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AAD28AA-4762-4994-8F33-4E65E2CD4441}"/>
              </a:ext>
            </a:extLst>
          </p:cNvPr>
          <p:cNvSpPr/>
          <p:nvPr/>
        </p:nvSpPr>
        <p:spPr>
          <a:xfrm>
            <a:off x="390352" y="1367813"/>
            <a:ext cx="8438504" cy="27988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44A54A-AB6B-4E74-849F-DA1D745B7BBF}"/>
              </a:ext>
            </a:extLst>
          </p:cNvPr>
          <p:cNvSpPr/>
          <p:nvPr/>
        </p:nvSpPr>
        <p:spPr>
          <a:xfrm>
            <a:off x="432148" y="5001528"/>
            <a:ext cx="4012852" cy="16972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2827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CFF526-E063-47EF-A375-5CCA40D0B98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474816D-5FFD-4B58-9C35-B5A9B06DB95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D3BAF76-771C-46EF-8D13-889C213816C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81E8B04-D44E-43FE-9C47-1F068EAD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03267"/>
            <a:ext cx="5181600" cy="20002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C426EC-6501-4586-9E5A-CA74C7EC78F0}"/>
              </a:ext>
            </a:extLst>
          </p:cNvPr>
          <p:cNvSpPr txBox="1"/>
          <p:nvPr/>
        </p:nvSpPr>
        <p:spPr>
          <a:xfrm>
            <a:off x="263352" y="806157"/>
            <a:ext cx="27964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C3 Jan 2011 Q8b,c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5DA5B1-E75B-493E-83E5-EA12BD058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93" y="3387813"/>
            <a:ext cx="4782616" cy="34161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AA3615-0F7A-4C2B-B3FD-0E56DB04551D}"/>
                  </a:ext>
                </a:extLst>
              </p:cNvPr>
              <p:cNvSpPr txBox="1"/>
              <p:nvPr/>
            </p:nvSpPr>
            <p:spPr>
              <a:xfrm>
                <a:off x="5749404" y="739151"/>
                <a:ext cx="3064396" cy="78386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Given that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GB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AA3615-0F7A-4C2B-B3FD-0E56DB045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404" y="739151"/>
                <a:ext cx="3064396" cy="7838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FC77AE-AA0C-45CD-983D-C22152A31BF5}"/>
                  </a:ext>
                </a:extLst>
              </p:cNvPr>
              <p:cNvSpPr txBox="1"/>
              <p:nvPr/>
            </p:nvSpPr>
            <p:spPr>
              <a:xfrm>
                <a:off x="5774928" y="1586508"/>
                <a:ext cx="3168352" cy="5192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(Let’s use the ‘full’ Chain Rule method this time)</a:t>
                </a:r>
              </a:p>
              <a:p>
                <a:endParaRPr lang="en-GB" b="1" dirty="0"/>
              </a:p>
              <a:p>
                <a:r>
                  <a:rPr lang="en-GB" b="1" dirty="0"/>
                  <a:t>Let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den>
                    </m:f>
                  </m:oMath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𝒅𝒖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=…=−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𝐚𝐫𝐜𝐭𝐚𝐧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𝒅𝒖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r>
                  <a:rPr lang="en-GB" b="1" dirty="0"/>
                  <a:t>By the Chain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𝒅𝒖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𝒅𝒖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=…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FC77AE-AA0C-45CD-983D-C22152A31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928" y="1586508"/>
                <a:ext cx="3168352" cy="5192896"/>
              </a:xfrm>
              <a:prstGeom prst="rect">
                <a:avLst/>
              </a:prstGeom>
              <a:blipFill>
                <a:blip r:embed="rId5"/>
                <a:stretch>
                  <a:fillRect l="-1538" t="-5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F093F391-B65E-467A-858A-2FEAAAC2B656}"/>
              </a:ext>
            </a:extLst>
          </p:cNvPr>
          <p:cNvSpPr/>
          <p:nvPr/>
        </p:nvSpPr>
        <p:spPr>
          <a:xfrm>
            <a:off x="254100" y="3203517"/>
            <a:ext cx="5179020" cy="36544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63FD42-0086-4559-BBA9-C174D9D96FAB}"/>
              </a:ext>
            </a:extLst>
          </p:cNvPr>
          <p:cNvSpPr/>
          <p:nvPr/>
        </p:nvSpPr>
        <p:spPr>
          <a:xfrm>
            <a:off x="5749404" y="1554224"/>
            <a:ext cx="3064396" cy="52275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9130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9.6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74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9732FA7-DFE9-9469-8F3E-0638EC895146}"/>
              </a:ext>
            </a:extLst>
          </p:cNvPr>
          <p:cNvSpPr txBox="1"/>
          <p:nvPr/>
        </p:nvSpPr>
        <p:spPr>
          <a:xfrm>
            <a:off x="395536" y="206084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7F4F5C-34E2-9891-8EC9-EEAD5C113231}"/>
                  </a:ext>
                </a:extLst>
              </p:cNvPr>
              <p:cNvSpPr txBox="1"/>
              <p:nvPr/>
            </p:nvSpPr>
            <p:spPr>
              <a:xfrm>
                <a:off x="395536" y="2430180"/>
                <a:ext cx="7920880" cy="3755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[STEP I 2011 Q3] </a:t>
                </a:r>
                <a:r>
                  <a:rPr lang="en-GB" dirty="0"/>
                  <a:t>Prove the identity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(∗)</m:t>
                      </m:r>
                    </m:oMath>
                  </m:oMathPara>
                </a14:m>
                <a:endParaRPr lang="en-GB" dirty="0"/>
              </a:p>
              <a:p>
                <a:pPr marL="400050" indent="-400050">
                  <a:buAutoNum type="romanLcParenBoth"/>
                </a:pPr>
                <a:r>
                  <a:rPr lang="en-GB" dirty="0"/>
                  <a:t>By differentiating (*) or otherwise, show that</a:t>
                </a:r>
                <a:br>
                  <a:rPr lang="en-GB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GB" dirty="0"/>
              </a:p>
              <a:p>
                <a:pPr marL="400050" indent="-400050">
                  <a:buAutoNum type="romanLcParenBoth"/>
                </a:pPr>
                <a:r>
                  <a:rPr lang="en-GB" dirty="0"/>
                  <a:t>By setting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dirty="0"/>
                  <a:t>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(∗)</m:t>
                    </m:r>
                  </m:oMath>
                </a14:m>
                <a:r>
                  <a:rPr lang="en-GB" dirty="0"/>
                  <a:t>, or otherwise, obtain a similar identity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dirty="0"/>
                  <a:t> and deduce that</a:t>
                </a:r>
                <a:br>
                  <a:rPr lang="en-GB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br>
                  <a:rPr lang="en-GB" dirty="0"/>
                </a:br>
                <a:r>
                  <a:rPr lang="en-GB" dirty="0"/>
                  <a:t>Show that</a:t>
                </a:r>
                <a:br>
                  <a:rPr lang="en-GB" dirty="0"/>
                </a:b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𝑐𝑜𝑠𝑒𝑐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𝑐𝑜𝑠𝑒𝑐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𝑐𝑜𝑠𝑒𝑐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7F4F5C-34E2-9891-8EC9-EEAD5C113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430180"/>
                <a:ext cx="7920880" cy="3755387"/>
              </a:xfrm>
              <a:prstGeom prst="rect">
                <a:avLst/>
              </a:prstGeom>
              <a:blipFill>
                <a:blip r:embed="rId2"/>
                <a:stretch>
                  <a:fillRect l="-693" t="-9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CC5C544-572B-E59A-68E4-49623B076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8" y="648720"/>
            <a:ext cx="79629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55C8F48-922C-3370-0D77-E162D1099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5" y="1052736"/>
            <a:ext cx="785812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8268FDA-2336-C089-0F85-4B1ADA6AB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836711"/>
            <a:ext cx="8663484" cy="417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22498</TotalTime>
  <Words>778</Words>
  <Application>Microsoft Office PowerPoint</Application>
  <PresentationFormat>On-screen Show (4:3)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Wingdings</vt:lpstr>
      <vt:lpstr>Office Theme</vt:lpstr>
      <vt:lpstr>P2 Chapter 9: Differentiation  Trigonometric Gradient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2024-12-10T16:47:37Z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