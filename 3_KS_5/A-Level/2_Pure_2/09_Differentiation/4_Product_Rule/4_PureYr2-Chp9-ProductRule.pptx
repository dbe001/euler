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17" r:id="rId5"/>
    <p:sldId id="582" r:id="rId6"/>
    <p:sldId id="584" r:id="rId7"/>
    <p:sldId id="585" r:id="rId8"/>
    <p:sldId id="531" r:id="rId9"/>
    <p:sldId id="533" r:id="rId10"/>
    <p:sldId id="718" r:id="rId11"/>
    <p:sldId id="70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AE5B9-5693-47CF-84F6-4D36A4565940}" v="1" dt="2024-12-10T16:40:51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0" d="100"/>
          <a:sy n="110" d="100"/>
        </p:scale>
        <p:origin x="492" y="4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F95AE5B9-5693-47CF-84F6-4D36A4565940}"/>
    <pc:docChg chg="undo custSel addSld modSld">
      <pc:chgData name="Dieter Beaven" userId="9bbdb69f-69d0-4759-aa9b-5c090a2da237" providerId="ADAL" clId="{F95AE5B9-5693-47CF-84F6-4D36A4565940}" dt="2024-12-10T16:41:50.722" v="15" actId="6549"/>
      <pc:docMkLst>
        <pc:docMk/>
      </pc:docMkLst>
      <pc:sldChg chg="modSp mod">
        <pc:chgData name="Dieter Beaven" userId="9bbdb69f-69d0-4759-aa9b-5c090a2da237" providerId="ADAL" clId="{F95AE5B9-5693-47CF-84F6-4D36A4565940}" dt="2024-12-10T16:41:50.722" v="15" actId="6549"/>
        <pc:sldMkLst>
          <pc:docMk/>
          <pc:sldMk cId="2586607706" sldId="531"/>
        </pc:sldMkLst>
        <pc:spChg chg="mod">
          <ac:chgData name="Dieter Beaven" userId="9bbdb69f-69d0-4759-aa9b-5c090a2da237" providerId="ADAL" clId="{F95AE5B9-5693-47CF-84F6-4D36A4565940}" dt="2024-12-10T16:41:36.348" v="13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95AE5B9-5693-47CF-84F6-4D36A4565940}" dt="2024-12-10T16:41:50.722" v="1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F95AE5B9-5693-47CF-84F6-4D36A4565940}" dt="2024-12-10T16:19:41.249" v="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F95AE5B9-5693-47CF-84F6-4D36A4565940}" dt="2024-12-10T16:19:23.987" v="1" actId="22"/>
          <ac:picMkLst>
            <pc:docMk/>
            <pc:sldMk cId="173887519" sldId="533"/>
            <ac:picMk id="6" creationId="{5F937C33-3DE4-A43E-A7CE-7BCA07ABFAC0}"/>
          </ac:picMkLst>
        </pc:picChg>
        <pc:picChg chg="add mod">
          <ac:chgData name="Dieter Beaven" userId="9bbdb69f-69d0-4759-aa9b-5c090a2da237" providerId="ADAL" clId="{F95AE5B9-5693-47CF-84F6-4D36A4565940}" dt="2024-12-10T16:19:41.249" v="3" actId="1076"/>
          <ac:picMkLst>
            <pc:docMk/>
            <pc:sldMk cId="173887519" sldId="533"/>
            <ac:picMk id="8" creationId="{7206BBFE-47D2-8A61-6C77-DE22F5E5BA36}"/>
          </ac:picMkLst>
        </pc:picChg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214681041" sldId="582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126887055" sldId="584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1811924599" sldId="585"/>
        </pc:sldMkLst>
      </pc:sldChg>
      <pc:sldChg chg="addSp modSp mod">
        <pc:chgData name="Dieter Beaven" userId="9bbdb69f-69d0-4759-aa9b-5c090a2da237" providerId="ADAL" clId="{F95AE5B9-5693-47CF-84F6-4D36A4565940}" dt="2024-12-10T16:39:45.423" v="10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F95AE5B9-5693-47CF-84F6-4D36A4565940}" dt="2024-12-10T16:39:45.423" v="10" actId="1076"/>
          <ac:picMkLst>
            <pc:docMk/>
            <pc:sldMk cId="464788855" sldId="701"/>
            <ac:picMk id="6" creationId="{A8BA92AD-AA83-5B61-A807-E41D8C12DE1D}"/>
          </ac:picMkLst>
        </pc:picChg>
      </pc:sldChg>
      <pc:sldChg chg="addSp modSp mod">
        <pc:chgData name="Dieter Beaven" userId="9bbdb69f-69d0-4759-aa9b-5c090a2da237" providerId="ADAL" clId="{F95AE5B9-5693-47CF-84F6-4D36A4565940}" dt="2024-12-10T16:20:40.384" v="6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F95AE5B9-5693-47CF-84F6-4D36A4565940}" dt="2024-12-10T16:20:40.384" v="6" actId="1076"/>
          <ac:picMkLst>
            <pc:docMk/>
            <pc:sldMk cId="3902928920" sldId="718"/>
            <ac:picMk id="6" creationId="{0B6F0CD0-F534-CC23-2B25-2C699B43CF1B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197000CD-D614-4EDB-B4C2-59D6EF113C98}"/>
    <pc:docChg chg="modSld">
      <pc:chgData name="Dieter Beaven" userId="9bbdb69f-69d0-4759-aa9b-5c090a2da237" providerId="ADAL" clId="{197000CD-D614-4EDB-B4C2-59D6EF113C98}" dt="2024-12-11T14:12:40.069" v="11" actId="20577"/>
      <pc:docMkLst>
        <pc:docMk/>
      </pc:docMkLst>
      <pc:sldChg chg="modSp mod">
        <pc:chgData name="Dieter Beaven" userId="9bbdb69f-69d0-4759-aa9b-5c090a2da237" providerId="ADAL" clId="{197000CD-D614-4EDB-B4C2-59D6EF113C98}" dt="2024-12-11T14:12:40.069" v="11" actId="20577"/>
        <pc:sldMkLst>
          <pc:docMk/>
          <pc:sldMk cId="938785864" sldId="717"/>
        </pc:sldMkLst>
        <pc:spChg chg="mod">
          <ac:chgData name="Dieter Beaven" userId="9bbdb69f-69d0-4759-aa9b-5c090a2da237" providerId="ADAL" clId="{197000CD-D614-4EDB-B4C2-59D6EF113C98}" dt="2024-12-11T14:12:40.069" v="1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Product Rule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A469CB-EF48-4BB1-98FE-48E545CF5B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F6A5A3-D143-4C00-B978-BB637902398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The Product Rule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13CEB6-40BC-4F5F-90E4-3690CCCE91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037D8F-06CD-4B55-884D-86A1D87CBC52}"/>
              </a:ext>
            </a:extLst>
          </p:cNvPr>
          <p:cNvSpPr txBox="1"/>
          <p:nvPr/>
        </p:nvSpPr>
        <p:spPr>
          <a:xfrm>
            <a:off x="213420" y="769020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mentioned previously, the product rule is used, unsurprisingly, when we have a </a:t>
            </a:r>
            <a:r>
              <a:rPr lang="en-GB" b="1" dirty="0"/>
              <a:t>product</a:t>
            </a:r>
            <a:r>
              <a:rPr lang="en-GB" dirty="0"/>
              <a:t> of two functions.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1762E-61E4-4D9A-9AD7-E933A29A0456}"/>
                  </a:ext>
                </a:extLst>
              </p:cNvPr>
              <p:cNvSpPr txBox="1"/>
              <p:nvPr/>
            </p:nvSpPr>
            <p:spPr>
              <a:xfrm>
                <a:off x="903536" y="1624608"/>
                <a:ext cx="3541464" cy="768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product rule:</a:t>
                </a:r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𝑢𝑣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1762E-61E4-4D9A-9AD7-E933A29A0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36" y="1624608"/>
                <a:ext cx="3541464" cy="768287"/>
              </a:xfrm>
              <a:prstGeom prst="rect">
                <a:avLst/>
              </a:prstGeom>
              <a:blipFill>
                <a:blip r:embed="rId2"/>
                <a:stretch>
                  <a:fillRect l="-1026" t="-3846" b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89CE4D9-9C38-4E31-9644-1CBD9B875507}"/>
              </a:ext>
            </a:extLst>
          </p:cNvPr>
          <p:cNvSpPr txBox="1"/>
          <p:nvPr/>
        </p:nvSpPr>
        <p:spPr>
          <a:xfrm>
            <a:off x="5292080" y="1624608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This is quite easy to remember. Differentiate one of the things but leave the other. Then do the other way round. Then add!</a:t>
            </a:r>
          </a:p>
          <a:p>
            <a:r>
              <a:rPr lang="en-GB" sz="1200" dirty="0"/>
              <a:t>Since addition is commutative, it doesn’t matter which way round we do it.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9CF168-B256-494C-826B-FA9E6F6B7B38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4644008" y="2060848"/>
            <a:ext cx="648072" cy="71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3A55AE-D838-4507-B3A2-5E2803793AFD}"/>
                  </a:ext>
                </a:extLst>
              </p:cNvPr>
              <p:cNvSpPr txBox="1"/>
              <p:nvPr/>
            </p:nvSpPr>
            <p:spPr>
              <a:xfrm>
                <a:off x="539552" y="2852936"/>
                <a:ext cx="3096344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determine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3A55AE-D838-4507-B3A2-5E2803793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852936"/>
                <a:ext cx="3096344" cy="491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7D8684-2CD6-428C-B7DF-F0CFD8161862}"/>
                  </a:ext>
                </a:extLst>
              </p:cNvPr>
              <p:cNvSpPr txBox="1"/>
              <p:nvPr/>
            </p:nvSpPr>
            <p:spPr>
              <a:xfrm>
                <a:off x="285428" y="3429000"/>
                <a:ext cx="3816424" cy="1421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7D8684-2CD6-428C-B7DF-F0CFD8161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28" y="3429000"/>
                <a:ext cx="3816424" cy="14211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E8C4EA-583C-4CBC-99E6-287BA2FCEABA}"/>
                  </a:ext>
                </a:extLst>
              </p:cNvPr>
              <p:cNvSpPr txBox="1"/>
              <p:nvPr/>
            </p:nvSpPr>
            <p:spPr>
              <a:xfrm>
                <a:off x="5436096" y="3344224"/>
                <a:ext cx="3384376" cy="138499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Fro Tip</a:t>
                </a:r>
                <a:r>
                  <a:rPr lang="en-GB" sz="1200" dirty="0"/>
                  <a:t>: While with the chain rule I encourage you to put the bits together without writing out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dirty="0"/>
                  <a:t>, in contrast, with the product rule I do encourage you to write out in full as per the left. This is because each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200" dirty="0"/>
                  <a:t> can be more complicated to differentiate – it thus helps you avoid trying to do too much at once.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E8C4EA-583C-4CBC-99E6-287BA2FCE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3344224"/>
                <a:ext cx="3384376" cy="1384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0B2028-2578-4015-A79C-098BA5F88E02}"/>
              </a:ext>
            </a:extLst>
          </p:cNvPr>
          <p:cNvCxnSpPr>
            <a:cxnSpLocks/>
          </p:cNvCxnSpPr>
          <p:nvPr/>
        </p:nvCxnSpPr>
        <p:spPr>
          <a:xfrm flipH="1">
            <a:off x="3552825" y="3599265"/>
            <a:ext cx="283071" cy="2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F2D238-D260-4327-A38C-C63EAD9DDED2}"/>
                  </a:ext>
                </a:extLst>
              </p:cNvPr>
              <p:cNvSpPr txBox="1"/>
              <p:nvPr/>
            </p:nvSpPr>
            <p:spPr>
              <a:xfrm>
                <a:off x="3863727" y="3363814"/>
                <a:ext cx="14062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Write out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=…,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GB" sz="1200" dirty="0"/>
                  <a:t> then differentiate each.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F2D238-D260-4327-A38C-C63EAD9DD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27" y="3363814"/>
                <a:ext cx="1406252" cy="646331"/>
              </a:xfrm>
              <a:prstGeom prst="rect">
                <a:avLst/>
              </a:prstGeom>
              <a:blipFill>
                <a:blip r:embed="rId6"/>
                <a:stretch>
                  <a:fillRect l="-435" t="-943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530CFB4-AE9E-4E12-94EB-9D0EB45D4943}"/>
              </a:ext>
            </a:extLst>
          </p:cNvPr>
          <p:cNvSpPr txBox="1"/>
          <p:nvPr/>
        </p:nvSpPr>
        <p:spPr>
          <a:xfrm>
            <a:off x="4016127" y="4274117"/>
            <a:ext cx="113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Sub into product rule.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107833-7F1D-42E2-AE07-F6D995314F13}"/>
              </a:ext>
            </a:extLst>
          </p:cNvPr>
          <p:cNvCxnSpPr>
            <a:cxnSpLocks/>
          </p:cNvCxnSpPr>
          <p:nvPr/>
        </p:nvCxnSpPr>
        <p:spPr>
          <a:xfrm flipH="1">
            <a:off x="3648075" y="4504140"/>
            <a:ext cx="321172" cy="2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AAD400A-DD10-4C61-A4ED-213B5A1856FB}"/>
              </a:ext>
            </a:extLst>
          </p:cNvPr>
          <p:cNvSpPr/>
          <p:nvPr/>
        </p:nvSpPr>
        <p:spPr>
          <a:xfrm>
            <a:off x="529604" y="3361281"/>
            <a:ext cx="2857103" cy="14888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3B9835-FF06-4C01-BBBD-FDF686F65EA1}"/>
                  </a:ext>
                </a:extLst>
              </p:cNvPr>
              <p:cNvSpPr txBox="1"/>
              <p:nvPr/>
            </p:nvSpPr>
            <p:spPr>
              <a:xfrm>
                <a:off x="476441" y="4931476"/>
                <a:ext cx="598661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, determine the coordinates of the turning point.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3B9835-FF06-4C01-BBBD-FDF686F65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41" y="4931476"/>
                <a:ext cx="5986612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2923EB-CC17-48C4-88D9-B640ED2D1E16}"/>
                  </a:ext>
                </a:extLst>
              </p:cNvPr>
              <p:cNvSpPr txBox="1"/>
              <p:nvPr/>
            </p:nvSpPr>
            <p:spPr>
              <a:xfrm>
                <a:off x="423651" y="5461292"/>
                <a:ext cx="3031930" cy="1273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   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2923EB-CC17-48C4-88D9-B640ED2D1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51" y="5461292"/>
                <a:ext cx="3031930" cy="1273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64FA9B-381E-4CC1-80D2-73E90A8F75D9}"/>
                  </a:ext>
                </a:extLst>
              </p:cNvPr>
              <p:cNvSpPr txBox="1"/>
              <p:nvPr/>
            </p:nvSpPr>
            <p:spPr>
              <a:xfrm>
                <a:off x="3415869" y="5428232"/>
                <a:ext cx="3867282" cy="141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dirty="0"/>
              </a:p>
              <a:p>
                <a:pPr/>
                <a:r>
                  <a:rPr lang="en-GB" sz="1400" dirty="0"/>
                  <a:t>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GB" sz="1400" dirty="0"/>
                  <a:t> </a:t>
                </a:r>
                <a:br>
                  <a:rPr lang="en-GB" sz="1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∴2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+1=0  →  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64FA9B-381E-4CC1-80D2-73E90A8F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69" y="5428232"/>
                <a:ext cx="3867282" cy="1410579"/>
              </a:xfrm>
              <a:prstGeom prst="rect">
                <a:avLst/>
              </a:prstGeom>
              <a:blipFill>
                <a:blip r:embed="rId9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C57C54-371A-429A-B899-D76B4FD1D7DE}"/>
              </a:ext>
            </a:extLst>
          </p:cNvPr>
          <p:cNvCxnSpPr/>
          <p:nvPr/>
        </p:nvCxnSpPr>
        <p:spPr>
          <a:xfrm>
            <a:off x="3222694" y="5557343"/>
            <a:ext cx="0" cy="1145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32BBBF4-EC43-424E-B453-E2BAC0D45F1C}"/>
              </a:ext>
            </a:extLst>
          </p:cNvPr>
          <p:cNvSpPr txBox="1"/>
          <p:nvPr/>
        </p:nvSpPr>
        <p:spPr>
          <a:xfrm>
            <a:off x="6967981" y="5417890"/>
            <a:ext cx="20430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It’s typical to factorise when finding a turning point.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2DC1F5-C477-4F26-A06D-112B69BC9B6C}"/>
              </a:ext>
            </a:extLst>
          </p:cNvPr>
          <p:cNvSpPr txBox="1"/>
          <p:nvPr/>
        </p:nvSpPr>
        <p:spPr>
          <a:xfrm>
            <a:off x="6989535" y="5982016"/>
            <a:ext cx="204302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 fact that exponential terms can never be 0 comes up frequently in exams.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B0B1BD-47CB-4912-80E1-AE15082C31BC}"/>
              </a:ext>
            </a:extLst>
          </p:cNvPr>
          <p:cNvCxnSpPr>
            <a:cxnSpLocks/>
          </p:cNvCxnSpPr>
          <p:nvPr/>
        </p:nvCxnSpPr>
        <p:spPr>
          <a:xfrm flipH="1">
            <a:off x="6549656" y="5589626"/>
            <a:ext cx="450223" cy="34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A16E78-45AA-4FAA-AD57-174DC7D0F641}"/>
              </a:ext>
            </a:extLst>
          </p:cNvPr>
          <p:cNvCxnSpPr>
            <a:cxnSpLocks/>
          </p:cNvCxnSpPr>
          <p:nvPr/>
        </p:nvCxnSpPr>
        <p:spPr>
          <a:xfrm flipH="1" flipV="1">
            <a:off x="6560288" y="5805377"/>
            <a:ext cx="450513" cy="20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9D00D28-72C3-4B5A-988D-7BF858D247A1}"/>
              </a:ext>
            </a:extLst>
          </p:cNvPr>
          <p:cNvSpPr/>
          <p:nvPr/>
        </p:nvSpPr>
        <p:spPr>
          <a:xfrm>
            <a:off x="476441" y="5307211"/>
            <a:ext cx="8556122" cy="14888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468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19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70040C-1656-42FE-AC60-F38D5EBA102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14DE8D3-FDC6-4FB0-B4D8-1F8816FB1B3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Product + Chain Rule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671B520-90A7-49EB-AC7E-F4F8F9C6B03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86B476-4C33-4108-8261-BC26696310AC}"/>
                  </a:ext>
                </a:extLst>
              </p:cNvPr>
              <p:cNvSpPr txBox="1"/>
              <p:nvPr/>
            </p:nvSpPr>
            <p:spPr>
              <a:xfrm>
                <a:off x="467544" y="802727"/>
                <a:ext cx="7848872" cy="7682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show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are constants to be determined.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86B476-4C33-4108-8261-BC2669631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02727"/>
                <a:ext cx="7848872" cy="768287"/>
              </a:xfrm>
              <a:prstGeom prst="rect">
                <a:avLst/>
              </a:prstGeom>
              <a:blipFill>
                <a:blip r:embed="rId2"/>
                <a:stretch>
                  <a:fillRect b="-2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3A283B-8CB5-479D-A9BB-38363C75288E}"/>
                  </a:ext>
                </a:extLst>
              </p:cNvPr>
              <p:cNvSpPr txBox="1"/>
              <p:nvPr/>
            </p:nvSpPr>
            <p:spPr>
              <a:xfrm>
                <a:off x="442144" y="1647862"/>
                <a:ext cx="6260504" cy="1777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600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𝒅𝒗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sz="1600" b="1" dirty="0"/>
              </a:p>
              <a:p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600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3A283B-8CB5-479D-A9BB-38363C752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4" y="1647862"/>
                <a:ext cx="6260504" cy="177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4A5B48-A6E1-478A-B3AE-AA0AC824E43B}"/>
                  </a:ext>
                </a:extLst>
              </p:cNvPr>
              <p:cNvSpPr txBox="1"/>
              <p:nvPr/>
            </p:nvSpPr>
            <p:spPr>
              <a:xfrm>
                <a:off x="450528" y="3522066"/>
                <a:ext cx="8441952" cy="3954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4A5B48-A6E1-478A-B3AE-AA0AC824E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28" y="3522066"/>
                <a:ext cx="8441952" cy="395429"/>
              </a:xfrm>
              <a:prstGeom prst="rect">
                <a:avLst/>
              </a:prstGeom>
              <a:blipFill>
                <a:blip r:embed="rId4"/>
                <a:stretch>
                  <a:fillRect b="-449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F4F5C-E6C6-4DA0-A98F-2D2F4172BF60}"/>
                  </a:ext>
                </a:extLst>
              </p:cNvPr>
              <p:cNvSpPr txBox="1"/>
              <p:nvPr/>
            </p:nvSpPr>
            <p:spPr>
              <a:xfrm>
                <a:off x="577528" y="3891260"/>
                <a:ext cx="4845372" cy="283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𝒅𝒗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F4F5C-E6C6-4DA0-A98F-2D2F4172B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28" y="3891260"/>
                <a:ext cx="4845372" cy="28370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192C79-27ED-413C-9EF8-1D9F2928E0EB}"/>
                  </a:ext>
                </a:extLst>
              </p:cNvPr>
              <p:cNvSpPr txBox="1"/>
              <p:nvPr/>
            </p:nvSpPr>
            <p:spPr>
              <a:xfrm>
                <a:off x="5899720" y="4045878"/>
                <a:ext cx="2926841" cy="168982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is when the manipulation is a little tricky. Remember to:</a:t>
                </a:r>
              </a:p>
              <a:p>
                <a:pPr marL="228600" indent="-228600">
                  <a:buAutoNum type="alphaLcParenBoth"/>
                </a:pPr>
                <a:r>
                  <a:rPr lang="en-GB" sz="1200" dirty="0"/>
                  <a:t>Factor out the smallest power, in this case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. Since a power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 is 1 more than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, we have an extra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GB" sz="1200" dirty="0"/>
              </a:p>
              <a:p>
                <a:pPr marL="228600" indent="-228600">
                  <a:buAutoNum type="alphaLcParenBoth"/>
                </a:pPr>
                <a:r>
                  <a:rPr lang="en-GB" sz="1200" dirty="0"/>
                  <a:t>Factor out the fraction.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 goes into both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 and 2.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192C79-27ED-413C-9EF8-1D9F2928E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720" y="4045878"/>
                <a:ext cx="2926841" cy="1689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70A5B-F441-42DC-93E0-42E3957B207D}"/>
                  </a:ext>
                </a:extLst>
              </p:cNvPr>
              <p:cNvSpPr txBox="1"/>
              <p:nvPr/>
            </p:nvSpPr>
            <p:spPr>
              <a:xfrm>
                <a:off x="5897636" y="5933396"/>
                <a:ext cx="2926841" cy="4754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last step is optional. Try to avoid negative powers, and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GB" sz="1200" dirty="0"/>
                  <a:t> is tidier.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70A5B-F441-42DC-93E0-42E3957B2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636" y="5933396"/>
                <a:ext cx="2926841" cy="475451"/>
              </a:xfrm>
              <a:prstGeom prst="rect">
                <a:avLst/>
              </a:prstGeom>
              <a:blipFill>
                <a:blip r:embed="rId7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7BB4EC-BC94-4DAA-B7F0-8EA18FCC3A1B}"/>
              </a:ext>
            </a:extLst>
          </p:cNvPr>
          <p:cNvCxnSpPr>
            <a:stCxn id="9" idx="1"/>
          </p:cNvCxnSpPr>
          <p:nvPr/>
        </p:nvCxnSpPr>
        <p:spPr>
          <a:xfrm flipH="1">
            <a:off x="5220072" y="4890789"/>
            <a:ext cx="679648" cy="554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4D9BC2-741E-48C2-BC9B-2B6A16B4640C}"/>
              </a:ext>
            </a:extLst>
          </p:cNvPr>
          <p:cNvCxnSpPr>
            <a:cxnSpLocks/>
          </p:cNvCxnSpPr>
          <p:nvPr/>
        </p:nvCxnSpPr>
        <p:spPr>
          <a:xfrm flipH="1">
            <a:off x="5270500" y="6131629"/>
            <a:ext cx="614536" cy="15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5460A-F996-4AA1-BCB3-A1C677F1EEDA}"/>
              </a:ext>
            </a:extLst>
          </p:cNvPr>
          <p:cNvSpPr/>
          <p:nvPr/>
        </p:nvSpPr>
        <p:spPr>
          <a:xfrm>
            <a:off x="450528" y="1601102"/>
            <a:ext cx="7865888" cy="17232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AA9E8-AF97-4546-8A16-1DFA5CFAA6C3}"/>
              </a:ext>
            </a:extLst>
          </p:cNvPr>
          <p:cNvSpPr/>
          <p:nvPr/>
        </p:nvSpPr>
        <p:spPr>
          <a:xfrm>
            <a:off x="450528" y="3926279"/>
            <a:ext cx="8441952" cy="2802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688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789A43-2455-4E2E-A672-0E3B65B0A7B6}"/>
              </a:ext>
            </a:extLst>
          </p:cNvPr>
          <p:cNvSpPr/>
          <p:nvPr/>
        </p:nvSpPr>
        <p:spPr>
          <a:xfrm>
            <a:off x="264862" y="4147439"/>
            <a:ext cx="2794970" cy="3737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Edexcel C3 June 2013 Q5(c)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EA3770-E2C8-4EC2-B62F-9D97F56E3051}"/>
                  </a:ext>
                </a:extLst>
              </p:cNvPr>
              <p:cNvSpPr txBox="1"/>
              <p:nvPr/>
            </p:nvSpPr>
            <p:spPr>
              <a:xfrm>
                <a:off x="264862" y="4530781"/>
                <a:ext cx="3312368" cy="12216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, simplifying your answer.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EA3770-E2C8-4EC2-B62F-9D97F56E3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62" y="4530781"/>
                <a:ext cx="3312368" cy="1221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26C962-2D90-4306-A194-4C5FBE429D12}"/>
                  </a:ext>
                </a:extLst>
              </p:cNvPr>
              <p:cNvSpPr txBox="1"/>
              <p:nvPr/>
            </p:nvSpPr>
            <p:spPr>
              <a:xfrm>
                <a:off x="4265603" y="4932417"/>
                <a:ext cx="3978805" cy="1886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26C962-2D90-4306-A194-4C5FBE429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603" y="4932417"/>
                <a:ext cx="3978805" cy="1886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C473C50-B51B-475F-B57A-EC91B68AE706}"/>
              </a:ext>
            </a:extLst>
          </p:cNvPr>
          <p:cNvSpPr txBox="1"/>
          <p:nvPr/>
        </p:nvSpPr>
        <p:spPr>
          <a:xfrm>
            <a:off x="5076056" y="4101420"/>
            <a:ext cx="3888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Examiner’s Report</a:t>
            </a:r>
            <a:r>
              <a:rPr lang="en-GB" sz="1200" dirty="0"/>
              <a:t>: “Perhaps the most challenging question in the paper”. And this is on a paper described as having “a level of demand higher than any previous C3 paper”.</a:t>
            </a:r>
          </a:p>
          <a:p>
            <a:r>
              <a:rPr lang="en-GB" sz="1200" dirty="0"/>
              <a:t>So it’s DAMN FRIKKIN’ HARD. </a:t>
            </a:r>
            <a:r>
              <a:rPr lang="en-GB" sz="1200" dirty="0">
                <a:sym typeface="Wingdings" panose="05000000000000000000" pitchFamily="2" charset="2"/>
              </a:rPr>
              <a:t></a:t>
            </a:r>
            <a:endParaRPr lang="en-GB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555F9F-CDD6-4F85-A673-B28B917CB9D9}"/>
              </a:ext>
            </a:extLst>
          </p:cNvPr>
          <p:cNvCxnSpPr>
            <a:cxnSpLocks/>
          </p:cNvCxnSpPr>
          <p:nvPr/>
        </p:nvCxnSpPr>
        <p:spPr>
          <a:xfrm flipH="1">
            <a:off x="3314700" y="4337162"/>
            <a:ext cx="1761356" cy="38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6B021A4-CD28-423D-85C0-EC7F64427032}"/>
              </a:ext>
            </a:extLst>
          </p:cNvPr>
          <p:cNvSpPr/>
          <p:nvPr/>
        </p:nvSpPr>
        <p:spPr>
          <a:xfrm>
            <a:off x="4265603" y="4952240"/>
            <a:ext cx="4058716" cy="1842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46FE19-2F40-453C-90D3-31DDD5E24E8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0" name="TextBox 32">
              <a:extLst>
                <a:ext uri="{FF2B5EF4-FFF2-40B4-BE49-F238E27FC236}">
                  <a16:creationId xmlns:a16="http://schemas.microsoft.com/office/drawing/2014/main" id="{2125EB8B-C07C-4B84-B838-188685DA987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F6D3BE-0E61-4E97-BA86-EB2546A6864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4F2C159-9E50-4F91-A121-93318F128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80" y="1296384"/>
            <a:ext cx="6498318" cy="7896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803713E-6209-4536-977D-CF40571B3E8A}"/>
              </a:ext>
            </a:extLst>
          </p:cNvPr>
          <p:cNvSpPr/>
          <p:nvPr/>
        </p:nvSpPr>
        <p:spPr>
          <a:xfrm>
            <a:off x="403480" y="922628"/>
            <a:ext cx="2512336" cy="3737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Jan 2012 Q1a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BD8AE2-68FC-4C76-A37E-12DC81E56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2254313"/>
            <a:ext cx="6951366" cy="11691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90D259-1CDC-4253-B4D0-93A73D6DEFF4}"/>
              </a:ext>
            </a:extLst>
          </p:cNvPr>
          <p:cNvSpPr/>
          <p:nvPr/>
        </p:nvSpPr>
        <p:spPr>
          <a:xfrm>
            <a:off x="683568" y="2195589"/>
            <a:ext cx="7128792" cy="13774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119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72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206BBFE-47D2-8A61-6C77-DE22F5E5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90" y="908720"/>
            <a:ext cx="75342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B6F0CD0-F534-CC23-2B25-2C699B43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78" y="700536"/>
            <a:ext cx="765810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BA92AD-AA83-5B61-A807-E41D8C12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56052"/>
            <a:ext cx="4752528" cy="45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22501</TotalTime>
  <Words>613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P2 Chapter 9: Differentiation  The Product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2024-12-11T14:12:46Z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