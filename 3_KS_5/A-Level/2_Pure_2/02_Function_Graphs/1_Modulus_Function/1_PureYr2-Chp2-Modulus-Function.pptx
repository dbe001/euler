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547" r:id="rId5"/>
    <p:sldId id="484" r:id="rId6"/>
    <p:sldId id="509" r:id="rId7"/>
    <p:sldId id="569" r:id="rId8"/>
    <p:sldId id="570" r:id="rId9"/>
    <p:sldId id="571" r:id="rId10"/>
    <p:sldId id="549" r:id="rId11"/>
    <p:sldId id="543" r:id="rId12"/>
    <p:sldId id="550" r:id="rId13"/>
    <p:sldId id="551" r:id="rId14"/>
    <p:sldId id="545" r:id="rId15"/>
    <p:sldId id="55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73871225-6362-425F-A663-BD64B4DD7974}"/>
    <pc:docChg chg="addSld modSld">
      <pc:chgData name="Dieter Beaven" userId="9bbdb69f-69d0-4759-aa9b-5c090a2da237" providerId="ADAL" clId="{73871225-6362-425F-A663-BD64B4DD7974}" dt="2025-05-13T14:59:06.942" v="31" actId="20577"/>
      <pc:docMkLst>
        <pc:docMk/>
      </pc:docMkLst>
      <pc:sldChg chg="modSp add mod">
        <pc:chgData name="Dieter Beaven" userId="9bbdb69f-69d0-4759-aa9b-5c090a2da237" providerId="ADAL" clId="{73871225-6362-425F-A663-BD64B4DD7974}" dt="2025-05-13T14:58:49.533" v="5" actId="20577"/>
        <pc:sldMkLst>
          <pc:docMk/>
          <pc:sldMk cId="3617830027" sldId="484"/>
        </pc:sldMkLst>
      </pc:sldChg>
      <pc:sldChg chg="add">
        <pc:chgData name="Dieter Beaven" userId="9bbdb69f-69d0-4759-aa9b-5c090a2da237" providerId="ADAL" clId="{73871225-6362-425F-A663-BD64B4DD7974}" dt="2025-05-13T14:58:43.689" v="0"/>
        <pc:sldMkLst>
          <pc:docMk/>
          <pc:sldMk cId="1808939409" sldId="509"/>
        </pc:sldMkLst>
      </pc:sldChg>
      <pc:sldChg chg="modSp mod">
        <pc:chgData name="Dieter Beaven" userId="9bbdb69f-69d0-4759-aa9b-5c090a2da237" providerId="ADAL" clId="{73871225-6362-425F-A663-BD64B4DD7974}" dt="2025-05-13T14:58:59.578" v="29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73871225-6362-425F-A663-BD64B4DD7974}" dt="2025-05-13T14:59:06.942" v="31" actId="2057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73871225-6362-425F-A663-BD64B4DD7974}" dt="2025-05-13T14:58:43.689" v="0"/>
        <pc:sldMkLst>
          <pc:docMk/>
          <pc:sldMk cId="3921989921" sldId="569"/>
        </pc:sldMkLst>
      </pc:sldChg>
      <pc:sldChg chg="add">
        <pc:chgData name="Dieter Beaven" userId="9bbdb69f-69d0-4759-aa9b-5c090a2da237" providerId="ADAL" clId="{73871225-6362-425F-A663-BD64B4DD7974}" dt="2025-05-13T14:58:43.689" v="0"/>
        <pc:sldMkLst>
          <pc:docMk/>
          <pc:sldMk cId="2615304691" sldId="570"/>
        </pc:sldMkLst>
      </pc:sldChg>
      <pc:sldChg chg="add">
        <pc:chgData name="Dieter Beaven" userId="9bbdb69f-69d0-4759-aa9b-5c090a2da237" providerId="ADAL" clId="{73871225-6362-425F-A663-BD64B4DD7974}" dt="2025-05-13T14:58:43.689" v="0"/>
        <pc:sldMkLst>
          <pc:docMk/>
          <pc:sldMk cId="1296546928" sldId="571"/>
        </pc:sldMkLst>
      </pc:sldChg>
    </pc:docChg>
  </pc:docChgLst>
  <pc:docChgLst>
    <pc:chgData name="Dieter Beaven" userId="9bbdb69f-69d0-4759-aa9b-5c090a2da237" providerId="ADAL" clId="{792476D1-4830-4FD3-88FA-72F3EC1EFDE4}"/>
    <pc:docChg chg="custSel modSld">
      <pc:chgData name="Dieter Beaven" userId="9bbdb69f-69d0-4759-aa9b-5c090a2da237" providerId="ADAL" clId="{792476D1-4830-4FD3-88FA-72F3EC1EFDE4}" dt="2025-08-27T09:21:05.860" v="11" actId="1076"/>
      <pc:docMkLst>
        <pc:docMk/>
      </pc:docMkLst>
      <pc:sldChg chg="addSp delSp modSp mod">
        <pc:chgData name="Dieter Beaven" userId="9bbdb69f-69d0-4759-aa9b-5c090a2da237" providerId="ADAL" clId="{792476D1-4830-4FD3-88FA-72F3EC1EFDE4}" dt="2025-08-27T09:20:30.479" v="9" actId="1035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792476D1-4830-4FD3-88FA-72F3EC1EFDE4}" dt="2025-08-27T09:20:26.905" v="8" actId="1076"/>
        <pc:sldMkLst>
          <pc:docMk/>
          <pc:sldMk cId="4091202299" sldId="550"/>
        </pc:sldMkLst>
      </pc:sldChg>
      <pc:sldChg chg="addSp modSp mod">
        <pc:chgData name="Dieter Beaven" userId="9bbdb69f-69d0-4759-aa9b-5c090a2da237" providerId="ADAL" clId="{792476D1-4830-4FD3-88FA-72F3EC1EFDE4}" dt="2025-08-27T09:21:05.860" v="11" actId="1076"/>
        <pc:sldMkLst>
          <pc:docMk/>
          <pc:sldMk cId="3826585799" sldId="551"/>
        </pc:sldMkLst>
      </pc:sldChg>
    </pc:docChg>
  </pc:docChgLst>
  <pc:docChgLst>
    <pc:chgData name="Dieter Beaven" userId="9bbdb69f-69d0-4759-aa9b-5c090a2da237" providerId="ADAL" clId="{AEBAE04E-4907-4488-9BE2-3C2C331A46F1}"/>
    <pc:docChg chg="modSld">
      <pc:chgData name="Dieter Beaven" userId="9bbdb69f-69d0-4759-aa9b-5c090a2da237" providerId="ADAL" clId="{AEBAE04E-4907-4488-9BE2-3C2C331A46F1}" dt="2025-04-25T15:29:32.696" v="3" actId="20577"/>
      <pc:docMkLst>
        <pc:docMk/>
      </pc:docMkLst>
      <pc:sldChg chg="modSp mod">
        <pc:chgData name="Dieter Beaven" userId="9bbdb69f-69d0-4759-aa9b-5c090a2da237" providerId="ADAL" clId="{AEBAE04E-4907-4488-9BE2-3C2C331A46F1}" dt="2025-04-25T15:29:28.587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AEBAE04E-4907-4488-9BE2-3C2C331A46F1}" dt="2025-04-25T15:29:32.696" v="3" actId="20577"/>
        <pc:sldMkLst>
          <pc:docMk/>
          <pc:sldMk cId="3055658135" sldId="549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62ABA8E6-ED41-42D9-8F57-3F7DAE0F9E42}"/>
    <pc:docChg chg="modSld">
      <pc:chgData name="Dieter Beaven" userId="9bbdb69f-69d0-4759-aa9b-5c090a2da237" providerId="ADAL" clId="{62ABA8E6-ED41-42D9-8F57-3F7DAE0F9E42}" dt="2025-10-17T09:34:29.302" v="7" actId="1076"/>
      <pc:docMkLst>
        <pc:docMk/>
      </pc:docMkLst>
      <pc:sldChg chg="addSp modSp mod">
        <pc:chgData name="Dieter Beaven" userId="9bbdb69f-69d0-4759-aa9b-5c090a2da237" providerId="ADAL" clId="{62ABA8E6-ED41-42D9-8F57-3F7DAE0F9E42}" dt="2025-10-17T09:33:01.296" v="5" actId="1036"/>
        <pc:sldMkLst>
          <pc:docMk/>
          <pc:sldMk cId="3458699803" sldId="545"/>
        </pc:sldMkLst>
        <pc:picChg chg="add mod">
          <ac:chgData name="Dieter Beaven" userId="9bbdb69f-69d0-4759-aa9b-5c090a2da237" providerId="ADAL" clId="{62ABA8E6-ED41-42D9-8F57-3F7DAE0F9E42}" dt="2025-10-17T09:33:01.296" v="5" actId="1036"/>
          <ac:picMkLst>
            <pc:docMk/>
            <pc:sldMk cId="3458699803" sldId="545"/>
            <ac:picMk id="6" creationId="{B1AE3EF7-9606-1BEC-4A33-5856C607278D}"/>
          </ac:picMkLst>
        </pc:picChg>
      </pc:sldChg>
      <pc:sldChg chg="addSp modSp mod">
        <pc:chgData name="Dieter Beaven" userId="9bbdb69f-69d0-4759-aa9b-5c090a2da237" providerId="ADAL" clId="{62ABA8E6-ED41-42D9-8F57-3F7DAE0F9E42}" dt="2025-10-17T09:34:29.302" v="7" actId="1076"/>
        <pc:sldMkLst>
          <pc:docMk/>
          <pc:sldMk cId="2531956736" sldId="552"/>
        </pc:sldMkLst>
        <pc:picChg chg="add mod">
          <ac:chgData name="Dieter Beaven" userId="9bbdb69f-69d0-4759-aa9b-5c090a2da237" providerId="ADAL" clId="{62ABA8E6-ED41-42D9-8F57-3F7DAE0F9E42}" dt="2025-10-17T09:34:29.302" v="7" actId="1076"/>
          <ac:picMkLst>
            <pc:docMk/>
            <pc:sldMk cId="2531956736" sldId="552"/>
            <ac:picMk id="6" creationId="{AFCCC8CA-9349-A891-A9D8-EEB2F4718507}"/>
          </ac:picMkLst>
        </pc:picChg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BC489C12-7655-4349-A9B7-B3F187814AC5}"/>
    <pc:docChg chg="modSld">
      <pc:chgData name="Dieter Beaven" userId="9bbdb69f-69d0-4759-aa9b-5c090a2da237" providerId="ADAL" clId="{BC489C12-7655-4349-A9B7-B3F187814AC5}" dt="2025-04-29T13:37:22.258" v="33" actId="20577"/>
      <pc:docMkLst>
        <pc:docMk/>
      </pc:docMkLst>
      <pc:sldChg chg="modSp mod">
        <pc:chgData name="Dieter Beaven" userId="9bbdb69f-69d0-4759-aa9b-5c090a2da237" providerId="ADAL" clId="{BC489C12-7655-4349-A9B7-B3F187814AC5}" dt="2025-04-29T13:37:22.258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39.png"/><Relationship Id="rId10" Type="http://schemas.openxmlformats.org/officeDocument/2006/relationships/image" Target="../media/image52.png"/><Relationship Id="rId4" Type="http://schemas.openxmlformats.org/officeDocument/2006/relationships/image" Target="../media/image31.png"/><Relationship Id="rId9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2: </a:t>
            </a:r>
            <a:r>
              <a:rPr lang="en-GB" dirty="0">
                <a:solidFill>
                  <a:schemeClr val="accent5"/>
                </a:solidFill>
              </a:rPr>
              <a:t>Graphing Functions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The Modulus Function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The Modulus Function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11560" y="908720"/>
                <a:ext cx="7848872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The modulus of a number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, written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dirty="0"/>
                  <a:t>, is its </a:t>
                </a:r>
                <a:r>
                  <a:rPr lang="en-GB" b="1" dirty="0"/>
                  <a:t>non-negative</a:t>
                </a:r>
                <a:r>
                  <a:rPr lang="en-GB" dirty="0"/>
                  <a:t> numerical value.</a:t>
                </a:r>
                <a:br>
                  <a:rPr lang="en-GB" dirty="0"/>
                </a:br>
                <a:r>
                  <a:rPr lang="en-GB" dirty="0"/>
                  <a:t>      e.g.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−7.1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=7.1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908720"/>
                <a:ext cx="7848872" cy="646331"/>
              </a:xfrm>
              <a:prstGeom prst="rect">
                <a:avLst/>
              </a:prstGeom>
              <a:blipFill>
                <a:blip r:embed="rId2"/>
                <a:stretch>
                  <a:fillRect l="-464" t="-3636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5367B6-EB6D-4A58-B7E6-8BF4A68EFC3E}"/>
              </a:ext>
            </a:extLst>
          </p:cNvPr>
          <p:cNvCxnSpPr>
            <a:cxnSpLocks/>
          </p:cNvCxnSpPr>
          <p:nvPr/>
        </p:nvCxnSpPr>
        <p:spPr>
          <a:xfrm>
            <a:off x="1750749" y="2683792"/>
            <a:ext cx="4844732" cy="95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43520D-C660-40B7-836F-761507D5676C}"/>
              </a:ext>
            </a:extLst>
          </p:cNvPr>
          <p:cNvCxnSpPr>
            <a:cxnSpLocks/>
          </p:cNvCxnSpPr>
          <p:nvPr/>
        </p:nvCxnSpPr>
        <p:spPr>
          <a:xfrm flipV="1">
            <a:off x="2110789" y="2683792"/>
            <a:ext cx="0" cy="171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A90394-3643-430B-91D1-61BD0B813179}"/>
              </a:ext>
            </a:extLst>
          </p:cNvPr>
          <p:cNvCxnSpPr>
            <a:cxnSpLocks/>
          </p:cNvCxnSpPr>
          <p:nvPr/>
        </p:nvCxnSpPr>
        <p:spPr>
          <a:xfrm flipV="1">
            <a:off x="2686853" y="2683792"/>
            <a:ext cx="0" cy="171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3D8D4A-E3F4-4243-9C63-8EA68175BD0E}"/>
              </a:ext>
            </a:extLst>
          </p:cNvPr>
          <p:cNvCxnSpPr>
            <a:cxnSpLocks/>
          </p:cNvCxnSpPr>
          <p:nvPr/>
        </p:nvCxnSpPr>
        <p:spPr>
          <a:xfrm flipV="1">
            <a:off x="3262917" y="2693317"/>
            <a:ext cx="0" cy="171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4830B9B-AC42-4400-A485-F7BE688D3C9B}"/>
              </a:ext>
            </a:extLst>
          </p:cNvPr>
          <p:cNvCxnSpPr>
            <a:cxnSpLocks/>
          </p:cNvCxnSpPr>
          <p:nvPr/>
        </p:nvCxnSpPr>
        <p:spPr>
          <a:xfrm flipV="1">
            <a:off x="3838981" y="2693317"/>
            <a:ext cx="0" cy="171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F04EB3-59B5-4026-9F33-B4AFAD72707F}"/>
              </a:ext>
            </a:extLst>
          </p:cNvPr>
          <p:cNvCxnSpPr>
            <a:cxnSpLocks/>
          </p:cNvCxnSpPr>
          <p:nvPr/>
        </p:nvCxnSpPr>
        <p:spPr>
          <a:xfrm flipV="1">
            <a:off x="4415045" y="2693317"/>
            <a:ext cx="0" cy="171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555FD5-B5CB-4445-9D10-DAD34A54CCE2}"/>
              </a:ext>
            </a:extLst>
          </p:cNvPr>
          <p:cNvCxnSpPr>
            <a:cxnSpLocks/>
          </p:cNvCxnSpPr>
          <p:nvPr/>
        </p:nvCxnSpPr>
        <p:spPr>
          <a:xfrm flipV="1">
            <a:off x="4991109" y="2693317"/>
            <a:ext cx="0" cy="171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CA9544-EBEF-49E2-87F0-2719ABC8971D}"/>
              </a:ext>
            </a:extLst>
          </p:cNvPr>
          <p:cNvCxnSpPr>
            <a:cxnSpLocks/>
          </p:cNvCxnSpPr>
          <p:nvPr/>
        </p:nvCxnSpPr>
        <p:spPr>
          <a:xfrm flipV="1">
            <a:off x="5567173" y="2693317"/>
            <a:ext cx="0" cy="171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AD6A334-EF9A-4C92-A62A-63B5BB24D7F8}"/>
              </a:ext>
            </a:extLst>
          </p:cNvPr>
          <p:cNvCxnSpPr>
            <a:cxnSpLocks/>
          </p:cNvCxnSpPr>
          <p:nvPr/>
        </p:nvCxnSpPr>
        <p:spPr>
          <a:xfrm flipV="1">
            <a:off x="6143237" y="2693317"/>
            <a:ext cx="0" cy="171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148A7D9-E7F3-4957-AE3D-C4254AE0267E}"/>
              </a:ext>
            </a:extLst>
          </p:cNvPr>
          <p:cNvSpPr txBox="1"/>
          <p:nvPr/>
        </p:nvSpPr>
        <p:spPr>
          <a:xfrm>
            <a:off x="1966231" y="2855624"/>
            <a:ext cx="50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074CC0-25A2-4817-B8B8-524726AB6FCC}"/>
              </a:ext>
            </a:extLst>
          </p:cNvPr>
          <p:cNvSpPr txBox="1"/>
          <p:nvPr/>
        </p:nvSpPr>
        <p:spPr>
          <a:xfrm>
            <a:off x="2538678" y="2855624"/>
            <a:ext cx="50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0EE41C-82FA-4AD5-94E0-6630CA48A7B8}"/>
              </a:ext>
            </a:extLst>
          </p:cNvPr>
          <p:cNvSpPr txBox="1"/>
          <p:nvPr/>
        </p:nvSpPr>
        <p:spPr>
          <a:xfrm>
            <a:off x="3101389" y="2855624"/>
            <a:ext cx="50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D758E3-8045-4DB6-932B-B5C86FD55E79}"/>
              </a:ext>
            </a:extLst>
          </p:cNvPr>
          <p:cNvSpPr txBox="1"/>
          <p:nvPr/>
        </p:nvSpPr>
        <p:spPr>
          <a:xfrm>
            <a:off x="3698280" y="2855624"/>
            <a:ext cx="50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AFC8B6-EC34-450F-AB2C-7E403B864448}"/>
              </a:ext>
            </a:extLst>
          </p:cNvPr>
          <p:cNvSpPr txBox="1"/>
          <p:nvPr/>
        </p:nvSpPr>
        <p:spPr>
          <a:xfrm>
            <a:off x="4270487" y="2855624"/>
            <a:ext cx="50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781310-3EB9-4B76-9020-5F28A7856232}"/>
              </a:ext>
            </a:extLst>
          </p:cNvPr>
          <p:cNvSpPr txBox="1"/>
          <p:nvPr/>
        </p:nvSpPr>
        <p:spPr>
          <a:xfrm>
            <a:off x="4842694" y="2865149"/>
            <a:ext cx="50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95FF20-4133-499A-B69E-FB64BFF065A1}"/>
              </a:ext>
            </a:extLst>
          </p:cNvPr>
          <p:cNvSpPr txBox="1"/>
          <p:nvPr/>
        </p:nvSpPr>
        <p:spPr>
          <a:xfrm>
            <a:off x="5414901" y="2865149"/>
            <a:ext cx="50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F2C941-6713-44D1-B783-1578C0CCB608}"/>
              </a:ext>
            </a:extLst>
          </p:cNvPr>
          <p:cNvSpPr txBox="1"/>
          <p:nvPr/>
        </p:nvSpPr>
        <p:spPr>
          <a:xfrm>
            <a:off x="5987108" y="2865149"/>
            <a:ext cx="50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F3EA6C-EAD1-40F8-B907-73D042AB397E}"/>
                  </a:ext>
                </a:extLst>
              </p:cNvPr>
              <p:cNvSpPr txBox="1"/>
              <p:nvPr/>
            </p:nvSpPr>
            <p:spPr>
              <a:xfrm>
                <a:off x="3426087" y="1844643"/>
                <a:ext cx="808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7F3EA6C-EAD1-40F8-B907-73D042AB3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087" y="1844643"/>
                <a:ext cx="8084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rrow: Down 23">
            <a:extLst>
              <a:ext uri="{FF2B5EF4-FFF2-40B4-BE49-F238E27FC236}">
                <a16:creationId xmlns:a16="http://schemas.microsoft.com/office/drawing/2014/main" id="{2454F2E1-3AD2-473E-A9B1-08A0D63A3D6A}"/>
              </a:ext>
            </a:extLst>
          </p:cNvPr>
          <p:cNvSpPr/>
          <p:nvPr/>
        </p:nvSpPr>
        <p:spPr>
          <a:xfrm>
            <a:off x="3749080" y="2222500"/>
            <a:ext cx="181570" cy="34590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5B67EBA0-C3F0-4486-A6B1-12C8CDABDCED}"/>
              </a:ext>
            </a:extLst>
          </p:cNvPr>
          <p:cNvSpPr/>
          <p:nvPr/>
        </p:nvSpPr>
        <p:spPr>
          <a:xfrm>
            <a:off x="5428880" y="2213975"/>
            <a:ext cx="181570" cy="34590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4D56AAA-34F0-417A-8E90-840C2456228D}"/>
                  </a:ext>
                </a:extLst>
              </p:cNvPr>
              <p:cNvSpPr txBox="1"/>
              <p:nvPr/>
            </p:nvSpPr>
            <p:spPr>
              <a:xfrm>
                <a:off x="5095280" y="1844643"/>
                <a:ext cx="808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4D56AAA-34F0-417A-8E90-840C24562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280" y="1844643"/>
                <a:ext cx="8084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7BCB672-6F7C-4D18-A778-8ED434E0754E}"/>
                  </a:ext>
                </a:extLst>
              </p:cNvPr>
              <p:cNvSpPr txBox="1"/>
              <p:nvPr/>
            </p:nvSpPr>
            <p:spPr>
              <a:xfrm>
                <a:off x="804119" y="3573016"/>
                <a:ext cx="7437908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modulus function is particularly useful in expressing a </a:t>
                </a:r>
                <a:r>
                  <a:rPr lang="en-GB" b="1" dirty="0"/>
                  <a:t>difference</a:t>
                </a:r>
                <a:r>
                  <a:rPr lang="en-GB" dirty="0"/>
                  <a:t>. We generally like to quote differences as positive values, but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may be negative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is smaller than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. By using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dirty="0"/>
                  <a:t>, we get round this problem!</a:t>
                </a:r>
              </a:p>
              <a:p>
                <a:endParaRPr lang="en-GB" dirty="0"/>
              </a:p>
              <a:p>
                <a:r>
                  <a:rPr lang="en-GB" dirty="0"/>
                  <a:t>More fundamentally, the modulus of a value gives us its ‘</a:t>
                </a:r>
                <a:r>
                  <a:rPr lang="en-GB" b="1" dirty="0"/>
                  <a:t>magnitude</a:t>
                </a:r>
                <a:r>
                  <a:rPr lang="en-GB" dirty="0"/>
                  <a:t>’, i.e. size; from Mechanics, you should also be used to the notion the distances and speeds are quoted as positive values.</a:t>
                </a:r>
              </a:p>
              <a:p>
                <a:r>
                  <a:rPr lang="en-GB" dirty="0"/>
                  <a:t>And in Pure Year 1 we saw the same notation used for vectors: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dirty="0"/>
                  <a:t> gives us the magnitude/length of the vector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dirty="0"/>
                  <a:t>. It’s the same function!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7BCB672-6F7C-4D18-A778-8ED434E07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119" y="3573016"/>
                <a:ext cx="7437908" cy="2585323"/>
              </a:xfrm>
              <a:prstGeom prst="rect">
                <a:avLst/>
              </a:prstGeom>
              <a:blipFill>
                <a:blip r:embed="rId5"/>
                <a:stretch>
                  <a:fillRect l="-738" t="-1179" b="-28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7830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E04023D-3FDD-46D2-83F5-BD476B1B5DE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0257B13-FA9A-4F8B-A7BC-1E65130AFEA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FD1B62A-9750-4D59-A89E-113D98F0D3E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67F44B-586A-4FA6-97AF-B89F43643ED5}"/>
                  </a:ext>
                </a:extLst>
              </p:cNvPr>
              <p:cNvSpPr txBox="1"/>
              <p:nvPr/>
            </p:nvSpPr>
            <p:spPr>
              <a:xfrm>
                <a:off x="1879227" y="908720"/>
                <a:ext cx="5285061" cy="156966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/>
                  <a:t>, find</a:t>
                </a:r>
              </a:p>
              <a:p>
                <a:pPr marL="342900" indent="-342900">
                  <a:buAutoNum type="alphaLcParenR"/>
                </a:pPr>
                <a:r>
                  <a:rPr lang="en-GB" sz="2400" b="0" dirty="0"/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(5)</m:t>
                    </m:r>
                  </m:oMath>
                </a14:m>
                <a:endParaRPr lang="en-GB" sz="2400" dirty="0"/>
              </a:p>
              <a:p>
                <a:pPr marL="342900" indent="-342900">
                  <a:buAutoNum type="alphaLcParenR"/>
                </a:pP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(−2)</m:t>
                    </m:r>
                  </m:oMath>
                </a14:m>
                <a:endParaRPr lang="en-GB" sz="2400" dirty="0"/>
              </a:p>
              <a:p>
                <a:pPr marL="342900" indent="-342900">
                  <a:buAutoNum type="alphaLcParenR"/>
                </a:pPr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67F44B-586A-4FA6-97AF-B89F43643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227" y="908720"/>
                <a:ext cx="5285061" cy="1569660"/>
              </a:xfrm>
              <a:prstGeom prst="rect">
                <a:avLst/>
              </a:prstGeom>
              <a:blipFill>
                <a:blip r:embed="rId2"/>
                <a:stretch>
                  <a:fillRect b="-2817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8F956F-8986-4125-9980-707BA716A949}"/>
                  </a:ext>
                </a:extLst>
              </p:cNvPr>
              <p:cNvSpPr txBox="1"/>
              <p:nvPr/>
            </p:nvSpPr>
            <p:spPr>
              <a:xfrm>
                <a:off x="1115616" y="3024358"/>
                <a:ext cx="640871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         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  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e>
                      </m: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d>
                            <m:d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         =</m:t>
                      </m:r>
                      <m:d>
                        <m:dPr>
                          <m:begChr m:val="|"/>
                          <m:endChr m:val="|"/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8F956F-8986-4125-9980-707BA716A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3024358"/>
                <a:ext cx="6408712" cy="1200329"/>
              </a:xfrm>
              <a:prstGeom prst="rect">
                <a:avLst/>
              </a:prstGeom>
              <a:blipFill>
                <a:blip r:embed="rId3"/>
                <a:stretch>
                  <a:fillRect b="-6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769465BE-C4ED-40A2-88B5-08B38153699B}"/>
              </a:ext>
            </a:extLst>
          </p:cNvPr>
          <p:cNvSpPr/>
          <p:nvPr/>
        </p:nvSpPr>
        <p:spPr>
          <a:xfrm>
            <a:off x="1403648" y="2996952"/>
            <a:ext cx="6048672" cy="13979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0893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79258B9-9D83-4BD4-ABFE-14812E6A96E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BF6F8DE-012C-4139-9FBA-929BB0332D8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Modulus Graphs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5B46D8D-39D2-4C8F-98E6-71FC338AF05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A7B8654-B267-4DF0-898C-DB935259AA7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56167" y="1482061"/>
              <a:ext cx="6096000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2134980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7648509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18229052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7077283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57455167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452892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17962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286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A7B8654-B267-4DF0-898C-DB935259AA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609932"/>
                  </p:ext>
                </p:extLst>
              </p:nvPr>
            </p:nvGraphicFramePr>
            <p:xfrm>
              <a:off x="1056167" y="1482061"/>
              <a:ext cx="6096000" cy="741680"/>
            </p:xfrm>
            <a:graphic>
              <a:graphicData uri="http://schemas.openxmlformats.org/drawingml/2006/table">
                <a:tbl>
                  <a:tblPr firstCol="1" bandRow="1">
                    <a:tableStyleId>{073A0DAA-6AF3-43AB-8588-CEC1D06C72B9}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2134980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76485099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18229052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7077283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57455167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452892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8197" r="-50059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17962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108197" r="-50059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286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F0853C-B38B-4291-A424-889FA7AF5F42}"/>
                  </a:ext>
                </a:extLst>
              </p:cNvPr>
              <p:cNvSpPr txBox="1"/>
              <p:nvPr/>
            </p:nvSpPr>
            <p:spPr>
              <a:xfrm>
                <a:off x="1088065" y="836712"/>
                <a:ext cx="11796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F0853C-B38B-4291-A424-889FA7AF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65" y="836712"/>
                <a:ext cx="1179679" cy="461665"/>
              </a:xfrm>
              <a:prstGeom prst="rect">
                <a:avLst/>
              </a:prstGeom>
              <a:blipFill>
                <a:blip r:embed="rId3"/>
                <a:stretch>
                  <a:fillRect r="-2062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FEEC8CD-0327-4C0C-B622-2801F8AD2428}"/>
              </a:ext>
            </a:extLst>
          </p:cNvPr>
          <p:cNvCxnSpPr/>
          <p:nvPr/>
        </p:nvCxnSpPr>
        <p:spPr>
          <a:xfrm flipV="1">
            <a:off x="4427984" y="2780928"/>
            <a:ext cx="0" cy="3168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E5F4FF-8E5C-480D-BD80-ACA44429F358}"/>
              </a:ext>
            </a:extLst>
          </p:cNvPr>
          <p:cNvCxnSpPr>
            <a:cxnSpLocks/>
          </p:cNvCxnSpPr>
          <p:nvPr/>
        </p:nvCxnSpPr>
        <p:spPr>
          <a:xfrm>
            <a:off x="2473136" y="4514912"/>
            <a:ext cx="3960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D4DB53-66D2-4641-8684-BAC607DD10B9}"/>
              </a:ext>
            </a:extLst>
          </p:cNvPr>
          <p:cNvGrpSpPr/>
          <p:nvPr/>
        </p:nvGrpSpPr>
        <p:grpSpPr>
          <a:xfrm>
            <a:off x="3124572" y="3087628"/>
            <a:ext cx="862216" cy="451389"/>
            <a:chOff x="3124572" y="3087628"/>
            <a:chExt cx="862216" cy="451389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D38D082-4D12-4967-9A45-A77C36BC80E1}"/>
                </a:ext>
              </a:extLst>
            </p:cNvPr>
            <p:cNvSpPr/>
            <p:nvPr/>
          </p:nvSpPr>
          <p:spPr>
            <a:xfrm>
              <a:off x="3124572" y="3370871"/>
              <a:ext cx="170635" cy="16814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A37958-BF5D-40E2-9465-A7816B39F94B}"/>
                    </a:ext>
                  </a:extLst>
                </p:cNvPr>
                <p:cNvSpPr txBox="1"/>
                <p:nvPr/>
              </p:nvSpPr>
              <p:spPr>
                <a:xfrm>
                  <a:off x="3194700" y="3087628"/>
                  <a:ext cx="7920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(−2,2)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FA37958-BF5D-40E2-9465-A7816B39F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4700" y="3087628"/>
                  <a:ext cx="792088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E5A2AC-69B7-46A5-B3E8-413153A9705F}"/>
              </a:ext>
            </a:extLst>
          </p:cNvPr>
          <p:cNvGrpSpPr/>
          <p:nvPr/>
        </p:nvGrpSpPr>
        <p:grpSpPr>
          <a:xfrm>
            <a:off x="3709212" y="3594284"/>
            <a:ext cx="862216" cy="451389"/>
            <a:chOff x="3124572" y="3087628"/>
            <a:chExt cx="862216" cy="45138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3CFC938-B5B4-4C7C-8133-50FC2460B71B}"/>
                </a:ext>
              </a:extLst>
            </p:cNvPr>
            <p:cNvSpPr/>
            <p:nvPr/>
          </p:nvSpPr>
          <p:spPr>
            <a:xfrm>
              <a:off x="3124572" y="3370871"/>
              <a:ext cx="170635" cy="16814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98AC4AA-5459-40D2-87AE-9F832B224F81}"/>
                    </a:ext>
                  </a:extLst>
                </p:cNvPr>
                <p:cNvSpPr txBox="1"/>
                <p:nvPr/>
              </p:nvSpPr>
              <p:spPr>
                <a:xfrm>
                  <a:off x="3194700" y="3087628"/>
                  <a:ext cx="7920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(−1,1)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98AC4AA-5459-40D2-87AE-9F832B224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4700" y="3087628"/>
                  <a:ext cx="792088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64F957-53A4-4F1B-97DB-D0A8EFE2F89A}"/>
              </a:ext>
            </a:extLst>
          </p:cNvPr>
          <p:cNvGrpSpPr/>
          <p:nvPr/>
        </p:nvGrpSpPr>
        <p:grpSpPr>
          <a:xfrm>
            <a:off x="4349904" y="4168130"/>
            <a:ext cx="792088" cy="432339"/>
            <a:chOff x="3118500" y="3106678"/>
            <a:chExt cx="792088" cy="43233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370B86F-25E4-43BA-9B7B-AF5DCFD98DE0}"/>
                </a:ext>
              </a:extLst>
            </p:cNvPr>
            <p:cNvSpPr/>
            <p:nvPr/>
          </p:nvSpPr>
          <p:spPr>
            <a:xfrm>
              <a:off x="3124572" y="3370871"/>
              <a:ext cx="170635" cy="16814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7663684-3CF4-49E1-97B8-8229CFEE46F5}"/>
                    </a:ext>
                  </a:extLst>
                </p:cNvPr>
                <p:cNvSpPr txBox="1"/>
                <p:nvPr/>
              </p:nvSpPr>
              <p:spPr>
                <a:xfrm>
                  <a:off x="3118500" y="3106678"/>
                  <a:ext cx="7920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(0,0)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7663684-3CF4-49E1-97B8-8229CFEE46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8500" y="3106678"/>
                  <a:ext cx="792088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7455BEA-AC79-40A7-8B5A-3349DDE314D0}"/>
              </a:ext>
            </a:extLst>
          </p:cNvPr>
          <p:cNvGrpSpPr/>
          <p:nvPr/>
        </p:nvGrpSpPr>
        <p:grpSpPr>
          <a:xfrm>
            <a:off x="5006522" y="3613334"/>
            <a:ext cx="792088" cy="432339"/>
            <a:chOff x="3118500" y="3106678"/>
            <a:chExt cx="792088" cy="432339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E08DD93-2B56-40F8-A0CF-9D9A03355775}"/>
                </a:ext>
              </a:extLst>
            </p:cNvPr>
            <p:cNvSpPr/>
            <p:nvPr/>
          </p:nvSpPr>
          <p:spPr>
            <a:xfrm>
              <a:off x="3124572" y="3370871"/>
              <a:ext cx="170635" cy="16814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2D7064F-C3A0-4EFF-B363-588DE7A5200D}"/>
                    </a:ext>
                  </a:extLst>
                </p:cNvPr>
                <p:cNvSpPr txBox="1"/>
                <p:nvPr/>
              </p:nvSpPr>
              <p:spPr>
                <a:xfrm>
                  <a:off x="3118500" y="3106678"/>
                  <a:ext cx="7920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(1,1)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2D7064F-C3A0-4EFF-B363-588DE7A52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8500" y="3106678"/>
                  <a:ext cx="792088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5510D7C-E91D-4B59-9B80-E2745EE089B1}"/>
              </a:ext>
            </a:extLst>
          </p:cNvPr>
          <p:cNvGrpSpPr/>
          <p:nvPr/>
        </p:nvGrpSpPr>
        <p:grpSpPr>
          <a:xfrm>
            <a:off x="5560762" y="3106678"/>
            <a:ext cx="792088" cy="432339"/>
            <a:chOff x="3118500" y="3106678"/>
            <a:chExt cx="792088" cy="43233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7A70BE1-18CB-446E-937A-A0870EA808CE}"/>
                </a:ext>
              </a:extLst>
            </p:cNvPr>
            <p:cNvSpPr/>
            <p:nvPr/>
          </p:nvSpPr>
          <p:spPr>
            <a:xfrm>
              <a:off x="3124572" y="3370871"/>
              <a:ext cx="170635" cy="168146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71A4A8E-29E0-4E6F-BE96-5FBD00FE0A0F}"/>
                    </a:ext>
                  </a:extLst>
                </p:cNvPr>
                <p:cNvSpPr txBox="1"/>
                <p:nvPr/>
              </p:nvSpPr>
              <p:spPr>
                <a:xfrm>
                  <a:off x="3118500" y="3106678"/>
                  <a:ext cx="79208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(2,2)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71A4A8E-29E0-4E6F-BE96-5FBD00FE0A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8500" y="3106678"/>
                  <a:ext cx="792088" cy="307777"/>
                </a:xfrm>
                <a:prstGeom prst="rect">
                  <a:avLst/>
                </a:prstGeom>
                <a:blipFill>
                  <a:blip r:embed="rId8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F8DED064-5682-49F2-9012-14A17F82DE54}"/>
              </a:ext>
            </a:extLst>
          </p:cNvPr>
          <p:cNvSpPr/>
          <p:nvPr/>
        </p:nvSpPr>
        <p:spPr>
          <a:xfrm>
            <a:off x="2060872" y="1853953"/>
            <a:ext cx="1025227" cy="3272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75EDBE-4D5F-4429-A8B3-3B013453316E}"/>
              </a:ext>
            </a:extLst>
          </p:cNvPr>
          <p:cNvSpPr/>
          <p:nvPr/>
        </p:nvSpPr>
        <p:spPr>
          <a:xfrm>
            <a:off x="3091831" y="1853953"/>
            <a:ext cx="1003920" cy="3272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529D0C-E677-4887-9028-2CA8B0B81B8F}"/>
              </a:ext>
            </a:extLst>
          </p:cNvPr>
          <p:cNvSpPr/>
          <p:nvPr/>
        </p:nvSpPr>
        <p:spPr>
          <a:xfrm>
            <a:off x="4101483" y="1853953"/>
            <a:ext cx="1003920" cy="3272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16D455-E0DE-4591-A74C-DE79AFCF6BF8}"/>
              </a:ext>
            </a:extLst>
          </p:cNvPr>
          <p:cNvSpPr/>
          <p:nvPr/>
        </p:nvSpPr>
        <p:spPr>
          <a:xfrm>
            <a:off x="5107685" y="1853953"/>
            <a:ext cx="1003920" cy="3272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BD1406-FD92-4A24-9187-5C78A7D3DED4}"/>
              </a:ext>
            </a:extLst>
          </p:cNvPr>
          <p:cNvSpPr/>
          <p:nvPr/>
        </p:nvSpPr>
        <p:spPr>
          <a:xfrm>
            <a:off x="6104769" y="1853953"/>
            <a:ext cx="1029455" cy="3272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9C92551-9614-448D-8F76-A5BC92FF5EDC}"/>
              </a:ext>
            </a:extLst>
          </p:cNvPr>
          <p:cNvGrpSpPr/>
          <p:nvPr/>
        </p:nvGrpSpPr>
        <p:grpSpPr>
          <a:xfrm>
            <a:off x="2654300" y="2887980"/>
            <a:ext cx="3609340" cy="1638300"/>
            <a:chOff x="2654300" y="2887980"/>
            <a:chExt cx="3609340" cy="163830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F0A5AC1-43ED-4E57-8FAF-1C02077E1C56}"/>
                </a:ext>
              </a:extLst>
            </p:cNvPr>
            <p:cNvCxnSpPr>
              <a:cxnSpLocks/>
            </p:cNvCxnSpPr>
            <p:nvPr/>
          </p:nvCxnSpPr>
          <p:spPr>
            <a:xfrm>
              <a:off x="2654300" y="2971800"/>
              <a:ext cx="1778000" cy="15494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96D1856-BA53-4394-8AF2-756463E618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2460" y="2887980"/>
              <a:ext cx="1821180" cy="16383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F13541A-DDF1-4B71-A8A0-AFCDA0D827BD}"/>
                  </a:ext>
                </a:extLst>
              </p:cNvPr>
              <p:cNvSpPr txBox="1"/>
              <p:nvPr/>
            </p:nvSpPr>
            <p:spPr>
              <a:xfrm>
                <a:off x="5264343" y="5053286"/>
                <a:ext cx="2985858" cy="120032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To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dirty="0"/>
                  <a:t>,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then reflect up any section below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-axis.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F13541A-DDF1-4B71-A8A0-AFCDA0D82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343" y="5053286"/>
                <a:ext cx="2985858" cy="1200329"/>
              </a:xfrm>
              <a:prstGeom prst="rect">
                <a:avLst/>
              </a:prstGeom>
              <a:blipFill>
                <a:blip r:embed="rId9"/>
                <a:stretch>
                  <a:fillRect l="-1420" t="-2488" b="-5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198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D7F219-5A1D-4D99-8E8E-61FDA600371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B71B11E-8ED9-4D6E-A363-04A7A3A46E24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Modulus Graphs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137C7FB-C79B-41B4-AB1A-6BCCFD1EE386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4258BA-03B8-42D6-9BA4-4BF343B2F8C6}"/>
                  </a:ext>
                </a:extLst>
              </p:cNvPr>
              <p:cNvSpPr txBox="1"/>
              <p:nvPr/>
            </p:nvSpPr>
            <p:spPr>
              <a:xfrm>
                <a:off x="462704" y="952318"/>
                <a:ext cx="295232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=|2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−3|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4258BA-03B8-42D6-9BA4-4BF343B2F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04" y="952318"/>
                <a:ext cx="2952328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BCC29B6-76E9-473E-B8F9-D40A85301278}"/>
              </a:ext>
            </a:extLst>
          </p:cNvPr>
          <p:cNvCxnSpPr>
            <a:cxnSpLocks/>
          </p:cNvCxnSpPr>
          <p:nvPr/>
        </p:nvCxnSpPr>
        <p:spPr>
          <a:xfrm flipV="1">
            <a:off x="1789559" y="1723653"/>
            <a:ext cx="0" cy="1905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BF9634-B047-421E-A8D0-CA024D250914}"/>
              </a:ext>
            </a:extLst>
          </p:cNvPr>
          <p:cNvCxnSpPr>
            <a:cxnSpLocks/>
          </p:cNvCxnSpPr>
          <p:nvPr/>
        </p:nvCxnSpPr>
        <p:spPr>
          <a:xfrm>
            <a:off x="719634" y="2980705"/>
            <a:ext cx="2116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B3E67B-542D-43AB-9BD5-42A6AA4E7986}"/>
                  </a:ext>
                </a:extLst>
              </p:cNvPr>
              <p:cNvSpPr txBox="1"/>
              <p:nvPr/>
            </p:nvSpPr>
            <p:spPr>
              <a:xfrm>
                <a:off x="2798341" y="2816746"/>
                <a:ext cx="2826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B3E67B-542D-43AB-9BD5-42A6AA4E7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341" y="2816746"/>
                <a:ext cx="28269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DE5B4F-D804-4A1F-9F59-CF2F5148AE46}"/>
                  </a:ext>
                </a:extLst>
              </p:cNvPr>
              <p:cNvSpPr txBox="1"/>
              <p:nvPr/>
            </p:nvSpPr>
            <p:spPr>
              <a:xfrm>
                <a:off x="1656169" y="1458982"/>
                <a:ext cx="2826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DDE5B4F-D804-4A1F-9F59-CF2F5148A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169" y="1458982"/>
                <a:ext cx="28269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D65DE0F-A442-4A52-A884-17EFF7AED106}"/>
              </a:ext>
            </a:extLst>
          </p:cNvPr>
          <p:cNvCxnSpPr>
            <a:cxnSpLocks/>
          </p:cNvCxnSpPr>
          <p:nvPr/>
        </p:nvCxnSpPr>
        <p:spPr>
          <a:xfrm flipV="1">
            <a:off x="1581515" y="2979420"/>
            <a:ext cx="414925" cy="80962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2B16FD-4963-4A2E-80FC-9EB7068AAD38}"/>
              </a:ext>
            </a:extLst>
          </p:cNvPr>
          <p:cNvCxnSpPr>
            <a:cxnSpLocks/>
          </p:cNvCxnSpPr>
          <p:nvPr/>
        </p:nvCxnSpPr>
        <p:spPr>
          <a:xfrm flipV="1">
            <a:off x="1993900" y="1962150"/>
            <a:ext cx="524694" cy="1028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D945DE0-A3BB-4BFB-AEDF-DB7D50CCE40B}"/>
              </a:ext>
            </a:extLst>
          </p:cNvPr>
          <p:cNvCxnSpPr>
            <a:cxnSpLocks/>
          </p:cNvCxnSpPr>
          <p:nvPr/>
        </p:nvCxnSpPr>
        <p:spPr>
          <a:xfrm flipH="1" flipV="1">
            <a:off x="1466850" y="1943100"/>
            <a:ext cx="527050" cy="1028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67318C3-DACD-448E-88D6-A61EB4B97343}"/>
                  </a:ext>
                </a:extLst>
              </p:cNvPr>
              <p:cNvSpPr txBox="1"/>
              <p:nvPr/>
            </p:nvSpPr>
            <p:spPr>
              <a:xfrm>
                <a:off x="1466006" y="3264917"/>
                <a:ext cx="38061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67318C3-DACD-448E-88D6-A61EB4B97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006" y="3264917"/>
                <a:ext cx="380619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72C1314-2DD4-44B3-A7DA-4BF04B866DE8}"/>
                  </a:ext>
                </a:extLst>
              </p:cNvPr>
              <p:cNvSpPr txBox="1"/>
              <p:nvPr/>
            </p:nvSpPr>
            <p:spPr>
              <a:xfrm>
                <a:off x="1537808" y="2474447"/>
                <a:ext cx="38061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72C1314-2DD4-44B3-A7DA-4BF04B866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808" y="2474447"/>
                <a:ext cx="380619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DA42B7-E2EB-4220-A003-DDF0452B00CF}"/>
                  </a:ext>
                </a:extLst>
              </p:cNvPr>
              <p:cNvSpPr txBox="1"/>
              <p:nvPr/>
            </p:nvSpPr>
            <p:spPr>
              <a:xfrm>
                <a:off x="1835577" y="2957791"/>
                <a:ext cx="380619" cy="40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9DA42B7-E2EB-4220-A003-DDF0452B0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577" y="2957791"/>
                <a:ext cx="380619" cy="4092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B21F4AD-19A5-4557-BB86-2C0B6A6077CB}"/>
              </a:ext>
            </a:extLst>
          </p:cNvPr>
          <p:cNvSpPr txBox="1"/>
          <p:nvPr/>
        </p:nvSpPr>
        <p:spPr>
          <a:xfrm>
            <a:off x="2665370" y="1780436"/>
            <a:ext cx="1056246" cy="9387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100" b="1" dirty="0" err="1"/>
              <a:t>Fro</a:t>
            </a:r>
            <a:r>
              <a:rPr lang="en-GB" sz="1100" b="1" dirty="0"/>
              <a:t> Tip</a:t>
            </a:r>
            <a:r>
              <a:rPr lang="en-GB" sz="1100" dirty="0"/>
              <a:t>: I like to sketch the non-modulus graph first with a dotted line.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436F13-B058-4B6F-8FA8-8E38B3095CFB}"/>
                  </a:ext>
                </a:extLst>
              </p:cNvPr>
              <p:cNvSpPr txBox="1"/>
              <p:nvPr/>
            </p:nvSpPr>
            <p:spPr>
              <a:xfrm>
                <a:off x="4283968" y="949863"/>
                <a:ext cx="295232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436F13-B058-4B6F-8FA8-8E38B3095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949863"/>
                <a:ext cx="2952328" cy="369332"/>
              </a:xfrm>
              <a:prstGeom prst="rect">
                <a:avLst/>
              </a:prstGeom>
              <a:blipFill>
                <a:blip r:embed="rId8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0F9BFF-70B3-4553-88A2-9627A2596938}"/>
              </a:ext>
            </a:extLst>
          </p:cNvPr>
          <p:cNvCxnSpPr>
            <a:cxnSpLocks/>
          </p:cNvCxnSpPr>
          <p:nvPr/>
        </p:nvCxnSpPr>
        <p:spPr>
          <a:xfrm flipV="1">
            <a:off x="5569917" y="1733798"/>
            <a:ext cx="0" cy="1905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B81EF02-AF13-4D26-8374-9E9FF6F5FF67}"/>
              </a:ext>
            </a:extLst>
          </p:cNvPr>
          <p:cNvCxnSpPr>
            <a:cxnSpLocks/>
          </p:cNvCxnSpPr>
          <p:nvPr/>
        </p:nvCxnSpPr>
        <p:spPr>
          <a:xfrm>
            <a:off x="4499992" y="2990850"/>
            <a:ext cx="2116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5FF78F-705B-4DE7-8A9C-426E9ADE3B16}"/>
                  </a:ext>
                </a:extLst>
              </p:cNvPr>
              <p:cNvSpPr txBox="1"/>
              <p:nvPr/>
            </p:nvSpPr>
            <p:spPr>
              <a:xfrm>
                <a:off x="6578699" y="2826891"/>
                <a:ext cx="2826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5FF78F-705B-4DE7-8A9C-426E9ADE3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8699" y="2826891"/>
                <a:ext cx="282699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A608B9-5F75-471A-9739-F7922A9A36F2}"/>
                  </a:ext>
                </a:extLst>
              </p:cNvPr>
              <p:cNvSpPr txBox="1"/>
              <p:nvPr/>
            </p:nvSpPr>
            <p:spPr>
              <a:xfrm>
                <a:off x="5436527" y="1469127"/>
                <a:ext cx="2826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A608B9-5F75-471A-9739-F7922A9A3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527" y="1469127"/>
                <a:ext cx="282699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75685F7-DDBE-4A22-AFE0-558A7B4979BB}"/>
              </a:ext>
            </a:extLst>
          </p:cNvPr>
          <p:cNvCxnSpPr>
            <a:cxnSpLocks/>
          </p:cNvCxnSpPr>
          <p:nvPr/>
        </p:nvCxnSpPr>
        <p:spPr>
          <a:xfrm flipV="1">
            <a:off x="5361873" y="2989565"/>
            <a:ext cx="414925" cy="80962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9287CF2-8327-4467-9D26-59C10218E19E}"/>
              </a:ext>
            </a:extLst>
          </p:cNvPr>
          <p:cNvCxnSpPr>
            <a:cxnSpLocks/>
          </p:cNvCxnSpPr>
          <p:nvPr/>
        </p:nvCxnSpPr>
        <p:spPr>
          <a:xfrm flipV="1">
            <a:off x="5774258" y="1972295"/>
            <a:ext cx="524694" cy="1028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5F091E7-C714-4612-A885-9E1FEB387150}"/>
              </a:ext>
            </a:extLst>
          </p:cNvPr>
          <p:cNvCxnSpPr>
            <a:cxnSpLocks/>
          </p:cNvCxnSpPr>
          <p:nvPr/>
        </p:nvCxnSpPr>
        <p:spPr>
          <a:xfrm flipH="1" flipV="1">
            <a:off x="5247208" y="1953245"/>
            <a:ext cx="527050" cy="1028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CF572E9-3E59-4B5D-8331-65401E63FF0B}"/>
                  </a:ext>
                </a:extLst>
              </p:cNvPr>
              <p:cNvSpPr txBox="1"/>
              <p:nvPr/>
            </p:nvSpPr>
            <p:spPr>
              <a:xfrm>
                <a:off x="5246364" y="3275062"/>
                <a:ext cx="38061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CF572E9-3E59-4B5D-8331-65401E63F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364" y="3275062"/>
                <a:ext cx="380619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6916496-917A-4CE1-BE48-6ECD527DA9C4}"/>
                  </a:ext>
                </a:extLst>
              </p:cNvPr>
              <p:cNvSpPr txBox="1"/>
              <p:nvPr/>
            </p:nvSpPr>
            <p:spPr>
              <a:xfrm>
                <a:off x="5318166" y="2484592"/>
                <a:ext cx="38061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6916496-917A-4CE1-BE48-6ECD527DA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166" y="2484592"/>
                <a:ext cx="380619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20740A2-0006-4C01-A02B-92F5C1E43048}"/>
                  </a:ext>
                </a:extLst>
              </p:cNvPr>
              <p:cNvSpPr txBox="1"/>
              <p:nvPr/>
            </p:nvSpPr>
            <p:spPr>
              <a:xfrm>
                <a:off x="5615935" y="2967936"/>
                <a:ext cx="380619" cy="40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20740A2-0006-4C01-A02B-92F5C1E43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5935" y="2967936"/>
                <a:ext cx="380619" cy="40921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F313C79-7777-4BA5-90C0-72514EF42E99}"/>
              </a:ext>
            </a:extLst>
          </p:cNvPr>
          <p:cNvCxnSpPr>
            <a:cxnSpLocks/>
          </p:cNvCxnSpPr>
          <p:nvPr/>
        </p:nvCxnSpPr>
        <p:spPr>
          <a:xfrm>
            <a:off x="4583497" y="2242830"/>
            <a:ext cx="213543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9767FC-B20C-43F2-84C4-061AB8B3E43D}"/>
                  </a:ext>
                </a:extLst>
              </p:cNvPr>
              <p:cNvSpPr txBox="1"/>
              <p:nvPr/>
            </p:nvSpPr>
            <p:spPr>
              <a:xfrm>
                <a:off x="6266274" y="1992523"/>
                <a:ext cx="66792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9767FC-B20C-43F2-84C4-061AB8B3E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274" y="1992523"/>
                <a:ext cx="667926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15E14B2B-229C-4DB9-AE34-B0CD3ECC230F}"/>
              </a:ext>
            </a:extLst>
          </p:cNvPr>
          <p:cNvSpPr txBox="1"/>
          <p:nvPr/>
        </p:nvSpPr>
        <p:spPr>
          <a:xfrm>
            <a:off x="6924674" y="1459602"/>
            <a:ext cx="19509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As you would have done in Pure Year 1, sketch a line for each side of the equation, so that we can use the points of intersection.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63BDDF9-CDBD-4D5F-B9B7-FE86CD1CD39B}"/>
                  </a:ext>
                </a:extLst>
              </p:cNvPr>
              <p:cNvSpPr txBox="1"/>
              <p:nvPr/>
            </p:nvSpPr>
            <p:spPr>
              <a:xfrm>
                <a:off x="7209701" y="2581165"/>
                <a:ext cx="1829524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This is the intersection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1200" dirty="0"/>
                  <a:t> with the original </a:t>
                </a:r>
                <a:r>
                  <a:rPr lang="en-GB" sz="1200" b="1" dirty="0" err="1"/>
                  <a:t>unreflected</a:t>
                </a:r>
                <a:r>
                  <a:rPr lang="en-GB" sz="1200" dirty="0"/>
                  <a:t> graph, i.e.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sz="1200" dirty="0"/>
                  <a:t>.</a:t>
                </a:r>
              </a:p>
              <a:p>
                <a:endParaRPr lang="en-GB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sz="1200" b="1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63BDDF9-CDBD-4D5F-B9B7-FE86CD1CD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701" y="2581165"/>
                <a:ext cx="1829524" cy="1384995"/>
              </a:xfrm>
              <a:prstGeom prst="rect">
                <a:avLst/>
              </a:prstGeom>
              <a:blipFill>
                <a:blip r:embed="rId15"/>
                <a:stretch>
                  <a:fillRect l="-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3042324-42F3-47FA-9E54-7C7FBEFC9188}"/>
                  </a:ext>
                </a:extLst>
              </p:cNvPr>
              <p:cNvSpPr txBox="1"/>
              <p:nvPr/>
            </p:nvSpPr>
            <p:spPr>
              <a:xfrm>
                <a:off x="3554257" y="2994208"/>
                <a:ext cx="1829524" cy="1261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This is the intersection of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1200" dirty="0"/>
                  <a:t> with the </a:t>
                </a:r>
                <a:r>
                  <a:rPr lang="en-GB" sz="1200" b="1" dirty="0"/>
                  <a:t>reflected</a:t>
                </a:r>
                <a:r>
                  <a:rPr lang="en-GB" sz="1200" dirty="0"/>
                  <a:t> (i.e. negated) graph, i.e.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=3−2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.</a:t>
                </a:r>
              </a:p>
              <a:p>
                <a:endParaRPr lang="en-GB" sz="3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1200" b="1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3042324-42F3-47FA-9E54-7C7FBEFC9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257" y="2994208"/>
                <a:ext cx="1829524" cy="126188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4A3C4B9-B3CC-43B5-9937-E832A8576221}"/>
              </a:ext>
            </a:extLst>
          </p:cNvPr>
          <p:cNvCxnSpPr/>
          <p:nvPr/>
        </p:nvCxnSpPr>
        <p:spPr>
          <a:xfrm flipH="1" flipV="1">
            <a:off x="6286500" y="2343150"/>
            <a:ext cx="923201" cy="612095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D229404-3104-4FF3-B7AC-736554F35DD8}"/>
              </a:ext>
            </a:extLst>
          </p:cNvPr>
          <p:cNvCxnSpPr>
            <a:cxnSpLocks/>
          </p:cNvCxnSpPr>
          <p:nvPr/>
        </p:nvCxnSpPr>
        <p:spPr>
          <a:xfrm flipV="1">
            <a:off x="4752753" y="2447925"/>
            <a:ext cx="638397" cy="582354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6567FE9-F72D-4F2B-B932-CC98E384A357}"/>
                  </a:ext>
                </a:extLst>
              </p:cNvPr>
              <p:cNvSpPr txBox="1"/>
              <p:nvPr/>
            </p:nvSpPr>
            <p:spPr>
              <a:xfrm>
                <a:off x="360980" y="4111916"/>
                <a:ext cx="2952328" cy="48346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6567FE9-F72D-4F2B-B932-CC98E384A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80" y="4111916"/>
                <a:ext cx="2952328" cy="48346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1D3F419-B653-46D3-B082-073E1B877456}"/>
              </a:ext>
            </a:extLst>
          </p:cNvPr>
          <p:cNvCxnSpPr>
            <a:cxnSpLocks/>
          </p:cNvCxnSpPr>
          <p:nvPr/>
        </p:nvCxnSpPr>
        <p:spPr>
          <a:xfrm flipH="1" flipV="1">
            <a:off x="1600356" y="5070802"/>
            <a:ext cx="10731" cy="1591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C0914A6-61E2-4513-8BF7-74556603387F}"/>
              </a:ext>
            </a:extLst>
          </p:cNvPr>
          <p:cNvCxnSpPr>
            <a:cxnSpLocks/>
          </p:cNvCxnSpPr>
          <p:nvPr/>
        </p:nvCxnSpPr>
        <p:spPr>
          <a:xfrm>
            <a:off x="530431" y="6327854"/>
            <a:ext cx="2116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E5ECD63-A2F6-4671-B7DF-92B4FC140D54}"/>
                  </a:ext>
                </a:extLst>
              </p:cNvPr>
              <p:cNvSpPr txBox="1"/>
              <p:nvPr/>
            </p:nvSpPr>
            <p:spPr>
              <a:xfrm>
                <a:off x="2609138" y="6163895"/>
                <a:ext cx="2826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E5ECD63-A2F6-4671-B7DF-92B4FC140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138" y="6163895"/>
                <a:ext cx="28269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1F23B1A-4637-4BC1-8871-FE4D18074FAD}"/>
                  </a:ext>
                </a:extLst>
              </p:cNvPr>
              <p:cNvSpPr txBox="1"/>
              <p:nvPr/>
            </p:nvSpPr>
            <p:spPr>
              <a:xfrm>
                <a:off x="1466966" y="4806131"/>
                <a:ext cx="2826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1F23B1A-4637-4BC1-8871-FE4D18074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966" y="4806131"/>
                <a:ext cx="28269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B7D84C3-1CD5-47CA-A07C-35850E08374D}"/>
              </a:ext>
            </a:extLst>
          </p:cNvPr>
          <p:cNvCxnSpPr>
            <a:cxnSpLocks/>
          </p:cNvCxnSpPr>
          <p:nvPr/>
        </p:nvCxnSpPr>
        <p:spPr>
          <a:xfrm flipV="1">
            <a:off x="1804697" y="5059680"/>
            <a:ext cx="379341" cy="12783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3F301BA-1336-490F-A8C7-540AD3A4A022}"/>
              </a:ext>
            </a:extLst>
          </p:cNvPr>
          <p:cNvCxnSpPr>
            <a:cxnSpLocks/>
          </p:cNvCxnSpPr>
          <p:nvPr/>
        </p:nvCxnSpPr>
        <p:spPr>
          <a:xfrm flipH="1" flipV="1">
            <a:off x="1383938" y="5074920"/>
            <a:ext cx="420759" cy="12440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8BBC4CD-74BB-4F60-96CE-C34D79B9B23D}"/>
                  </a:ext>
                </a:extLst>
              </p:cNvPr>
              <p:cNvSpPr txBox="1"/>
              <p:nvPr/>
            </p:nvSpPr>
            <p:spPr>
              <a:xfrm>
                <a:off x="1340985" y="5623476"/>
                <a:ext cx="38061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8BBC4CD-74BB-4F60-96CE-C34D79B9B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985" y="5623476"/>
                <a:ext cx="380619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E0D17A0-EF28-4666-9695-6C67CEA1B119}"/>
              </a:ext>
            </a:extLst>
          </p:cNvPr>
          <p:cNvCxnSpPr>
            <a:cxnSpLocks/>
          </p:cNvCxnSpPr>
          <p:nvPr/>
        </p:nvCxnSpPr>
        <p:spPr>
          <a:xfrm>
            <a:off x="896258" y="5715000"/>
            <a:ext cx="1668780" cy="7086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F9D02BE-4C7A-419C-9C23-C8D369E8D222}"/>
                  </a:ext>
                </a:extLst>
              </p:cNvPr>
              <p:cNvSpPr txBox="1"/>
              <p:nvPr/>
            </p:nvSpPr>
            <p:spPr>
              <a:xfrm>
                <a:off x="1340985" y="5971574"/>
                <a:ext cx="38061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F9D02BE-4C7A-419C-9C23-C8D369E8D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985" y="5971574"/>
                <a:ext cx="380619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A83A678-C468-4527-A857-4B685BC1F2C1}"/>
                  </a:ext>
                </a:extLst>
              </p:cNvPr>
              <p:cNvSpPr txBox="1"/>
              <p:nvPr/>
            </p:nvSpPr>
            <p:spPr>
              <a:xfrm>
                <a:off x="2653278" y="5186555"/>
                <a:ext cx="1829524" cy="1499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sz="1200" b="1" dirty="0"/>
              </a:p>
              <a:p>
                <a:endParaRPr lang="en-GB" sz="1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GB" sz="1200" b="1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A83A678-C468-4527-A857-4B685BC1F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278" y="5186555"/>
                <a:ext cx="1829524" cy="149989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A39DDF6-E433-4BE1-B92F-C9B99C6B74E9}"/>
                  </a:ext>
                </a:extLst>
              </p:cNvPr>
              <p:cNvSpPr txBox="1"/>
              <p:nvPr/>
            </p:nvSpPr>
            <p:spPr>
              <a:xfrm>
                <a:off x="4864460" y="4422430"/>
                <a:ext cx="2952328" cy="48346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&gt;2−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A39DDF6-E433-4BE1-B92F-C9B99C6B7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460" y="4422430"/>
                <a:ext cx="2952328" cy="48346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C2A72FB-9084-4381-BE5A-6C1DA6F59EA4}"/>
                  </a:ext>
                </a:extLst>
              </p:cNvPr>
              <p:cNvSpPr txBox="1"/>
              <p:nvPr/>
            </p:nvSpPr>
            <p:spPr>
              <a:xfrm>
                <a:off x="4932251" y="5032330"/>
                <a:ext cx="3396741" cy="1641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The graph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=|3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−5|</m:t>
                    </m:r>
                  </m:oMath>
                </a14:m>
                <a:r>
                  <a:rPr lang="en-GB" sz="1600" dirty="0"/>
                  <a:t> needs to be above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By observation (and using our points of intersection), this occurs when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&gt;2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C2A72FB-9084-4381-BE5A-6C1DA6F59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251" y="5032330"/>
                <a:ext cx="3396741" cy="1641283"/>
              </a:xfrm>
              <a:prstGeom prst="rect">
                <a:avLst/>
              </a:prstGeom>
              <a:blipFill>
                <a:blip r:embed="rId22"/>
                <a:stretch>
                  <a:fillRect l="-898" t="-1115" r="-19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Arrow: Right 73">
            <a:extLst>
              <a:ext uri="{FF2B5EF4-FFF2-40B4-BE49-F238E27FC236}">
                <a16:creationId xmlns:a16="http://schemas.microsoft.com/office/drawing/2014/main" id="{819E378A-2BF2-4ACC-91CE-EB08B3B45734}"/>
              </a:ext>
            </a:extLst>
          </p:cNvPr>
          <p:cNvSpPr/>
          <p:nvPr/>
        </p:nvSpPr>
        <p:spPr>
          <a:xfrm rot="10800000">
            <a:off x="4472756" y="5479008"/>
            <a:ext cx="365944" cy="46459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19C4A20-EFC2-4F57-9466-4822E4FDD5BF}"/>
              </a:ext>
            </a:extLst>
          </p:cNvPr>
          <p:cNvCxnSpPr>
            <a:cxnSpLocks/>
          </p:cNvCxnSpPr>
          <p:nvPr/>
        </p:nvCxnSpPr>
        <p:spPr>
          <a:xfrm flipH="1">
            <a:off x="1871663" y="6117109"/>
            <a:ext cx="3537" cy="21225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9233243-AAE4-4FA8-90BF-3238E64771C1}"/>
              </a:ext>
            </a:extLst>
          </p:cNvPr>
          <p:cNvCxnSpPr>
            <a:cxnSpLocks/>
          </p:cNvCxnSpPr>
          <p:nvPr/>
        </p:nvCxnSpPr>
        <p:spPr>
          <a:xfrm flipH="1">
            <a:off x="1709738" y="6058876"/>
            <a:ext cx="4339" cy="27524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EC83CF9-F75C-41DF-81D0-FA29BEB5073D}"/>
                  </a:ext>
                </a:extLst>
              </p:cNvPr>
              <p:cNvSpPr txBox="1"/>
              <p:nvPr/>
            </p:nvSpPr>
            <p:spPr>
              <a:xfrm>
                <a:off x="1709895" y="6361009"/>
                <a:ext cx="26702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AEC83CF9-F75C-41DF-81D0-FA29BEB50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895" y="6361009"/>
                <a:ext cx="267020" cy="2616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14896E6-25D0-4129-95C0-48591A2C7999}"/>
                  </a:ext>
                </a:extLst>
              </p:cNvPr>
              <p:cNvSpPr txBox="1"/>
              <p:nvPr/>
            </p:nvSpPr>
            <p:spPr>
              <a:xfrm>
                <a:off x="1568603" y="6279158"/>
                <a:ext cx="267020" cy="410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1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14896E6-25D0-4129-95C0-48591A2C7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603" y="6279158"/>
                <a:ext cx="267020" cy="41030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30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21" grpId="0"/>
      <p:bldP spid="22" grpId="0"/>
      <p:bldP spid="23" grpId="0"/>
      <p:bldP spid="25" grpId="0" animBg="1"/>
      <p:bldP spid="26" grpId="0" animBg="1"/>
      <p:bldP spid="29" grpId="0"/>
      <p:bldP spid="30" grpId="0"/>
      <p:bldP spid="34" grpId="0"/>
      <p:bldP spid="35" grpId="0"/>
      <p:bldP spid="36" grpId="0"/>
      <p:bldP spid="40" grpId="0"/>
      <p:bldP spid="41" grpId="0"/>
      <p:bldP spid="42" grpId="0"/>
      <p:bldP spid="43" grpId="0"/>
      <p:bldP spid="49" grpId="0" animBg="1"/>
      <p:bldP spid="52" grpId="0"/>
      <p:bldP spid="53" grpId="0"/>
      <p:bldP spid="58" grpId="0"/>
      <p:bldP spid="67" grpId="0"/>
      <p:bldP spid="68" grpId="0"/>
      <p:bldP spid="70" grpId="0" animBg="1"/>
      <p:bldP spid="73" grpId="0"/>
      <p:bldP spid="74" grpId="0" animBg="1"/>
      <p:bldP spid="80" grpId="0"/>
      <p:bldP spid="8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02B003-C3B9-4D1D-B864-4D7E5F70067D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67AB3F3-CFB9-450C-9DDD-9F71E4FD1A4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762A18C-E933-4AB7-B296-AC5B810E587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F1D984-A049-459C-9EF1-FCFD5C34A265}"/>
                  </a:ext>
                </a:extLst>
              </p:cNvPr>
              <p:cNvSpPr txBox="1"/>
              <p:nvPr/>
            </p:nvSpPr>
            <p:spPr>
              <a:xfrm>
                <a:off x="539552" y="836712"/>
                <a:ext cx="2952328" cy="55399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lang="en-GB" dirty="0"/>
              </a:p>
              <a:p>
                <a:r>
                  <a:rPr lang="en-GB" sz="1200" dirty="0"/>
                  <a:t>(be careful – there’s only one solution!)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F1D984-A049-459C-9EF1-FCFD5C34A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836712"/>
                <a:ext cx="295232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E81BA4-A892-458C-9A2B-66A2280ADA0F}"/>
              </a:ext>
            </a:extLst>
          </p:cNvPr>
          <p:cNvCxnSpPr>
            <a:cxnSpLocks/>
          </p:cNvCxnSpPr>
          <p:nvPr/>
        </p:nvCxnSpPr>
        <p:spPr>
          <a:xfrm flipH="1" flipV="1">
            <a:off x="1844040" y="1508760"/>
            <a:ext cx="14071" cy="1866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B7114D-49C5-443C-9897-6581876C5155}"/>
              </a:ext>
            </a:extLst>
          </p:cNvPr>
          <p:cNvCxnSpPr>
            <a:cxnSpLocks/>
          </p:cNvCxnSpPr>
          <p:nvPr/>
        </p:nvCxnSpPr>
        <p:spPr>
          <a:xfrm>
            <a:off x="777454" y="3040990"/>
            <a:ext cx="2116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FD91-AE41-4F11-AA29-E03368774A24}"/>
                  </a:ext>
                </a:extLst>
              </p:cNvPr>
              <p:cNvSpPr txBox="1"/>
              <p:nvPr/>
            </p:nvSpPr>
            <p:spPr>
              <a:xfrm>
                <a:off x="2856161" y="2877031"/>
                <a:ext cx="2826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FD91-AE41-4F11-AA29-E03368774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161" y="2877031"/>
                <a:ext cx="28269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118B55-1521-46D9-A6F2-8C4C70E715DA}"/>
                  </a:ext>
                </a:extLst>
              </p:cNvPr>
              <p:cNvSpPr txBox="1"/>
              <p:nvPr/>
            </p:nvSpPr>
            <p:spPr>
              <a:xfrm>
                <a:off x="1820669" y="1389727"/>
                <a:ext cx="2826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118B55-1521-46D9-A6F2-8C4C70E71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669" y="1389727"/>
                <a:ext cx="282699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B15F2A-A398-4A36-8B99-3E2013D64E3B}"/>
              </a:ext>
            </a:extLst>
          </p:cNvPr>
          <p:cNvCxnSpPr>
            <a:cxnSpLocks/>
          </p:cNvCxnSpPr>
          <p:nvPr/>
        </p:nvCxnSpPr>
        <p:spPr>
          <a:xfrm flipV="1">
            <a:off x="1487840" y="1859280"/>
            <a:ext cx="1323940" cy="118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E75A16-3BFE-4E25-9B4F-7908A387A175}"/>
              </a:ext>
            </a:extLst>
          </p:cNvPr>
          <p:cNvCxnSpPr>
            <a:cxnSpLocks/>
          </p:cNvCxnSpPr>
          <p:nvPr/>
        </p:nvCxnSpPr>
        <p:spPr>
          <a:xfrm flipH="1" flipV="1">
            <a:off x="685800" y="2125980"/>
            <a:ext cx="802041" cy="9137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E03232-C39C-451B-8822-4EA14927454F}"/>
                  </a:ext>
                </a:extLst>
              </p:cNvPr>
              <p:cNvSpPr txBox="1"/>
              <p:nvPr/>
            </p:nvSpPr>
            <p:spPr>
              <a:xfrm>
                <a:off x="1572768" y="1909892"/>
                <a:ext cx="38061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E03232-C39C-451B-8822-4EA1492745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768" y="1909892"/>
                <a:ext cx="380619" cy="2616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29DF369-E4AE-44ED-84C6-D0661EC6B4BC}"/>
              </a:ext>
            </a:extLst>
          </p:cNvPr>
          <p:cNvCxnSpPr>
            <a:cxnSpLocks/>
          </p:cNvCxnSpPr>
          <p:nvPr/>
        </p:nvCxnSpPr>
        <p:spPr>
          <a:xfrm flipV="1">
            <a:off x="1097280" y="1783080"/>
            <a:ext cx="868680" cy="1783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93B4E5-A7B9-42C0-838D-0CF4465B6111}"/>
                  </a:ext>
                </a:extLst>
              </p:cNvPr>
              <p:cNvSpPr txBox="1"/>
              <p:nvPr/>
            </p:nvSpPr>
            <p:spPr>
              <a:xfrm>
                <a:off x="1580388" y="2562790"/>
                <a:ext cx="38061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93B4E5-A7B9-42C0-838D-0CF4465B6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388" y="2562790"/>
                <a:ext cx="380619" cy="2616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93F02D-E38F-4BDF-B228-26F0243399FD}"/>
                  </a:ext>
                </a:extLst>
              </p:cNvPr>
              <p:cNvSpPr txBox="1"/>
              <p:nvPr/>
            </p:nvSpPr>
            <p:spPr>
              <a:xfrm>
                <a:off x="838200" y="3865240"/>
                <a:ext cx="234950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We can see the line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GB" b="1" dirty="0"/>
                  <a:t> only intersects with the reflected part of the modulus graph.</a:t>
                </a:r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93F02D-E38F-4BDF-B228-26F024339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65240"/>
                <a:ext cx="2349500" cy="2585323"/>
              </a:xfrm>
              <a:prstGeom prst="rect">
                <a:avLst/>
              </a:prstGeom>
              <a:blipFill>
                <a:blip r:embed="rId7"/>
                <a:stretch>
                  <a:fillRect l="-2338" t="-11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397799F-6680-4197-8E6B-AEF241F09464}"/>
                  </a:ext>
                </a:extLst>
              </p:cNvPr>
              <p:cNvSpPr txBox="1"/>
              <p:nvPr/>
            </p:nvSpPr>
            <p:spPr>
              <a:xfrm>
                <a:off x="4211960" y="835729"/>
                <a:ext cx="2952328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Solve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397799F-6680-4197-8E6B-AEF241F09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835729"/>
                <a:ext cx="2952328" cy="369332"/>
              </a:xfrm>
              <a:prstGeom prst="rect">
                <a:avLst/>
              </a:prstGeom>
              <a:blipFill>
                <a:blip r:embed="rId8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EDD231-706F-4F58-B30B-F710D1AF297F}"/>
              </a:ext>
            </a:extLst>
          </p:cNvPr>
          <p:cNvCxnSpPr>
            <a:cxnSpLocks/>
          </p:cNvCxnSpPr>
          <p:nvPr/>
        </p:nvCxnSpPr>
        <p:spPr>
          <a:xfrm flipH="1" flipV="1">
            <a:off x="5625711" y="1507476"/>
            <a:ext cx="14071" cy="1866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726D47-E081-402F-8D30-B9B4C8B0AE64}"/>
              </a:ext>
            </a:extLst>
          </p:cNvPr>
          <p:cNvCxnSpPr>
            <a:cxnSpLocks/>
          </p:cNvCxnSpPr>
          <p:nvPr/>
        </p:nvCxnSpPr>
        <p:spPr>
          <a:xfrm>
            <a:off x="4559125" y="3039706"/>
            <a:ext cx="21168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E2FBEBB-A8EA-430C-AD30-87D1EF22F8C1}"/>
                  </a:ext>
                </a:extLst>
              </p:cNvPr>
              <p:cNvSpPr txBox="1"/>
              <p:nvPr/>
            </p:nvSpPr>
            <p:spPr>
              <a:xfrm>
                <a:off x="6637832" y="2875747"/>
                <a:ext cx="2826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E2FBEBB-A8EA-430C-AD30-87D1EF22F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7832" y="2875747"/>
                <a:ext cx="282699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5F5933E-387A-4B46-9236-0052285DDF0A}"/>
                  </a:ext>
                </a:extLst>
              </p:cNvPr>
              <p:cNvSpPr txBox="1"/>
              <p:nvPr/>
            </p:nvSpPr>
            <p:spPr>
              <a:xfrm>
                <a:off x="5602340" y="1388443"/>
                <a:ext cx="28269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5F5933E-387A-4B46-9236-0052285DD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340" y="1388443"/>
                <a:ext cx="282699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392EDE3-5DB3-4B5E-B8E7-ACD3C49F8F2D}"/>
              </a:ext>
            </a:extLst>
          </p:cNvPr>
          <p:cNvCxnSpPr>
            <a:cxnSpLocks/>
          </p:cNvCxnSpPr>
          <p:nvPr/>
        </p:nvCxnSpPr>
        <p:spPr>
          <a:xfrm flipV="1">
            <a:off x="5848350" y="1501775"/>
            <a:ext cx="685800" cy="15240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A92E46E-C69A-4274-AEC8-07AA647630F6}"/>
              </a:ext>
            </a:extLst>
          </p:cNvPr>
          <p:cNvCxnSpPr>
            <a:cxnSpLocks/>
          </p:cNvCxnSpPr>
          <p:nvPr/>
        </p:nvCxnSpPr>
        <p:spPr>
          <a:xfrm flipH="1" flipV="1">
            <a:off x="5137150" y="1473200"/>
            <a:ext cx="703863" cy="15715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7AC159E-DB45-41DD-8FCD-E491A9F06E4D}"/>
                  </a:ext>
                </a:extLst>
              </p:cNvPr>
              <p:cNvSpPr txBox="1"/>
              <p:nvPr/>
            </p:nvSpPr>
            <p:spPr>
              <a:xfrm>
                <a:off x="5367139" y="2492808"/>
                <a:ext cx="38061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7AC159E-DB45-41DD-8FCD-E491A9F06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139" y="2492808"/>
                <a:ext cx="380619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693729E-4574-42DB-80BF-727CA1148BE3}"/>
              </a:ext>
            </a:extLst>
          </p:cNvPr>
          <p:cNvCxnSpPr>
            <a:cxnSpLocks/>
          </p:cNvCxnSpPr>
          <p:nvPr/>
        </p:nvCxnSpPr>
        <p:spPr>
          <a:xfrm flipV="1">
            <a:off x="5302250" y="1708150"/>
            <a:ext cx="1473200" cy="172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7CA713E-9CD8-42CA-B264-64F4216EBCF0}"/>
                  </a:ext>
                </a:extLst>
              </p:cNvPr>
              <p:cNvSpPr txBox="1"/>
              <p:nvPr/>
            </p:nvSpPr>
            <p:spPr>
              <a:xfrm>
                <a:off x="5654159" y="3037756"/>
                <a:ext cx="380619" cy="40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7CA713E-9CD8-42CA-B264-64F4216EB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159" y="3037756"/>
                <a:ext cx="380619" cy="40921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26C4409-F6AC-46DB-BA0D-42054B41A9F8}"/>
                  </a:ext>
                </a:extLst>
              </p:cNvPr>
              <p:cNvSpPr txBox="1"/>
              <p:nvPr/>
            </p:nvSpPr>
            <p:spPr>
              <a:xfrm>
                <a:off x="4623095" y="3873362"/>
                <a:ext cx="2543249" cy="2709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Determine ‘critical values’: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1600" b="1" dirty="0"/>
              </a:p>
              <a:p>
                <a:endParaRPr lang="en-GB" sz="16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GB" sz="1600" b="1" dirty="0"/>
              </a:p>
              <a:p>
                <a:endParaRPr lang="en-GB" sz="16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26C4409-F6AC-46DB-BA0D-42054B41A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3095" y="3873362"/>
                <a:ext cx="2543249" cy="2709716"/>
              </a:xfrm>
              <a:prstGeom prst="rect">
                <a:avLst/>
              </a:prstGeom>
              <a:blipFill>
                <a:blip r:embed="rId12"/>
                <a:stretch>
                  <a:fillRect l="-1196" t="-6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>
            <a:extLst>
              <a:ext uri="{FF2B5EF4-FFF2-40B4-BE49-F238E27FC236}">
                <a16:creationId xmlns:a16="http://schemas.microsoft.com/office/drawing/2014/main" id="{B6C07A35-D1D8-4704-A5C6-15B733556963}"/>
              </a:ext>
            </a:extLst>
          </p:cNvPr>
          <p:cNvSpPr/>
          <p:nvPr/>
        </p:nvSpPr>
        <p:spPr>
          <a:xfrm>
            <a:off x="539553" y="1388443"/>
            <a:ext cx="2952328" cy="525970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6B41037-CEC6-46A3-AC29-E95DB886FD98}"/>
              </a:ext>
            </a:extLst>
          </p:cNvPr>
          <p:cNvSpPr/>
          <p:nvPr/>
        </p:nvSpPr>
        <p:spPr>
          <a:xfrm>
            <a:off x="4211960" y="1205061"/>
            <a:ext cx="2952328" cy="54406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9654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>
                  <a:latin typeface="+mj-lt"/>
                </a:rPr>
                <a:t>Exercise 2.1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Pages 6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7A71EE7-C0A7-342B-861B-D79487517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980728"/>
            <a:ext cx="78295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4F2F81D-73EF-1D49-64D6-5DDCFF5A9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908720"/>
            <a:ext cx="7743825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6E7708D-1883-0049-1788-397618CE2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" y="908720"/>
            <a:ext cx="820102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1AE3EF7-9606-1BEC-4A33-5856C6072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395"/>
            <a:ext cx="9144000" cy="613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FCCC8CA-9349-A891-A9D8-EEB2F4718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836712"/>
            <a:ext cx="464820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61754</TotalTime>
  <Words>668</Words>
  <Application>Microsoft Office PowerPoint</Application>
  <PresentationFormat>On-screen Show (4:3)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Wingdings</vt:lpstr>
      <vt:lpstr>Office Theme</vt:lpstr>
      <vt:lpstr>P2 Chapter 2: Graphing Functions  The Modulus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2025-10-17T09:34:32Z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