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547" r:id="rId5"/>
    <p:sldId id="546" r:id="rId6"/>
    <p:sldId id="553" r:id="rId7"/>
    <p:sldId id="554" r:id="rId8"/>
    <p:sldId id="548" r:id="rId9"/>
    <p:sldId id="555" r:id="rId10"/>
    <p:sldId id="556" r:id="rId11"/>
    <p:sldId id="549" r:id="rId12"/>
    <p:sldId id="543" r:id="rId13"/>
    <p:sldId id="550" r:id="rId14"/>
    <p:sldId id="551" r:id="rId15"/>
    <p:sldId id="557" r:id="rId16"/>
    <p:sldId id="545" r:id="rId17"/>
    <p:sldId id="552" r:id="rId18"/>
    <p:sldId id="55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8C0B2-64BC-4277-90EA-B8E5A23A1BDC}" v="3" dt="2025-10-23T10:06:52.8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50972EFE-1740-438B-9E64-6A5A3DECA7FC}"/>
    <pc:docChg chg="addSld modSld">
      <pc:chgData name="Dieter Beaven" userId="9bbdb69f-69d0-4759-aa9b-5c090a2da237" providerId="ADAL" clId="{50972EFE-1740-438B-9E64-6A5A3DECA7FC}" dt="2025-05-13T15:04:50.633" v="4" actId="20577"/>
      <pc:docMkLst>
        <pc:docMk/>
      </pc:docMkLst>
      <pc:sldChg chg="add">
        <pc:chgData name="Dieter Beaven" userId="9bbdb69f-69d0-4759-aa9b-5c090a2da237" providerId="ADAL" clId="{50972EFE-1740-438B-9E64-6A5A3DECA7FC}" dt="2025-05-13T15:04:35.637" v="0"/>
        <pc:sldMkLst>
          <pc:docMk/>
          <pc:sldMk cId="3969475232" sldId="546"/>
        </pc:sldMkLst>
      </pc:sldChg>
      <pc:sldChg chg="add">
        <pc:chgData name="Dieter Beaven" userId="9bbdb69f-69d0-4759-aa9b-5c090a2da237" providerId="ADAL" clId="{50972EFE-1740-438B-9E64-6A5A3DECA7FC}" dt="2025-05-13T15:04:35.637" v="0"/>
        <pc:sldMkLst>
          <pc:docMk/>
          <pc:sldMk cId="3860029646" sldId="548"/>
        </pc:sldMkLst>
      </pc:sldChg>
      <pc:sldChg chg="modSp mod">
        <pc:chgData name="Dieter Beaven" userId="9bbdb69f-69d0-4759-aa9b-5c090a2da237" providerId="ADAL" clId="{50972EFE-1740-438B-9E64-6A5A3DECA7FC}" dt="2025-05-13T15:04:50.633" v="4" actId="2057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50972EFE-1740-438B-9E64-6A5A3DECA7FC}" dt="2025-05-13T15:04:35.637" v="0"/>
        <pc:sldMkLst>
          <pc:docMk/>
          <pc:sldMk cId="2639893847" sldId="553"/>
        </pc:sldMkLst>
      </pc:sldChg>
      <pc:sldChg chg="add">
        <pc:chgData name="Dieter Beaven" userId="9bbdb69f-69d0-4759-aa9b-5c090a2da237" providerId="ADAL" clId="{50972EFE-1740-438B-9E64-6A5A3DECA7FC}" dt="2025-05-13T15:04:35.637" v="0"/>
        <pc:sldMkLst>
          <pc:docMk/>
          <pc:sldMk cId="2504642346" sldId="554"/>
        </pc:sldMkLst>
      </pc:sldChg>
      <pc:sldChg chg="add">
        <pc:chgData name="Dieter Beaven" userId="9bbdb69f-69d0-4759-aa9b-5c090a2da237" providerId="ADAL" clId="{50972EFE-1740-438B-9E64-6A5A3DECA7FC}" dt="2025-05-13T15:04:35.637" v="0"/>
        <pc:sldMkLst>
          <pc:docMk/>
          <pc:sldMk cId="4147982295" sldId="555"/>
        </pc:sldMkLst>
      </pc:sldChg>
      <pc:sldChg chg="add">
        <pc:chgData name="Dieter Beaven" userId="9bbdb69f-69d0-4759-aa9b-5c090a2da237" providerId="ADAL" clId="{50972EFE-1740-438B-9E64-6A5A3DECA7FC}" dt="2025-05-13T15:04:35.637" v="0"/>
        <pc:sldMkLst>
          <pc:docMk/>
          <pc:sldMk cId="47190545" sldId="556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AF4429DE-69D1-4CF8-841D-B9C26A2A5A21}"/>
    <pc:docChg chg="addSld delSld modSld">
      <pc:chgData name="Dieter Beaven" userId="9bbdb69f-69d0-4759-aa9b-5c090a2da237" providerId="ADAL" clId="{AF4429DE-69D1-4CF8-841D-B9C26A2A5A21}" dt="2025-10-23T10:11:15.015" v="15" actId="47"/>
      <pc:docMkLst>
        <pc:docMk/>
      </pc:docMkLst>
      <pc:sldChg chg="addSp modSp mod">
        <pc:chgData name="Dieter Beaven" userId="9bbdb69f-69d0-4759-aa9b-5c090a2da237" providerId="ADAL" clId="{AF4429DE-69D1-4CF8-841D-B9C26A2A5A21}" dt="2025-10-23T10:06:43.697" v="5" actId="1035"/>
        <pc:sldMkLst>
          <pc:docMk/>
          <pc:sldMk cId="3458699803" sldId="545"/>
        </pc:sldMkLst>
        <pc:picChg chg="add mod">
          <ac:chgData name="Dieter Beaven" userId="9bbdb69f-69d0-4759-aa9b-5c090a2da237" providerId="ADAL" clId="{AF4429DE-69D1-4CF8-841D-B9C26A2A5A21}" dt="2025-10-23T10:06:43.697" v="5" actId="1035"/>
          <ac:picMkLst>
            <pc:docMk/>
            <pc:sldMk cId="3458699803" sldId="545"/>
            <ac:picMk id="6" creationId="{EACB60E8-B147-2ABF-A2BA-87411702B48E}"/>
          </ac:picMkLst>
        </pc:picChg>
      </pc:sldChg>
      <pc:sldChg chg="addSp modSp mod">
        <pc:chgData name="Dieter Beaven" userId="9bbdb69f-69d0-4759-aa9b-5c090a2da237" providerId="ADAL" clId="{AF4429DE-69D1-4CF8-841D-B9C26A2A5A21}" dt="2025-10-23T10:08:46.781" v="11" actId="1076"/>
        <pc:sldMkLst>
          <pc:docMk/>
          <pc:sldMk cId="2531956736" sldId="552"/>
        </pc:sldMkLst>
        <pc:picChg chg="add mod">
          <ac:chgData name="Dieter Beaven" userId="9bbdb69f-69d0-4759-aa9b-5c090a2da237" providerId="ADAL" clId="{AF4429DE-69D1-4CF8-841D-B9C26A2A5A21}" dt="2025-10-23T10:08:46.781" v="11" actId="1076"/>
          <ac:picMkLst>
            <pc:docMk/>
            <pc:sldMk cId="2531956736" sldId="552"/>
            <ac:picMk id="6" creationId="{A63A918C-E1A0-C7AD-93C3-7E891E5FAAC9}"/>
          </ac:picMkLst>
        </pc:picChg>
      </pc:sldChg>
      <pc:sldChg chg="addSp modSp add mod">
        <pc:chgData name="Dieter Beaven" userId="9bbdb69f-69d0-4759-aa9b-5c090a2da237" providerId="ADAL" clId="{AF4429DE-69D1-4CF8-841D-B9C26A2A5A21}" dt="2025-10-23T10:11:11.070" v="13" actId="1076"/>
        <pc:sldMkLst>
          <pc:docMk/>
          <pc:sldMk cId="1689544820" sldId="558"/>
        </pc:sldMkLst>
        <pc:picChg chg="add mod">
          <ac:chgData name="Dieter Beaven" userId="9bbdb69f-69d0-4759-aa9b-5c090a2da237" providerId="ADAL" clId="{AF4429DE-69D1-4CF8-841D-B9C26A2A5A21}" dt="2025-10-23T10:11:11.070" v="13" actId="1076"/>
          <ac:picMkLst>
            <pc:docMk/>
            <pc:sldMk cId="1689544820" sldId="558"/>
            <ac:picMk id="6" creationId="{FE1AB44D-A14A-DEEF-499D-303D42DB42E3}"/>
          </ac:picMkLst>
        </pc:picChg>
      </pc:sldChg>
      <pc:sldChg chg="add del">
        <pc:chgData name="Dieter Beaven" userId="9bbdb69f-69d0-4759-aa9b-5c090a2da237" providerId="ADAL" clId="{AF4429DE-69D1-4CF8-841D-B9C26A2A5A21}" dt="2025-10-23T10:11:14.529" v="14" actId="47"/>
        <pc:sldMkLst>
          <pc:docMk/>
          <pc:sldMk cId="570192750" sldId="559"/>
        </pc:sldMkLst>
      </pc:sldChg>
      <pc:sldChg chg="add del">
        <pc:chgData name="Dieter Beaven" userId="9bbdb69f-69d0-4759-aa9b-5c090a2da237" providerId="ADAL" clId="{AF4429DE-69D1-4CF8-841D-B9C26A2A5A21}" dt="2025-10-23T10:11:15.015" v="15" actId="47"/>
        <pc:sldMkLst>
          <pc:docMk/>
          <pc:sldMk cId="1848205795" sldId="560"/>
        </pc:sldMkLst>
      </pc:sldChg>
    </pc:docChg>
  </pc:docChgLst>
  <pc:docChgLst>
    <pc:chgData name="Dieter Beaven" userId="9bbdb69f-69d0-4759-aa9b-5c090a2da237" providerId="ADAL" clId="{AEBAE04E-4907-4488-9BE2-3C2C331A46F1}"/>
    <pc:docChg chg="modSld">
      <pc:chgData name="Dieter Beaven" userId="9bbdb69f-69d0-4759-aa9b-5c090a2da237" providerId="ADAL" clId="{AEBAE04E-4907-4488-9BE2-3C2C331A46F1}" dt="2025-04-25T15:29:32.696" v="3" actId="20577"/>
      <pc:docMkLst>
        <pc:docMk/>
      </pc:docMkLst>
      <pc:sldChg chg="modSp mod">
        <pc:chgData name="Dieter Beaven" userId="9bbdb69f-69d0-4759-aa9b-5c090a2da237" providerId="ADAL" clId="{AEBAE04E-4907-4488-9BE2-3C2C331A46F1}" dt="2025-04-25T15:29:28.587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AEBAE04E-4907-4488-9BE2-3C2C331A46F1}" dt="2025-04-25T15:29:32.696" v="3" actId="20577"/>
        <pc:sldMkLst>
          <pc:docMk/>
          <pc:sldMk cId="3055658135" sldId="549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40EC3DD0-40AF-439A-B70B-C61625F5F472}"/>
    <pc:docChg chg="custSel addSld modSld">
      <pc:chgData name="Dieter Beaven" userId="9bbdb69f-69d0-4759-aa9b-5c090a2da237" providerId="ADAL" clId="{40EC3DD0-40AF-439A-B70B-C61625F5F472}" dt="2025-08-27T09:33:59.743" v="42" actId="1038"/>
      <pc:docMkLst>
        <pc:docMk/>
      </pc:docMkLst>
      <pc:sldChg chg="addSp delSp modSp mod">
        <pc:chgData name="Dieter Beaven" userId="9bbdb69f-69d0-4759-aa9b-5c090a2da237" providerId="ADAL" clId="{40EC3DD0-40AF-439A-B70B-C61625F5F472}" dt="2025-08-27T09:33:49.549" v="39" actId="22"/>
        <pc:sldMkLst>
          <pc:docMk/>
          <pc:sldMk cId="3896053727" sldId="543"/>
        </pc:sldMkLst>
      </pc:sldChg>
      <pc:sldChg chg="modSp mod">
        <pc:chgData name="Dieter Beaven" userId="9bbdb69f-69d0-4759-aa9b-5c090a2da237" providerId="ADAL" clId="{40EC3DD0-40AF-439A-B70B-C61625F5F472}" dt="2025-08-27T09:27:15.392" v="18" actId="20577"/>
        <pc:sldMkLst>
          <pc:docMk/>
          <pc:sldMk cId="3991975165" sldId="547"/>
        </pc:sldMkLst>
      </pc:sldChg>
      <pc:sldChg chg="addSp delSp modSp mod">
        <pc:chgData name="Dieter Beaven" userId="9bbdb69f-69d0-4759-aa9b-5c090a2da237" providerId="ADAL" clId="{40EC3DD0-40AF-439A-B70B-C61625F5F472}" dt="2025-08-27T09:33:10.740" v="37" actId="1076"/>
        <pc:sldMkLst>
          <pc:docMk/>
          <pc:sldMk cId="4091202299" sldId="550"/>
        </pc:sldMkLst>
      </pc:sldChg>
      <pc:sldChg chg="addSp delSp modSp mod">
        <pc:chgData name="Dieter Beaven" userId="9bbdb69f-69d0-4759-aa9b-5c090a2da237" providerId="ADAL" clId="{40EC3DD0-40AF-439A-B70B-C61625F5F472}" dt="2025-08-27T09:33:59.743" v="42" actId="1038"/>
        <pc:sldMkLst>
          <pc:docMk/>
          <pc:sldMk cId="3826585799" sldId="551"/>
        </pc:sldMkLst>
      </pc:sldChg>
      <pc:sldChg chg="addSp modSp add mod">
        <pc:chgData name="Dieter Beaven" userId="9bbdb69f-69d0-4759-aa9b-5c090a2da237" providerId="ADAL" clId="{40EC3DD0-40AF-439A-B70B-C61625F5F472}" dt="2025-08-27T09:31:32.423" v="33" actId="1076"/>
        <pc:sldMkLst>
          <pc:docMk/>
          <pc:sldMk cId="1187327095" sldId="557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BC489C12-7655-4349-A9B7-B3F187814AC5}"/>
    <pc:docChg chg="modSld">
      <pc:chgData name="Dieter Beaven" userId="9bbdb69f-69d0-4759-aa9b-5c090a2da237" providerId="ADAL" clId="{BC489C12-7655-4349-A9B7-B3F187814AC5}" dt="2025-04-29T13:37:22.258" v="33" actId="20577"/>
      <pc:docMkLst>
        <pc:docMk/>
      </pc:docMkLst>
      <pc:sldChg chg="modSp mod">
        <pc:chgData name="Dieter Beaven" userId="9bbdb69f-69d0-4759-aa9b-5c090a2da237" providerId="ADAL" clId="{BC489C12-7655-4349-A9B7-B3F187814AC5}" dt="2025-04-29T13:37:22.258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5.png"/><Relationship Id="rId3" Type="http://schemas.openxmlformats.org/officeDocument/2006/relationships/image" Target="../media/image147.pn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17" Type="http://schemas.openxmlformats.org/officeDocument/2006/relationships/image" Target="../media/image159.png"/><Relationship Id="rId2" Type="http://schemas.openxmlformats.org/officeDocument/2006/relationships/image" Target="../media/image146.png"/><Relationship Id="rId16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8.png"/><Relationship Id="rId11" Type="http://schemas.openxmlformats.org/officeDocument/2006/relationships/image" Target="../media/image153.png"/><Relationship Id="rId5" Type="http://schemas.openxmlformats.org/officeDocument/2006/relationships/image" Target="../media/image71.png"/><Relationship Id="rId15" Type="http://schemas.openxmlformats.org/officeDocument/2006/relationships/image" Target="../media/image157.png"/><Relationship Id="rId10" Type="http://schemas.openxmlformats.org/officeDocument/2006/relationships/image" Target="../media/image152.png"/><Relationship Id="rId4" Type="http://schemas.openxmlformats.org/officeDocument/2006/relationships/image" Target="../media/image70.png"/><Relationship Id="rId9" Type="http://schemas.openxmlformats.org/officeDocument/2006/relationships/image" Target="../media/image151.png"/><Relationship Id="rId14" Type="http://schemas.openxmlformats.org/officeDocument/2006/relationships/image" Target="../media/image1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3" Type="http://schemas.openxmlformats.org/officeDocument/2006/relationships/image" Target="../media/image490.png"/><Relationship Id="rId7" Type="http://schemas.openxmlformats.org/officeDocument/2006/relationships/image" Target="../media/image53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0.png"/><Relationship Id="rId5" Type="http://schemas.openxmlformats.org/officeDocument/2006/relationships/image" Target="../media/image510.png"/><Relationship Id="rId10" Type="http://schemas.openxmlformats.org/officeDocument/2006/relationships/image" Target="../media/image161.png"/><Relationship Id="rId4" Type="http://schemas.openxmlformats.org/officeDocument/2006/relationships/image" Target="../media/image500.png"/><Relationship Id="rId9" Type="http://schemas.openxmlformats.org/officeDocument/2006/relationships/image" Target="../media/image5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openxmlformats.org/officeDocument/2006/relationships/image" Target="../media/image162.png"/><Relationship Id="rId7" Type="http://schemas.openxmlformats.org/officeDocument/2006/relationships/image" Target="../media/image163.png"/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1.png"/><Relationship Id="rId11" Type="http://schemas.openxmlformats.org/officeDocument/2006/relationships/image" Target="../media/image167.png"/><Relationship Id="rId5" Type="http://schemas.openxmlformats.org/officeDocument/2006/relationships/image" Target="../media/image340.png"/><Relationship Id="rId10" Type="http://schemas.openxmlformats.org/officeDocument/2006/relationships/image" Target="../media/image166.png"/><Relationship Id="rId4" Type="http://schemas.openxmlformats.org/officeDocument/2006/relationships/image" Target="../media/image450.png"/><Relationship Id="rId9" Type="http://schemas.openxmlformats.org/officeDocument/2006/relationships/image" Target="../media/image16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2: </a:t>
            </a:r>
            <a:r>
              <a:rPr lang="en-GB" dirty="0">
                <a:solidFill>
                  <a:schemeClr val="accent5"/>
                </a:solidFill>
              </a:rPr>
              <a:t>Graphing Functions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Inverse Functions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/>
        </p:nvGrpSpPr>
        <p:grpSpPr>
          <a:xfrm>
            <a:off x="-1144" y="0"/>
            <a:ext cx="9145144" cy="599127"/>
            <a:chOff x="-1144" y="0"/>
            <a:chExt cx="9145144" cy="599127"/>
          </a:xfrm>
        </p:grpSpPr>
        <p:sp>
          <p:nvSpPr>
            <p:cNvPr id="3" name="TextBox 2"/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dirty="0"/>
                <a:t>   Inverse Functions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467544" y="5517232"/>
            <a:ext cx="7920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Explain why the function must be one-to-one for an inverse function to exist:</a:t>
            </a:r>
          </a:p>
          <a:p>
            <a:r>
              <a:rPr lang="en-GB" dirty="0"/>
              <a:t>If the mapping was many-to-one, then the inverse mapping would be one-to-many. But this is not a function!</a:t>
            </a:r>
          </a:p>
        </p:txBody>
      </p:sp>
      <p:sp>
        <p:nvSpPr>
          <p:cNvPr id="6" name="Oval 5"/>
          <p:cNvSpPr/>
          <p:nvPr/>
        </p:nvSpPr>
        <p:spPr>
          <a:xfrm>
            <a:off x="497899" y="751947"/>
            <a:ext cx="1065087" cy="1895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2577405" y="741315"/>
            <a:ext cx="941972" cy="18849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 7"/>
          <p:cNvSpPr/>
          <p:nvPr/>
        </p:nvSpPr>
        <p:spPr>
          <a:xfrm>
            <a:off x="1315662" y="1073888"/>
            <a:ext cx="1416905" cy="404038"/>
          </a:xfrm>
          <a:custGeom>
            <a:avLst/>
            <a:gdLst>
              <a:gd name="connsiteX0" fmla="*/ 0 w 1814285"/>
              <a:gd name="connsiteY0" fmla="*/ 446459 h 446459"/>
              <a:gd name="connsiteX1" fmla="*/ 580571 w 1814285"/>
              <a:gd name="connsiteY1" fmla="*/ 98116 h 446459"/>
              <a:gd name="connsiteX2" fmla="*/ 1161143 w 1814285"/>
              <a:gd name="connsiteY2" fmla="*/ 11030 h 446459"/>
              <a:gd name="connsiteX3" fmla="*/ 1814285 w 1814285"/>
              <a:gd name="connsiteY3" fmla="*/ 301316 h 446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4285" h="446459">
                <a:moveTo>
                  <a:pt x="0" y="446459"/>
                </a:moveTo>
                <a:cubicBezTo>
                  <a:pt x="193523" y="308573"/>
                  <a:pt x="387047" y="170687"/>
                  <a:pt x="580571" y="98116"/>
                </a:cubicBezTo>
                <a:cubicBezTo>
                  <a:pt x="774095" y="25545"/>
                  <a:pt x="955524" y="-22837"/>
                  <a:pt x="1161143" y="11030"/>
                </a:cubicBezTo>
                <a:cubicBezTo>
                  <a:pt x="1366762" y="44897"/>
                  <a:pt x="1590523" y="173106"/>
                  <a:pt x="1814285" y="30131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62566" y="655095"/>
                <a:ext cx="9361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566" y="655095"/>
                <a:ext cx="936104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 9"/>
          <p:cNvSpPr/>
          <p:nvPr/>
        </p:nvSpPr>
        <p:spPr>
          <a:xfrm rot="10629815">
            <a:off x="1421796" y="2034039"/>
            <a:ext cx="1304533" cy="284412"/>
          </a:xfrm>
          <a:custGeom>
            <a:avLst/>
            <a:gdLst>
              <a:gd name="connsiteX0" fmla="*/ 0 w 1814285"/>
              <a:gd name="connsiteY0" fmla="*/ 446459 h 446459"/>
              <a:gd name="connsiteX1" fmla="*/ 580571 w 1814285"/>
              <a:gd name="connsiteY1" fmla="*/ 98116 h 446459"/>
              <a:gd name="connsiteX2" fmla="*/ 1161143 w 1814285"/>
              <a:gd name="connsiteY2" fmla="*/ 11030 h 446459"/>
              <a:gd name="connsiteX3" fmla="*/ 1814285 w 1814285"/>
              <a:gd name="connsiteY3" fmla="*/ 301316 h 446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4285" h="446459">
                <a:moveTo>
                  <a:pt x="0" y="446459"/>
                </a:moveTo>
                <a:cubicBezTo>
                  <a:pt x="193523" y="308573"/>
                  <a:pt x="387047" y="170687"/>
                  <a:pt x="580571" y="98116"/>
                </a:cubicBezTo>
                <a:cubicBezTo>
                  <a:pt x="774095" y="25545"/>
                  <a:pt x="955524" y="-22837"/>
                  <a:pt x="1161143" y="11030"/>
                </a:cubicBezTo>
                <a:cubicBezTo>
                  <a:pt x="1366762" y="44897"/>
                  <a:pt x="1590523" y="173106"/>
                  <a:pt x="1814285" y="30131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88019" y="1307933"/>
                <a:ext cx="9361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19" y="1307933"/>
                <a:ext cx="93610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624994" y="1284537"/>
                <a:ext cx="9361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994" y="1284537"/>
                <a:ext cx="93610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609404" y="2319519"/>
                <a:ext cx="9361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404" y="2319519"/>
                <a:ext cx="936104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539552" y="5872202"/>
            <a:ext cx="7848872" cy="5683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20E822-2E39-4DC4-90AF-883B31E569F0}"/>
              </a:ext>
            </a:extLst>
          </p:cNvPr>
          <p:cNvSpPr txBox="1"/>
          <p:nvPr/>
        </p:nvSpPr>
        <p:spPr>
          <a:xfrm>
            <a:off x="5912307" y="5150920"/>
            <a:ext cx="2846784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This has appeared in exams before.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37DB62-8011-470F-BCBC-96838698C656}"/>
              </a:ext>
            </a:extLst>
          </p:cNvPr>
          <p:cNvCxnSpPr>
            <a:stCxn id="16" idx="1"/>
          </p:cNvCxnSpPr>
          <p:nvPr/>
        </p:nvCxnSpPr>
        <p:spPr>
          <a:xfrm flipH="1">
            <a:off x="5576711" y="5304809"/>
            <a:ext cx="335596" cy="19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08155C-49ED-4C5F-8014-65815DBA412D}"/>
                  </a:ext>
                </a:extLst>
              </p:cNvPr>
              <p:cNvSpPr txBox="1"/>
              <p:nvPr/>
            </p:nvSpPr>
            <p:spPr>
              <a:xfrm>
                <a:off x="3851920" y="855150"/>
                <a:ext cx="468052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An inverse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  <a:r>
                  <a:rPr lang="en-GB" b="1" dirty="0"/>
                  <a:t>does the opposite of the original function</a:t>
                </a:r>
                <a:r>
                  <a:rPr lang="en-GB" dirty="0"/>
                  <a:t>. For example,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, we could do the opposite operations within the function in reverse order to get back to the original input: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08155C-49ED-4C5F-8014-65815DBA4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855150"/>
                <a:ext cx="4680520" cy="2031325"/>
              </a:xfrm>
              <a:prstGeom prst="rect">
                <a:avLst/>
              </a:prstGeom>
              <a:blipFill>
                <a:blip r:embed="rId6"/>
                <a:stretch>
                  <a:fillRect l="-1172" t="-1497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0E9689A-EF91-4F75-9EFC-487DAF9F3885}"/>
                  </a:ext>
                </a:extLst>
              </p:cNvPr>
              <p:cNvSpPr txBox="1"/>
              <p:nvPr/>
            </p:nvSpPr>
            <p:spPr>
              <a:xfrm>
                <a:off x="588019" y="2996952"/>
                <a:ext cx="2759845" cy="116955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Notation:</a:t>
                </a:r>
                <a:r>
                  <a:rPr lang="en-GB" sz="1400" dirty="0"/>
                  <a:t> Just 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/>
                  <a:t> means “apply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400" dirty="0"/>
                  <a:t> twice”,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400" dirty="0"/>
                  <a:t> means “apply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1400" dirty="0"/>
                  <a:t> -1 times”, i.e. once backwards!</a:t>
                </a:r>
              </a:p>
              <a:p>
                <a:r>
                  <a:rPr lang="en-GB" sz="1400" dirty="0"/>
                  <a:t>This is why we write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GB" sz="1400" dirty="0"/>
                  <a:t> to mean “inverse sin”.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0E9689A-EF91-4F75-9EFC-487DAF9F3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19" y="2996952"/>
                <a:ext cx="2759845" cy="1169551"/>
              </a:xfrm>
              <a:prstGeom prst="rect">
                <a:avLst/>
              </a:prstGeom>
              <a:blipFill>
                <a:blip r:embed="rId7"/>
                <a:stretch>
                  <a:fillRect l="-219" r="-1094" b="-3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9F13536-16CD-4F04-9E53-B2E2A8779F3F}"/>
                  </a:ext>
                </a:extLst>
              </p:cNvPr>
              <p:cNvSpPr/>
              <p:nvPr/>
            </p:nvSpPr>
            <p:spPr>
              <a:xfrm>
                <a:off x="4572000" y="3084069"/>
                <a:ext cx="721224" cy="81209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9F13536-16CD-4F04-9E53-B2E2A8779F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084069"/>
                <a:ext cx="721224" cy="812096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109CC0F-5048-4292-AC53-82B2484454D9}"/>
                  </a:ext>
                </a:extLst>
              </p:cNvPr>
              <p:cNvSpPr/>
              <p:nvPr/>
            </p:nvSpPr>
            <p:spPr>
              <a:xfrm>
                <a:off x="5898565" y="3070159"/>
                <a:ext cx="721224" cy="81209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109CC0F-5048-4292-AC53-82B2484454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565" y="3070159"/>
                <a:ext cx="721224" cy="812096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36E01AB-2992-4F05-A00A-FE20A60AE0F7}"/>
                  </a:ext>
                </a:extLst>
              </p:cNvPr>
              <p:cNvSpPr/>
              <p:nvPr/>
            </p:nvSpPr>
            <p:spPr>
              <a:xfrm>
                <a:off x="7092280" y="3084069"/>
                <a:ext cx="1194470" cy="812096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36E01AB-2992-4F05-A00A-FE20A60AE0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280" y="3084069"/>
                <a:ext cx="1194470" cy="812096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A6203BB-7048-4F5C-AA54-5E613621F3BD}"/>
              </a:ext>
            </a:extLst>
          </p:cNvPr>
          <p:cNvSpPr/>
          <p:nvPr/>
        </p:nvSpPr>
        <p:spPr>
          <a:xfrm>
            <a:off x="5324475" y="3124179"/>
            <a:ext cx="552450" cy="180996"/>
          </a:xfrm>
          <a:custGeom>
            <a:avLst/>
            <a:gdLst>
              <a:gd name="connsiteX0" fmla="*/ 0 w 552450"/>
              <a:gd name="connsiteY0" fmla="*/ 180996 h 180996"/>
              <a:gd name="connsiteX1" fmla="*/ 238125 w 552450"/>
              <a:gd name="connsiteY1" fmla="*/ 21 h 180996"/>
              <a:gd name="connsiteX2" fmla="*/ 552450 w 552450"/>
              <a:gd name="connsiteY2" fmla="*/ 171471 h 180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2450" h="180996">
                <a:moveTo>
                  <a:pt x="0" y="180996"/>
                </a:moveTo>
                <a:cubicBezTo>
                  <a:pt x="73025" y="91302"/>
                  <a:pt x="146050" y="1608"/>
                  <a:pt x="238125" y="21"/>
                </a:cubicBezTo>
                <a:cubicBezTo>
                  <a:pt x="330200" y="-1567"/>
                  <a:pt x="441325" y="84952"/>
                  <a:pt x="552450" y="171471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4A0D594-391E-49E1-9D76-7A3A9375A7EA}"/>
              </a:ext>
            </a:extLst>
          </p:cNvPr>
          <p:cNvSpPr/>
          <p:nvPr/>
        </p:nvSpPr>
        <p:spPr>
          <a:xfrm>
            <a:off x="6641429" y="3114675"/>
            <a:ext cx="464221" cy="150390"/>
          </a:xfrm>
          <a:custGeom>
            <a:avLst/>
            <a:gdLst>
              <a:gd name="connsiteX0" fmla="*/ 0 w 552450"/>
              <a:gd name="connsiteY0" fmla="*/ 180996 h 180996"/>
              <a:gd name="connsiteX1" fmla="*/ 238125 w 552450"/>
              <a:gd name="connsiteY1" fmla="*/ 21 h 180996"/>
              <a:gd name="connsiteX2" fmla="*/ 552450 w 552450"/>
              <a:gd name="connsiteY2" fmla="*/ 171471 h 180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2450" h="180996">
                <a:moveTo>
                  <a:pt x="0" y="180996"/>
                </a:moveTo>
                <a:cubicBezTo>
                  <a:pt x="73025" y="91302"/>
                  <a:pt x="146050" y="1608"/>
                  <a:pt x="238125" y="21"/>
                </a:cubicBezTo>
                <a:cubicBezTo>
                  <a:pt x="330200" y="-1567"/>
                  <a:pt x="441325" y="84952"/>
                  <a:pt x="552450" y="171471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1C304B1-B3F4-467C-B55C-63FA1E5F6B88}"/>
              </a:ext>
            </a:extLst>
          </p:cNvPr>
          <p:cNvSpPr/>
          <p:nvPr/>
        </p:nvSpPr>
        <p:spPr>
          <a:xfrm rot="10800000">
            <a:off x="5310395" y="3712273"/>
            <a:ext cx="552450" cy="180996"/>
          </a:xfrm>
          <a:custGeom>
            <a:avLst/>
            <a:gdLst>
              <a:gd name="connsiteX0" fmla="*/ 0 w 552450"/>
              <a:gd name="connsiteY0" fmla="*/ 180996 h 180996"/>
              <a:gd name="connsiteX1" fmla="*/ 238125 w 552450"/>
              <a:gd name="connsiteY1" fmla="*/ 21 h 180996"/>
              <a:gd name="connsiteX2" fmla="*/ 552450 w 552450"/>
              <a:gd name="connsiteY2" fmla="*/ 171471 h 180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2450" h="180996">
                <a:moveTo>
                  <a:pt x="0" y="180996"/>
                </a:moveTo>
                <a:cubicBezTo>
                  <a:pt x="73025" y="91302"/>
                  <a:pt x="146050" y="1608"/>
                  <a:pt x="238125" y="21"/>
                </a:cubicBezTo>
                <a:cubicBezTo>
                  <a:pt x="330200" y="-1567"/>
                  <a:pt x="441325" y="84952"/>
                  <a:pt x="552450" y="171471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27CCF8A-9A8E-4EEA-B0E9-DED6B1E58AF7}"/>
              </a:ext>
            </a:extLst>
          </p:cNvPr>
          <p:cNvSpPr/>
          <p:nvPr/>
        </p:nvSpPr>
        <p:spPr>
          <a:xfrm rot="10800000">
            <a:off x="6665034" y="3619499"/>
            <a:ext cx="364416" cy="121349"/>
          </a:xfrm>
          <a:custGeom>
            <a:avLst/>
            <a:gdLst>
              <a:gd name="connsiteX0" fmla="*/ 0 w 552450"/>
              <a:gd name="connsiteY0" fmla="*/ 180996 h 180996"/>
              <a:gd name="connsiteX1" fmla="*/ 238125 w 552450"/>
              <a:gd name="connsiteY1" fmla="*/ 21 h 180996"/>
              <a:gd name="connsiteX2" fmla="*/ 552450 w 552450"/>
              <a:gd name="connsiteY2" fmla="*/ 171471 h 180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2450" h="180996">
                <a:moveTo>
                  <a:pt x="0" y="180996"/>
                </a:moveTo>
                <a:cubicBezTo>
                  <a:pt x="73025" y="91302"/>
                  <a:pt x="146050" y="1608"/>
                  <a:pt x="238125" y="21"/>
                </a:cubicBezTo>
                <a:cubicBezTo>
                  <a:pt x="330200" y="-1567"/>
                  <a:pt x="441325" y="84952"/>
                  <a:pt x="552450" y="171471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114127-9DFA-4BD7-A30C-F4F838F62592}"/>
                  </a:ext>
                </a:extLst>
              </p:cNvPr>
              <p:cNvSpPr txBox="1"/>
              <p:nvPr/>
            </p:nvSpPr>
            <p:spPr>
              <a:xfrm>
                <a:off x="5394324" y="2886968"/>
                <a:ext cx="4060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114127-9DFA-4BD7-A30C-F4F838F62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324" y="2886968"/>
                <a:ext cx="40606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A90E4CF-A144-4519-BD07-EE9ECB5A954D}"/>
                  </a:ext>
                </a:extLst>
              </p:cNvPr>
              <p:cNvSpPr txBox="1"/>
              <p:nvPr/>
            </p:nvSpPr>
            <p:spPr>
              <a:xfrm>
                <a:off x="6641429" y="2878834"/>
                <a:ext cx="4060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A90E4CF-A144-4519-BD07-EE9ECB5A9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429" y="2878834"/>
                <a:ext cx="406066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60299B-06A3-4A74-B9AE-E4162623B0AB}"/>
                  </a:ext>
                </a:extLst>
              </p:cNvPr>
              <p:cNvSpPr txBox="1"/>
              <p:nvPr/>
            </p:nvSpPr>
            <p:spPr>
              <a:xfrm>
                <a:off x="6641429" y="3722369"/>
                <a:ext cx="4060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60299B-06A3-4A74-B9AE-E4162623B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429" y="3722369"/>
                <a:ext cx="406066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09F96D-3911-4561-879D-0A073C580CBE}"/>
                  </a:ext>
                </a:extLst>
              </p:cNvPr>
              <p:cNvSpPr txBox="1"/>
              <p:nvPr/>
            </p:nvSpPr>
            <p:spPr>
              <a:xfrm>
                <a:off x="5380028" y="3867498"/>
                <a:ext cx="4060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÷2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09F96D-3911-4561-879D-0A073C580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028" y="3867498"/>
                <a:ext cx="406066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0DFC1BA-BA45-4494-B3A7-9A1A13C79245}"/>
                  </a:ext>
                </a:extLst>
              </p:cNvPr>
              <p:cNvSpPr txBox="1"/>
              <p:nvPr/>
            </p:nvSpPr>
            <p:spPr>
              <a:xfrm>
                <a:off x="3843193" y="4218924"/>
                <a:ext cx="2907715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Thus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0DFC1BA-BA45-4494-B3A7-9A1A13C79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193" y="4218924"/>
                <a:ext cx="2907715" cy="483466"/>
              </a:xfrm>
              <a:prstGeom prst="rect">
                <a:avLst/>
              </a:prstGeom>
              <a:blipFill>
                <a:blip r:embed="rId15"/>
                <a:stretch>
                  <a:fillRect l="-1677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47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5" grpId="0"/>
      <p:bldP spid="15" grpId="0" animBg="1"/>
      <p:bldP spid="15" grpId="1" animBg="1"/>
      <p:bldP spid="16" grpId="0" animBg="1"/>
      <p:bldP spid="20" grpId="0" animBg="1"/>
      <p:bldP spid="22" grpId="0" animBg="1"/>
      <p:bldP spid="23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A038071-8D94-4686-91FF-5D0C1D5A27D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BBDB166-C97A-4698-9313-E757C5F0DE6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More on Inverse Functions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4B158D7-B47A-492F-AA03-1BC5692BBFE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9CBCFBD8-E4E4-4E03-813F-DDEBD086AF8D}"/>
              </a:ext>
            </a:extLst>
          </p:cNvPr>
          <p:cNvSpPr/>
          <p:nvPr/>
        </p:nvSpPr>
        <p:spPr>
          <a:xfrm>
            <a:off x="367271" y="824518"/>
            <a:ext cx="1065087" cy="1895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A954340-CA26-4020-BD09-06AB871D2841}"/>
              </a:ext>
            </a:extLst>
          </p:cNvPr>
          <p:cNvSpPr/>
          <p:nvPr/>
        </p:nvSpPr>
        <p:spPr>
          <a:xfrm>
            <a:off x="2446777" y="813886"/>
            <a:ext cx="941972" cy="18849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398E13C-907F-459F-BEC3-136B57AB2A84}"/>
              </a:ext>
            </a:extLst>
          </p:cNvPr>
          <p:cNvSpPr/>
          <p:nvPr/>
        </p:nvSpPr>
        <p:spPr>
          <a:xfrm>
            <a:off x="1185034" y="1146459"/>
            <a:ext cx="1416905" cy="404038"/>
          </a:xfrm>
          <a:custGeom>
            <a:avLst/>
            <a:gdLst>
              <a:gd name="connsiteX0" fmla="*/ 0 w 1814285"/>
              <a:gd name="connsiteY0" fmla="*/ 446459 h 446459"/>
              <a:gd name="connsiteX1" fmla="*/ 580571 w 1814285"/>
              <a:gd name="connsiteY1" fmla="*/ 98116 h 446459"/>
              <a:gd name="connsiteX2" fmla="*/ 1161143 w 1814285"/>
              <a:gd name="connsiteY2" fmla="*/ 11030 h 446459"/>
              <a:gd name="connsiteX3" fmla="*/ 1814285 w 1814285"/>
              <a:gd name="connsiteY3" fmla="*/ 301316 h 446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4285" h="446459">
                <a:moveTo>
                  <a:pt x="0" y="446459"/>
                </a:moveTo>
                <a:cubicBezTo>
                  <a:pt x="193523" y="308573"/>
                  <a:pt x="387047" y="170687"/>
                  <a:pt x="580571" y="98116"/>
                </a:cubicBezTo>
                <a:cubicBezTo>
                  <a:pt x="774095" y="25545"/>
                  <a:pt x="955524" y="-22837"/>
                  <a:pt x="1161143" y="11030"/>
                </a:cubicBezTo>
                <a:cubicBezTo>
                  <a:pt x="1366762" y="44897"/>
                  <a:pt x="1590523" y="173106"/>
                  <a:pt x="1814285" y="30131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5B51F0-C8AD-4E56-BDCC-F071EF2BE444}"/>
                  </a:ext>
                </a:extLst>
              </p:cNvPr>
              <p:cNvSpPr txBox="1"/>
              <p:nvPr/>
            </p:nvSpPr>
            <p:spPr>
              <a:xfrm>
                <a:off x="1531938" y="727666"/>
                <a:ext cx="9361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5B51F0-C8AD-4E56-BDCC-F071EF2BE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938" y="727666"/>
                <a:ext cx="936104" cy="40011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9">
            <a:extLst>
              <a:ext uri="{FF2B5EF4-FFF2-40B4-BE49-F238E27FC236}">
                <a16:creationId xmlns:a16="http://schemas.microsoft.com/office/drawing/2014/main" id="{DA538245-5B7C-46CF-A9A2-25F459ED0F7B}"/>
              </a:ext>
            </a:extLst>
          </p:cNvPr>
          <p:cNvSpPr/>
          <p:nvPr/>
        </p:nvSpPr>
        <p:spPr>
          <a:xfrm rot="10629815">
            <a:off x="1291168" y="2106610"/>
            <a:ext cx="1304533" cy="284412"/>
          </a:xfrm>
          <a:custGeom>
            <a:avLst/>
            <a:gdLst>
              <a:gd name="connsiteX0" fmla="*/ 0 w 1814285"/>
              <a:gd name="connsiteY0" fmla="*/ 446459 h 446459"/>
              <a:gd name="connsiteX1" fmla="*/ 580571 w 1814285"/>
              <a:gd name="connsiteY1" fmla="*/ 98116 h 446459"/>
              <a:gd name="connsiteX2" fmla="*/ 1161143 w 1814285"/>
              <a:gd name="connsiteY2" fmla="*/ 11030 h 446459"/>
              <a:gd name="connsiteX3" fmla="*/ 1814285 w 1814285"/>
              <a:gd name="connsiteY3" fmla="*/ 301316 h 446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4285" h="446459">
                <a:moveTo>
                  <a:pt x="0" y="446459"/>
                </a:moveTo>
                <a:cubicBezTo>
                  <a:pt x="193523" y="308573"/>
                  <a:pt x="387047" y="170687"/>
                  <a:pt x="580571" y="98116"/>
                </a:cubicBezTo>
                <a:cubicBezTo>
                  <a:pt x="774095" y="25545"/>
                  <a:pt x="955524" y="-22837"/>
                  <a:pt x="1161143" y="11030"/>
                </a:cubicBezTo>
                <a:cubicBezTo>
                  <a:pt x="1366762" y="44897"/>
                  <a:pt x="1590523" y="173106"/>
                  <a:pt x="1814285" y="30131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040F91-0FFA-4BF7-8DCD-F3DF05AFA53D}"/>
                  </a:ext>
                </a:extLst>
              </p:cNvPr>
              <p:cNvSpPr txBox="1"/>
              <p:nvPr/>
            </p:nvSpPr>
            <p:spPr>
              <a:xfrm>
                <a:off x="457391" y="1380504"/>
                <a:ext cx="9361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040F91-0FFA-4BF7-8DCD-F3DF05AFA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91" y="1380504"/>
                <a:ext cx="93610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B94F12-C787-4A38-BB4D-3D98534436CB}"/>
                  </a:ext>
                </a:extLst>
              </p:cNvPr>
              <p:cNvSpPr txBox="1"/>
              <p:nvPr/>
            </p:nvSpPr>
            <p:spPr>
              <a:xfrm>
                <a:off x="2494366" y="1357108"/>
                <a:ext cx="9361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B94F12-C787-4A38-BB4D-3D9853443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366" y="1357108"/>
                <a:ext cx="93610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49DBCE-9480-4F70-9527-265CB72A74BC}"/>
                  </a:ext>
                </a:extLst>
              </p:cNvPr>
              <p:cNvSpPr txBox="1"/>
              <p:nvPr/>
            </p:nvSpPr>
            <p:spPr>
              <a:xfrm>
                <a:off x="1478776" y="2392090"/>
                <a:ext cx="9361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49DBCE-9480-4F70-9527-265CB72A7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776" y="2392090"/>
                <a:ext cx="936104" cy="400110"/>
              </a:xfrm>
              <a:prstGeom prst="rect">
                <a:avLst/>
              </a:prstGeom>
              <a:blipFill>
                <a:blip r:embed="rId5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C5E4C9-82C4-40F0-9FD7-8997D286A0DA}"/>
                  </a:ext>
                </a:extLst>
              </p:cNvPr>
              <p:cNvSpPr txBox="1"/>
              <p:nvPr/>
            </p:nvSpPr>
            <p:spPr>
              <a:xfrm>
                <a:off x="3851920" y="710764"/>
                <a:ext cx="4464496" cy="3362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In the original function, we have the </a:t>
                </a:r>
                <a:r>
                  <a:rPr lang="en-GB" b="1" dirty="0"/>
                  <a:t>output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in terms of the input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dirty="0"/>
                  <a:t>, 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Therefore if we </a:t>
                </a:r>
                <a:r>
                  <a:rPr lang="en-GB" b="1" dirty="0"/>
                  <a:t>change the subject to get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in terms of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dirty="0"/>
                  <a:t>, then we have the input in terms of the output, i.e. the inverse function!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However, we tend to write a function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so would write;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C5E4C9-82C4-40F0-9FD7-8997D286A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710764"/>
                <a:ext cx="4464496" cy="3362652"/>
              </a:xfrm>
              <a:prstGeom prst="rect">
                <a:avLst/>
              </a:prstGeom>
              <a:blipFill>
                <a:blip r:embed="rId6"/>
                <a:stretch>
                  <a:fillRect l="-1230" t="-1089" r="-17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80D48B-ACA2-42F7-B86D-9981C8AE9E8D}"/>
                  </a:ext>
                </a:extLst>
              </p:cNvPr>
              <p:cNvSpPr txBox="1"/>
              <p:nvPr/>
            </p:nvSpPr>
            <p:spPr>
              <a:xfrm>
                <a:off x="479718" y="4139674"/>
                <a:ext cx="3714890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=3−4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80D48B-ACA2-42F7-B86D-9981C8AE9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18" y="4139674"/>
                <a:ext cx="3714890" cy="369332"/>
              </a:xfrm>
              <a:prstGeom prst="rect">
                <a:avLst/>
              </a:prstGeom>
              <a:blipFill>
                <a:blip r:embed="rId7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DD4CB3-E376-495C-8D0F-31EC3965B305}"/>
                  </a:ext>
                </a:extLst>
              </p:cNvPr>
              <p:cNvSpPr txBox="1"/>
              <p:nvPr/>
            </p:nvSpPr>
            <p:spPr>
              <a:xfrm>
                <a:off x="181621" y="4697242"/>
                <a:ext cx="2505027" cy="168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=3−4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DD4CB3-E376-495C-8D0F-31EC3965B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21" y="4697242"/>
                <a:ext cx="2505027" cy="16835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0738FD-ED89-4350-80C8-EFA8E28410C4}"/>
                  </a:ext>
                </a:extLst>
              </p:cNvPr>
              <p:cNvSpPr txBox="1"/>
              <p:nvPr/>
            </p:nvSpPr>
            <p:spPr>
              <a:xfrm>
                <a:off x="4521991" y="4100794"/>
                <a:ext cx="4214428" cy="48551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, determine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0738FD-ED89-4350-80C8-EFA8E2841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991" y="4100794"/>
                <a:ext cx="4214428" cy="4855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52085A-8E36-4FCD-9F28-E68E59E97A10}"/>
                  </a:ext>
                </a:extLst>
              </p:cNvPr>
              <p:cNvSpPr txBox="1"/>
              <p:nvPr/>
            </p:nvSpPr>
            <p:spPr>
              <a:xfrm>
                <a:off x="4563259" y="4568413"/>
                <a:ext cx="3715960" cy="2260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+2           2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52085A-8E36-4FCD-9F28-E68E59E97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259" y="4568413"/>
                <a:ext cx="3715960" cy="22609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4436FAC-D3F0-486A-96C5-4436E4AFE7C7}"/>
                  </a:ext>
                </a:extLst>
              </p:cNvPr>
              <p:cNvSpPr txBox="1"/>
              <p:nvPr/>
            </p:nvSpPr>
            <p:spPr>
              <a:xfrm>
                <a:off x="2285428" y="4694989"/>
                <a:ext cx="1787348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Use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 instead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400" dirty="0"/>
                  <a:t> for convenience.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4436FAC-D3F0-486A-96C5-4436E4AFE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428" y="4694989"/>
                <a:ext cx="1787348" cy="523220"/>
              </a:xfrm>
              <a:prstGeom prst="rect">
                <a:avLst/>
              </a:prstGeom>
              <a:blipFill>
                <a:blip r:embed="rId11"/>
                <a:stretch>
                  <a:fillRect l="-337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84823C7-3B11-43F6-A78C-619E985648E0}"/>
              </a:ext>
            </a:extLst>
          </p:cNvPr>
          <p:cNvCxnSpPr>
            <a:stCxn id="18" idx="1"/>
          </p:cNvCxnSpPr>
          <p:nvPr/>
        </p:nvCxnSpPr>
        <p:spPr>
          <a:xfrm flipH="1" flipV="1">
            <a:off x="1967023" y="4880344"/>
            <a:ext cx="318405" cy="76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EE10810-D1C6-4B5E-9A3E-B50511C7FE16}"/>
                  </a:ext>
                </a:extLst>
              </p:cNvPr>
              <p:cNvSpPr txBox="1"/>
              <p:nvPr/>
            </p:nvSpPr>
            <p:spPr>
              <a:xfrm>
                <a:off x="2407260" y="5355852"/>
                <a:ext cx="1787348" cy="30777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Make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the subject.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EE10810-D1C6-4B5E-9A3E-B50511C7F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260" y="5355852"/>
                <a:ext cx="1787348" cy="307777"/>
              </a:xfrm>
              <a:prstGeom prst="rect">
                <a:avLst/>
              </a:prstGeom>
              <a:blipFill>
                <a:blip r:embed="rId12"/>
                <a:stretch>
                  <a:fillRect l="-337" b="-148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68B16B-BE3B-483C-BE3F-8F0AB30500BA}"/>
                  </a:ext>
                </a:extLst>
              </p:cNvPr>
              <p:cNvSpPr txBox="1"/>
              <p:nvPr/>
            </p:nvSpPr>
            <p:spPr>
              <a:xfrm>
                <a:off x="2426196" y="5896691"/>
                <a:ext cx="1425724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Replace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’s with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at end.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68B16B-BE3B-483C-BE3F-8F0AB3050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6196" y="5896691"/>
                <a:ext cx="1425724" cy="523220"/>
              </a:xfrm>
              <a:prstGeom prst="rect">
                <a:avLst/>
              </a:prstGeom>
              <a:blipFill>
                <a:blip r:embed="rId13"/>
                <a:stretch>
                  <a:fillRect l="-420" b="-88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4516F43-F2D5-4C42-8C5F-B5C6AD633CB3}"/>
              </a:ext>
            </a:extLst>
          </p:cNvPr>
          <p:cNvCxnSpPr>
            <a:cxnSpLocks/>
          </p:cNvCxnSpPr>
          <p:nvPr/>
        </p:nvCxnSpPr>
        <p:spPr>
          <a:xfrm flipH="1" flipV="1">
            <a:off x="2247900" y="6004560"/>
            <a:ext cx="196731" cy="48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F06C43E-9DCE-4F70-92D8-61AB3CA17BAF}"/>
              </a:ext>
            </a:extLst>
          </p:cNvPr>
          <p:cNvSpPr/>
          <p:nvPr/>
        </p:nvSpPr>
        <p:spPr>
          <a:xfrm>
            <a:off x="457391" y="4509042"/>
            <a:ext cx="3756153" cy="22593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118FD8-0CCC-451C-B21A-B77CA87759CC}"/>
              </a:ext>
            </a:extLst>
          </p:cNvPr>
          <p:cNvSpPr/>
          <p:nvPr/>
        </p:nvSpPr>
        <p:spPr>
          <a:xfrm>
            <a:off x="4531949" y="4586144"/>
            <a:ext cx="4204470" cy="21867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3989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7" grpId="0"/>
      <p:bldP spid="18" grpId="0" animBg="1"/>
      <p:bldP spid="21" grpId="0" animBg="1"/>
      <p:bldP spid="22" grpId="0" animBg="1"/>
      <p:bldP spid="25" grpId="0" animBg="1"/>
      <p:bldP spid="25" grpId="1" animBg="1"/>
      <p:bldP spid="26" grpId="0" animBg="1"/>
      <p:bldP spid="2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BD3AFF6-3EC9-4F81-A3FC-661A9D6BB90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72C23D5-2389-4A19-812C-01D2392A86E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Graphing an Inverse Function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C13321B-A7FA-4C81-8BC9-2B6E519D643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4505A6-07FF-474C-9A5E-0FD25F1592A9}"/>
                  </a:ext>
                </a:extLst>
              </p:cNvPr>
              <p:cNvSpPr txBox="1"/>
              <p:nvPr/>
            </p:nvSpPr>
            <p:spPr>
              <a:xfrm>
                <a:off x="395536" y="1149345"/>
                <a:ext cx="4608512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saw that the inverse function effectively swaps the input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output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. Thus the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GB" b="1" dirty="0"/>
                  <a:t> axis are swapped</a:t>
                </a:r>
                <a:r>
                  <a:rPr lang="en-GB" dirty="0"/>
                  <a:t> when sketching the original function and its inverse.</a:t>
                </a:r>
              </a:p>
              <a:p>
                <a:endParaRPr lang="en-GB" dirty="0"/>
              </a:p>
              <a:p>
                <a:r>
                  <a:rPr lang="en-GB" dirty="0"/>
                  <a:t>And since the set of inputs and set of outputs is swapped…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4505A6-07FF-474C-9A5E-0FD25F159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149345"/>
                <a:ext cx="4608512" cy="2031325"/>
              </a:xfrm>
              <a:prstGeom prst="rect">
                <a:avLst/>
              </a:prstGeom>
              <a:blipFill>
                <a:blip r:embed="rId2"/>
                <a:stretch>
                  <a:fillRect l="-1190" t="-1802" r="-1984" b="-3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84F4FE-EA70-4D03-8E26-F2ECC6570B84}"/>
                  </a:ext>
                </a:extLst>
              </p:cNvPr>
              <p:cNvSpPr txBox="1"/>
              <p:nvPr/>
            </p:nvSpPr>
            <p:spPr>
              <a:xfrm>
                <a:off x="539552" y="3407722"/>
                <a:ext cx="3812728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The domain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is the range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and vice versa.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84F4FE-EA70-4D03-8E26-F2ECC6570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407722"/>
                <a:ext cx="3812728" cy="646331"/>
              </a:xfrm>
              <a:prstGeom prst="rect">
                <a:avLst/>
              </a:prstGeom>
              <a:blipFill>
                <a:blip r:embed="rId3"/>
                <a:stretch>
                  <a:fillRect l="-1113" t="-3636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F9C6B0-E922-43E1-A90A-25EE8B1FA5D4}"/>
              </a:ext>
            </a:extLst>
          </p:cNvPr>
          <p:cNvCxnSpPr>
            <a:cxnSpLocks/>
          </p:cNvCxnSpPr>
          <p:nvPr/>
        </p:nvCxnSpPr>
        <p:spPr>
          <a:xfrm>
            <a:off x="5446795" y="3647958"/>
            <a:ext cx="27961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AD5345-0128-435D-A7A0-399159DEC572}"/>
              </a:ext>
            </a:extLst>
          </p:cNvPr>
          <p:cNvCxnSpPr>
            <a:cxnSpLocks/>
          </p:cNvCxnSpPr>
          <p:nvPr/>
        </p:nvCxnSpPr>
        <p:spPr>
          <a:xfrm flipV="1">
            <a:off x="6675905" y="1910459"/>
            <a:ext cx="0" cy="275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507CBC-7869-4E76-ABF1-218223E0FB52}"/>
                  </a:ext>
                </a:extLst>
              </p:cNvPr>
              <p:cNvSpPr txBox="1"/>
              <p:nvPr/>
            </p:nvSpPr>
            <p:spPr>
              <a:xfrm>
                <a:off x="8220839" y="3476880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507CBC-7869-4E76-ABF1-218223E0F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839" y="3476880"/>
                <a:ext cx="31400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04BC99-7430-4853-86D1-051F65921DAA}"/>
                  </a:ext>
                </a:extLst>
              </p:cNvPr>
              <p:cNvSpPr txBox="1"/>
              <p:nvPr/>
            </p:nvSpPr>
            <p:spPr>
              <a:xfrm>
                <a:off x="6518903" y="1606383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04BC99-7430-4853-86D1-051F65921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903" y="1606383"/>
                <a:ext cx="314003" cy="307777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7E57EF-8EF4-4E03-BCFB-9FBD24376501}"/>
              </a:ext>
            </a:extLst>
          </p:cNvPr>
          <p:cNvSpPr/>
          <p:nvPr/>
        </p:nvSpPr>
        <p:spPr>
          <a:xfrm flipH="1">
            <a:off x="5578054" y="2115801"/>
            <a:ext cx="2520870" cy="1146640"/>
          </a:xfrm>
          <a:custGeom>
            <a:avLst/>
            <a:gdLst>
              <a:gd name="connsiteX0" fmla="*/ 0 w 1514475"/>
              <a:gd name="connsiteY0" fmla="*/ 0 h 1009650"/>
              <a:gd name="connsiteX1" fmla="*/ 647700 w 1514475"/>
              <a:gd name="connsiteY1" fmla="*/ 819150 h 1009650"/>
              <a:gd name="connsiteX2" fmla="*/ 1514475 w 1514475"/>
              <a:gd name="connsiteY2" fmla="*/ 1009650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14475" h="1009650">
                <a:moveTo>
                  <a:pt x="0" y="0"/>
                </a:moveTo>
                <a:cubicBezTo>
                  <a:pt x="197644" y="325437"/>
                  <a:pt x="395288" y="650875"/>
                  <a:pt x="647700" y="819150"/>
                </a:cubicBezTo>
                <a:cubicBezTo>
                  <a:pt x="900112" y="987425"/>
                  <a:pt x="1207293" y="998537"/>
                  <a:pt x="1514475" y="100965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D6F150-4180-466B-84DF-FB797617E4EE}"/>
              </a:ext>
            </a:extLst>
          </p:cNvPr>
          <p:cNvCxnSpPr/>
          <p:nvPr/>
        </p:nvCxnSpPr>
        <p:spPr>
          <a:xfrm>
            <a:off x="5446795" y="3287918"/>
            <a:ext cx="277404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B82A9A4-59BC-4DD1-A0FB-2D3D4B23541C}"/>
                  </a:ext>
                </a:extLst>
              </p:cNvPr>
              <p:cNvSpPr txBox="1"/>
              <p:nvPr/>
            </p:nvSpPr>
            <p:spPr>
              <a:xfrm>
                <a:off x="7726145" y="3261121"/>
                <a:ext cx="63027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9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9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B82A9A4-59BC-4DD1-A0FB-2D3D4B235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145" y="3261121"/>
                <a:ext cx="630276" cy="2308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128876-756B-44DE-AF03-D6B0A31F2849}"/>
              </a:ext>
            </a:extLst>
          </p:cNvPr>
          <p:cNvCxnSpPr>
            <a:cxnSpLocks/>
          </p:cNvCxnSpPr>
          <p:nvPr/>
        </p:nvCxnSpPr>
        <p:spPr>
          <a:xfrm flipV="1">
            <a:off x="7090813" y="1872360"/>
            <a:ext cx="0" cy="290470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6862EE-A368-48A7-9EAC-E485D203C0A8}"/>
                  </a:ext>
                </a:extLst>
              </p:cNvPr>
              <p:cNvSpPr txBox="1"/>
              <p:nvPr/>
            </p:nvSpPr>
            <p:spPr>
              <a:xfrm>
                <a:off x="6967048" y="1762705"/>
                <a:ext cx="63027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9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9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B6862EE-A368-48A7-9EAC-E485D203C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048" y="1762705"/>
                <a:ext cx="630276" cy="2308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E4C59BE-54E6-4BD1-91B2-7D0F5CACDCED}"/>
              </a:ext>
            </a:extLst>
          </p:cNvPr>
          <p:cNvSpPr/>
          <p:nvPr/>
        </p:nvSpPr>
        <p:spPr>
          <a:xfrm rot="16200000" flipH="1" flipV="1">
            <a:off x="6446896" y="3001380"/>
            <a:ext cx="2520870" cy="1146640"/>
          </a:xfrm>
          <a:custGeom>
            <a:avLst/>
            <a:gdLst>
              <a:gd name="connsiteX0" fmla="*/ 0 w 1514475"/>
              <a:gd name="connsiteY0" fmla="*/ 0 h 1009650"/>
              <a:gd name="connsiteX1" fmla="*/ 647700 w 1514475"/>
              <a:gd name="connsiteY1" fmla="*/ 819150 h 1009650"/>
              <a:gd name="connsiteX2" fmla="*/ 1514475 w 1514475"/>
              <a:gd name="connsiteY2" fmla="*/ 1009650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14475" h="1009650">
                <a:moveTo>
                  <a:pt x="0" y="0"/>
                </a:moveTo>
                <a:cubicBezTo>
                  <a:pt x="197644" y="325437"/>
                  <a:pt x="395288" y="650875"/>
                  <a:pt x="647700" y="819150"/>
                </a:cubicBezTo>
                <a:cubicBezTo>
                  <a:pt x="900112" y="987425"/>
                  <a:pt x="1207293" y="998537"/>
                  <a:pt x="1514475" y="100965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2CF49DB-F449-4BA1-BB2B-CF64133C657D}"/>
                  </a:ext>
                </a:extLst>
              </p:cNvPr>
              <p:cNvSpPr txBox="1"/>
              <p:nvPr/>
            </p:nvSpPr>
            <p:spPr>
              <a:xfrm rot="19121108">
                <a:off x="7218985" y="2254688"/>
                <a:ext cx="8700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2CF49DB-F449-4BA1-BB2B-CF64133C6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121108">
                <a:off x="7218985" y="2254688"/>
                <a:ext cx="870088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7CBA07-4B7F-4E63-8973-0CF554FB6BA9}"/>
                  </a:ext>
                </a:extLst>
              </p:cNvPr>
              <p:cNvSpPr txBox="1"/>
              <p:nvPr/>
            </p:nvSpPr>
            <p:spPr>
              <a:xfrm rot="19121108">
                <a:off x="7544752" y="2584789"/>
                <a:ext cx="8700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87CBA07-4B7F-4E63-8973-0CF554FB6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121108">
                <a:off x="7544752" y="2584789"/>
                <a:ext cx="870088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FEBFFC-14A5-4030-A902-8425C4A0EB53}"/>
                  </a:ext>
                </a:extLst>
              </p:cNvPr>
              <p:cNvSpPr txBox="1"/>
              <p:nvPr/>
            </p:nvSpPr>
            <p:spPr>
              <a:xfrm>
                <a:off x="7140278" y="3607908"/>
                <a:ext cx="29347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FEBFFC-14A5-4030-A902-8425C4A0E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278" y="3607908"/>
                <a:ext cx="293475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D0A640B-7A6D-440F-86A5-FEC6350AC7CB}"/>
                  </a:ext>
                </a:extLst>
              </p:cNvPr>
              <p:cNvSpPr txBox="1"/>
              <p:nvPr/>
            </p:nvSpPr>
            <p:spPr>
              <a:xfrm>
                <a:off x="6463177" y="2976538"/>
                <a:ext cx="29347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D0A640B-7A6D-440F-86A5-FEC6350AC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177" y="2976538"/>
                <a:ext cx="293475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3D4B87-A308-4BAE-9A63-5713722C11C8}"/>
                  </a:ext>
                </a:extLst>
              </p:cNvPr>
              <p:cNvSpPr txBox="1"/>
              <p:nvPr/>
            </p:nvSpPr>
            <p:spPr>
              <a:xfrm>
                <a:off x="5263200" y="4836516"/>
                <a:ext cx="16006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Domain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3D4B87-A308-4BAE-9A63-5713722C1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200" y="4836516"/>
                <a:ext cx="1600647" cy="646331"/>
              </a:xfrm>
              <a:prstGeom prst="rect">
                <a:avLst/>
              </a:prstGeom>
              <a:blipFill>
                <a:blip r:embed="rId12"/>
                <a:stretch>
                  <a:fillRect l="-3042" t="-47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34FFDF0-2573-4BE0-B364-ECA1F7832B86}"/>
                  </a:ext>
                </a:extLst>
              </p:cNvPr>
              <p:cNvSpPr txBox="1"/>
              <p:nvPr/>
            </p:nvSpPr>
            <p:spPr>
              <a:xfrm>
                <a:off x="6966987" y="4846682"/>
                <a:ext cx="18016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Range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: 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34FFDF0-2573-4BE0-B364-ECA1F7832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987" y="4846682"/>
                <a:ext cx="1801667" cy="646331"/>
              </a:xfrm>
              <a:prstGeom prst="rect">
                <a:avLst/>
              </a:prstGeom>
              <a:blipFill>
                <a:blip r:embed="rId13"/>
                <a:stretch>
                  <a:fillRect l="-3051" t="-4717" b="-84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5B429CF9-970E-47A6-8BC8-B6A8E4581D93}"/>
              </a:ext>
            </a:extLst>
          </p:cNvPr>
          <p:cNvSpPr/>
          <p:nvPr/>
        </p:nvSpPr>
        <p:spPr>
          <a:xfrm>
            <a:off x="5414659" y="5193064"/>
            <a:ext cx="1261246" cy="5761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528D09-FF3B-4056-A956-F04021D5FC00}"/>
              </a:ext>
            </a:extLst>
          </p:cNvPr>
          <p:cNvSpPr/>
          <p:nvPr/>
        </p:nvSpPr>
        <p:spPr>
          <a:xfrm>
            <a:off x="7226030" y="5169847"/>
            <a:ext cx="1261246" cy="5761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78478E-0A9C-4C54-A565-F7DFD12461D0}"/>
                  </a:ext>
                </a:extLst>
              </p:cNvPr>
              <p:cNvSpPr txBox="1"/>
              <p:nvPr/>
            </p:nvSpPr>
            <p:spPr>
              <a:xfrm>
                <a:off x="7176578" y="771178"/>
                <a:ext cx="1709103" cy="76944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Notice that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-intercepts become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100" dirty="0"/>
                  <a:t>-intercepts, and vertical asymptotes become horizontal ones.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78478E-0A9C-4C54-A565-F7DFD1246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6578" y="771178"/>
                <a:ext cx="1709103" cy="76944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7BA38F9-C1CD-42EA-9CB5-E46074ADAF7C}"/>
              </a:ext>
            </a:extLst>
          </p:cNvPr>
          <p:cNvCxnSpPr>
            <a:stCxn id="35" idx="2"/>
          </p:cNvCxnSpPr>
          <p:nvPr/>
        </p:nvCxnSpPr>
        <p:spPr>
          <a:xfrm flipH="1">
            <a:off x="7884368" y="1540619"/>
            <a:ext cx="146762" cy="222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A56F5E4-01D6-4439-BEF2-5AC15D139112}"/>
                  </a:ext>
                </a:extLst>
              </p:cNvPr>
              <p:cNvSpPr txBox="1"/>
              <p:nvPr/>
            </p:nvSpPr>
            <p:spPr>
              <a:xfrm>
                <a:off x="5201803" y="5962707"/>
                <a:ext cx="3468621" cy="6001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The domain of the function is the same as the range of the inverse, but remember that we write a domain in terms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, but a range in terms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100" dirty="0"/>
                  <a:t>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100" dirty="0"/>
                  <a:t>.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A56F5E4-01D6-4439-BEF2-5AC15D139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803" y="5962707"/>
                <a:ext cx="3468621" cy="60016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D286645-F182-4F57-AC2D-6903F6ABBF15}"/>
              </a:ext>
            </a:extLst>
          </p:cNvPr>
          <p:cNvCxnSpPr>
            <a:cxnSpLocks/>
          </p:cNvCxnSpPr>
          <p:nvPr/>
        </p:nvCxnSpPr>
        <p:spPr>
          <a:xfrm flipH="1">
            <a:off x="5915025" y="2047875"/>
            <a:ext cx="2486025" cy="23145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A9E3498-0AA5-4B91-B7B7-501232E54AF1}"/>
                  </a:ext>
                </a:extLst>
              </p:cNvPr>
              <p:cNvSpPr txBox="1"/>
              <p:nvPr/>
            </p:nvSpPr>
            <p:spPr>
              <a:xfrm rot="18983682">
                <a:off x="5818509" y="3798618"/>
                <a:ext cx="65558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A9E3498-0AA5-4B91-B7B7-501232E54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983682">
                <a:off x="5818509" y="3798618"/>
                <a:ext cx="655580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F3B66D7-F0AE-4580-A3F2-DDE6F1D23DF4}"/>
                  </a:ext>
                </a:extLst>
              </p:cNvPr>
              <p:cNvSpPr txBox="1"/>
              <p:nvPr/>
            </p:nvSpPr>
            <p:spPr>
              <a:xfrm>
                <a:off x="3173657" y="4378024"/>
                <a:ext cx="1709103" cy="6001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100" dirty="0"/>
                  <a:t> and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100" dirty="0"/>
                  <a:t> have the line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 as a line of symmetry.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F3B66D7-F0AE-4580-A3F2-DDE6F1D23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657" y="4378024"/>
                <a:ext cx="1709103" cy="60016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A216F5C-E625-4A15-A040-D192982373AB}"/>
              </a:ext>
            </a:extLst>
          </p:cNvPr>
          <p:cNvCxnSpPr>
            <a:cxnSpLocks/>
          </p:cNvCxnSpPr>
          <p:nvPr/>
        </p:nvCxnSpPr>
        <p:spPr>
          <a:xfrm flipV="1">
            <a:off x="4895850" y="4191000"/>
            <a:ext cx="914400" cy="40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4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8" grpId="0" animBg="1"/>
      <p:bldP spid="42" grpId="0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/>
        </p:nvGrpSpPr>
        <p:grpSpPr>
          <a:xfrm>
            <a:off x="-1144" y="0"/>
            <a:ext cx="9145144" cy="599127"/>
            <a:chOff x="-1144" y="0"/>
            <a:chExt cx="9145144" cy="599127"/>
          </a:xfrm>
        </p:grpSpPr>
        <p:sp>
          <p:nvSpPr>
            <p:cNvPr id="3" name="TextBox 2"/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dirty="0"/>
                <a:t>   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97899" y="917864"/>
                <a:ext cx="6696744" cy="150342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𝑔</m:t>
                    </m:r>
                    <m:r>
                      <a:rPr lang="en-GB" b="0" i="1" smtClean="0">
                        <a:latin typeface="Cambria Math"/>
                      </a:rPr>
                      <m:t>(</m:t>
                    </m:r>
                    <m:r>
                      <a:rPr lang="en-GB" b="0" i="1" smtClean="0">
                        <a:latin typeface="Cambria Math"/>
                      </a:rPr>
                      <m:t>𝑥</m:t>
                    </m:r>
                    <m:r>
                      <a:rPr lang="en-GB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GB" dirty="0"/>
                  <a:t> is defined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−2</m:t>
                        </m:r>
                      </m:e>
                    </m:rad>
                    <m:r>
                      <a:rPr lang="en-GB" b="0" i="1" smtClean="0">
                        <a:latin typeface="Cambria Math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∈</m:t>
                        </m:r>
                        <m:r>
                          <a:rPr lang="en-GB" b="0" i="1" smtClean="0">
                            <a:latin typeface="Cambria Math"/>
                          </a:rPr>
                          <m:t>ℝ</m:t>
                        </m:r>
                        <m:r>
                          <a:rPr lang="en-GB" b="0" i="1" smtClean="0">
                            <a:latin typeface="Cambria Math"/>
                          </a:rPr>
                          <m:t>,</m:t>
                        </m:r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  <m:r>
                          <a:rPr lang="en-GB" b="0" i="1" smtClean="0">
                            <a:latin typeface="Cambria Math"/>
                          </a:rPr>
                          <m:t>≥2</m:t>
                        </m:r>
                      </m:e>
                    </m:d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Find the range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Sketch the graphs of both functions.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State the domain and range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𝑔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99" y="917864"/>
                <a:ext cx="6696744" cy="1503425"/>
              </a:xfrm>
              <a:prstGeom prst="rect">
                <a:avLst/>
              </a:prstGeom>
              <a:blipFill>
                <a:blip r:embed="rId2"/>
                <a:stretch>
                  <a:fillRect b="-735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19572" y="3140968"/>
                <a:ext cx="3168352" cy="2367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≥0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:r>
                  <a:rPr lang="en-GB" dirty="0"/>
                  <a:t>Start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𝑦</m:t>
                    </m:r>
                    <m:r>
                      <a:rPr lang="en-GB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/>
                          </a:rPr>
                          <m:t>𝑥</m:t>
                        </m:r>
                        <m:r>
                          <a:rPr lang="en-GB" i="1">
                            <a:latin typeface="Cambria Math"/>
                          </a:rPr>
                          <m:t>−2</m:t>
                        </m:r>
                      </m:e>
                    </m:rad>
                  </m:oMath>
                </a14:m>
                <a:r>
                  <a:rPr lang="en-GB" dirty="0"/>
                  <a:t> and make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 the subject, before swapping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𝑦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/>
                            </a:rPr>
                            <m:t>−2</m:t>
                          </m:r>
                        </m:e>
                      </m:rad>
                    </m:oMath>
                  </m:oMathPara>
                </a14:m>
                <a:endParaRPr lang="en-GB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𝑔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72" y="3140968"/>
                <a:ext cx="3168352" cy="2367058"/>
              </a:xfrm>
              <a:prstGeom prst="rect">
                <a:avLst/>
              </a:prstGeom>
              <a:blipFill rotWithShape="1">
                <a:blip r:embed="rId3"/>
                <a:stretch>
                  <a:fillRect l="-1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3779912" y="3208373"/>
            <a:ext cx="0" cy="22322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779912" y="5440621"/>
            <a:ext cx="2448272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228184" y="5229200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4" y="5229200"/>
                <a:ext cx="288032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635896" y="2857414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857414"/>
                <a:ext cx="288032" cy="369332"/>
              </a:xfrm>
              <a:prstGeom prst="rect">
                <a:avLst/>
              </a:prstGeom>
              <a:blipFill rotWithShape="1">
                <a:blip r:embed="rId5"/>
                <a:stretch>
                  <a:fillRect r="-6250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 14"/>
          <p:cNvSpPr/>
          <p:nvPr/>
        </p:nvSpPr>
        <p:spPr>
          <a:xfrm>
            <a:off x="4546881" y="4666182"/>
            <a:ext cx="1615857" cy="770114"/>
          </a:xfrm>
          <a:custGeom>
            <a:avLst/>
            <a:gdLst>
              <a:gd name="connsiteX0" fmla="*/ 0 w 1615857"/>
              <a:gd name="connsiteY0" fmla="*/ 770114 h 770114"/>
              <a:gd name="connsiteX1" fmla="*/ 263046 w 1615857"/>
              <a:gd name="connsiteY1" fmla="*/ 469489 h 770114"/>
              <a:gd name="connsiteX2" fmla="*/ 626301 w 1615857"/>
              <a:gd name="connsiteY2" fmla="*/ 218969 h 770114"/>
              <a:gd name="connsiteX3" fmla="*/ 1027134 w 1615857"/>
              <a:gd name="connsiteY3" fmla="*/ 68656 h 770114"/>
              <a:gd name="connsiteX4" fmla="*/ 1440493 w 1615857"/>
              <a:gd name="connsiteY4" fmla="*/ 6026 h 770114"/>
              <a:gd name="connsiteX5" fmla="*/ 1615857 w 1615857"/>
              <a:gd name="connsiteY5" fmla="*/ 6026 h 77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5857" h="770114">
                <a:moveTo>
                  <a:pt x="0" y="770114"/>
                </a:moveTo>
                <a:cubicBezTo>
                  <a:pt x="79331" y="665730"/>
                  <a:pt x="158663" y="561346"/>
                  <a:pt x="263046" y="469489"/>
                </a:cubicBezTo>
                <a:cubicBezTo>
                  <a:pt x="367429" y="377632"/>
                  <a:pt x="498953" y="285775"/>
                  <a:pt x="626301" y="218969"/>
                </a:cubicBezTo>
                <a:cubicBezTo>
                  <a:pt x="753649" y="152163"/>
                  <a:pt x="891435" y="104146"/>
                  <a:pt x="1027134" y="68656"/>
                </a:cubicBezTo>
                <a:cubicBezTo>
                  <a:pt x="1162833" y="33166"/>
                  <a:pt x="1342373" y="16464"/>
                  <a:pt x="1440493" y="6026"/>
                </a:cubicBezTo>
                <a:cubicBezTo>
                  <a:pt x="1538613" y="-4412"/>
                  <a:pt x="1577235" y="807"/>
                  <a:pt x="1615857" y="6026"/>
                </a:cubicBezTo>
              </a:path>
            </a:pathLst>
          </a:cu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15"/>
          <p:cNvSpPr/>
          <p:nvPr/>
        </p:nvSpPr>
        <p:spPr>
          <a:xfrm rot="16200000" flipV="1">
            <a:off x="3347262" y="3352015"/>
            <a:ext cx="1615857" cy="770114"/>
          </a:xfrm>
          <a:custGeom>
            <a:avLst/>
            <a:gdLst>
              <a:gd name="connsiteX0" fmla="*/ 0 w 1615857"/>
              <a:gd name="connsiteY0" fmla="*/ 770114 h 770114"/>
              <a:gd name="connsiteX1" fmla="*/ 263046 w 1615857"/>
              <a:gd name="connsiteY1" fmla="*/ 469489 h 770114"/>
              <a:gd name="connsiteX2" fmla="*/ 626301 w 1615857"/>
              <a:gd name="connsiteY2" fmla="*/ 218969 h 770114"/>
              <a:gd name="connsiteX3" fmla="*/ 1027134 w 1615857"/>
              <a:gd name="connsiteY3" fmla="*/ 68656 h 770114"/>
              <a:gd name="connsiteX4" fmla="*/ 1440493 w 1615857"/>
              <a:gd name="connsiteY4" fmla="*/ 6026 h 770114"/>
              <a:gd name="connsiteX5" fmla="*/ 1615857 w 1615857"/>
              <a:gd name="connsiteY5" fmla="*/ 6026 h 77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5857" h="770114">
                <a:moveTo>
                  <a:pt x="0" y="770114"/>
                </a:moveTo>
                <a:cubicBezTo>
                  <a:pt x="79331" y="665730"/>
                  <a:pt x="158663" y="561346"/>
                  <a:pt x="263046" y="469489"/>
                </a:cubicBezTo>
                <a:cubicBezTo>
                  <a:pt x="367429" y="377632"/>
                  <a:pt x="498953" y="285775"/>
                  <a:pt x="626301" y="218969"/>
                </a:cubicBezTo>
                <a:cubicBezTo>
                  <a:pt x="753649" y="152163"/>
                  <a:pt x="891435" y="104146"/>
                  <a:pt x="1027134" y="68656"/>
                </a:cubicBezTo>
                <a:cubicBezTo>
                  <a:pt x="1162833" y="33166"/>
                  <a:pt x="1342373" y="16464"/>
                  <a:pt x="1440493" y="6026"/>
                </a:cubicBezTo>
                <a:cubicBezTo>
                  <a:pt x="1538613" y="-4412"/>
                  <a:pt x="1577235" y="807"/>
                  <a:pt x="1615857" y="6026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788024" y="4324497"/>
                <a:ext cx="1152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𝑦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r>
                        <a:rPr lang="en-GB" b="0" i="1" smtClean="0">
                          <a:latin typeface="Cambria Math"/>
                        </a:rPr>
                        <m:t>𝑔</m:t>
                      </m:r>
                      <m:r>
                        <a:rPr lang="en-GB" b="0" i="1" smtClean="0">
                          <a:latin typeface="Cambria Math"/>
                        </a:rPr>
                        <m:t>(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4324497"/>
                <a:ext cx="1152128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520654" y="3367740"/>
                <a:ext cx="13678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𝑦</m:t>
                      </m:r>
                      <m:r>
                        <a:rPr lang="en-GB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/>
                            </a:rPr>
                            <m:t>𝑔</m:t>
                          </m:r>
                        </m:e>
                        <m:sup>
                          <m:r>
                            <a:rPr lang="en-GB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/>
                        </a:rPr>
                        <m:t>(</m:t>
                      </m:r>
                      <m:r>
                        <a:rPr lang="en-GB" b="0" i="1" smtClean="0">
                          <a:latin typeface="Cambria Math"/>
                        </a:rPr>
                        <m:t>𝑥</m:t>
                      </m:r>
                      <m:r>
                        <a:rPr lang="en-GB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0654" y="3367740"/>
                <a:ext cx="1367819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427984" y="5440622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5440622"/>
                <a:ext cx="288032" cy="369332"/>
              </a:xfrm>
              <a:prstGeom prst="rect">
                <a:avLst/>
              </a:prstGeom>
              <a:blipFill rotWithShape="1">
                <a:blip r:embed="rId8"/>
                <a:stretch>
                  <a:fillRect r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491880" y="4360335"/>
                <a:ext cx="2880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4360335"/>
                <a:ext cx="288032" cy="369332"/>
              </a:xfrm>
              <a:prstGeom prst="rect">
                <a:avLst/>
              </a:prstGeom>
              <a:blipFill rotWithShape="1">
                <a:blip r:embed="rId9"/>
                <a:stretch>
                  <a:fillRect r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179512" y="3140968"/>
            <a:ext cx="360040" cy="41143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9512" y="3782190"/>
            <a:ext cx="360040" cy="41143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52961" y="3052015"/>
            <a:ext cx="360040" cy="41143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5340" y="2941123"/>
            <a:ext cx="360040" cy="41143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552" y="3133274"/>
            <a:ext cx="2232248" cy="4191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8115" y="3782190"/>
            <a:ext cx="2894886" cy="16316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97210" y="2929143"/>
            <a:ext cx="2828990" cy="28328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55DCB0-3D7C-4664-AA99-78B39503289D}"/>
                  </a:ext>
                </a:extLst>
              </p:cNvPr>
              <p:cNvSpPr txBox="1"/>
              <p:nvPr/>
            </p:nvSpPr>
            <p:spPr>
              <a:xfrm>
                <a:off x="7056276" y="2941123"/>
                <a:ext cx="198022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Domain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is range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range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the domain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Domain: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Range: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55DCB0-3D7C-4664-AA99-78B395032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276" y="2941123"/>
                <a:ext cx="1980220" cy="2862322"/>
              </a:xfrm>
              <a:prstGeom prst="rect">
                <a:avLst/>
              </a:prstGeom>
              <a:blipFill>
                <a:blip r:embed="rId10"/>
                <a:stretch>
                  <a:fillRect l="-2778" t="-1064" b="-8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6899426" y="2927213"/>
            <a:ext cx="2137070" cy="28688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6002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>
            <a:extLst>
              <a:ext uri="{FF2B5EF4-FFF2-40B4-BE49-F238E27FC236}">
                <a16:creationId xmlns:a16="http://schemas.microsoft.com/office/drawing/2014/main" id="{BC3E662F-C4CC-4C07-8177-2212E4BFC79E}"/>
              </a:ext>
            </a:extLst>
          </p:cNvPr>
          <p:cNvGrpSpPr/>
          <p:nvPr/>
        </p:nvGrpSpPr>
        <p:grpSpPr>
          <a:xfrm>
            <a:off x="-1144" y="0"/>
            <a:ext cx="9145144" cy="599127"/>
            <a:chOff x="-1144" y="0"/>
            <a:chExt cx="9145144" cy="59912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9F06BE3-1495-4930-813A-1D3B18F9F92D}"/>
                </a:ext>
              </a:extLst>
            </p:cNvPr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dirty="0"/>
                <a:t>   Further 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C7C03DC-3C7F-4CFD-BA89-856087D6B21A}"/>
                </a:ext>
              </a:extLst>
            </p:cNvPr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162304-931E-4473-B3E1-C49E6D5043CC}"/>
                  </a:ext>
                </a:extLst>
              </p:cNvPr>
              <p:cNvSpPr txBox="1"/>
              <p:nvPr/>
            </p:nvSpPr>
            <p:spPr>
              <a:xfrm>
                <a:off x="497899" y="917864"/>
                <a:ext cx="6696744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The function is defined by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and state the domain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Solve the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162304-931E-4473-B3E1-C49E6D504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99" y="917864"/>
                <a:ext cx="6696744" cy="1200329"/>
              </a:xfrm>
              <a:prstGeom prst="rect">
                <a:avLst/>
              </a:prstGeom>
              <a:blipFill>
                <a:blip r:embed="rId2"/>
                <a:stretch>
                  <a:fillRect b="-90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7A1B1D-3D3C-4D52-9D5B-2945ECDB67C9}"/>
                  </a:ext>
                </a:extLst>
              </p:cNvPr>
              <p:cNvSpPr txBox="1"/>
              <p:nvPr/>
            </p:nvSpPr>
            <p:spPr>
              <a:xfrm>
                <a:off x="840408" y="2425204"/>
                <a:ext cx="2736304" cy="1568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rad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rad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7A1B1D-3D3C-4D52-9D5B-2945ECDB6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08" y="2425204"/>
                <a:ext cx="2736304" cy="15683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6D6D09-F57C-4038-BFF0-76E2B4DA14D2}"/>
              </a:ext>
            </a:extLst>
          </p:cNvPr>
          <p:cNvCxnSpPr>
            <a:cxnSpLocks/>
          </p:cNvCxnSpPr>
          <p:nvPr/>
        </p:nvCxnSpPr>
        <p:spPr>
          <a:xfrm>
            <a:off x="840408" y="5589240"/>
            <a:ext cx="27961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FD09E6-089B-4E37-B3AA-3A92C105FD73}"/>
              </a:ext>
            </a:extLst>
          </p:cNvPr>
          <p:cNvCxnSpPr>
            <a:cxnSpLocks/>
          </p:cNvCxnSpPr>
          <p:nvPr/>
        </p:nvCxnSpPr>
        <p:spPr>
          <a:xfrm flipV="1">
            <a:off x="2069518" y="3851741"/>
            <a:ext cx="0" cy="275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E254A3-01A8-4189-B69F-232740966FFB}"/>
                  </a:ext>
                </a:extLst>
              </p:cNvPr>
              <p:cNvSpPr txBox="1"/>
              <p:nvPr/>
            </p:nvSpPr>
            <p:spPr>
              <a:xfrm>
                <a:off x="3614452" y="5418162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E254A3-01A8-4189-B69F-232740966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452" y="5418162"/>
                <a:ext cx="31400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11E16D-A078-4A9D-B42B-32A4ED248AA6}"/>
                  </a:ext>
                </a:extLst>
              </p:cNvPr>
              <p:cNvSpPr txBox="1"/>
              <p:nvPr/>
            </p:nvSpPr>
            <p:spPr>
              <a:xfrm>
                <a:off x="1912516" y="3547665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11E16D-A078-4A9D-B42B-32A4ED248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516" y="3547665"/>
                <a:ext cx="314003" cy="307777"/>
              </a:xfrm>
              <a:prstGeom prst="rect">
                <a:avLst/>
              </a:prstGeom>
              <a:blipFill>
                <a:blip r:embed="rId5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4AA1E5-849A-4C32-8056-24F88BB42D55}"/>
              </a:ext>
            </a:extLst>
          </p:cNvPr>
          <p:cNvCxnSpPr>
            <a:cxnSpLocks/>
          </p:cNvCxnSpPr>
          <p:nvPr/>
        </p:nvCxnSpPr>
        <p:spPr>
          <a:xfrm flipV="1">
            <a:off x="1314450" y="4133850"/>
            <a:ext cx="2247900" cy="220027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67C0F1E-B341-4E87-A09A-31D233D92AD1}"/>
              </a:ext>
            </a:extLst>
          </p:cNvPr>
          <p:cNvSpPr/>
          <p:nvPr/>
        </p:nvSpPr>
        <p:spPr>
          <a:xfrm>
            <a:off x="2083981" y="3987209"/>
            <a:ext cx="871870" cy="2307265"/>
          </a:xfrm>
          <a:custGeom>
            <a:avLst/>
            <a:gdLst>
              <a:gd name="connsiteX0" fmla="*/ 0 w 871870"/>
              <a:gd name="connsiteY0" fmla="*/ 2307265 h 2307265"/>
              <a:gd name="connsiteX1" fmla="*/ 531628 w 871870"/>
              <a:gd name="connsiteY1" fmla="*/ 1616149 h 2307265"/>
              <a:gd name="connsiteX2" fmla="*/ 871870 w 871870"/>
              <a:gd name="connsiteY2" fmla="*/ 0 h 230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1870" h="2307265">
                <a:moveTo>
                  <a:pt x="0" y="2307265"/>
                </a:moveTo>
                <a:cubicBezTo>
                  <a:pt x="193158" y="2153979"/>
                  <a:pt x="386316" y="2000693"/>
                  <a:pt x="531628" y="1616149"/>
                </a:cubicBezTo>
                <a:cubicBezTo>
                  <a:pt x="676940" y="1231605"/>
                  <a:pt x="774405" y="615802"/>
                  <a:pt x="871870" y="0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3BA14F-87A9-423D-94A8-3E3485D2B566}"/>
                  </a:ext>
                </a:extLst>
              </p:cNvPr>
              <p:cNvSpPr txBox="1"/>
              <p:nvPr/>
            </p:nvSpPr>
            <p:spPr>
              <a:xfrm>
                <a:off x="2509112" y="5542712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3BA14F-87A9-423D-94A8-3E3485D2B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112" y="5542712"/>
                <a:ext cx="314003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A726473-D83D-4087-B751-D8A968E26193}"/>
              </a:ext>
            </a:extLst>
          </p:cNvPr>
          <p:cNvSpPr/>
          <p:nvPr/>
        </p:nvSpPr>
        <p:spPr>
          <a:xfrm rot="16200000" flipV="1">
            <a:off x="2093870" y="4005679"/>
            <a:ext cx="871870" cy="2307265"/>
          </a:xfrm>
          <a:custGeom>
            <a:avLst/>
            <a:gdLst>
              <a:gd name="connsiteX0" fmla="*/ 0 w 871870"/>
              <a:gd name="connsiteY0" fmla="*/ 2307265 h 2307265"/>
              <a:gd name="connsiteX1" fmla="*/ 531628 w 871870"/>
              <a:gd name="connsiteY1" fmla="*/ 1616149 h 2307265"/>
              <a:gd name="connsiteX2" fmla="*/ 871870 w 871870"/>
              <a:gd name="connsiteY2" fmla="*/ 0 h 2307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1870" h="2307265">
                <a:moveTo>
                  <a:pt x="0" y="2307265"/>
                </a:moveTo>
                <a:cubicBezTo>
                  <a:pt x="193158" y="2153979"/>
                  <a:pt x="386316" y="2000693"/>
                  <a:pt x="531628" y="1616149"/>
                </a:cubicBezTo>
                <a:cubicBezTo>
                  <a:pt x="676940" y="1231605"/>
                  <a:pt x="774405" y="615802"/>
                  <a:pt x="871870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BC44BB-7357-419C-8202-3450ABC7015D}"/>
                  </a:ext>
                </a:extLst>
              </p:cNvPr>
              <p:cNvSpPr txBox="1"/>
              <p:nvPr/>
            </p:nvSpPr>
            <p:spPr>
              <a:xfrm>
                <a:off x="1805891" y="4882627"/>
                <a:ext cx="3140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BC44BB-7357-419C-8202-3450ABC70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5891" y="4882627"/>
                <a:ext cx="314003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32B730-C787-48E9-BCF2-EEC7E44C0673}"/>
                  </a:ext>
                </a:extLst>
              </p:cNvPr>
              <p:cNvSpPr txBox="1"/>
              <p:nvPr/>
            </p:nvSpPr>
            <p:spPr>
              <a:xfrm>
                <a:off x="2904635" y="3725337"/>
                <a:ext cx="9071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32B730-C787-48E9-BCF2-EEC7E44C0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635" y="3725337"/>
                <a:ext cx="907129" cy="307777"/>
              </a:xfrm>
              <a:prstGeom prst="rect">
                <a:avLst/>
              </a:prstGeom>
              <a:blipFill>
                <a:blip r:embed="rId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27765F5-BCB1-4094-884A-E0E9F39C7FC0}"/>
                  </a:ext>
                </a:extLst>
              </p:cNvPr>
              <p:cNvSpPr txBox="1"/>
              <p:nvPr/>
            </p:nvSpPr>
            <p:spPr>
              <a:xfrm>
                <a:off x="3060592" y="4772919"/>
                <a:ext cx="10732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27765F5-BCB1-4094-884A-E0E9F39C7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592" y="4772919"/>
                <a:ext cx="1073258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A676CB-E66A-454E-BA33-FC287AF931EF}"/>
                  </a:ext>
                </a:extLst>
              </p:cNvPr>
              <p:cNvSpPr txBox="1"/>
              <p:nvPr/>
            </p:nvSpPr>
            <p:spPr>
              <a:xfrm>
                <a:off x="4754240" y="2457298"/>
                <a:ext cx="4210816" cy="2636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the function is equal to its inverse, it must lie on the line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: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1±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1+12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ra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3A676CB-E66A-454E-BA33-FC287AF93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240" y="2457298"/>
                <a:ext cx="4210816" cy="2636876"/>
              </a:xfrm>
              <a:prstGeom prst="rect">
                <a:avLst/>
              </a:prstGeom>
              <a:blipFill>
                <a:blip r:embed="rId10"/>
                <a:stretch>
                  <a:fillRect l="-1302" t="-11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851522-772A-41E6-877F-1AD80CA1E807}"/>
                  </a:ext>
                </a:extLst>
              </p:cNvPr>
              <p:cNvSpPr txBox="1"/>
              <p:nvPr/>
            </p:nvSpPr>
            <p:spPr>
              <a:xfrm>
                <a:off x="3338271" y="4144613"/>
                <a:ext cx="90712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3851522-772A-41E6-877F-1AD80CA1E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271" y="4144613"/>
                <a:ext cx="907129" cy="307777"/>
              </a:xfrm>
              <a:prstGeom prst="rect">
                <a:avLst/>
              </a:prstGeom>
              <a:blipFill>
                <a:blip r:embed="rId11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694734C-C956-4A84-9B1E-26131F325B98}"/>
              </a:ext>
            </a:extLst>
          </p:cNvPr>
          <p:cNvSpPr txBox="1"/>
          <p:nvPr/>
        </p:nvSpPr>
        <p:spPr>
          <a:xfrm>
            <a:off x="6809883" y="5508225"/>
            <a:ext cx="19442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From graph, we can see we only want positive solution.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5ACA3F0-1666-4CF3-8610-3657918E44E0}"/>
              </a:ext>
            </a:extLst>
          </p:cNvPr>
          <p:cNvCxnSpPr/>
          <p:nvPr/>
        </p:nvCxnSpPr>
        <p:spPr>
          <a:xfrm flipH="1" flipV="1">
            <a:off x="7344229" y="5021943"/>
            <a:ext cx="710930" cy="477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BA2C419-21E5-4D4A-8416-5A35AC6DD35A}"/>
              </a:ext>
            </a:extLst>
          </p:cNvPr>
          <p:cNvSpPr/>
          <p:nvPr/>
        </p:nvSpPr>
        <p:spPr>
          <a:xfrm>
            <a:off x="527854" y="2466887"/>
            <a:ext cx="284946" cy="3134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1E0ED4-6C39-4C09-8A65-F88D1890AA8D}"/>
              </a:ext>
            </a:extLst>
          </p:cNvPr>
          <p:cNvSpPr/>
          <p:nvPr/>
        </p:nvSpPr>
        <p:spPr>
          <a:xfrm>
            <a:off x="4245400" y="2518296"/>
            <a:ext cx="284946" cy="3134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FC67F4-E5D4-4924-B21E-47396BF2E244}"/>
              </a:ext>
            </a:extLst>
          </p:cNvPr>
          <p:cNvSpPr/>
          <p:nvPr/>
        </p:nvSpPr>
        <p:spPr>
          <a:xfrm>
            <a:off x="527854" y="3626980"/>
            <a:ext cx="284946" cy="3134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F6D3AD-AA9D-46F0-88DC-E3645C62F3D0}"/>
              </a:ext>
            </a:extLst>
          </p:cNvPr>
          <p:cNvSpPr/>
          <p:nvPr/>
        </p:nvSpPr>
        <p:spPr>
          <a:xfrm>
            <a:off x="828343" y="2465445"/>
            <a:ext cx="3100111" cy="9744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D7EE24-94C1-4548-99AB-38F7884B1538}"/>
              </a:ext>
            </a:extLst>
          </p:cNvPr>
          <p:cNvSpPr/>
          <p:nvPr/>
        </p:nvSpPr>
        <p:spPr>
          <a:xfrm>
            <a:off x="812800" y="3640822"/>
            <a:ext cx="3247533" cy="296697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CC2546-6BDB-4F5D-B358-6836F12AEF4D}"/>
              </a:ext>
            </a:extLst>
          </p:cNvPr>
          <p:cNvSpPr txBox="1"/>
          <p:nvPr/>
        </p:nvSpPr>
        <p:spPr>
          <a:xfrm>
            <a:off x="4754239" y="5094174"/>
            <a:ext cx="1791703" cy="12003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Note</a:t>
            </a:r>
            <a:r>
              <a:rPr lang="en-GB" dirty="0"/>
              <a:t>: There was once an exam question based on this principle.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E220B9-1E0A-402B-B887-ADFC72B5C1D3}"/>
              </a:ext>
            </a:extLst>
          </p:cNvPr>
          <p:cNvSpPr/>
          <p:nvPr/>
        </p:nvSpPr>
        <p:spPr>
          <a:xfrm>
            <a:off x="4528572" y="2524734"/>
            <a:ext cx="4225527" cy="40830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4798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>
            <a:extLst>
              <a:ext uri="{FF2B5EF4-FFF2-40B4-BE49-F238E27FC236}">
                <a16:creationId xmlns:a16="http://schemas.microsoft.com/office/drawing/2014/main" id="{3C8B465D-9FB0-4216-8CB5-1A1190A290FB}"/>
              </a:ext>
            </a:extLst>
          </p:cNvPr>
          <p:cNvGrpSpPr/>
          <p:nvPr/>
        </p:nvGrpSpPr>
        <p:grpSpPr>
          <a:xfrm>
            <a:off x="-1144" y="0"/>
            <a:ext cx="9145144" cy="599127"/>
            <a:chOff x="-1144" y="0"/>
            <a:chExt cx="9145144" cy="59912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5812C09-D4DE-4011-9320-7B6CAAF155BD}"/>
                </a:ext>
              </a:extLst>
            </p:cNvPr>
            <p:cNvSpPr txBox="1"/>
            <p:nvPr/>
          </p:nvSpPr>
          <p:spPr>
            <a:xfrm>
              <a:off x="0" y="0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3200" dirty="0"/>
                <a:t>   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BC8C04E-9D47-4378-8F86-760B161FBC19}"/>
                </a:ext>
              </a:extLst>
            </p:cNvPr>
            <p:cNvCxnSpPr/>
            <p:nvPr/>
          </p:nvCxnSpPr>
          <p:spPr>
            <a:xfrm>
              <a:off x="-1144" y="585216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A99614-A65D-4193-BBD0-6543D0F47A89}"/>
                  </a:ext>
                </a:extLst>
              </p:cNvPr>
              <p:cNvSpPr txBox="1"/>
              <p:nvPr/>
            </p:nvSpPr>
            <p:spPr>
              <a:xfrm>
                <a:off x="395536" y="1340768"/>
                <a:ext cx="8034541" cy="147732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is defined by</a:t>
                </a:r>
              </a:p>
              <a:p>
                <a:r>
                  <a:rPr lang="en-GB" b="0" dirty="0"/>
                  <a:t>               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dirty="0"/>
                  <a:t>,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dirty="0"/>
              </a:p>
              <a:p>
                <a:r>
                  <a:rPr lang="en-GB" dirty="0"/>
                  <a:t>(d)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, the inverse function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, stating its domain.</a:t>
                </a:r>
              </a:p>
              <a:p>
                <a:r>
                  <a:rPr lang="en-GB" dirty="0"/>
                  <a:t>(e) On the same axe sketch the curves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, giving the coordinates of all the points where the curves cross the axes.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A99614-A65D-4193-BBD0-6543D0F47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340768"/>
                <a:ext cx="8034541" cy="1477328"/>
              </a:xfrm>
              <a:prstGeom prst="rect">
                <a:avLst/>
              </a:prstGeom>
              <a:blipFill>
                <a:blip r:embed="rId2"/>
                <a:stretch>
                  <a:fillRect b="-37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519B2B7-6829-4F13-AB33-4B509612F46E}"/>
              </a:ext>
            </a:extLst>
          </p:cNvPr>
          <p:cNvSpPr txBox="1"/>
          <p:nvPr/>
        </p:nvSpPr>
        <p:spPr>
          <a:xfrm>
            <a:off x="395536" y="949592"/>
            <a:ext cx="259228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C4 June 2012 Q6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282B66-A7F6-49BF-A224-78B8FB8B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893" y="3109302"/>
            <a:ext cx="6257925" cy="35909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289576-C384-4DAA-A63A-457865423FFD}"/>
              </a:ext>
            </a:extLst>
          </p:cNvPr>
          <p:cNvSpPr/>
          <p:nvPr/>
        </p:nvSpPr>
        <p:spPr>
          <a:xfrm>
            <a:off x="1979712" y="3072516"/>
            <a:ext cx="5832648" cy="9744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4A3822-2A5F-4FBA-9E4D-22B6F40B5656}"/>
              </a:ext>
            </a:extLst>
          </p:cNvPr>
          <p:cNvSpPr/>
          <p:nvPr/>
        </p:nvSpPr>
        <p:spPr>
          <a:xfrm>
            <a:off x="1979712" y="4046957"/>
            <a:ext cx="5832648" cy="26532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719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2.4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Pages 9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7067101-9A0D-92AB-B4B5-F31E7B29E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228725"/>
            <a:ext cx="781050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DFD071A8-4A7B-C08E-DC17-0B84DC888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78" y="1052736"/>
            <a:ext cx="77343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D424051-FA9A-D4BB-3EAA-A96D59DD5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91" y="1162050"/>
            <a:ext cx="762952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CB7D-6D59-1A45-DE7E-3051C71D6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558D4E6-EA37-47C6-835B-812DCC33128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451DE74-62D7-0F77-09D0-C90303F69AA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E099229-DAD5-A00E-CE0F-C899A0696C3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1DB9AEE-0593-5AD1-CE4E-A3AE08835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28" y="980728"/>
            <a:ext cx="769620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27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ACB60E8-B147-2ABF-A2BA-87411702B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69" y="620688"/>
            <a:ext cx="7986662" cy="619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63A918C-E1A0-C7AD-93C3-7E891E5FA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582" y="616915"/>
            <a:ext cx="6068836" cy="624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C6D6B-B302-046B-DF7F-E58F65636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5FD51B-CA23-340D-66B0-2F9220CBD37F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13C796D-BD2F-F025-0402-80AA67D4843C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982E1C1-2464-1B9B-0359-6C0F359BFA9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E1AB44D-A14A-DEEF-499D-303D42DB4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5" y="957262"/>
            <a:ext cx="900112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44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61762</TotalTime>
  <Words>977</Words>
  <Application>Microsoft Office PowerPoint</Application>
  <PresentationFormat>On-screen Show (4:3)</PresentationFormat>
  <Paragraphs>139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Wingdings</vt:lpstr>
      <vt:lpstr>Office Theme</vt:lpstr>
      <vt:lpstr>P2 Chapter 2: Graphing Functions  Inverse Functions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2025-10-23T10:11:16Z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