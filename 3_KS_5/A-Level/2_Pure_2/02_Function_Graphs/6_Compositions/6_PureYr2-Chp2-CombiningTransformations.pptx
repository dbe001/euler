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555" r:id="rId6"/>
    <p:sldId id="559" r:id="rId7"/>
    <p:sldId id="560" r:id="rId8"/>
    <p:sldId id="561" r:id="rId9"/>
    <p:sldId id="549" r:id="rId10"/>
    <p:sldId id="543" r:id="rId11"/>
    <p:sldId id="550" r:id="rId12"/>
    <p:sldId id="551" r:id="rId13"/>
    <p:sldId id="545" r:id="rId14"/>
    <p:sldId id="55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02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modSld">
      <pc:chgData name="Dieter Beaven" userId="9bbdb69f-69d0-4759-aa9b-5c090a2da237" providerId="ADAL" clId="{AF4429DE-69D1-4CF8-841D-B9C26A2A5A21}" dt="2025-10-23T10:23:55.515" v="11" actId="14100"/>
      <pc:docMkLst>
        <pc:docMk/>
      </pc:docMkLst>
      <pc:sldChg chg="addSp modSp mod">
        <pc:chgData name="Dieter Beaven" userId="9bbdb69f-69d0-4759-aa9b-5c090a2da237" providerId="ADAL" clId="{AF4429DE-69D1-4CF8-841D-B9C26A2A5A21}" dt="2025-10-23T10:21:22.068" v="3" actId="1035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0:21:22.068" v="3" actId="1035"/>
          <ac:picMkLst>
            <pc:docMk/>
            <pc:sldMk cId="3458699803" sldId="545"/>
            <ac:picMk id="6" creationId="{9C2E6376-95F0-C70E-E922-6F6B5F041B40}"/>
          </ac:picMkLst>
        </pc:picChg>
      </pc:sldChg>
      <pc:sldChg chg="addSp modSp mod">
        <pc:chgData name="Dieter Beaven" userId="9bbdb69f-69d0-4759-aa9b-5c090a2da237" providerId="ADAL" clId="{AF4429DE-69D1-4CF8-841D-B9C26A2A5A21}" dt="2025-10-23T10:22:03.061" v="10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AF4429DE-69D1-4CF8-841D-B9C26A2A5A21}" dt="2025-10-23T10:22:03.061" v="10" actId="1076"/>
          <ac:picMkLst>
            <pc:docMk/>
            <pc:sldMk cId="2531956736" sldId="552"/>
            <ac:picMk id="6" creationId="{5ADD06D9-DC69-BAD0-87D8-6D8D316DE664}"/>
          </ac:picMkLst>
        </pc:picChg>
      </pc:sldChg>
      <pc:sldChg chg="modSp mod">
        <pc:chgData name="Dieter Beaven" userId="9bbdb69f-69d0-4759-aa9b-5c090a2da237" providerId="ADAL" clId="{AF4429DE-69D1-4CF8-841D-B9C26A2A5A21}" dt="2025-10-23T10:23:55.515" v="11" actId="14100"/>
        <pc:sldMkLst>
          <pc:docMk/>
          <pc:sldMk cId="352429253" sldId="559"/>
        </pc:sldMkLst>
        <pc:spChg chg="mod">
          <ac:chgData name="Dieter Beaven" userId="9bbdb69f-69d0-4759-aa9b-5c090a2da237" providerId="ADAL" clId="{AF4429DE-69D1-4CF8-841D-B9C26A2A5A21}" dt="2025-10-23T10:23:55.515" v="11" actId="14100"/>
          <ac:spMkLst>
            <pc:docMk/>
            <pc:sldMk cId="352429253" sldId="559"/>
            <ac:spMk id="33" creationId="{22B8D4C5-BA7C-4DFA-9B12-21E0AEF85089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AEBAE04E-4907-4488-9BE2-3C2C331A46F1}"/>
    <pc:docChg chg="modSld">
      <pc:chgData name="Dieter Beaven" userId="9bbdb69f-69d0-4759-aa9b-5c090a2da237" providerId="ADAL" clId="{AEBAE04E-4907-4488-9BE2-3C2C331A46F1}" dt="2025-04-25T15:29:32.696" v="3" actId="20577"/>
      <pc:docMkLst>
        <pc:docMk/>
      </pc:docMkLst>
      <pc:sldChg chg="modSp mod">
        <pc:chgData name="Dieter Beaven" userId="9bbdb69f-69d0-4759-aa9b-5c090a2da237" providerId="ADAL" clId="{AEBAE04E-4907-4488-9BE2-3C2C331A46F1}" dt="2025-04-25T15:29:28.587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EBAE04E-4907-4488-9BE2-3C2C331A46F1}" dt="2025-04-25T15:29:32.696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AFEA4962-56F5-4D61-B5AE-CC41C6736A85}"/>
    <pc:docChg chg="addSld modSld">
      <pc:chgData name="Dieter Beaven" userId="9bbdb69f-69d0-4759-aa9b-5c090a2da237" providerId="ADAL" clId="{AFEA4962-56F5-4D61-B5AE-CC41C6736A85}" dt="2025-05-13T15:07:42.069" v="32" actId="20577"/>
      <pc:docMkLst>
        <pc:docMk/>
      </pc:docMkLst>
      <pc:sldChg chg="modSp mod">
        <pc:chgData name="Dieter Beaven" userId="9bbdb69f-69d0-4759-aa9b-5c090a2da237" providerId="ADAL" clId="{AFEA4962-56F5-4D61-B5AE-CC41C6736A85}" dt="2025-05-13T15:07:13.536" v="27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FEA4962-56F5-4D61-B5AE-CC41C6736A85}" dt="2025-05-13T15:07:42.069" v="32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AFEA4962-56F5-4D61-B5AE-CC41C6736A85}" dt="2025-05-13T15:07:30.895" v="28"/>
        <pc:sldMkLst>
          <pc:docMk/>
          <pc:sldMk cId="2211475438" sldId="555"/>
        </pc:sldMkLst>
      </pc:sldChg>
      <pc:sldChg chg="add">
        <pc:chgData name="Dieter Beaven" userId="9bbdb69f-69d0-4759-aa9b-5c090a2da237" providerId="ADAL" clId="{AFEA4962-56F5-4D61-B5AE-CC41C6736A85}" dt="2025-05-13T15:07:30.895" v="28"/>
        <pc:sldMkLst>
          <pc:docMk/>
          <pc:sldMk cId="352429253" sldId="559"/>
        </pc:sldMkLst>
      </pc:sldChg>
      <pc:sldChg chg="add">
        <pc:chgData name="Dieter Beaven" userId="9bbdb69f-69d0-4759-aa9b-5c090a2da237" providerId="ADAL" clId="{AFEA4962-56F5-4D61-B5AE-CC41C6736A85}" dt="2025-05-13T15:07:30.895" v="28"/>
        <pc:sldMkLst>
          <pc:docMk/>
          <pc:sldMk cId="2661140895" sldId="560"/>
        </pc:sldMkLst>
      </pc:sldChg>
      <pc:sldChg chg="add">
        <pc:chgData name="Dieter Beaven" userId="9bbdb69f-69d0-4759-aa9b-5c090a2da237" providerId="ADAL" clId="{AFEA4962-56F5-4D61-B5AE-CC41C6736A85}" dt="2025-05-13T15:07:30.895" v="28"/>
        <pc:sldMkLst>
          <pc:docMk/>
          <pc:sldMk cId="2045425299" sldId="561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BC489C12-7655-4349-A9B7-B3F187814AC5}"/>
    <pc:docChg chg="modSld">
      <pc:chgData name="Dieter Beaven" userId="9bbdb69f-69d0-4759-aa9b-5c090a2da237" providerId="ADAL" clId="{BC489C12-7655-4349-A9B7-B3F187814AC5}" dt="2025-04-29T13:37:22.258" v="33" actId="20577"/>
      <pc:docMkLst>
        <pc:docMk/>
      </pc:docMkLst>
      <pc:sldChg chg="modSp mod">
        <pc:chgData name="Dieter Beaven" userId="9bbdb69f-69d0-4759-aa9b-5c090a2da237" providerId="ADAL" clId="{BC489C12-7655-4349-A9B7-B3F187814AC5}" dt="2025-04-29T13:37:22.258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A3285DA8-FEF2-4427-BACA-1AB7AD3E2DBD}"/>
    <pc:docChg chg="modSld">
      <pc:chgData name="Dieter Beaven" userId="9bbdb69f-69d0-4759-aa9b-5c090a2da237" providerId="ADAL" clId="{A3285DA8-FEF2-4427-BACA-1AB7AD3E2DBD}" dt="2025-08-27T09:39:55.471" v="9" actId="1076"/>
      <pc:docMkLst>
        <pc:docMk/>
      </pc:docMkLst>
      <pc:sldChg chg="addSp modSp mod">
        <pc:chgData name="Dieter Beaven" userId="9bbdb69f-69d0-4759-aa9b-5c090a2da237" providerId="ADAL" clId="{A3285DA8-FEF2-4427-BACA-1AB7AD3E2DBD}" dt="2025-08-27T09:39:14.624" v="4" actId="103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A3285DA8-FEF2-4427-BACA-1AB7AD3E2DBD}" dt="2025-08-27T09:39:20.143" v="6" actId="103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A3285DA8-FEF2-4427-BACA-1AB7AD3E2DBD}" dt="2025-08-27T09:39:55.471" v="9" actId="1076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18" Type="http://schemas.openxmlformats.org/officeDocument/2006/relationships/image" Target="../media/image201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202.png"/><Relationship Id="rId16" Type="http://schemas.openxmlformats.org/officeDocument/2006/relationships/image" Target="../media/image216.png"/><Relationship Id="rId20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6.pn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19" Type="http://schemas.openxmlformats.org/officeDocument/2006/relationships/image" Target="../media/image219.png"/><Relationship Id="rId4" Type="http://schemas.openxmlformats.org/officeDocument/2006/relationships/image" Target="../media/image204.png"/><Relationship Id="rId9" Type="http://schemas.openxmlformats.org/officeDocument/2006/relationships/image" Target="../media/image209.png"/><Relationship Id="rId14" Type="http://schemas.openxmlformats.org/officeDocument/2006/relationships/image" Target="../media/image2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png"/><Relationship Id="rId13" Type="http://schemas.openxmlformats.org/officeDocument/2006/relationships/image" Target="../media/image231.png"/><Relationship Id="rId18" Type="http://schemas.openxmlformats.org/officeDocument/2006/relationships/image" Target="../media/image236.png"/><Relationship Id="rId3" Type="http://schemas.openxmlformats.org/officeDocument/2006/relationships/image" Target="../media/image222.png"/><Relationship Id="rId21" Type="http://schemas.openxmlformats.org/officeDocument/2006/relationships/image" Target="../media/image239.png"/><Relationship Id="rId7" Type="http://schemas.openxmlformats.org/officeDocument/2006/relationships/image" Target="../media/image217.png"/><Relationship Id="rId12" Type="http://schemas.openxmlformats.org/officeDocument/2006/relationships/image" Target="../media/image230.png"/><Relationship Id="rId17" Type="http://schemas.openxmlformats.org/officeDocument/2006/relationships/image" Target="../media/image235.png"/><Relationship Id="rId2" Type="http://schemas.openxmlformats.org/officeDocument/2006/relationships/image" Target="../media/image221.png"/><Relationship Id="rId16" Type="http://schemas.openxmlformats.org/officeDocument/2006/relationships/image" Target="../media/image234.png"/><Relationship Id="rId20" Type="http://schemas.openxmlformats.org/officeDocument/2006/relationships/image" Target="../media/image2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11" Type="http://schemas.openxmlformats.org/officeDocument/2006/relationships/image" Target="../media/image229.png"/><Relationship Id="rId5" Type="http://schemas.openxmlformats.org/officeDocument/2006/relationships/image" Target="../media/image224.png"/><Relationship Id="rId15" Type="http://schemas.openxmlformats.org/officeDocument/2006/relationships/image" Target="../media/image233.png"/><Relationship Id="rId10" Type="http://schemas.openxmlformats.org/officeDocument/2006/relationships/image" Target="../media/image228.png"/><Relationship Id="rId19" Type="http://schemas.openxmlformats.org/officeDocument/2006/relationships/image" Target="../media/image237.png"/><Relationship Id="rId4" Type="http://schemas.openxmlformats.org/officeDocument/2006/relationships/image" Target="../media/image223.png"/><Relationship Id="rId9" Type="http://schemas.openxmlformats.org/officeDocument/2006/relationships/image" Target="../media/image227.png"/><Relationship Id="rId14" Type="http://schemas.openxmlformats.org/officeDocument/2006/relationships/image" Target="../media/image2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3" Type="http://schemas.openxmlformats.org/officeDocument/2006/relationships/image" Target="../media/image244.png"/><Relationship Id="rId7" Type="http://schemas.openxmlformats.org/officeDocument/2006/relationships/image" Target="../media/image248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2.png"/><Relationship Id="rId11" Type="http://schemas.openxmlformats.org/officeDocument/2006/relationships/image" Target="../media/image251.png"/><Relationship Id="rId5" Type="http://schemas.openxmlformats.org/officeDocument/2006/relationships/image" Target="../media/image246.png"/><Relationship Id="rId10" Type="http://schemas.openxmlformats.org/officeDocument/2006/relationships/image" Target="../media/image247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2: </a:t>
            </a:r>
            <a:r>
              <a:rPr lang="en-GB" dirty="0">
                <a:solidFill>
                  <a:schemeClr val="accent5"/>
                </a:solidFill>
              </a:rPr>
              <a:t>Graphing 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Combining Transformations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4D4845-ED01-4F58-8EBC-8191A9F25BE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7731EDF-109E-41A3-9CF9-19F7ACE7FCA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Combining Transformations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4E41ED0-9A4B-4E9F-9516-F1FDEAC61A5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395A147-2E03-4E14-A3D4-D59822DD85A7}"/>
              </a:ext>
            </a:extLst>
          </p:cNvPr>
          <p:cNvSpPr txBox="1"/>
          <p:nvPr/>
        </p:nvSpPr>
        <p:spPr>
          <a:xfrm>
            <a:off x="250258" y="724777"/>
            <a:ext cx="1482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RECAP: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F0B72A-CF96-4426-B7D7-CD2174B2EF7A}"/>
              </a:ext>
            </a:extLst>
          </p:cNvPr>
          <p:cNvSpPr txBox="1"/>
          <p:nvPr/>
        </p:nvSpPr>
        <p:spPr>
          <a:xfrm>
            <a:off x="2915816" y="1041354"/>
            <a:ext cx="216024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Affects which axis?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AC987-E80C-4543-A32A-F374EFCB6373}"/>
              </a:ext>
            </a:extLst>
          </p:cNvPr>
          <p:cNvSpPr txBox="1"/>
          <p:nvPr/>
        </p:nvSpPr>
        <p:spPr>
          <a:xfrm>
            <a:off x="5076056" y="1041354"/>
            <a:ext cx="324036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What we expect or opposite?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116095-4DE2-4A96-A596-C1B76F976249}"/>
                  </a:ext>
                </a:extLst>
              </p:cNvPr>
              <p:cNvSpPr txBox="1"/>
              <p:nvPr/>
            </p:nvSpPr>
            <p:spPr>
              <a:xfrm>
                <a:off x="755576" y="1401394"/>
                <a:ext cx="2160240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Change </a:t>
                </a:r>
                <a:r>
                  <a:rPr lang="en-GB" b="1" dirty="0"/>
                  <a:t>inside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 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116095-4DE2-4A96-A596-C1B76F976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01394"/>
                <a:ext cx="2160240" cy="369332"/>
              </a:xfrm>
              <a:prstGeom prst="rect">
                <a:avLst/>
              </a:prstGeom>
              <a:blipFill>
                <a:blip r:embed="rId2"/>
                <a:stretch>
                  <a:fillRect l="-1955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BFE92F-1C90-4021-90FD-D6FBDFE43654}"/>
                  </a:ext>
                </a:extLst>
              </p:cNvPr>
              <p:cNvSpPr txBox="1"/>
              <p:nvPr/>
            </p:nvSpPr>
            <p:spPr>
              <a:xfrm>
                <a:off x="755576" y="1833442"/>
                <a:ext cx="2160240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Change </a:t>
                </a:r>
                <a:r>
                  <a:rPr lang="en-GB" b="1" dirty="0"/>
                  <a:t>outside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 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BFE92F-1C90-4021-90FD-D6FBDFE43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833442"/>
                <a:ext cx="2160240" cy="369332"/>
              </a:xfrm>
              <a:prstGeom prst="rect">
                <a:avLst/>
              </a:prstGeom>
              <a:blipFill>
                <a:blip r:embed="rId3"/>
                <a:stretch>
                  <a:fillRect l="-1955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1FC391-5F62-4109-8147-074F26192913}"/>
                  </a:ext>
                </a:extLst>
              </p:cNvPr>
              <p:cNvSpPr txBox="1"/>
              <p:nvPr/>
            </p:nvSpPr>
            <p:spPr>
              <a:xfrm>
                <a:off x="3131840" y="1401394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1FC391-5F62-4109-8147-074F26192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401394"/>
                <a:ext cx="19442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21E701-7AE4-4DC1-A950-E1C3C2E2B0E8}"/>
                  </a:ext>
                </a:extLst>
              </p:cNvPr>
              <p:cNvSpPr txBox="1"/>
              <p:nvPr/>
            </p:nvSpPr>
            <p:spPr>
              <a:xfrm>
                <a:off x="3131840" y="1761434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21E701-7AE4-4DC1-A950-E1C3C2E2B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761434"/>
                <a:ext cx="1944216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6F6381-4463-4B01-B319-79F187395BE9}"/>
              </a:ext>
            </a:extLst>
          </p:cNvPr>
          <p:cNvSpPr txBox="1"/>
          <p:nvPr/>
        </p:nvSpPr>
        <p:spPr>
          <a:xfrm>
            <a:off x="5148064" y="140139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Opposite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13FB7C-0FD1-436A-8058-0E6C12304C21}"/>
              </a:ext>
            </a:extLst>
          </p:cNvPr>
          <p:cNvSpPr txBox="1"/>
          <p:nvPr/>
        </p:nvSpPr>
        <p:spPr>
          <a:xfrm>
            <a:off x="5148064" y="1833442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we expect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9FEBE3-92BE-4C99-AA40-445F7F984932}"/>
              </a:ext>
            </a:extLst>
          </p:cNvPr>
          <p:cNvSpPr/>
          <p:nvPr/>
        </p:nvSpPr>
        <p:spPr>
          <a:xfrm>
            <a:off x="2915816" y="1399250"/>
            <a:ext cx="216024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E26319-23FD-4F77-9AB2-2EBB69E1C382}"/>
              </a:ext>
            </a:extLst>
          </p:cNvPr>
          <p:cNvSpPr/>
          <p:nvPr/>
        </p:nvSpPr>
        <p:spPr>
          <a:xfrm>
            <a:off x="5076056" y="1401394"/>
            <a:ext cx="324036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B365DE-B241-436F-BF9D-F883DE0C5A02}"/>
              </a:ext>
            </a:extLst>
          </p:cNvPr>
          <p:cNvSpPr/>
          <p:nvPr/>
        </p:nvSpPr>
        <p:spPr>
          <a:xfrm>
            <a:off x="2915816" y="1831298"/>
            <a:ext cx="216024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188B0-4526-4158-AF51-0E7B1BB2FCE8}"/>
              </a:ext>
            </a:extLst>
          </p:cNvPr>
          <p:cNvSpPr/>
          <p:nvPr/>
        </p:nvSpPr>
        <p:spPr>
          <a:xfrm>
            <a:off x="5076056" y="1833442"/>
            <a:ext cx="324036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14468-CE01-4081-A51D-0D9D874467F9}"/>
              </a:ext>
            </a:extLst>
          </p:cNvPr>
          <p:cNvSpPr txBox="1"/>
          <p:nvPr/>
        </p:nvSpPr>
        <p:spPr>
          <a:xfrm>
            <a:off x="395536" y="2564904"/>
            <a:ext cx="7344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is nothing new here relative to Year 1, except that you might have to do more than one transformation…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767F82-CAE1-4B7B-B84D-0AF5F38AC2D2}"/>
              </a:ext>
            </a:extLst>
          </p:cNvPr>
          <p:cNvCxnSpPr>
            <a:cxnSpLocks/>
          </p:cNvCxnSpPr>
          <p:nvPr/>
        </p:nvCxnSpPr>
        <p:spPr>
          <a:xfrm>
            <a:off x="697059" y="5277949"/>
            <a:ext cx="2795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533157-22EE-4174-A4B8-05033FABCDD3}"/>
              </a:ext>
            </a:extLst>
          </p:cNvPr>
          <p:cNvCxnSpPr>
            <a:cxnSpLocks/>
          </p:cNvCxnSpPr>
          <p:nvPr/>
        </p:nvCxnSpPr>
        <p:spPr>
          <a:xfrm flipV="1">
            <a:off x="1496736" y="3829150"/>
            <a:ext cx="0" cy="216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8FD146-BF36-4F4F-896F-80677D78B15D}"/>
                  </a:ext>
                </a:extLst>
              </p:cNvPr>
              <p:cNvSpPr txBox="1"/>
              <p:nvPr/>
            </p:nvSpPr>
            <p:spPr>
              <a:xfrm>
                <a:off x="3308726" y="506660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8FD146-BF36-4F4F-896F-80677D78B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726" y="5066602"/>
                <a:ext cx="5760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22B69A4-3C00-40BD-B8D6-016BF6A9EA92}"/>
                  </a:ext>
                </a:extLst>
              </p:cNvPr>
              <p:cNvSpPr txBox="1"/>
              <p:nvPr/>
            </p:nvSpPr>
            <p:spPr>
              <a:xfrm>
                <a:off x="1198071" y="3463864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22B69A4-3C00-40BD-B8D6-016BF6A9E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71" y="3463864"/>
                <a:ext cx="576064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6D38FB2-C77E-42FA-A6EB-BA66C447A6F3}"/>
              </a:ext>
            </a:extLst>
          </p:cNvPr>
          <p:cNvSpPr/>
          <p:nvPr/>
        </p:nvSpPr>
        <p:spPr>
          <a:xfrm>
            <a:off x="880475" y="4206273"/>
            <a:ext cx="2743201" cy="1857829"/>
          </a:xfrm>
          <a:custGeom>
            <a:avLst/>
            <a:gdLst>
              <a:gd name="connsiteX0" fmla="*/ 0 w 3715658"/>
              <a:gd name="connsiteY0" fmla="*/ 0 h 2365829"/>
              <a:gd name="connsiteX1" fmla="*/ 1436915 w 3715658"/>
              <a:gd name="connsiteY1" fmla="*/ 1915886 h 2365829"/>
              <a:gd name="connsiteX2" fmla="*/ 2481943 w 3715658"/>
              <a:gd name="connsiteY2" fmla="*/ 696686 h 2365829"/>
              <a:gd name="connsiteX3" fmla="*/ 3715658 w 3715658"/>
              <a:gd name="connsiteY3" fmla="*/ 2365829 h 236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5658" h="2365829">
                <a:moveTo>
                  <a:pt x="0" y="0"/>
                </a:moveTo>
                <a:cubicBezTo>
                  <a:pt x="511629" y="899886"/>
                  <a:pt x="1023258" y="1799772"/>
                  <a:pt x="1436915" y="1915886"/>
                </a:cubicBezTo>
                <a:cubicBezTo>
                  <a:pt x="1850572" y="2032000"/>
                  <a:pt x="2102153" y="621696"/>
                  <a:pt x="2481943" y="696686"/>
                </a:cubicBezTo>
                <a:cubicBezTo>
                  <a:pt x="2861734" y="771677"/>
                  <a:pt x="3288696" y="1568753"/>
                  <a:pt x="3715658" y="236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773C22F-9077-4475-ADE9-2BE507C4D3B5}"/>
                  </a:ext>
                </a:extLst>
              </p:cNvPr>
              <p:cNvSpPr txBox="1"/>
              <p:nvPr/>
            </p:nvSpPr>
            <p:spPr>
              <a:xfrm>
                <a:off x="1869828" y="5680093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2,−1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773C22F-9077-4475-ADE9-2BE507C4D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828" y="5680093"/>
                <a:ext cx="709633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2BA8A4-09B3-4424-B590-27871DD0E455}"/>
                  </a:ext>
                </a:extLst>
              </p:cNvPr>
              <p:cNvSpPr txBox="1"/>
              <p:nvPr/>
            </p:nvSpPr>
            <p:spPr>
              <a:xfrm>
                <a:off x="2597262" y="4491797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2BA8A4-09B3-4424-B590-27871DD0E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262" y="4491797"/>
                <a:ext cx="709633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9D6EF0-F798-4D5A-86FB-D9E4D80E837D}"/>
                  </a:ext>
                </a:extLst>
              </p:cNvPr>
              <p:cNvSpPr txBox="1"/>
              <p:nvPr/>
            </p:nvSpPr>
            <p:spPr>
              <a:xfrm>
                <a:off x="1070116" y="5259056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9D6EF0-F798-4D5A-86FB-D9E4D80E8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116" y="5259056"/>
                <a:ext cx="709633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8DEC161-0AD9-4F0A-BDAF-2BF1F960A373}"/>
                  </a:ext>
                </a:extLst>
              </p:cNvPr>
              <p:cNvSpPr txBox="1"/>
              <p:nvPr/>
            </p:nvSpPr>
            <p:spPr>
              <a:xfrm>
                <a:off x="274419" y="3937245"/>
                <a:ext cx="87976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8DEC161-0AD9-4F0A-BDAF-2BF1F960A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19" y="3937245"/>
                <a:ext cx="879765" cy="261610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Oval 41">
            <a:extLst>
              <a:ext uri="{FF2B5EF4-FFF2-40B4-BE49-F238E27FC236}">
                <a16:creationId xmlns:a16="http://schemas.microsoft.com/office/drawing/2014/main" id="{4239B2AF-E168-4131-98EC-5B4D895C149B}"/>
              </a:ext>
            </a:extLst>
          </p:cNvPr>
          <p:cNvSpPr/>
          <p:nvPr/>
        </p:nvSpPr>
        <p:spPr>
          <a:xfrm>
            <a:off x="1925989" y="5654674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E86E164-EE3D-4BA6-926E-52FC1CB52D3A}"/>
              </a:ext>
            </a:extLst>
          </p:cNvPr>
          <p:cNvSpPr/>
          <p:nvPr/>
        </p:nvSpPr>
        <p:spPr>
          <a:xfrm>
            <a:off x="2640484" y="4707484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365C3A-46DC-43C9-B2F6-9F6345D38364}"/>
                  </a:ext>
                </a:extLst>
              </p:cNvPr>
              <p:cNvSpPr txBox="1"/>
              <p:nvPr/>
            </p:nvSpPr>
            <p:spPr>
              <a:xfrm>
                <a:off x="2290068" y="3374964"/>
                <a:ext cx="39604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Here is a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Sketch the graph of:</a:t>
                </a:r>
              </a:p>
              <a:p>
                <a:r>
                  <a:rPr lang="en-GB" dirty="0"/>
                  <a:t>a)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br>
                  <a:rPr lang="en-GB" dirty="0"/>
                </a:br>
                <a:endParaRPr lang="en-GB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3365C3A-46DC-43C9-B2F6-9F6345D38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068" y="3374964"/>
                <a:ext cx="3960440" cy="1200329"/>
              </a:xfrm>
              <a:prstGeom prst="rect">
                <a:avLst/>
              </a:prstGeom>
              <a:blipFill>
                <a:blip r:embed="rId12"/>
                <a:stretch>
                  <a:fillRect l="-1387" t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8C3D9BA-429F-4D50-BBB3-66CEDC420372}"/>
              </a:ext>
            </a:extLst>
          </p:cNvPr>
          <p:cNvCxnSpPr>
            <a:cxnSpLocks/>
          </p:cNvCxnSpPr>
          <p:nvPr/>
        </p:nvCxnSpPr>
        <p:spPr>
          <a:xfrm>
            <a:off x="5696779" y="5748655"/>
            <a:ext cx="2795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DDFEA44-13F5-4372-9207-58EF38D170AF}"/>
              </a:ext>
            </a:extLst>
          </p:cNvPr>
          <p:cNvCxnSpPr>
            <a:cxnSpLocks/>
          </p:cNvCxnSpPr>
          <p:nvPr/>
        </p:nvCxnSpPr>
        <p:spPr>
          <a:xfrm flipV="1">
            <a:off x="6496050" y="4299856"/>
            <a:ext cx="406" cy="2520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80D434-5199-4858-8363-CCB5607BE085}"/>
                  </a:ext>
                </a:extLst>
              </p:cNvPr>
              <p:cNvSpPr txBox="1"/>
              <p:nvPr/>
            </p:nvSpPr>
            <p:spPr>
              <a:xfrm>
                <a:off x="8308446" y="5537308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680D434-5199-4858-8363-CCB5607BE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446" y="5537308"/>
                <a:ext cx="57606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C76E2D3-9B26-434B-A3B9-5653DB439A9B}"/>
                  </a:ext>
                </a:extLst>
              </p:cNvPr>
              <p:cNvSpPr txBox="1"/>
              <p:nvPr/>
            </p:nvSpPr>
            <p:spPr>
              <a:xfrm>
                <a:off x="6197791" y="3934570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C76E2D3-9B26-434B-A3B9-5653DB439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791" y="3934570"/>
                <a:ext cx="576064" cy="369332"/>
              </a:xfrm>
              <a:prstGeom prst="rect">
                <a:avLst/>
              </a:prstGeom>
              <a:blipFill>
                <a:blip r:embed="rId1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8F6B5B6F-C08E-456F-BBE7-AE3EBF330203}"/>
              </a:ext>
            </a:extLst>
          </p:cNvPr>
          <p:cNvSpPr/>
          <p:nvPr/>
        </p:nvSpPr>
        <p:spPr>
          <a:xfrm>
            <a:off x="5880195" y="4676979"/>
            <a:ext cx="2743201" cy="1857829"/>
          </a:xfrm>
          <a:custGeom>
            <a:avLst/>
            <a:gdLst>
              <a:gd name="connsiteX0" fmla="*/ 0 w 3715658"/>
              <a:gd name="connsiteY0" fmla="*/ 0 h 2365829"/>
              <a:gd name="connsiteX1" fmla="*/ 1436915 w 3715658"/>
              <a:gd name="connsiteY1" fmla="*/ 1915886 h 2365829"/>
              <a:gd name="connsiteX2" fmla="*/ 2481943 w 3715658"/>
              <a:gd name="connsiteY2" fmla="*/ 696686 h 2365829"/>
              <a:gd name="connsiteX3" fmla="*/ 3715658 w 3715658"/>
              <a:gd name="connsiteY3" fmla="*/ 2365829 h 236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5658" h="2365829">
                <a:moveTo>
                  <a:pt x="0" y="0"/>
                </a:moveTo>
                <a:cubicBezTo>
                  <a:pt x="511629" y="899886"/>
                  <a:pt x="1023258" y="1799772"/>
                  <a:pt x="1436915" y="1915886"/>
                </a:cubicBezTo>
                <a:cubicBezTo>
                  <a:pt x="1850572" y="2032000"/>
                  <a:pt x="2102153" y="621696"/>
                  <a:pt x="2481943" y="696686"/>
                </a:cubicBezTo>
                <a:cubicBezTo>
                  <a:pt x="2861734" y="771677"/>
                  <a:pt x="3288696" y="1568753"/>
                  <a:pt x="3715658" y="2365829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03E7BF0-005B-4B80-82AC-579C0967F150}"/>
                  </a:ext>
                </a:extLst>
              </p:cNvPr>
              <p:cNvSpPr txBox="1"/>
              <p:nvPr/>
            </p:nvSpPr>
            <p:spPr>
              <a:xfrm>
                <a:off x="6869548" y="6150799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2,−1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03E7BF0-005B-4B80-82AC-579C0967F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548" y="6150799"/>
                <a:ext cx="709633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56736C7-A034-461F-9CE6-F174BDEC13E9}"/>
                  </a:ext>
                </a:extLst>
              </p:cNvPr>
              <p:cNvSpPr txBox="1"/>
              <p:nvPr/>
            </p:nvSpPr>
            <p:spPr>
              <a:xfrm>
                <a:off x="7596982" y="4962503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56736C7-A034-461F-9CE6-F174BDEC1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982" y="4962503"/>
                <a:ext cx="709633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8D057A-2A5E-4A53-9E27-69105BE87C07}"/>
                  </a:ext>
                </a:extLst>
              </p:cNvPr>
              <p:cNvSpPr txBox="1"/>
              <p:nvPr/>
            </p:nvSpPr>
            <p:spPr>
              <a:xfrm>
                <a:off x="6069836" y="5729762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68D057A-2A5E-4A53-9E27-69105BE87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836" y="5729762"/>
                <a:ext cx="709633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999EBB9-5306-4047-BE96-F0CD0722280A}"/>
                  </a:ext>
                </a:extLst>
              </p:cNvPr>
              <p:cNvSpPr txBox="1"/>
              <p:nvPr/>
            </p:nvSpPr>
            <p:spPr>
              <a:xfrm>
                <a:off x="5666730" y="4445096"/>
                <a:ext cx="87976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999EBB9-5306-4047-BE96-F0CD07222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730" y="4445096"/>
                <a:ext cx="879765" cy="261610"/>
              </a:xfrm>
              <a:prstGeom prst="rect">
                <a:avLst/>
              </a:prstGeom>
              <a:blipFill>
                <a:blip r:embed="rId17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>
            <a:extLst>
              <a:ext uri="{FF2B5EF4-FFF2-40B4-BE49-F238E27FC236}">
                <a16:creationId xmlns:a16="http://schemas.microsoft.com/office/drawing/2014/main" id="{538425F0-92A4-4A62-A583-66DA569BA663}"/>
              </a:ext>
            </a:extLst>
          </p:cNvPr>
          <p:cNvSpPr/>
          <p:nvPr/>
        </p:nvSpPr>
        <p:spPr>
          <a:xfrm>
            <a:off x="6925709" y="6125380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D4F4299-80DE-45C0-9D66-BABE0C777286}"/>
              </a:ext>
            </a:extLst>
          </p:cNvPr>
          <p:cNvSpPr/>
          <p:nvPr/>
        </p:nvSpPr>
        <p:spPr>
          <a:xfrm>
            <a:off x="7640204" y="5178190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554040A-FEC8-43D1-AE57-F2188534C564}"/>
                  </a:ext>
                </a:extLst>
              </p:cNvPr>
              <p:cNvSpPr/>
              <p:nvPr/>
            </p:nvSpPr>
            <p:spPr>
              <a:xfrm>
                <a:off x="5880100" y="3270935"/>
                <a:ext cx="297884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Subtract 2 from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values.</a:t>
                </a:r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values multiplied by 2.</a:t>
                </a:r>
                <a:endParaRPr lang="en-GB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554040A-FEC8-43D1-AE57-F2188534C5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00" y="3270935"/>
                <a:ext cx="2978844" cy="646331"/>
              </a:xfrm>
              <a:prstGeom prst="rect">
                <a:avLst/>
              </a:prstGeom>
              <a:blipFill>
                <a:blip r:embed="rId18"/>
                <a:stretch>
                  <a:fillRect l="-1844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47542E2-F955-40DA-885A-2379A659C826}"/>
              </a:ext>
            </a:extLst>
          </p:cNvPr>
          <p:cNvSpPr/>
          <p:nvPr/>
        </p:nvSpPr>
        <p:spPr>
          <a:xfrm>
            <a:off x="5581049" y="4205636"/>
            <a:ext cx="2387601" cy="2514199"/>
          </a:xfrm>
          <a:custGeom>
            <a:avLst/>
            <a:gdLst>
              <a:gd name="connsiteX0" fmla="*/ 0 w 3715658"/>
              <a:gd name="connsiteY0" fmla="*/ 0 h 2365829"/>
              <a:gd name="connsiteX1" fmla="*/ 1436915 w 3715658"/>
              <a:gd name="connsiteY1" fmla="*/ 1915886 h 2365829"/>
              <a:gd name="connsiteX2" fmla="*/ 2481943 w 3715658"/>
              <a:gd name="connsiteY2" fmla="*/ 696686 h 2365829"/>
              <a:gd name="connsiteX3" fmla="*/ 3715658 w 3715658"/>
              <a:gd name="connsiteY3" fmla="*/ 2365829 h 2365829"/>
              <a:gd name="connsiteX0" fmla="*/ 0 w 3509233"/>
              <a:gd name="connsiteY0" fmla="*/ 0 h 2041708"/>
              <a:gd name="connsiteX1" fmla="*/ 1230490 w 3509233"/>
              <a:gd name="connsiteY1" fmla="*/ 1591765 h 2041708"/>
              <a:gd name="connsiteX2" fmla="*/ 2275518 w 3509233"/>
              <a:gd name="connsiteY2" fmla="*/ 372565 h 2041708"/>
              <a:gd name="connsiteX3" fmla="*/ 3509233 w 3509233"/>
              <a:gd name="connsiteY3" fmla="*/ 2041708 h 2041708"/>
              <a:gd name="connsiteX0" fmla="*/ 0 w 3233999"/>
              <a:gd name="connsiteY0" fmla="*/ 0 h 1604144"/>
              <a:gd name="connsiteX1" fmla="*/ 1230490 w 3233999"/>
              <a:gd name="connsiteY1" fmla="*/ 1591765 h 1604144"/>
              <a:gd name="connsiteX2" fmla="*/ 2275518 w 3233999"/>
              <a:gd name="connsiteY2" fmla="*/ 372565 h 1604144"/>
              <a:gd name="connsiteX3" fmla="*/ 3233999 w 3233999"/>
              <a:gd name="connsiteY3" fmla="*/ 1604144 h 1604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3999" h="1604144">
                <a:moveTo>
                  <a:pt x="0" y="0"/>
                </a:moveTo>
                <a:cubicBezTo>
                  <a:pt x="511629" y="899886"/>
                  <a:pt x="851237" y="1529671"/>
                  <a:pt x="1230490" y="1591765"/>
                </a:cubicBezTo>
                <a:cubicBezTo>
                  <a:pt x="1609743" y="1653859"/>
                  <a:pt x="1941600" y="370502"/>
                  <a:pt x="2275518" y="372565"/>
                </a:cubicBezTo>
                <a:cubicBezTo>
                  <a:pt x="2609436" y="374628"/>
                  <a:pt x="2807037" y="807068"/>
                  <a:pt x="3233999" y="160414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44815FE-AB8C-4730-955A-740A2720BBD9}"/>
                  </a:ext>
                </a:extLst>
              </p:cNvPr>
              <p:cNvSpPr txBox="1"/>
              <p:nvPr/>
            </p:nvSpPr>
            <p:spPr>
              <a:xfrm>
                <a:off x="6434971" y="6603806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0,−2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44815FE-AB8C-4730-955A-740A2720B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971" y="6603806"/>
                <a:ext cx="709633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E46FAB-AB41-48A0-897B-AF8281E0AA10}"/>
                  </a:ext>
                </a:extLst>
              </p:cNvPr>
              <p:cNvSpPr txBox="1"/>
              <p:nvPr/>
            </p:nvSpPr>
            <p:spPr>
              <a:xfrm>
                <a:off x="7042967" y="4545566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5,8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DE46FAB-AB41-48A0-897B-AF8281E0A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967" y="4545566"/>
                <a:ext cx="709633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66D7410-4494-408B-B23F-93394E5FFA23}"/>
              </a:ext>
            </a:extLst>
          </p:cNvPr>
          <p:cNvSpPr txBox="1"/>
          <p:nvPr/>
        </p:nvSpPr>
        <p:spPr>
          <a:xfrm>
            <a:off x="6977126" y="3975128"/>
            <a:ext cx="1821305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Start with the points you have coordinates of first!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80481D4-BDBD-421D-A087-18E566BF14E5}"/>
              </a:ext>
            </a:extLst>
          </p:cNvPr>
          <p:cNvSpPr/>
          <p:nvPr/>
        </p:nvSpPr>
        <p:spPr>
          <a:xfrm>
            <a:off x="5217441" y="3063062"/>
            <a:ext cx="3672877" cy="37424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1147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801E95-5B27-41A3-A998-C2FE3D79222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4336982-D3AE-4A32-9A64-F015BD6ECF6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Combining Transformations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79650D4-D321-44D8-8A82-3759027EA3D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1821FC-656F-44A3-A03F-A2200D82CBC3}"/>
              </a:ext>
            </a:extLst>
          </p:cNvPr>
          <p:cNvCxnSpPr>
            <a:cxnSpLocks/>
          </p:cNvCxnSpPr>
          <p:nvPr/>
        </p:nvCxnSpPr>
        <p:spPr>
          <a:xfrm>
            <a:off x="646259" y="2725249"/>
            <a:ext cx="2795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D1D010-6D8E-420B-868C-87C45344CE94}"/>
              </a:ext>
            </a:extLst>
          </p:cNvPr>
          <p:cNvCxnSpPr>
            <a:cxnSpLocks/>
          </p:cNvCxnSpPr>
          <p:nvPr/>
        </p:nvCxnSpPr>
        <p:spPr>
          <a:xfrm flipV="1">
            <a:off x="1445936" y="1276450"/>
            <a:ext cx="0" cy="216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0DD5EA-44A7-451D-BA4C-228BEBBCB269}"/>
                  </a:ext>
                </a:extLst>
              </p:cNvPr>
              <p:cNvSpPr txBox="1"/>
              <p:nvPr/>
            </p:nvSpPr>
            <p:spPr>
              <a:xfrm>
                <a:off x="3257926" y="251390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0DD5EA-44A7-451D-BA4C-228BEBBCB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926" y="2513902"/>
                <a:ext cx="57606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49EBBC-2B70-412D-8A7D-F8150DEEAB74}"/>
                  </a:ext>
                </a:extLst>
              </p:cNvPr>
              <p:cNvSpPr txBox="1"/>
              <p:nvPr/>
            </p:nvSpPr>
            <p:spPr>
              <a:xfrm>
                <a:off x="1147271" y="911164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49EBBC-2B70-412D-8A7D-F8150DEEA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271" y="911164"/>
                <a:ext cx="57606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693B64-CEB7-44F1-8978-FCEE54DD6D22}"/>
              </a:ext>
            </a:extLst>
          </p:cNvPr>
          <p:cNvSpPr/>
          <p:nvPr/>
        </p:nvSpPr>
        <p:spPr>
          <a:xfrm>
            <a:off x="829675" y="1653573"/>
            <a:ext cx="2743201" cy="1857829"/>
          </a:xfrm>
          <a:custGeom>
            <a:avLst/>
            <a:gdLst>
              <a:gd name="connsiteX0" fmla="*/ 0 w 3715658"/>
              <a:gd name="connsiteY0" fmla="*/ 0 h 2365829"/>
              <a:gd name="connsiteX1" fmla="*/ 1436915 w 3715658"/>
              <a:gd name="connsiteY1" fmla="*/ 1915886 h 2365829"/>
              <a:gd name="connsiteX2" fmla="*/ 2481943 w 3715658"/>
              <a:gd name="connsiteY2" fmla="*/ 696686 h 2365829"/>
              <a:gd name="connsiteX3" fmla="*/ 3715658 w 3715658"/>
              <a:gd name="connsiteY3" fmla="*/ 2365829 h 236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5658" h="2365829">
                <a:moveTo>
                  <a:pt x="0" y="0"/>
                </a:moveTo>
                <a:cubicBezTo>
                  <a:pt x="511629" y="899886"/>
                  <a:pt x="1023258" y="1799772"/>
                  <a:pt x="1436915" y="1915886"/>
                </a:cubicBezTo>
                <a:cubicBezTo>
                  <a:pt x="1850572" y="2032000"/>
                  <a:pt x="2102153" y="621696"/>
                  <a:pt x="2481943" y="696686"/>
                </a:cubicBezTo>
                <a:cubicBezTo>
                  <a:pt x="2861734" y="771677"/>
                  <a:pt x="3288696" y="1568753"/>
                  <a:pt x="3715658" y="236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5E2273-8BB6-4E21-9ED8-D898BEE4B720}"/>
                  </a:ext>
                </a:extLst>
              </p:cNvPr>
              <p:cNvSpPr txBox="1"/>
              <p:nvPr/>
            </p:nvSpPr>
            <p:spPr>
              <a:xfrm>
                <a:off x="1819028" y="3127393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2,−1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5E2273-8BB6-4E21-9ED8-D898BEE4B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028" y="3127393"/>
                <a:ext cx="709633" cy="2616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27C79C-D23F-4978-AB0C-4E187C61DE61}"/>
                  </a:ext>
                </a:extLst>
              </p:cNvPr>
              <p:cNvSpPr txBox="1"/>
              <p:nvPr/>
            </p:nvSpPr>
            <p:spPr>
              <a:xfrm>
                <a:off x="2546462" y="1939097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6,4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27C79C-D23F-4978-AB0C-4E187C61D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462" y="1939097"/>
                <a:ext cx="709633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8A697D-1D57-433B-ACFE-5C9537CDE6D8}"/>
                  </a:ext>
                </a:extLst>
              </p:cNvPr>
              <p:cNvSpPr txBox="1"/>
              <p:nvPr/>
            </p:nvSpPr>
            <p:spPr>
              <a:xfrm>
                <a:off x="1019316" y="2706356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8A697D-1D57-433B-ACFE-5C9537CDE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16" y="2706356"/>
                <a:ext cx="709633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8A4071-A056-4F0C-B69B-749FDD09ECAE}"/>
                  </a:ext>
                </a:extLst>
              </p:cNvPr>
              <p:cNvSpPr txBox="1"/>
              <p:nvPr/>
            </p:nvSpPr>
            <p:spPr>
              <a:xfrm>
                <a:off x="223619" y="1384545"/>
                <a:ext cx="87976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8A4071-A056-4F0C-B69B-749FDD09E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19" y="1384545"/>
                <a:ext cx="879765" cy="261610"/>
              </a:xfrm>
              <a:prstGeom prst="rect">
                <a:avLst/>
              </a:prstGeom>
              <a:blipFill>
                <a:blip r:embed="rId7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151B7C7E-79D8-4D31-BA11-6F8ABD59C78F}"/>
              </a:ext>
            </a:extLst>
          </p:cNvPr>
          <p:cNvSpPr/>
          <p:nvPr/>
        </p:nvSpPr>
        <p:spPr>
          <a:xfrm>
            <a:off x="1875189" y="3101974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31A5FA-D707-4044-85F0-B565CC618A93}"/>
              </a:ext>
            </a:extLst>
          </p:cNvPr>
          <p:cNvSpPr/>
          <p:nvPr/>
        </p:nvSpPr>
        <p:spPr>
          <a:xfrm>
            <a:off x="2589684" y="2154784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7C8D52-4D1C-4B7A-9DF8-C795224499A6}"/>
                  </a:ext>
                </a:extLst>
              </p:cNvPr>
              <p:cNvSpPr txBox="1"/>
              <p:nvPr/>
            </p:nvSpPr>
            <p:spPr>
              <a:xfrm>
                <a:off x="2239268" y="822264"/>
                <a:ext cx="28579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Here is a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Sketch the graph of:</a:t>
                </a:r>
              </a:p>
              <a:p>
                <a:r>
                  <a:rPr lang="en-GB" dirty="0"/>
                  <a:t>b)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br>
                  <a:rPr lang="en-GB" dirty="0"/>
                </a:br>
                <a:endParaRPr lang="en-GB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7C8D52-4D1C-4B7A-9DF8-C79522449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268" y="822264"/>
                <a:ext cx="2857996" cy="1200329"/>
              </a:xfrm>
              <a:prstGeom prst="rect">
                <a:avLst/>
              </a:prstGeom>
              <a:blipFill>
                <a:blip r:embed="rId8"/>
                <a:stretch>
                  <a:fillRect l="-1706" t="-3046" r="-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5AB162-CF5B-4F46-A2ED-A30B38ACCA73}"/>
              </a:ext>
            </a:extLst>
          </p:cNvPr>
          <p:cNvCxnSpPr>
            <a:cxnSpLocks/>
          </p:cNvCxnSpPr>
          <p:nvPr/>
        </p:nvCxnSpPr>
        <p:spPr>
          <a:xfrm>
            <a:off x="5657069" y="3506209"/>
            <a:ext cx="2795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8A98F0-B6BF-44DD-B848-BF2C478DF6B5}"/>
              </a:ext>
            </a:extLst>
          </p:cNvPr>
          <p:cNvCxnSpPr>
            <a:cxnSpLocks/>
          </p:cNvCxnSpPr>
          <p:nvPr/>
        </p:nvCxnSpPr>
        <p:spPr>
          <a:xfrm flipV="1">
            <a:off x="6456746" y="2057410"/>
            <a:ext cx="0" cy="216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F8ED0-362B-4C9E-A2DC-0DB46980B527}"/>
                  </a:ext>
                </a:extLst>
              </p:cNvPr>
              <p:cNvSpPr txBox="1"/>
              <p:nvPr/>
            </p:nvSpPr>
            <p:spPr>
              <a:xfrm>
                <a:off x="8268736" y="3294862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FF8ED0-362B-4C9E-A2DC-0DB46980B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736" y="3294862"/>
                <a:ext cx="5760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821DCD-0215-40D7-B142-F12BD2ADC6F8}"/>
                  </a:ext>
                </a:extLst>
              </p:cNvPr>
              <p:cNvSpPr txBox="1"/>
              <p:nvPr/>
            </p:nvSpPr>
            <p:spPr>
              <a:xfrm>
                <a:off x="6158081" y="1692124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821DCD-0215-40D7-B142-F12BD2ADC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081" y="1692124"/>
                <a:ext cx="576064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D91335-6A57-40EE-9A8C-A0C2A8697D76}"/>
                  </a:ext>
                </a:extLst>
              </p:cNvPr>
              <p:cNvSpPr txBox="1"/>
              <p:nvPr/>
            </p:nvSpPr>
            <p:spPr>
              <a:xfrm>
                <a:off x="6030126" y="3487316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D91335-6A57-40EE-9A8C-A0C2A8697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126" y="3487316"/>
                <a:ext cx="709633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333DDE-A21C-4569-AD9E-46D97CA9AB8F}"/>
                  </a:ext>
                </a:extLst>
              </p:cNvPr>
              <p:cNvSpPr txBox="1"/>
              <p:nvPr/>
            </p:nvSpPr>
            <p:spPr>
              <a:xfrm>
                <a:off x="7384863" y="2371720"/>
                <a:ext cx="87976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6333DDE-A21C-4569-AD9E-46D97CA9A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863" y="2371720"/>
                <a:ext cx="879765" cy="261610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A7CF83F-F3AE-4425-9381-AF223A167842}"/>
                  </a:ext>
                </a:extLst>
              </p:cNvPr>
              <p:cNvSpPr/>
              <p:nvPr/>
            </p:nvSpPr>
            <p:spPr>
              <a:xfrm>
                <a:off x="5840390" y="1028489"/>
                <a:ext cx="297884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Halve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values.</a:t>
                </a:r>
                <a:br>
                  <a:rPr lang="en-GB" b="1" dirty="0"/>
                </a:b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values negated.</a:t>
                </a:r>
                <a:endParaRPr lang="en-GB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A7CF83F-F3AE-4425-9381-AF223A1678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390" y="1028489"/>
                <a:ext cx="2978844" cy="646331"/>
              </a:xfrm>
              <a:prstGeom prst="rect">
                <a:avLst/>
              </a:prstGeom>
              <a:blipFill>
                <a:blip r:embed="rId13"/>
                <a:stretch>
                  <a:fillRect l="-1636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BE766A-CC92-411C-908B-5494F722C9FC}"/>
                  </a:ext>
                </a:extLst>
              </p:cNvPr>
              <p:cNvSpPr txBox="1"/>
              <p:nvPr/>
            </p:nvSpPr>
            <p:spPr>
              <a:xfrm>
                <a:off x="6509133" y="2704224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BE766A-CC92-411C-908B-5494F722C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133" y="2704224"/>
                <a:ext cx="709633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F661DF-A132-4291-957A-4D1D202B011A}"/>
                  </a:ext>
                </a:extLst>
              </p:cNvPr>
              <p:cNvSpPr txBox="1"/>
              <p:nvPr/>
            </p:nvSpPr>
            <p:spPr>
              <a:xfrm>
                <a:off x="6945221" y="3928794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3,−4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F661DF-A132-4291-957A-4D1D202B0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21" y="3928794"/>
                <a:ext cx="709633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D700E6F-92A8-491C-834C-EEE62A08CAA4}"/>
              </a:ext>
            </a:extLst>
          </p:cNvPr>
          <p:cNvSpPr/>
          <p:nvPr/>
        </p:nvSpPr>
        <p:spPr>
          <a:xfrm flipV="1">
            <a:off x="6196210" y="2642776"/>
            <a:ext cx="1368000" cy="1857829"/>
          </a:xfrm>
          <a:custGeom>
            <a:avLst/>
            <a:gdLst>
              <a:gd name="connsiteX0" fmla="*/ 0 w 3715658"/>
              <a:gd name="connsiteY0" fmla="*/ 0 h 2365829"/>
              <a:gd name="connsiteX1" fmla="*/ 1436915 w 3715658"/>
              <a:gd name="connsiteY1" fmla="*/ 1915886 h 2365829"/>
              <a:gd name="connsiteX2" fmla="*/ 2481943 w 3715658"/>
              <a:gd name="connsiteY2" fmla="*/ 696686 h 2365829"/>
              <a:gd name="connsiteX3" fmla="*/ 3715658 w 3715658"/>
              <a:gd name="connsiteY3" fmla="*/ 2365829 h 236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5658" h="2365829">
                <a:moveTo>
                  <a:pt x="0" y="0"/>
                </a:moveTo>
                <a:cubicBezTo>
                  <a:pt x="511629" y="899886"/>
                  <a:pt x="1023258" y="1799772"/>
                  <a:pt x="1436915" y="1915886"/>
                </a:cubicBezTo>
                <a:cubicBezTo>
                  <a:pt x="1850572" y="2032000"/>
                  <a:pt x="2102153" y="621696"/>
                  <a:pt x="2481943" y="696686"/>
                </a:cubicBezTo>
                <a:cubicBezTo>
                  <a:pt x="2861734" y="771677"/>
                  <a:pt x="3288696" y="1568753"/>
                  <a:pt x="3715658" y="236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F94347-C9B8-44B5-BC21-5B142B61E746}"/>
              </a:ext>
            </a:extLst>
          </p:cNvPr>
          <p:cNvSpPr/>
          <p:nvPr/>
        </p:nvSpPr>
        <p:spPr>
          <a:xfrm>
            <a:off x="7044657" y="3875011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EB22A97-9776-48EB-B4D3-3C0EF15FB60C}"/>
              </a:ext>
            </a:extLst>
          </p:cNvPr>
          <p:cNvSpPr/>
          <p:nvPr/>
        </p:nvSpPr>
        <p:spPr>
          <a:xfrm>
            <a:off x="6675563" y="2950592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B8D4C5-BA7C-4DFA-9B12-21E0AEF85089}"/>
              </a:ext>
            </a:extLst>
          </p:cNvPr>
          <p:cNvSpPr/>
          <p:nvPr/>
        </p:nvSpPr>
        <p:spPr>
          <a:xfrm>
            <a:off x="5463599" y="911164"/>
            <a:ext cx="3212858" cy="35338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CA62514-0698-477A-90A7-DB9047E3E614}"/>
                  </a:ext>
                </a:extLst>
              </p:cNvPr>
              <p:cNvSpPr txBox="1"/>
              <p:nvPr/>
            </p:nvSpPr>
            <p:spPr>
              <a:xfrm>
                <a:off x="493015" y="3811282"/>
                <a:ext cx="1746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c)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CA62514-0698-477A-90A7-DB9047E3E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15" y="3811282"/>
                <a:ext cx="1746253" cy="369332"/>
              </a:xfrm>
              <a:prstGeom prst="rect">
                <a:avLst/>
              </a:prstGeom>
              <a:blipFill>
                <a:blip r:embed="rId16"/>
                <a:stretch>
                  <a:fillRect l="-314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DC8CFE-64B8-4A6F-A761-0881F79B975E}"/>
              </a:ext>
            </a:extLst>
          </p:cNvPr>
          <p:cNvCxnSpPr>
            <a:cxnSpLocks/>
          </p:cNvCxnSpPr>
          <p:nvPr/>
        </p:nvCxnSpPr>
        <p:spPr>
          <a:xfrm>
            <a:off x="654242" y="6021808"/>
            <a:ext cx="2795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F18DCD-6F25-4143-B5F1-910AEF2C7953}"/>
              </a:ext>
            </a:extLst>
          </p:cNvPr>
          <p:cNvCxnSpPr>
            <a:cxnSpLocks/>
          </p:cNvCxnSpPr>
          <p:nvPr/>
        </p:nvCxnSpPr>
        <p:spPr>
          <a:xfrm flipV="1">
            <a:off x="2985228" y="4633925"/>
            <a:ext cx="0" cy="216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4BB594-1E28-4FE8-8397-200E3C4A3608}"/>
                  </a:ext>
                </a:extLst>
              </p:cNvPr>
              <p:cNvSpPr txBox="1"/>
              <p:nvPr/>
            </p:nvSpPr>
            <p:spPr>
              <a:xfrm>
                <a:off x="3265909" y="5789195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4BB594-1E28-4FE8-8397-200E3C4A3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909" y="5789195"/>
                <a:ext cx="576064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EBF096F-1C88-4FBD-AC52-98B54BBAC1C8}"/>
                  </a:ext>
                </a:extLst>
              </p:cNvPr>
              <p:cNvSpPr txBox="1"/>
              <p:nvPr/>
            </p:nvSpPr>
            <p:spPr>
              <a:xfrm>
                <a:off x="2731235" y="4296623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EBF096F-1C88-4FBD-AC52-98B54BBAC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235" y="4296623"/>
                <a:ext cx="576064" cy="369332"/>
              </a:xfrm>
              <a:prstGeom prst="rect">
                <a:avLst/>
              </a:prstGeom>
              <a:blipFill>
                <a:blip r:embed="rId1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98C1D4F-0E42-4CCF-9E55-7A0076B1E659}"/>
                  </a:ext>
                </a:extLst>
              </p:cNvPr>
              <p:cNvSpPr txBox="1"/>
              <p:nvPr/>
            </p:nvSpPr>
            <p:spPr>
              <a:xfrm>
                <a:off x="2264437" y="5383187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−2,1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98C1D4F-0E42-4CCF-9E55-7A0076B1E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437" y="5383187"/>
                <a:ext cx="709633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A2B16A7-E803-41B0-9CF9-47C359DB1995}"/>
                  </a:ext>
                </a:extLst>
              </p:cNvPr>
              <p:cNvSpPr txBox="1"/>
              <p:nvPr/>
            </p:nvSpPr>
            <p:spPr>
              <a:xfrm>
                <a:off x="1230806" y="5095076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−6,4</m:t>
                          </m:r>
                        </m:e>
                      </m:d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A2B16A7-E803-41B0-9CF9-47C359DB1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806" y="5095076"/>
                <a:ext cx="709633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09F79B-AA4C-439C-B8D8-E4DBA694ECCC}"/>
                  </a:ext>
                </a:extLst>
              </p:cNvPr>
              <p:cNvSpPr txBox="1"/>
              <p:nvPr/>
            </p:nvSpPr>
            <p:spPr>
              <a:xfrm>
                <a:off x="825280" y="6002915"/>
                <a:ext cx="70963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E09F79B-AA4C-439C-B8D8-E4DBA694E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80" y="6002915"/>
                <a:ext cx="709633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DFF679C-28E2-410D-82EB-1DD9CC7D0EEB}"/>
                  </a:ext>
                </a:extLst>
              </p:cNvPr>
              <p:cNvSpPr txBox="1"/>
              <p:nvPr/>
            </p:nvSpPr>
            <p:spPr>
              <a:xfrm>
                <a:off x="3222725" y="5377790"/>
                <a:ext cx="87976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DFF679C-28E2-410D-82EB-1DD9CC7D0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725" y="5377790"/>
                <a:ext cx="879765" cy="261610"/>
              </a:xfrm>
              <a:prstGeom prst="rect">
                <a:avLst/>
              </a:prstGeom>
              <a:blipFill>
                <a:blip r:embed="rId7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095BCD4-6129-4652-91CB-8C3E0CF50492}"/>
              </a:ext>
            </a:extLst>
          </p:cNvPr>
          <p:cNvSpPr/>
          <p:nvPr/>
        </p:nvSpPr>
        <p:spPr>
          <a:xfrm flipH="1">
            <a:off x="956523" y="4809259"/>
            <a:ext cx="2743201" cy="1857829"/>
          </a:xfrm>
          <a:custGeom>
            <a:avLst/>
            <a:gdLst>
              <a:gd name="connsiteX0" fmla="*/ 0 w 3715658"/>
              <a:gd name="connsiteY0" fmla="*/ 0 h 2365829"/>
              <a:gd name="connsiteX1" fmla="*/ 1436915 w 3715658"/>
              <a:gd name="connsiteY1" fmla="*/ 1915886 h 2365829"/>
              <a:gd name="connsiteX2" fmla="*/ 2481943 w 3715658"/>
              <a:gd name="connsiteY2" fmla="*/ 696686 h 2365829"/>
              <a:gd name="connsiteX3" fmla="*/ 3715658 w 3715658"/>
              <a:gd name="connsiteY3" fmla="*/ 2365829 h 236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5658" h="2365829">
                <a:moveTo>
                  <a:pt x="0" y="0"/>
                </a:moveTo>
                <a:cubicBezTo>
                  <a:pt x="511629" y="899886"/>
                  <a:pt x="1023258" y="1799772"/>
                  <a:pt x="1436915" y="1915886"/>
                </a:cubicBezTo>
                <a:cubicBezTo>
                  <a:pt x="1850572" y="2032000"/>
                  <a:pt x="2102153" y="621696"/>
                  <a:pt x="2481943" y="696686"/>
                </a:cubicBezTo>
                <a:cubicBezTo>
                  <a:pt x="2861734" y="771677"/>
                  <a:pt x="3288696" y="1568753"/>
                  <a:pt x="3715658" y="236582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4D3A75-F0C9-414B-BFC4-34E42A60AA21}"/>
              </a:ext>
            </a:extLst>
          </p:cNvPr>
          <p:cNvSpPr/>
          <p:nvPr/>
        </p:nvSpPr>
        <p:spPr>
          <a:xfrm>
            <a:off x="833438" y="6031140"/>
            <a:ext cx="2142218" cy="804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CEF15525-5694-47ED-9BDA-02D9B3B175CC}"/>
              </a:ext>
            </a:extLst>
          </p:cNvPr>
          <p:cNvSpPr/>
          <p:nvPr/>
        </p:nvSpPr>
        <p:spPr>
          <a:xfrm>
            <a:off x="2316843" y="5666011"/>
            <a:ext cx="660400" cy="355604"/>
          </a:xfrm>
          <a:custGeom>
            <a:avLst/>
            <a:gdLst>
              <a:gd name="connsiteX0" fmla="*/ 0 w 660400"/>
              <a:gd name="connsiteY0" fmla="*/ 349254 h 355604"/>
              <a:gd name="connsiteX1" fmla="*/ 304800 w 660400"/>
              <a:gd name="connsiteY1" fmla="*/ 4 h 355604"/>
              <a:gd name="connsiteX2" fmla="*/ 660400 w 660400"/>
              <a:gd name="connsiteY2" fmla="*/ 355604 h 355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0400" h="355604">
                <a:moveTo>
                  <a:pt x="0" y="349254"/>
                </a:moveTo>
                <a:cubicBezTo>
                  <a:pt x="97366" y="174100"/>
                  <a:pt x="194733" y="-1054"/>
                  <a:pt x="304800" y="4"/>
                </a:cubicBezTo>
                <a:cubicBezTo>
                  <a:pt x="414867" y="1062"/>
                  <a:pt x="537633" y="178333"/>
                  <a:pt x="660400" y="35560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ED1E89C-9EB0-477C-AD52-016B43A569BE}"/>
              </a:ext>
            </a:extLst>
          </p:cNvPr>
          <p:cNvSpPr/>
          <p:nvPr/>
        </p:nvSpPr>
        <p:spPr>
          <a:xfrm>
            <a:off x="2568883" y="5617483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158FE4D-46C9-4C3E-B51E-9D5DFC19DD3D}"/>
              </a:ext>
            </a:extLst>
          </p:cNvPr>
          <p:cNvSpPr/>
          <p:nvPr/>
        </p:nvSpPr>
        <p:spPr>
          <a:xfrm>
            <a:off x="1816623" y="5300931"/>
            <a:ext cx="102835" cy="939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AB8B4E3-C8FF-4942-8340-C32D3DF8EB05}"/>
                  </a:ext>
                </a:extLst>
              </p:cNvPr>
              <p:cNvSpPr txBox="1"/>
              <p:nvPr/>
            </p:nvSpPr>
            <p:spPr>
              <a:xfrm>
                <a:off x="3861137" y="5610203"/>
                <a:ext cx="23709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values negated.</a:t>
                </a:r>
              </a:p>
              <a:p>
                <a:r>
                  <a:rPr lang="en-GB" b="1" dirty="0"/>
                  <a:t>Negative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flipped up.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AB8B4E3-C8FF-4942-8340-C32D3DF8E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137" y="5610203"/>
                <a:ext cx="2370978" cy="646331"/>
              </a:xfrm>
              <a:prstGeom prst="rect">
                <a:avLst/>
              </a:prstGeom>
              <a:blipFill>
                <a:blip r:embed="rId21"/>
                <a:stretch>
                  <a:fillRect l="-2057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20"/>
          <p:cNvSpPr/>
          <p:nvPr/>
        </p:nvSpPr>
        <p:spPr>
          <a:xfrm>
            <a:off x="781050" y="5233988"/>
            <a:ext cx="523875" cy="781050"/>
          </a:xfrm>
          <a:custGeom>
            <a:avLst/>
            <a:gdLst>
              <a:gd name="connsiteX0" fmla="*/ 523875 w 523875"/>
              <a:gd name="connsiteY0" fmla="*/ 781050 h 781050"/>
              <a:gd name="connsiteX1" fmla="*/ 252413 w 523875"/>
              <a:gd name="connsiteY1" fmla="*/ 476250 h 781050"/>
              <a:gd name="connsiteX2" fmla="*/ 0 w 523875"/>
              <a:gd name="connsiteY2" fmla="*/ 0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3875" h="781050">
                <a:moveTo>
                  <a:pt x="523875" y="781050"/>
                </a:moveTo>
                <a:cubicBezTo>
                  <a:pt x="431800" y="693737"/>
                  <a:pt x="339725" y="606425"/>
                  <a:pt x="252413" y="476250"/>
                </a:cubicBezTo>
                <a:cubicBezTo>
                  <a:pt x="165100" y="346075"/>
                  <a:pt x="82550" y="173037"/>
                  <a:pt x="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572A84-473A-4FC8-8100-E014C369E431}"/>
              </a:ext>
            </a:extLst>
          </p:cNvPr>
          <p:cNvSpPr/>
          <p:nvPr/>
        </p:nvSpPr>
        <p:spPr>
          <a:xfrm>
            <a:off x="358369" y="4445001"/>
            <a:ext cx="5754799" cy="24169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352429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33" grpId="0" animBg="1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69E850-741A-4B50-BF8E-B169E2C2CF1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C41D035-98A2-423F-9653-16548D2CB97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46DBDE0-5BC5-4451-BB31-6D5754619A0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775A9EA-8533-455F-AC62-E2B8F961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44" y="1096939"/>
            <a:ext cx="5358184" cy="36697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43C0ED-6102-4C55-BAB2-F3696CBB9CB7}"/>
              </a:ext>
            </a:extLst>
          </p:cNvPr>
          <p:cNvSpPr txBox="1"/>
          <p:nvPr/>
        </p:nvSpPr>
        <p:spPr>
          <a:xfrm>
            <a:off x="365944" y="733985"/>
            <a:ext cx="204581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2011 Q3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3E226C-E5FB-44A1-ABB1-D88CF82FD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69160"/>
            <a:ext cx="4449312" cy="1762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CBFCDA-8B9E-4F53-B4BA-6818911C7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4821172"/>
            <a:ext cx="4648200" cy="18107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F636650-D419-4737-9777-B260726D515B}"/>
              </a:ext>
            </a:extLst>
          </p:cNvPr>
          <p:cNvSpPr/>
          <p:nvPr/>
        </p:nvSpPr>
        <p:spPr>
          <a:xfrm>
            <a:off x="4774073" y="4804229"/>
            <a:ext cx="4340898" cy="18953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10AD1-0033-4091-9C86-82751575B02B}"/>
              </a:ext>
            </a:extLst>
          </p:cNvPr>
          <p:cNvSpPr/>
          <p:nvPr/>
        </p:nvSpPr>
        <p:spPr>
          <a:xfrm>
            <a:off x="225189" y="4822975"/>
            <a:ext cx="4259725" cy="18953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</p:spTree>
    <p:extLst>
      <p:ext uri="{BB962C8B-B14F-4D97-AF65-F5344CB8AC3E}">
        <p14:creationId xmlns:p14="http://schemas.microsoft.com/office/powerpoint/2010/main" val="266114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A1AD9D-69E8-4D8B-BE50-4835B244ED9A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EBE2755D-774C-46EF-A1E8-36F88DD9B54F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>
                      <a:latin typeface="+mj-lt"/>
                    </a:rPr>
                    <a:t>What if two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3200" dirty="0"/>
                    <a:t> changes or two </a:t>
                  </a:r>
                  <a14:m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GB" sz="3200" dirty="0"/>
                    <a:t> changes?</a:t>
                  </a:r>
                </a:p>
              </p:txBody>
            </p:sp>
          </mc:Choice>
          <mc:Fallback xmlns="">
            <p:sp>
              <p:nvSpPr>
                <p:cNvPr id="3" name="TextBox 32">
                  <a:extLst>
                    <a:ext uri="{FF2B5EF4-FFF2-40B4-BE49-F238E27FC236}">
                      <a16:creationId xmlns:a16="http://schemas.microsoft.com/office/drawing/2014/main" id="{EBE2755D-774C-46EF-A1E8-36F88DD9B5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blipFill>
                  <a:blip r:embed="rId2"/>
                  <a:stretch>
                    <a:fillRect t="-12500" b="-343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891FB6-22C5-4C95-90CA-342F09C75AD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B44954-6B8B-423F-AE29-790C01DC73E9}"/>
                  </a:ext>
                </a:extLst>
              </p:cNvPr>
              <p:cNvSpPr txBox="1"/>
              <p:nvPr/>
            </p:nvSpPr>
            <p:spPr>
              <a:xfrm>
                <a:off x="407797" y="1024271"/>
                <a:ext cx="33078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B44954-6B8B-423F-AE29-790C01DC7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97" y="1024271"/>
                <a:ext cx="330786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361BB2-C000-4818-8F6C-AC313D85BCDE}"/>
                  </a:ext>
                </a:extLst>
              </p:cNvPr>
              <p:cNvSpPr txBox="1"/>
              <p:nvPr/>
            </p:nvSpPr>
            <p:spPr>
              <a:xfrm>
                <a:off x="319877" y="1735470"/>
                <a:ext cx="357445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 values are multiplied by 2, and </a:t>
                </a:r>
                <a:r>
                  <a:rPr lang="en-GB" sz="2000" u="sng" dirty="0"/>
                  <a:t>then</a:t>
                </a:r>
                <a:r>
                  <a:rPr lang="en-GB" sz="2000" dirty="0"/>
                  <a:t> 1 is added.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361BB2-C000-4818-8F6C-AC313D85B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77" y="1735470"/>
                <a:ext cx="3574459" cy="707886"/>
              </a:xfrm>
              <a:prstGeom prst="rect">
                <a:avLst/>
              </a:prstGeom>
              <a:blipFill>
                <a:blip r:embed="rId4"/>
                <a:stretch>
                  <a:fillRect l="-1704" t="-5172" r="-2215" b="-146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9CE778-2BC7-4618-97D6-B1323D93D66C}"/>
                  </a:ext>
                </a:extLst>
              </p:cNvPr>
              <p:cNvSpPr txBox="1"/>
              <p:nvPr/>
            </p:nvSpPr>
            <p:spPr>
              <a:xfrm>
                <a:off x="422311" y="2577728"/>
                <a:ext cx="33078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9CE778-2BC7-4618-97D6-B1323D93D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11" y="2577728"/>
                <a:ext cx="330786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61FA1B-CD46-40C6-9FB9-58B7A0180144}"/>
                  </a:ext>
                </a:extLst>
              </p:cNvPr>
              <p:cNvSpPr txBox="1"/>
              <p:nvPr/>
            </p:nvSpPr>
            <p:spPr>
              <a:xfrm>
                <a:off x="351588" y="3314837"/>
                <a:ext cx="4119375" cy="355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You will </a:t>
                </a:r>
                <a:r>
                  <a:rPr lang="en-GB" sz="2000" u="sng" dirty="0"/>
                  <a:t>not</a:t>
                </a:r>
                <a:r>
                  <a:rPr lang="en-GB" sz="2000" dirty="0"/>
                  <a:t> get multiple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transformations in your exam, but theoretically…</a:t>
                </a:r>
              </a:p>
              <a:p>
                <a:endParaRPr lang="en-GB" sz="2400" dirty="0"/>
              </a:p>
              <a:p>
                <a:r>
                  <a:rPr lang="en-GB" dirty="0"/>
                  <a:t>The easiest way is the think of the </a:t>
                </a:r>
                <a:r>
                  <a:rPr lang="en-GB" b="1" dirty="0"/>
                  <a:t>inverse function </a:t>
                </a:r>
                <a:r>
                  <a:rPr lang="en-GB" dirty="0"/>
                  <a:t>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, i.e.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This gives us the changes to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values, and in the correct order! In this case, we would -1 from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values (translation 1 left) and then halve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values (stretch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of scale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61FA1B-CD46-40C6-9FB9-58B7A0180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88" y="3314837"/>
                <a:ext cx="4119375" cy="3552254"/>
              </a:xfrm>
              <a:prstGeom prst="rect">
                <a:avLst/>
              </a:prstGeom>
              <a:blipFill>
                <a:blip r:embed="rId6"/>
                <a:stretch>
                  <a:fillRect l="-1630" t="-1031" r="-1185" b="-3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99E386-A9E7-4C93-97EC-4BF53BD53D72}"/>
                  </a:ext>
                </a:extLst>
              </p:cNvPr>
              <p:cNvSpPr txBox="1"/>
              <p:nvPr/>
            </p:nvSpPr>
            <p:spPr>
              <a:xfrm>
                <a:off x="5004048" y="1124744"/>
                <a:ext cx="3744416" cy="2027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Sketch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1−2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2400" b="0" dirty="0"/>
              </a:p>
              <a:p>
                <a:endParaRPr lang="en-GB" sz="2400" dirty="0"/>
              </a:p>
              <a:p>
                <a:r>
                  <a:rPr lang="en-GB" b="1" dirty="0"/>
                  <a:t>Inverse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b="1" dirty="0"/>
              </a:p>
              <a:p>
                <a:r>
                  <a:rPr lang="en-GB" b="1" dirty="0"/>
                  <a:t>So multiply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values by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b="1" dirty="0"/>
                  <a:t> and then add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99E386-A9E7-4C93-97EC-4BF53BD53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1124744"/>
                <a:ext cx="3744416" cy="2027286"/>
              </a:xfrm>
              <a:prstGeom prst="rect">
                <a:avLst/>
              </a:prstGeom>
              <a:blipFill>
                <a:blip r:embed="rId7"/>
                <a:stretch>
                  <a:fillRect l="-2606" t="-2410" b="-1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FED4D7-6872-489B-B62B-A42DAE8D8944}"/>
              </a:ext>
            </a:extLst>
          </p:cNvPr>
          <p:cNvCxnSpPr>
            <a:cxnSpLocks/>
          </p:cNvCxnSpPr>
          <p:nvPr/>
        </p:nvCxnSpPr>
        <p:spPr>
          <a:xfrm>
            <a:off x="5261802" y="5279764"/>
            <a:ext cx="27953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3DED2C-DE16-4EF5-BE4D-9FB4E50C136B}"/>
              </a:ext>
            </a:extLst>
          </p:cNvPr>
          <p:cNvCxnSpPr>
            <a:cxnSpLocks/>
          </p:cNvCxnSpPr>
          <p:nvPr/>
        </p:nvCxnSpPr>
        <p:spPr>
          <a:xfrm flipV="1">
            <a:off x="6061479" y="3830965"/>
            <a:ext cx="0" cy="216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2BFA-2E25-4593-96DA-F874AD29F853}"/>
                  </a:ext>
                </a:extLst>
              </p:cNvPr>
              <p:cNvSpPr txBox="1"/>
              <p:nvPr/>
            </p:nvSpPr>
            <p:spPr>
              <a:xfrm>
                <a:off x="7873469" y="5068417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6C2BFA-2E25-4593-96DA-F874AD29F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469" y="5068417"/>
                <a:ext cx="5760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7F70CC-0A7D-4848-9FCB-8CF162AB52AA}"/>
                  </a:ext>
                </a:extLst>
              </p:cNvPr>
              <p:cNvSpPr txBox="1"/>
              <p:nvPr/>
            </p:nvSpPr>
            <p:spPr>
              <a:xfrm>
                <a:off x="5762814" y="3465679"/>
                <a:ext cx="576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7F70CC-0A7D-4848-9FCB-8CF162AB5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814" y="3465679"/>
                <a:ext cx="576064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701BE9-F93B-4386-A54D-5EA5F2B0BAA9}"/>
              </a:ext>
            </a:extLst>
          </p:cNvPr>
          <p:cNvCxnSpPr/>
          <p:nvPr/>
        </p:nvCxnSpPr>
        <p:spPr>
          <a:xfrm>
            <a:off x="6444208" y="3830965"/>
            <a:ext cx="0" cy="216024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122664-59B2-452A-837E-B1B98011DC04}"/>
                  </a:ext>
                </a:extLst>
              </p:cNvPr>
              <p:cNvSpPr txBox="1"/>
              <p:nvPr/>
            </p:nvSpPr>
            <p:spPr>
              <a:xfrm>
                <a:off x="6289829" y="3720813"/>
                <a:ext cx="864096" cy="4380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122664-59B2-452A-837E-B1B98011D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829" y="3720813"/>
                <a:ext cx="864096" cy="438005"/>
              </a:xfrm>
              <a:prstGeom prst="rect">
                <a:avLst/>
              </a:prstGeom>
              <a:blipFill>
                <a:blip r:embed="rId1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F84B03-52D9-4994-9446-F39F48642DCA}"/>
              </a:ext>
            </a:extLst>
          </p:cNvPr>
          <p:cNvSpPr/>
          <p:nvPr/>
        </p:nvSpPr>
        <p:spPr>
          <a:xfrm>
            <a:off x="5201392" y="4773881"/>
            <a:ext cx="1211283" cy="1330036"/>
          </a:xfrm>
          <a:custGeom>
            <a:avLst/>
            <a:gdLst>
              <a:gd name="connsiteX0" fmla="*/ 1211283 w 1211283"/>
              <a:gd name="connsiteY0" fmla="*/ 1330036 h 1330036"/>
              <a:gd name="connsiteX1" fmla="*/ 1151907 w 1211283"/>
              <a:gd name="connsiteY1" fmla="*/ 878774 h 1330036"/>
              <a:gd name="connsiteX2" fmla="*/ 855024 w 1211283"/>
              <a:gd name="connsiteY2" fmla="*/ 510638 h 1330036"/>
              <a:gd name="connsiteX3" fmla="*/ 439387 w 1211283"/>
              <a:gd name="connsiteY3" fmla="*/ 166254 h 1330036"/>
              <a:gd name="connsiteX4" fmla="*/ 0 w 1211283"/>
              <a:gd name="connsiteY4" fmla="*/ 0 h 1330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1283" h="1330036">
                <a:moveTo>
                  <a:pt x="1211283" y="1330036"/>
                </a:moveTo>
                <a:cubicBezTo>
                  <a:pt x="1211283" y="1172688"/>
                  <a:pt x="1211283" y="1015340"/>
                  <a:pt x="1151907" y="878774"/>
                </a:cubicBezTo>
                <a:cubicBezTo>
                  <a:pt x="1092531" y="742208"/>
                  <a:pt x="973777" y="629391"/>
                  <a:pt x="855024" y="510638"/>
                </a:cubicBezTo>
                <a:cubicBezTo>
                  <a:pt x="736271" y="391885"/>
                  <a:pt x="581891" y="251360"/>
                  <a:pt x="439387" y="166254"/>
                </a:cubicBezTo>
                <a:cubicBezTo>
                  <a:pt x="296883" y="81148"/>
                  <a:pt x="148441" y="40574"/>
                  <a:pt x="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07F495-5CBB-419A-8048-FD94CCEBEBEB}"/>
                  </a:ext>
                </a:extLst>
              </p:cNvPr>
              <p:cNvSpPr txBox="1"/>
              <p:nvPr/>
            </p:nvSpPr>
            <p:spPr>
              <a:xfrm>
                <a:off x="7230998" y="3300463"/>
                <a:ext cx="1828493" cy="1526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Original asymptote was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sz="1400" b="1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×−</m:t>
                          </m:r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So new asymptote is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07F495-5CBB-419A-8048-FD94CCEBE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998" y="3300463"/>
                <a:ext cx="1828493" cy="1526893"/>
              </a:xfrm>
              <a:prstGeom prst="rect">
                <a:avLst/>
              </a:prstGeom>
              <a:blipFill>
                <a:blip r:embed="rId11"/>
                <a:stretch>
                  <a:fillRect l="-1000" t="-3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3E1099C0-2E4D-4E76-AFAF-7C3A49E25F45}"/>
              </a:ext>
            </a:extLst>
          </p:cNvPr>
          <p:cNvSpPr/>
          <p:nvPr/>
        </p:nvSpPr>
        <p:spPr>
          <a:xfrm>
            <a:off x="323748" y="1701791"/>
            <a:ext cx="3570588" cy="785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8817F9-5426-42C0-B3E2-A6A6F66A83D7}"/>
              </a:ext>
            </a:extLst>
          </p:cNvPr>
          <p:cNvSpPr/>
          <p:nvPr/>
        </p:nvSpPr>
        <p:spPr>
          <a:xfrm>
            <a:off x="452174" y="4440423"/>
            <a:ext cx="4079201" cy="233949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A66566-F402-45C3-9E9B-F4CDF13C8D13}"/>
              </a:ext>
            </a:extLst>
          </p:cNvPr>
          <p:cNvSpPr/>
          <p:nvPr/>
        </p:nvSpPr>
        <p:spPr>
          <a:xfrm>
            <a:off x="4836655" y="1819323"/>
            <a:ext cx="4127833" cy="42845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CED297-871F-461F-83A4-28E6C96BA2C0}"/>
              </a:ext>
            </a:extLst>
          </p:cNvPr>
          <p:cNvCxnSpPr/>
          <p:nvPr/>
        </p:nvCxnSpPr>
        <p:spPr>
          <a:xfrm>
            <a:off x="4627105" y="967121"/>
            <a:ext cx="0" cy="55010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42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2.6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12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69E3137-6E42-F617-A5CD-573B21050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12" y="974179"/>
            <a:ext cx="764857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7916600-86D0-AF9B-09E6-4523CDBB0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8" y="775295"/>
            <a:ext cx="7943850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24161D5-D8E7-21B6-0122-2AC0BBDF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0728"/>
            <a:ext cx="74390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C2E6376-95F0-C70E-E922-6F6B5F041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69" y="620688"/>
            <a:ext cx="8012262" cy="622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ADD06D9-DC69-BAD0-87D8-6D8D316D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724619"/>
            <a:ext cx="4319796" cy="613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441</Words>
  <Application>Microsoft Office PowerPoint</Application>
  <PresentationFormat>On-screen Show (4:3)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P2 Chapter 2: Graphing Functions  Combining Transformations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