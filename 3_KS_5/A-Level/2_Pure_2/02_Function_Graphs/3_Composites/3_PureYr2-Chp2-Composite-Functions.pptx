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540" r:id="rId6"/>
    <p:sldId id="542" r:id="rId7"/>
    <p:sldId id="541" r:id="rId8"/>
    <p:sldId id="544" r:id="rId9"/>
    <p:sldId id="549" r:id="rId10"/>
    <p:sldId id="543" r:id="rId11"/>
    <p:sldId id="550" r:id="rId12"/>
    <p:sldId id="551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52F8FC4C-D1CC-42DE-86C5-224EDED7D8D2}"/>
    <pc:docChg chg="addSld delSld modSld">
      <pc:chgData name="Dieter Beaven" userId="9bbdb69f-69d0-4759-aa9b-5c090a2da237" providerId="ADAL" clId="{52F8FC4C-D1CC-42DE-86C5-224EDED7D8D2}" dt="2025-05-13T15:04:12.541" v="34" actId="47"/>
      <pc:docMkLst>
        <pc:docMk/>
      </pc:docMkLst>
      <pc:sldChg chg="add del">
        <pc:chgData name="Dieter Beaven" userId="9bbdb69f-69d0-4759-aa9b-5c090a2da237" providerId="ADAL" clId="{52F8FC4C-D1CC-42DE-86C5-224EDED7D8D2}" dt="2025-05-13T15:04:11.744" v="33" actId="47"/>
        <pc:sldMkLst>
          <pc:docMk/>
          <pc:sldMk cId="2452893539" sldId="539"/>
        </pc:sldMkLst>
      </pc:sldChg>
      <pc:sldChg chg="add">
        <pc:chgData name="Dieter Beaven" userId="9bbdb69f-69d0-4759-aa9b-5c090a2da237" providerId="ADAL" clId="{52F8FC4C-D1CC-42DE-86C5-224EDED7D8D2}" dt="2025-05-13T15:02:07.033" v="0"/>
        <pc:sldMkLst>
          <pc:docMk/>
          <pc:sldMk cId="2871234335" sldId="540"/>
        </pc:sldMkLst>
      </pc:sldChg>
      <pc:sldChg chg="add">
        <pc:chgData name="Dieter Beaven" userId="9bbdb69f-69d0-4759-aa9b-5c090a2da237" providerId="ADAL" clId="{52F8FC4C-D1CC-42DE-86C5-224EDED7D8D2}" dt="2025-05-13T15:02:07.033" v="0"/>
        <pc:sldMkLst>
          <pc:docMk/>
          <pc:sldMk cId="3557795814" sldId="541"/>
        </pc:sldMkLst>
      </pc:sldChg>
      <pc:sldChg chg="add">
        <pc:chgData name="Dieter Beaven" userId="9bbdb69f-69d0-4759-aa9b-5c090a2da237" providerId="ADAL" clId="{52F8FC4C-D1CC-42DE-86C5-224EDED7D8D2}" dt="2025-05-13T15:02:07.033" v="0"/>
        <pc:sldMkLst>
          <pc:docMk/>
          <pc:sldMk cId="3309953397" sldId="542"/>
        </pc:sldMkLst>
      </pc:sldChg>
      <pc:sldChg chg="add">
        <pc:chgData name="Dieter Beaven" userId="9bbdb69f-69d0-4759-aa9b-5c090a2da237" providerId="ADAL" clId="{52F8FC4C-D1CC-42DE-86C5-224EDED7D8D2}" dt="2025-05-13T15:02:07.033" v="0"/>
        <pc:sldMkLst>
          <pc:docMk/>
          <pc:sldMk cId="198946373" sldId="544"/>
        </pc:sldMkLst>
      </pc:sldChg>
      <pc:sldChg chg="modSp mod">
        <pc:chgData name="Dieter Beaven" userId="9bbdb69f-69d0-4759-aa9b-5c090a2da237" providerId="ADAL" clId="{52F8FC4C-D1CC-42DE-86C5-224EDED7D8D2}" dt="2025-05-13T15:03:33.083" v="32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52F8FC4C-D1CC-42DE-86C5-224EDED7D8D2}" dt="2025-05-13T15:02:47.087" v="9" actId="167"/>
        <pc:sldMkLst>
          <pc:docMk/>
          <pc:sldMk cId="3055658135" sldId="549"/>
        </pc:sldMkLst>
      </pc:sldChg>
      <pc:sldChg chg="add del">
        <pc:chgData name="Dieter Beaven" userId="9bbdb69f-69d0-4759-aa9b-5c090a2da237" providerId="ADAL" clId="{52F8FC4C-D1CC-42DE-86C5-224EDED7D8D2}" dt="2025-05-13T15:04:12.541" v="34" actId="47"/>
        <pc:sldMkLst>
          <pc:docMk/>
          <pc:sldMk cId="1920434368" sldId="553"/>
        </pc:sldMkLst>
      </pc:sldChg>
      <pc:sldChg chg="add del">
        <pc:chgData name="Dieter Beaven" userId="9bbdb69f-69d0-4759-aa9b-5c090a2da237" providerId="ADAL" clId="{52F8FC4C-D1CC-42DE-86C5-224EDED7D8D2}" dt="2025-05-13T15:02:54.752" v="10" actId="47"/>
        <pc:sldMkLst>
          <pc:docMk/>
          <pc:sldMk cId="913002708" sldId="554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custSel delSld modSld">
      <pc:chgData name="Dieter Beaven" userId="9bbdb69f-69d0-4759-aa9b-5c090a2da237" providerId="ADAL" clId="{AF4429DE-69D1-4CF8-841D-B9C26A2A5A21}" dt="2025-10-23T10:02:36.860" v="27" actId="1037"/>
      <pc:docMkLst>
        <pc:docMk/>
      </pc:docMkLst>
      <pc:sldChg chg="addSp delSp modSp mod">
        <pc:chgData name="Dieter Beaven" userId="9bbdb69f-69d0-4759-aa9b-5c090a2da237" providerId="ADAL" clId="{AF4429DE-69D1-4CF8-841D-B9C26A2A5A21}" dt="2025-10-23T10:02:36.860" v="27" actId="1037"/>
        <pc:sldMkLst>
          <pc:docMk/>
          <pc:sldMk cId="3458699803" sldId="545"/>
        </pc:sldMkLst>
        <pc:picChg chg="add del mod">
          <ac:chgData name="Dieter Beaven" userId="9bbdb69f-69d0-4759-aa9b-5c090a2da237" providerId="ADAL" clId="{AF4429DE-69D1-4CF8-841D-B9C26A2A5A21}" dt="2025-10-23T10:01:42.177" v="15" actId="478"/>
          <ac:picMkLst>
            <pc:docMk/>
            <pc:sldMk cId="3458699803" sldId="545"/>
            <ac:picMk id="6" creationId="{8330A184-5615-8155-61C2-C862426A7A71}"/>
          </ac:picMkLst>
        </pc:picChg>
        <pc:picChg chg="add mod">
          <ac:chgData name="Dieter Beaven" userId="9bbdb69f-69d0-4759-aa9b-5c090a2da237" providerId="ADAL" clId="{AF4429DE-69D1-4CF8-841D-B9C26A2A5A21}" dt="2025-10-23T10:02:36.860" v="27" actId="1037"/>
          <ac:picMkLst>
            <pc:docMk/>
            <pc:sldMk cId="3458699803" sldId="545"/>
            <ac:picMk id="8" creationId="{EA2F6D14-44CA-1DB0-4D4A-CED1E81B909F}"/>
          </ac:picMkLst>
        </pc:picChg>
      </pc:sldChg>
      <pc:sldChg chg="del">
        <pc:chgData name="Dieter Beaven" userId="9bbdb69f-69d0-4759-aa9b-5c090a2da237" providerId="ADAL" clId="{AF4429DE-69D1-4CF8-841D-B9C26A2A5A21}" dt="2025-10-23T10:02:31.376" v="18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B2EF0D23-F3A8-47F5-918F-FB9F13BB6F35}"/>
    <pc:docChg chg="modSld">
      <pc:chgData name="Dieter Beaven" userId="9bbdb69f-69d0-4759-aa9b-5c090a2da237" providerId="ADAL" clId="{B2EF0D23-F3A8-47F5-918F-FB9F13BB6F35}" dt="2025-08-27T09:26:46.974" v="4" actId="1076"/>
      <pc:docMkLst>
        <pc:docMk/>
      </pc:docMkLst>
      <pc:sldChg chg="addSp modSp mod">
        <pc:chgData name="Dieter Beaven" userId="9bbdb69f-69d0-4759-aa9b-5c090a2da237" providerId="ADAL" clId="{B2EF0D23-F3A8-47F5-918F-FB9F13BB6F35}" dt="2025-08-27T09:25:19.353" v="1" actId="1076"/>
        <pc:sldMkLst>
          <pc:docMk/>
          <pc:sldMk cId="3896053727" sldId="543"/>
        </pc:sldMkLst>
      </pc:sldChg>
      <pc:sldChg chg="addSp mod">
        <pc:chgData name="Dieter Beaven" userId="9bbdb69f-69d0-4759-aa9b-5c090a2da237" providerId="ADAL" clId="{B2EF0D23-F3A8-47F5-918F-FB9F13BB6F35}" dt="2025-08-27T09:25:50.233" v="2" actId="22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B2EF0D23-F3A8-47F5-918F-FB9F13BB6F35}" dt="2025-08-27T09:26:46.974" v="4" actId="1076"/>
        <pc:sldMkLst>
          <pc:docMk/>
          <pc:sldMk cId="3826585799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36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7.png"/><Relationship Id="rId7" Type="http://schemas.openxmlformats.org/officeDocument/2006/relationships/image" Target="../media/image109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71.png"/><Relationship Id="rId10" Type="http://schemas.openxmlformats.org/officeDocument/2006/relationships/image" Target="../media/image112.png"/><Relationship Id="rId4" Type="http://schemas.openxmlformats.org/officeDocument/2006/relationships/image" Target="../media/image70.png"/><Relationship Id="rId9" Type="http://schemas.openxmlformats.org/officeDocument/2006/relationships/image" Target="../media/image1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95.png"/><Relationship Id="rId4" Type="http://schemas.openxmlformats.org/officeDocument/2006/relationships/image" Target="../media/image1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Composite Functions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1B79DB-1F39-417F-8BC6-E36E698BE03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5760049-4F97-444A-938A-47E6F63DFF1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Composite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6952DB0-16C3-4A61-90BC-8069367C04C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F46F1A-FB86-4321-924B-3A19AA40D593}"/>
              </a:ext>
            </a:extLst>
          </p:cNvPr>
          <p:cNvSpPr txBox="1"/>
          <p:nvPr/>
        </p:nvSpPr>
        <p:spPr>
          <a:xfrm>
            <a:off x="406168" y="804814"/>
            <a:ext cx="8652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Sometimes we may apply multiple functions in succession to an input.</a:t>
            </a:r>
          </a:p>
          <a:p>
            <a:r>
              <a:rPr lang="en-GB" dirty="0"/>
              <a:t>These combined functions are known as a </a:t>
            </a:r>
            <a:r>
              <a:rPr lang="en-GB" b="1" dirty="0"/>
              <a:t>composite function</a:t>
            </a:r>
            <a:r>
              <a:rPr lang="en-GB" dirty="0"/>
              <a:t>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72344E-8CFE-4B5C-BCE8-774716888145}"/>
              </a:ext>
            </a:extLst>
          </p:cNvPr>
          <p:cNvGrpSpPr/>
          <p:nvPr/>
        </p:nvGrpSpPr>
        <p:grpSpPr>
          <a:xfrm>
            <a:off x="1675769" y="1826916"/>
            <a:ext cx="5012110" cy="2649391"/>
            <a:chOff x="899592" y="1646162"/>
            <a:chExt cx="7128792" cy="435347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F2D5266-F32C-4A5B-A2BC-1B96CCBA4037}"/>
                </a:ext>
              </a:extLst>
            </p:cNvPr>
            <p:cNvSpPr/>
            <p:nvPr/>
          </p:nvSpPr>
          <p:spPr>
            <a:xfrm>
              <a:off x="899592" y="1673816"/>
              <a:ext cx="1584176" cy="324036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A2DF0A-B08B-47BB-A6E9-E468852FC66A}"/>
                </a:ext>
              </a:extLst>
            </p:cNvPr>
            <p:cNvSpPr/>
            <p:nvPr/>
          </p:nvSpPr>
          <p:spPr>
            <a:xfrm>
              <a:off x="3563888" y="1673816"/>
              <a:ext cx="1584176" cy="324036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5E5ADE-2A51-4325-AA76-9469F6A26639}"/>
                    </a:ext>
                  </a:extLst>
                </p:cNvPr>
                <p:cNvSpPr txBox="1"/>
                <p:nvPr/>
              </p:nvSpPr>
              <p:spPr>
                <a:xfrm>
                  <a:off x="1223628" y="2893265"/>
                  <a:ext cx="936104" cy="8597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5E5ADE-2A51-4325-AA76-9469F6A26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628" y="2893265"/>
                  <a:ext cx="936104" cy="85975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63B6811-38B1-4E10-8973-00D94B071087}"/>
                    </a:ext>
                  </a:extLst>
                </p:cNvPr>
                <p:cNvSpPr txBox="1"/>
                <p:nvPr/>
              </p:nvSpPr>
              <p:spPr>
                <a:xfrm>
                  <a:off x="3706450" y="2912400"/>
                  <a:ext cx="936104" cy="8597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63B6811-38B1-4E10-8973-00D94B071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450" y="2912400"/>
                  <a:ext cx="936104" cy="859753"/>
                </a:xfrm>
                <a:prstGeom prst="rect">
                  <a:avLst/>
                </a:prstGeom>
                <a:blipFill>
                  <a:blip r:embed="rId3"/>
                  <a:stretch>
                    <a:fillRect r="-157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A75A43-47C5-43E8-A110-0F1D52B4BA7D}"/>
                </a:ext>
              </a:extLst>
            </p:cNvPr>
            <p:cNvGrpSpPr/>
            <p:nvPr/>
          </p:nvGrpSpPr>
          <p:grpSpPr>
            <a:xfrm>
              <a:off x="6444208" y="1646162"/>
              <a:ext cx="1584176" cy="3240360"/>
              <a:chOff x="6372200" y="1385122"/>
              <a:chExt cx="1584176" cy="324036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B87CE53-D1C2-415B-A9C8-991962EE3A6D}"/>
                  </a:ext>
                </a:extLst>
              </p:cNvPr>
              <p:cNvSpPr/>
              <p:nvPr/>
            </p:nvSpPr>
            <p:spPr>
              <a:xfrm>
                <a:off x="6372200" y="1385122"/>
                <a:ext cx="1584176" cy="32403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8BCC5540-8C89-4EE4-9228-1A70FA641B24}"/>
                      </a:ext>
                    </a:extLst>
                  </p:cNvPr>
                  <p:cNvSpPr txBox="1"/>
                  <p:nvPr/>
                </p:nvSpPr>
                <p:spPr>
                  <a:xfrm>
                    <a:off x="6461597" y="2614753"/>
                    <a:ext cx="936104" cy="8597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b="0" i="1" smtClean="0">
                              <a:latin typeface="Cambria Math"/>
                            </a:rPr>
                            <m:t>𝑔𝑓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8BCC5540-8C89-4EE4-9228-1A70FA641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1597" y="2614753"/>
                    <a:ext cx="936104" cy="8597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D53EF3A-B681-4E5A-807D-C02016F8BC7B}"/>
                </a:ext>
              </a:extLst>
            </p:cNvPr>
            <p:cNvSpPr/>
            <p:nvPr/>
          </p:nvSpPr>
          <p:spPr>
            <a:xfrm>
              <a:off x="2089494" y="2601324"/>
              <a:ext cx="1814285" cy="446459"/>
            </a:xfrm>
            <a:custGeom>
              <a:avLst/>
              <a:gdLst>
                <a:gd name="connsiteX0" fmla="*/ 0 w 1814285"/>
                <a:gd name="connsiteY0" fmla="*/ 446459 h 446459"/>
                <a:gd name="connsiteX1" fmla="*/ 580571 w 1814285"/>
                <a:gd name="connsiteY1" fmla="*/ 98116 h 446459"/>
                <a:gd name="connsiteX2" fmla="*/ 1161143 w 1814285"/>
                <a:gd name="connsiteY2" fmla="*/ 11030 h 446459"/>
                <a:gd name="connsiteX3" fmla="*/ 1814285 w 1814285"/>
                <a:gd name="connsiteY3" fmla="*/ 301316 h 44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4285" h="446459">
                  <a:moveTo>
                    <a:pt x="0" y="446459"/>
                  </a:moveTo>
                  <a:cubicBezTo>
                    <a:pt x="193523" y="308573"/>
                    <a:pt x="387047" y="170687"/>
                    <a:pt x="580571" y="98116"/>
                  </a:cubicBezTo>
                  <a:cubicBezTo>
                    <a:pt x="774095" y="25545"/>
                    <a:pt x="955524" y="-22837"/>
                    <a:pt x="1161143" y="11030"/>
                  </a:cubicBezTo>
                  <a:cubicBezTo>
                    <a:pt x="1366762" y="44897"/>
                    <a:pt x="1590523" y="173106"/>
                    <a:pt x="1814285" y="301316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EC95503-5C88-4721-ACA7-260AE8BCA425}"/>
                    </a:ext>
                  </a:extLst>
                </p:cNvPr>
                <p:cNvSpPr txBox="1"/>
                <p:nvPr/>
              </p:nvSpPr>
              <p:spPr>
                <a:xfrm>
                  <a:off x="2642908" y="176146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EC95503-5C88-4721-ACA7-260AE8BCA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908" y="1761460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461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A64250-CD9A-45C0-A4ED-C4DB4059F8AD}"/>
                </a:ext>
              </a:extLst>
            </p:cNvPr>
            <p:cNvGrpSpPr/>
            <p:nvPr/>
          </p:nvGrpSpPr>
          <p:grpSpPr>
            <a:xfrm>
              <a:off x="4932040" y="1691574"/>
              <a:ext cx="1814285" cy="1301636"/>
              <a:chOff x="4860032" y="1430534"/>
              <a:chExt cx="1814285" cy="1301636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E32BB072-89BE-4A13-A347-9804C00AA3FD}"/>
                  </a:ext>
                </a:extLst>
              </p:cNvPr>
              <p:cNvSpPr/>
              <p:nvPr/>
            </p:nvSpPr>
            <p:spPr>
              <a:xfrm>
                <a:off x="4860032" y="2285711"/>
                <a:ext cx="1814285" cy="446459"/>
              </a:xfrm>
              <a:custGeom>
                <a:avLst/>
                <a:gdLst>
                  <a:gd name="connsiteX0" fmla="*/ 0 w 1814285"/>
                  <a:gd name="connsiteY0" fmla="*/ 446459 h 446459"/>
                  <a:gd name="connsiteX1" fmla="*/ 580571 w 1814285"/>
                  <a:gd name="connsiteY1" fmla="*/ 98116 h 446459"/>
                  <a:gd name="connsiteX2" fmla="*/ 1161143 w 1814285"/>
                  <a:gd name="connsiteY2" fmla="*/ 11030 h 446459"/>
                  <a:gd name="connsiteX3" fmla="*/ 1814285 w 1814285"/>
                  <a:gd name="connsiteY3" fmla="*/ 301316 h 446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4285" h="446459">
                    <a:moveTo>
                      <a:pt x="0" y="446459"/>
                    </a:moveTo>
                    <a:cubicBezTo>
                      <a:pt x="193523" y="308573"/>
                      <a:pt x="387047" y="170687"/>
                      <a:pt x="580571" y="98116"/>
                    </a:cubicBezTo>
                    <a:cubicBezTo>
                      <a:pt x="774095" y="25545"/>
                      <a:pt x="955524" y="-22837"/>
                      <a:pt x="1161143" y="11030"/>
                    </a:cubicBezTo>
                    <a:cubicBezTo>
                      <a:pt x="1366762" y="44897"/>
                      <a:pt x="1590523" y="173106"/>
                      <a:pt x="1814285" y="301316"/>
                    </a:cubicBezTo>
                  </a:path>
                </a:pathLst>
              </a:custGeom>
              <a:noFill/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B1E97250-C5A6-4693-A133-70B9FD0D8BFF}"/>
                      </a:ext>
                    </a:extLst>
                  </p:cNvPr>
                  <p:cNvSpPr txBox="1"/>
                  <p:nvPr/>
                </p:nvSpPr>
                <p:spPr>
                  <a:xfrm>
                    <a:off x="5299122" y="1430534"/>
                    <a:ext cx="93610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b="0" i="1" smtClean="0">
                              <a:latin typeface="Cambria Math"/>
                            </a:rPr>
                            <m:t>𝑔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B1E97250-C5A6-4693-A133-70B9FD0D8B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122" y="1430534"/>
                    <a:ext cx="936104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EED11A-B761-4EA8-82CB-833CED90ECD5}"/>
                </a:ext>
              </a:extLst>
            </p:cNvPr>
            <p:cNvGrpSpPr/>
            <p:nvPr/>
          </p:nvGrpSpPr>
          <p:grpSpPr>
            <a:xfrm>
              <a:off x="1951901" y="4296631"/>
              <a:ext cx="5155615" cy="1703002"/>
              <a:chOff x="1879893" y="4035591"/>
              <a:chExt cx="5155615" cy="1703002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091223CD-01EC-4B35-B5B0-7D82FEE1E9FB}"/>
                  </a:ext>
                </a:extLst>
              </p:cNvPr>
              <p:cNvSpPr/>
              <p:nvPr/>
            </p:nvSpPr>
            <p:spPr>
              <a:xfrm flipV="1">
                <a:off x="1879893" y="4035591"/>
                <a:ext cx="5155615" cy="1179782"/>
              </a:xfrm>
              <a:custGeom>
                <a:avLst/>
                <a:gdLst>
                  <a:gd name="connsiteX0" fmla="*/ 0 w 1814285"/>
                  <a:gd name="connsiteY0" fmla="*/ 446459 h 446459"/>
                  <a:gd name="connsiteX1" fmla="*/ 580571 w 1814285"/>
                  <a:gd name="connsiteY1" fmla="*/ 98116 h 446459"/>
                  <a:gd name="connsiteX2" fmla="*/ 1161143 w 1814285"/>
                  <a:gd name="connsiteY2" fmla="*/ 11030 h 446459"/>
                  <a:gd name="connsiteX3" fmla="*/ 1814285 w 1814285"/>
                  <a:gd name="connsiteY3" fmla="*/ 301316 h 446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4285" h="446459">
                    <a:moveTo>
                      <a:pt x="0" y="446459"/>
                    </a:moveTo>
                    <a:cubicBezTo>
                      <a:pt x="193523" y="308573"/>
                      <a:pt x="387047" y="170687"/>
                      <a:pt x="580571" y="98116"/>
                    </a:cubicBezTo>
                    <a:cubicBezTo>
                      <a:pt x="774095" y="25545"/>
                      <a:pt x="955524" y="-22837"/>
                      <a:pt x="1161143" y="11030"/>
                    </a:cubicBezTo>
                    <a:cubicBezTo>
                      <a:pt x="1366762" y="44897"/>
                      <a:pt x="1590523" y="173106"/>
                      <a:pt x="1814285" y="301316"/>
                    </a:cubicBezTo>
                  </a:path>
                </a:pathLst>
              </a:custGeom>
              <a:noFill/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E6C4058-2CCE-45A3-AA91-1283FD055E3D}"/>
                      </a:ext>
                    </a:extLst>
                  </p:cNvPr>
                  <p:cNvSpPr txBox="1"/>
                  <p:nvPr/>
                </p:nvSpPr>
                <p:spPr>
                  <a:xfrm>
                    <a:off x="4273263" y="5215373"/>
                    <a:ext cx="93610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b="0" i="1" smtClean="0">
                              <a:latin typeface="Cambria Math"/>
                            </a:rPr>
                            <m:t>𝑔𝑓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263" y="5215373"/>
                    <a:ext cx="936104" cy="52322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6C2E04-0A36-4535-BC19-7D1B62310438}"/>
                  </a:ext>
                </a:extLst>
              </p:cNvPr>
              <p:cNvSpPr txBox="1"/>
              <p:nvPr/>
            </p:nvSpPr>
            <p:spPr>
              <a:xfrm>
                <a:off x="1367785" y="4996715"/>
                <a:ext cx="6119297" cy="40011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b="0" dirty="0">
                    <a:latin typeface="Wingdings" panose="05000000000000000000" pitchFamily="2" charset="2"/>
                  </a:rPr>
                  <a:t>!</a:t>
                </a:r>
                <a:r>
                  <a:rPr lang="en-GB" sz="2000" b="0" dirty="0"/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means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, i.e.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000" dirty="0"/>
                  <a:t> is applied first, then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6C2E04-0A36-4535-BC19-7D1B62310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785" y="4996715"/>
                <a:ext cx="6119297" cy="400110"/>
              </a:xfrm>
              <a:prstGeom prst="rect">
                <a:avLst/>
              </a:prstGeom>
              <a:blipFill>
                <a:blip r:embed="rId8"/>
                <a:stretch>
                  <a:fillRect l="-794" t="-7246" b="-23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123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7200800" cy="5729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0" dirty="0"/>
                  <a:t>Let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en-GB" sz="2400" dirty="0"/>
                  <a:t>,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/>
                      </a:rPr>
                      <m:t>=4</m:t>
                    </m:r>
                    <m:r>
                      <a:rPr lang="en-GB" sz="2400" b="0" i="1" smtClean="0">
                        <a:latin typeface="Cambria Math"/>
                      </a:rPr>
                      <m:t>𝑥</m:t>
                    </m:r>
                    <m:r>
                      <a:rPr lang="en-GB" sz="2400" b="0" i="1" smtClean="0">
                        <a:latin typeface="Cambria Math"/>
                      </a:rPr>
                      <m:t>−2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What is…</a:t>
                </a:r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𝑓𝑔</m:t>
                    </m:r>
                    <m:r>
                      <a:rPr lang="en-GB" sz="2000" b="0" i="1" smtClean="0">
                        <a:latin typeface="Cambria Math"/>
                      </a:rPr>
                      <m:t>(2)</m:t>
                    </m:r>
                  </m:oMath>
                </a14:m>
                <a:r>
                  <a:rPr lang="en-GB" sz="2000" dirty="0"/>
                  <a:t>?</a:t>
                </a:r>
                <a:r>
                  <a:rPr lang="en-GB" sz="2000" b="0" i="1" dirty="0">
                    <a:latin typeface="Cambria Math"/>
                  </a:rPr>
                  <a:t>	   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6</m:t>
                        </m:r>
                      </m:e>
                    </m:d>
                    <m:r>
                      <a:rPr lang="en-GB" sz="2000" b="0" i="1" smtClean="0">
                        <a:latin typeface="Cambria Math"/>
                      </a:rPr>
                      <m:t>=37</m:t>
                    </m:r>
                  </m:oMath>
                </a14:m>
                <a:endParaRPr lang="en-GB" sz="2000" b="0" i="1" dirty="0">
                  <a:latin typeface="Cambria Math"/>
                </a:endParaRPr>
              </a:p>
              <a:p>
                <a:endParaRPr lang="en-GB" sz="2000" b="0" i="1" dirty="0">
                  <a:latin typeface="Cambria Math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𝑓𝑔</m:t>
                    </m:r>
                    <m:r>
                      <a:rPr lang="en-GB" sz="2000" b="0" i="1" smtClean="0">
                        <a:latin typeface="Cambria Math"/>
                      </a:rPr>
                      <m:t>(</m:t>
                    </m:r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sz="2000" dirty="0"/>
                  <a:t>?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4</m:t>
                        </m:r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br>
                  <a:rPr lang="en-GB" sz="20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/>
                                </a:rPr>
                                <m:t>4</m:t>
                              </m:r>
                              <m:r>
                                <a:rPr lang="en-GB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=16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/>
                        </a:rPr>
                        <m:t>−16</m:t>
                      </m:r>
                      <m:r>
                        <a:rPr lang="en-GB" sz="2000" b="0" i="1" smtClean="0">
                          <a:latin typeface="Cambria Math"/>
                        </a:rPr>
                        <m:t>𝑥</m:t>
                      </m:r>
                      <m:r>
                        <a:rPr lang="en-GB" sz="2000" b="0" i="1" smtClean="0">
                          <a:latin typeface="Cambria Math"/>
                        </a:rPr>
                        <m:t>+5</m:t>
                      </m:r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pPr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𝑔𝑓</m:t>
                    </m:r>
                    <m:r>
                      <a:rPr lang="en-GB" sz="2000" b="0" i="1" smtClean="0">
                        <a:latin typeface="Cambria Math"/>
                      </a:rPr>
                      <m:t>(</m:t>
                    </m:r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sz="2000" dirty="0"/>
                  <a:t>?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br>
                  <a:rPr lang="en-GB" sz="20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=4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en-GB" sz="2000" b="0" i="1" smtClean="0">
                          <a:latin typeface="Cambria Math"/>
                        </a:rPr>
                        <m:t>−2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=4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 dirty="0"/>
                  <a:t>?		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0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/>
                      </a:rPr>
                      <m:t>+1</m:t>
                    </m:r>
                  </m:oMath>
                </a14:m>
                <a:endParaRPr lang="en-GB" sz="2000" dirty="0"/>
              </a:p>
              <a:p>
                <a:endParaRPr lang="en-GB" sz="2400" dirty="0"/>
              </a:p>
              <a:p>
                <a:pPr/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=38</m:t>
                    </m:r>
                  </m:oMath>
                </a14:m>
                <a:r>
                  <a:rPr lang="en-GB" sz="2000" dirty="0"/>
                  <a:t>	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+2=38</m:t>
                    </m:r>
                  </m:oMath>
                </a14:m>
                <a:br>
                  <a:rPr lang="en-GB" sz="20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=±3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7200800" cy="5729261"/>
              </a:xfrm>
              <a:prstGeom prst="rect">
                <a:avLst/>
              </a:prstGeom>
              <a:blipFill>
                <a:blip r:embed="rId2"/>
                <a:stretch>
                  <a:fillRect l="-1270" t="-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17025" y="1895624"/>
            <a:ext cx="4176464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7025" y="3888060"/>
            <a:ext cx="4176464" cy="981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9792" y="5039966"/>
            <a:ext cx="4032448" cy="621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62C55B-EF61-4958-ADDC-D516C50C92E4}"/>
                  </a:ext>
                </a:extLst>
              </p:cNvPr>
              <p:cNvSpPr txBox="1"/>
              <p:nvPr/>
            </p:nvSpPr>
            <p:spPr>
              <a:xfrm>
                <a:off x="6172066" y="2852936"/>
                <a:ext cx="2448272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Replace any instance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in the outer function with the inner function.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62C55B-EF61-4958-ADDC-D516C50C9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066" y="2852936"/>
                <a:ext cx="2448272" cy="830997"/>
              </a:xfrm>
              <a:prstGeom prst="rect">
                <a:avLst/>
              </a:prstGeom>
              <a:blipFill>
                <a:blip r:embed="rId3"/>
                <a:stretch>
                  <a:fillRect l="-739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7024" y="2578299"/>
            <a:ext cx="6603313" cy="12241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910A41-9326-4B3E-A950-2453F82500C8}"/>
                  </a:ext>
                </a:extLst>
              </p:cNvPr>
              <p:cNvSpPr txBox="1"/>
              <p:nvPr/>
            </p:nvSpPr>
            <p:spPr>
              <a:xfrm>
                <a:off x="7242405" y="5039966"/>
                <a:ext cx="165618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means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910A41-9326-4B3E-A950-2453F8250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405" y="5039966"/>
                <a:ext cx="1656184" cy="646331"/>
              </a:xfrm>
              <a:prstGeom prst="rect">
                <a:avLst/>
              </a:prstGeom>
              <a:blipFill>
                <a:blip r:embed="rId4"/>
                <a:stretch>
                  <a:fillRect l="-362" t="-3636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C32FFDD-3144-4343-8D18-228BF0AA5D07}"/>
              </a:ext>
            </a:extLst>
          </p:cNvPr>
          <p:cNvSpPr/>
          <p:nvPr/>
        </p:nvSpPr>
        <p:spPr>
          <a:xfrm>
            <a:off x="2699792" y="5802969"/>
            <a:ext cx="4032448" cy="7630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0995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B656AC48-97DB-45AF-9F73-BB463DDDE53D}"/>
              </a:ext>
            </a:extLst>
          </p:cNvPr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D5B773-5154-449A-92DE-74A22FC7A52E}"/>
                </a:ext>
              </a:extLst>
            </p:cNvPr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Further 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BB478E-3FCB-4226-AA63-1EDBDC3542A0}"/>
                </a:ext>
              </a:extLst>
            </p:cNvPr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E15F2D-BEB7-4B37-9131-D5B4596EBBED}"/>
                  </a:ext>
                </a:extLst>
              </p:cNvPr>
              <p:cNvSpPr txBox="1"/>
              <p:nvPr/>
            </p:nvSpPr>
            <p:spPr>
              <a:xfrm>
                <a:off x="446460" y="828328"/>
                <a:ext cx="5832648" cy="144193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are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a) Find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		b) 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E15F2D-BEB7-4B37-9131-D5B4596E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60" y="828328"/>
                <a:ext cx="5832648" cy="1441933"/>
              </a:xfrm>
              <a:prstGeom prst="rect">
                <a:avLst/>
              </a:prstGeom>
              <a:blipFill>
                <a:blip r:embed="rId2"/>
                <a:stretch>
                  <a:fillRect b="-38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215B6D-EEFE-4EB5-8DD7-712D2217CF9A}"/>
                  </a:ext>
                </a:extLst>
              </p:cNvPr>
              <p:cNvSpPr txBox="1"/>
              <p:nvPr/>
            </p:nvSpPr>
            <p:spPr>
              <a:xfrm>
                <a:off x="1187624" y="2852936"/>
                <a:ext cx="4968552" cy="2412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4−8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215B6D-EEFE-4EB5-8DD7-712D2217C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852936"/>
                <a:ext cx="4968552" cy="2412327"/>
              </a:xfrm>
              <a:prstGeom prst="rect">
                <a:avLst/>
              </a:prstGeom>
              <a:blipFill>
                <a:blip r:embed="rId3"/>
                <a:stretch>
                  <a:fillRect l="-3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FBFBD7-D392-4AF5-BDB9-30FBB2233684}"/>
              </a:ext>
            </a:extLst>
          </p:cNvPr>
          <p:cNvCxnSpPr/>
          <p:nvPr/>
        </p:nvCxnSpPr>
        <p:spPr>
          <a:xfrm>
            <a:off x="2791197" y="6096883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5168EC-8243-4146-AF1B-C78B5B1D6F1E}"/>
              </a:ext>
            </a:extLst>
          </p:cNvPr>
          <p:cNvCxnSpPr>
            <a:cxnSpLocks/>
          </p:cNvCxnSpPr>
          <p:nvPr/>
        </p:nvCxnSpPr>
        <p:spPr>
          <a:xfrm flipV="1">
            <a:off x="3680445" y="5024363"/>
            <a:ext cx="0" cy="168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36682-64A4-4949-B43B-3663177D4537}"/>
                  </a:ext>
                </a:extLst>
              </p:cNvPr>
              <p:cNvSpPr txBox="1"/>
              <p:nvPr/>
            </p:nvSpPr>
            <p:spPr>
              <a:xfrm>
                <a:off x="4606254" y="5920333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36682-64A4-4949-B43B-3663177D4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254" y="5920333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DB687A-1FA8-4575-AAB3-9AC6D42C1550}"/>
                  </a:ext>
                </a:extLst>
              </p:cNvPr>
              <p:cNvSpPr txBox="1"/>
              <p:nvPr/>
            </p:nvSpPr>
            <p:spPr>
              <a:xfrm>
                <a:off x="3523443" y="4716586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DB687A-1FA8-4575-AAB3-9AC6D42C1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443" y="4716586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B027E-8BF7-4A59-BB29-29896C24E1B3}"/>
                  </a:ext>
                </a:extLst>
              </p:cNvPr>
              <p:cNvSpPr txBox="1"/>
              <p:nvPr/>
            </p:nvSpPr>
            <p:spPr>
              <a:xfrm>
                <a:off x="2309770" y="5289814"/>
                <a:ext cx="11500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−7|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B027E-8BF7-4A59-BB29-29896C24E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770" y="5289814"/>
                <a:ext cx="1150082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739EA7-F003-4DDB-A35A-2EFD68D779FD}"/>
              </a:ext>
            </a:extLst>
          </p:cNvPr>
          <p:cNvCxnSpPr/>
          <p:nvPr/>
        </p:nvCxnSpPr>
        <p:spPr>
          <a:xfrm flipV="1">
            <a:off x="4069990" y="5658412"/>
            <a:ext cx="430002" cy="438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1FBF1C-D965-4D53-A8A0-843732603424}"/>
              </a:ext>
            </a:extLst>
          </p:cNvPr>
          <p:cNvCxnSpPr>
            <a:cxnSpLocks/>
          </p:cNvCxnSpPr>
          <p:nvPr/>
        </p:nvCxnSpPr>
        <p:spPr>
          <a:xfrm>
            <a:off x="3171942" y="5165621"/>
            <a:ext cx="898048" cy="926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985BCA-00E4-4927-ADA8-BC62F1EDCE53}"/>
                  </a:ext>
                </a:extLst>
              </p:cNvPr>
              <p:cNvSpPr txBox="1"/>
              <p:nvPr/>
            </p:nvSpPr>
            <p:spPr>
              <a:xfrm>
                <a:off x="3912988" y="6043519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985BCA-00E4-4927-ADA8-BC62F1EDC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988" y="6043519"/>
                <a:ext cx="31400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5E4A77-E675-43F7-A5D0-AC56198235CA}"/>
                  </a:ext>
                </a:extLst>
              </p:cNvPr>
              <p:cNvSpPr txBox="1"/>
              <p:nvPr/>
            </p:nvSpPr>
            <p:spPr>
              <a:xfrm>
                <a:off x="3429030" y="5569870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5E4A77-E675-43F7-A5D0-AC5619823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30" y="5569870"/>
                <a:ext cx="31400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D0B914-EEF5-473F-B26B-67FBE736F90A}"/>
              </a:ext>
            </a:extLst>
          </p:cNvPr>
          <p:cNvCxnSpPr>
            <a:cxnSpLocks/>
          </p:cNvCxnSpPr>
          <p:nvPr/>
        </p:nvCxnSpPr>
        <p:spPr>
          <a:xfrm flipH="1">
            <a:off x="3072091" y="5219700"/>
            <a:ext cx="1484669" cy="14879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F8D81F-DC86-4197-843D-95E98D525F7F}"/>
                  </a:ext>
                </a:extLst>
              </p:cNvPr>
              <p:cNvSpPr txBox="1"/>
              <p:nvPr/>
            </p:nvSpPr>
            <p:spPr>
              <a:xfrm>
                <a:off x="3659393" y="5054212"/>
                <a:ext cx="11500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F8D81F-DC86-4197-843D-95E98D525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393" y="5054212"/>
                <a:ext cx="115008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72D3C2-1ECA-4B76-A8C3-7A85A0599E28}"/>
                  </a:ext>
                </a:extLst>
              </p:cNvPr>
              <p:cNvSpPr txBox="1"/>
              <p:nvPr/>
            </p:nvSpPr>
            <p:spPr>
              <a:xfrm>
                <a:off x="4999980" y="5290663"/>
                <a:ext cx="18722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+7=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72D3C2-1ECA-4B76-A8C3-7A85A0599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80" y="5290663"/>
                <a:ext cx="1872208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F0AC08-629E-4B20-B76C-9346110B9F28}"/>
                  </a:ext>
                </a:extLst>
              </p:cNvPr>
              <p:cNvSpPr txBox="1"/>
              <p:nvPr/>
            </p:nvSpPr>
            <p:spPr>
              <a:xfrm>
                <a:off x="6775146" y="5259438"/>
                <a:ext cx="2150727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It’s the reflected (negated) part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−7|</m:t>
                    </m:r>
                  </m:oMath>
                </a14:m>
                <a:r>
                  <a:rPr lang="en-GB" sz="1400" dirty="0"/>
                  <a:t> that is intersecting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F0AC08-629E-4B20-B76C-9346110B9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146" y="5259438"/>
                <a:ext cx="2150727" cy="738664"/>
              </a:xfrm>
              <a:prstGeom prst="rect">
                <a:avLst/>
              </a:prstGeom>
              <a:blipFill>
                <a:blip r:embed="rId11"/>
                <a:stretch>
                  <a:fillRect l="-280" b="-5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4D70FF3-A3BB-4302-820B-13B04A2FFE72}"/>
              </a:ext>
            </a:extLst>
          </p:cNvPr>
          <p:cNvSpPr/>
          <p:nvPr/>
        </p:nvSpPr>
        <p:spPr>
          <a:xfrm>
            <a:off x="1001025" y="2708424"/>
            <a:ext cx="4147039" cy="7925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A6FC66-1BD1-4A51-AE9F-9E5CD26EA4BF}"/>
              </a:ext>
            </a:extLst>
          </p:cNvPr>
          <p:cNvSpPr/>
          <p:nvPr/>
        </p:nvSpPr>
        <p:spPr>
          <a:xfrm>
            <a:off x="998571" y="3598250"/>
            <a:ext cx="7927302" cy="31093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CD9436-11C7-4A39-A600-8F72F71D635A}"/>
              </a:ext>
            </a:extLst>
          </p:cNvPr>
          <p:cNvSpPr/>
          <p:nvPr/>
        </p:nvSpPr>
        <p:spPr>
          <a:xfrm>
            <a:off x="769062" y="270842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52426F-7B17-4C14-87AB-6860428E6B5B}"/>
              </a:ext>
            </a:extLst>
          </p:cNvPr>
          <p:cNvSpPr/>
          <p:nvPr/>
        </p:nvSpPr>
        <p:spPr>
          <a:xfrm>
            <a:off x="782547" y="3598250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577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A23DE0E0-20F4-4BFE-923B-9D64DF83C4CC}"/>
              </a:ext>
            </a:extLst>
          </p:cNvPr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74775F1-8B16-428F-8881-FCD731EA6D8D}"/>
                </a:ext>
              </a:extLst>
            </p:cNvPr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4904E39-07A4-4605-8A13-788F7463535C}"/>
                </a:ext>
              </a:extLst>
            </p:cNvPr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29860-EAC7-4F8B-978A-A7BD4664185B}"/>
                  </a:ext>
                </a:extLst>
              </p:cNvPr>
              <p:cNvSpPr txBox="1"/>
              <p:nvPr/>
            </p:nvSpPr>
            <p:spPr>
              <a:xfrm>
                <a:off x="539552" y="1170433"/>
                <a:ext cx="3240360" cy="203132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functions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are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→2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→3−4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b) Find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d) Solve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D29860-EAC7-4F8B-978A-A7BD46641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170433"/>
                <a:ext cx="3240360" cy="2031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FCB6357-0BE6-4FEB-8722-92DD278E67EB}"/>
              </a:ext>
            </a:extLst>
          </p:cNvPr>
          <p:cNvSpPr txBox="1"/>
          <p:nvPr/>
        </p:nvSpPr>
        <p:spPr>
          <a:xfrm>
            <a:off x="539552" y="801101"/>
            <a:ext cx="32403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2013(R) Q4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39EBE7-2E6E-47F8-A0FF-F4899A92E9BD}"/>
                  </a:ext>
                </a:extLst>
              </p:cNvPr>
              <p:cNvSpPr txBox="1"/>
              <p:nvPr/>
            </p:nvSpPr>
            <p:spPr>
              <a:xfrm>
                <a:off x="348166" y="3522273"/>
                <a:ext cx="3744416" cy="2585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=2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+3=5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3−4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3−12+16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+9−24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=0, 0.5</m:t>
                      </m:r>
                    </m:oMath>
                  </m:oMathPara>
                </a14:m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39EBE7-2E6E-47F8-A0FF-F4899A92E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66" y="3522273"/>
                <a:ext cx="3744416" cy="2585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2E14D74-697E-40AD-B07B-EAFE606FC5AF}"/>
              </a:ext>
            </a:extLst>
          </p:cNvPr>
          <p:cNvSpPr txBox="1"/>
          <p:nvPr/>
        </p:nvSpPr>
        <p:spPr>
          <a:xfrm>
            <a:off x="4760013" y="790581"/>
            <a:ext cx="32403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2012 Q6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164DF-EFCC-4D0B-A5DA-6F24DDCC7153}"/>
                  </a:ext>
                </a:extLst>
              </p:cNvPr>
              <p:cNvSpPr txBox="1"/>
              <p:nvPr/>
            </p:nvSpPr>
            <p:spPr>
              <a:xfrm>
                <a:off x="4760013" y="1149167"/>
                <a:ext cx="3240360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are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b) Find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, giving your answer in its simplest form.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164DF-EFCC-4D0B-A5DA-6F24DDCC7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013" y="1149167"/>
                <a:ext cx="3240360" cy="17543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273BAC-D725-4110-A6E3-56A8EEDEA5CB}"/>
                  </a:ext>
                </a:extLst>
              </p:cNvPr>
              <p:cNvSpPr txBox="1"/>
              <p:nvPr/>
            </p:nvSpPr>
            <p:spPr>
              <a:xfrm>
                <a:off x="4832974" y="3718500"/>
                <a:ext cx="2880320" cy="935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273BAC-D725-4110-A6E3-56A8EEDEA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974" y="3718500"/>
                <a:ext cx="2880320" cy="9356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E0E5223-F351-497E-8F83-4A32FB2FCDD9}"/>
              </a:ext>
            </a:extLst>
          </p:cNvPr>
          <p:cNvSpPr/>
          <p:nvPr/>
        </p:nvSpPr>
        <p:spPr>
          <a:xfrm>
            <a:off x="423817" y="3500049"/>
            <a:ext cx="3668765" cy="7925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EB0E2-EFB5-4F62-A38A-1FE0D3C7BB4F}"/>
              </a:ext>
            </a:extLst>
          </p:cNvPr>
          <p:cNvSpPr/>
          <p:nvPr/>
        </p:nvSpPr>
        <p:spPr>
          <a:xfrm>
            <a:off x="423817" y="4292632"/>
            <a:ext cx="3668765" cy="18100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EBF94D-353B-437E-8A40-CC415090C017}"/>
                  </a:ext>
                </a:extLst>
              </p:cNvPr>
              <p:cNvSpPr txBox="1"/>
              <p:nvPr/>
            </p:nvSpPr>
            <p:spPr>
              <a:xfrm>
                <a:off x="5826567" y="4714876"/>
                <a:ext cx="2260259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 and “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sz="1400" dirty="0"/>
                  <a:t> of” are inverse functions so cancel each other out.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EBF94D-353B-437E-8A40-CC415090C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567" y="4714876"/>
                <a:ext cx="2260259" cy="738664"/>
              </a:xfrm>
              <a:prstGeom prst="rect">
                <a:avLst/>
              </a:prstGeom>
              <a:blipFill>
                <a:blip r:embed="rId6"/>
                <a:stretch>
                  <a:fillRect l="-267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8D1782-1365-44ED-9F64-C4827296185F}"/>
              </a:ext>
            </a:extLst>
          </p:cNvPr>
          <p:cNvCxnSpPr/>
          <p:nvPr/>
        </p:nvCxnSpPr>
        <p:spPr>
          <a:xfrm flipH="1" flipV="1">
            <a:off x="6889898" y="4189228"/>
            <a:ext cx="448837" cy="561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DCBFA0C-3E92-4C53-8F9F-42717C87A3F9}"/>
              </a:ext>
            </a:extLst>
          </p:cNvPr>
          <p:cNvSpPr/>
          <p:nvPr/>
        </p:nvSpPr>
        <p:spPr>
          <a:xfrm>
            <a:off x="4832974" y="3500049"/>
            <a:ext cx="3592520" cy="26026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94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3D14EF-CE66-6F71-AC8A-CF44B8E813A5}"/>
                  </a:ext>
                </a:extLst>
              </p:cNvPr>
              <p:cNvSpPr txBox="1"/>
              <p:nvPr/>
            </p:nvSpPr>
            <p:spPr>
              <a:xfrm>
                <a:off x="5378094" y="1752504"/>
                <a:ext cx="3615906" cy="514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[MAT 2012 Q2]</a:t>
                </a:r>
              </a:p>
              <a:p>
                <a:r>
                  <a:rPr lang="en-GB" sz="1400" dirty="0"/>
                  <a:t>Let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</a:t>
                </a:r>
              </a:p>
              <a:p>
                <a:r>
                  <a:rPr lang="en-GB" sz="1400" dirty="0" err="1"/>
                  <a:t>i</a:t>
                </a:r>
                <a:r>
                  <a:rPr lang="en-GB" sz="1400" dirty="0"/>
                  <a:t>)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400" dirty="0"/>
              </a:p>
              <a:p>
                <a:r>
                  <a:rPr lang="en-GB" sz="1400" dirty="0"/>
                  <a:t>ii) Note that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1400" dirty="0"/>
                  <a:t> </a:t>
                </a:r>
              </a:p>
              <a:p>
                <a:r>
                  <a:rPr lang="en-GB" sz="1400" dirty="0"/>
                  <a:t>    Find all the other ways of combining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1400" dirty="0"/>
                  <a:t> that result in the function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iii) Let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400" dirty="0"/>
                  <a:t> be integers. Determine the function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iv) Let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400" dirty="0"/>
                  <a:t> be an integer. How many different ways of combining the functions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1400" dirty="0"/>
                  <a:t> are there that result in the function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400" dirty="0"/>
                  <a:t>?</a:t>
                </a:r>
              </a:p>
              <a:p>
                <a:endParaRPr lang="en-GB" sz="1400" dirty="0"/>
              </a:p>
              <a:p>
                <a:pPr marL="400050" indent="-400050">
                  <a:buAutoNum type="romanLcParenR"/>
                </a:pPr>
                <a:r>
                  <a:rPr lang="en-GB" sz="1200" b="1" dirty="0"/>
                  <a:t>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br>
                  <a:rPr lang="en-GB" sz="1200" b="1" dirty="0"/>
                </a:b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𝒈𝒇</m:t>
                    </m:r>
                    <m:d>
                      <m:d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sz="1200" b="1" dirty="0"/>
              </a:p>
              <a:p>
                <a:pPr marL="400050" indent="-400050">
                  <a:buAutoNum type="romanLcParenR"/>
                </a:pPr>
                <a:r>
                  <a:rPr lang="en-GB" sz="12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𝒈𝒇𝒈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𝒈</m:t>
                    </m:r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n-GB" sz="1200" b="1" dirty="0"/>
              </a:p>
              <a:p>
                <a:pPr marL="400050" indent="-400050">
                  <a:buAutoNum type="romanLcParenR"/>
                </a:pPr>
                <a:r>
                  <a:rPr lang="en-GB" sz="1200" b="1" dirty="0"/>
                  <a:t>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GB" sz="1200" b="1" dirty="0"/>
              </a:p>
              <a:p>
                <a:pPr marL="400050" indent="-400050">
                  <a:buAutoNum type="romanLcParenR"/>
                </a:pPr>
                <a:r>
                  <a:rPr lang="en-GB" sz="1200" b="1" dirty="0"/>
                  <a:t>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br>
                  <a:rPr lang="en-GB" sz="1200" b="1" dirty="0"/>
                </a:b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GB" sz="1200" b="1" dirty="0"/>
              </a:p>
              <a:p>
                <a:r>
                  <a:rPr lang="en-GB" sz="1200" b="1" dirty="0"/>
                  <a:t>    If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200" b="1" dirty="0"/>
                  <a:t>,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b="1" dirty="0"/>
                  <a:t> can vary between 0 and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1200" b="1" dirty="0"/>
                  <a:t>, which is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200" b="1" dirty="0"/>
                  <a:t> possibilities. If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200" b="1" dirty="0"/>
                  <a:t>,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b="1" dirty="0"/>
                  <a:t> can vary between 0 and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200" b="1" dirty="0"/>
                  <a:t> which is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200" b="1" dirty="0"/>
                  <a:t> possibilities. Continuing in this way we get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+…+</m:t>
                    </m:r>
                    <m:d>
                      <m:d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1200" b="1" dirty="0"/>
                  <a:t>. This can be simplified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GB" sz="1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200" b="1" dirty="0"/>
                  <a:t> (see Arithmetic Series).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3D14EF-CE66-6F71-AC8A-CF44B8E8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094" y="1752504"/>
                <a:ext cx="3615906" cy="5146794"/>
              </a:xfrm>
              <a:prstGeom prst="rect">
                <a:avLst/>
              </a:prstGeom>
              <a:blipFill>
                <a:blip r:embed="rId2"/>
                <a:stretch>
                  <a:fillRect l="-506" t="-118" r="-843" b="-2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Pages 8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88C23E-3839-B561-1D3E-5736308CFBAA}"/>
              </a:ext>
            </a:extLst>
          </p:cNvPr>
          <p:cNvSpPr txBox="1"/>
          <p:nvPr/>
        </p:nvSpPr>
        <p:spPr>
          <a:xfrm>
            <a:off x="482621" y="190175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E27FB2-6097-0C26-7C2E-E3D9E3B2C8DD}"/>
                  </a:ext>
                </a:extLst>
              </p:cNvPr>
              <p:cNvSpPr txBox="1"/>
              <p:nvPr/>
            </p:nvSpPr>
            <p:spPr>
              <a:xfrm>
                <a:off x="470671" y="2172058"/>
                <a:ext cx="459475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[MAT 2014 1F]</a:t>
                </a:r>
              </a:p>
              <a:p>
                <a:r>
                  <a:rPr lang="en-GB" sz="1400" dirty="0"/>
                  <a:t>The functions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400" dirty="0"/>
                  <a:t> are defined for real numbers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The function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400" dirty="0"/>
                  <a:t> is applied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400" dirty="0"/>
                  <a:t> times and the function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400" dirty="0"/>
                  <a:t> is applied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times, in some order, to produce the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It is possible to deduce that:</a:t>
                </a:r>
              </a:p>
              <a:p>
                <a:pPr marL="400050" indent="-400050">
                  <a:buAutoNum type="romanLcParenR"/>
                </a:pPr>
                <a:r>
                  <a:rPr lang="en-GB" sz="1400" b="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400" dirty="0"/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400" dirty="0"/>
                  <a:t> is odd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is even.</a:t>
                </a:r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400" dirty="0"/>
                  <a:t> is even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is odd.</a:t>
                </a:r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are powers of 2.</a:t>
                </a:r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 none of the above.</a:t>
                </a:r>
              </a:p>
              <a:p>
                <a:pPr marL="400050" indent="-400050">
                  <a:buAutoNum type="romanLcParenR"/>
                </a:pPr>
                <a:endParaRPr lang="en-GB" sz="1400" dirty="0"/>
              </a:p>
              <a:p>
                <a:r>
                  <a:rPr lang="en-GB" sz="1400" b="1" dirty="0"/>
                  <a:t>Each application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sz="1400" b="1" dirty="0"/>
                  <a:t> will oscillate the sign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, so clearly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sz="1400" b="1" dirty="0"/>
                  <a:t> is odd, eliminating (ii) and (iv). Each application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sz="1400" b="1" dirty="0"/>
                  <a:t> doesn’t change the magnitude of the constant term. </a:t>
                </a:r>
              </a:p>
              <a:p>
                <a:r>
                  <a:rPr lang="en-GB" sz="1400" b="1" dirty="0"/>
                  <a:t>If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sz="1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400" b="1" dirty="0"/>
                  <a:t> we’d need 8 applications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sz="1400" b="1" dirty="0"/>
                  <a:t> to get to 8. An application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GB" sz="1400" b="1" dirty="0"/>
                  <a:t> might get us from say 3 to -3. We’d then require and even number of applications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sz="1400" b="1" dirty="0"/>
                  <a:t> to get back up to 3 (in this case 6). So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GB" sz="1400" b="1" dirty="0"/>
                  <a:t> must be even. This leaves (</a:t>
                </a:r>
                <a:r>
                  <a:rPr lang="en-GB" sz="1400" b="1" dirty="0" err="1"/>
                  <a:t>i</a:t>
                </a:r>
                <a:r>
                  <a:rPr lang="en-GB" sz="1400" b="1" dirty="0"/>
                  <a:t>) and (iii), but there is more than one way, so the answer is (iii).</a:t>
                </a:r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E27FB2-6097-0C26-7C2E-E3D9E3B2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71" y="2172058"/>
                <a:ext cx="4594752" cy="4832092"/>
              </a:xfrm>
              <a:prstGeom prst="rect">
                <a:avLst/>
              </a:prstGeom>
              <a:blipFill>
                <a:blip r:embed="rId3"/>
                <a:stretch>
                  <a:fillRect l="-398" t="-126" r="-1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9AC0B59-32D8-22EB-14A5-E540559C3DA7}"/>
              </a:ext>
            </a:extLst>
          </p:cNvPr>
          <p:cNvSpPr/>
          <p:nvPr/>
        </p:nvSpPr>
        <p:spPr>
          <a:xfrm>
            <a:off x="459813" y="4941167"/>
            <a:ext cx="4605610" cy="18237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3B7FAB-2D2B-7FB4-5BA7-7022ECC446E7}"/>
              </a:ext>
            </a:extLst>
          </p:cNvPr>
          <p:cNvSpPr/>
          <p:nvPr/>
        </p:nvSpPr>
        <p:spPr>
          <a:xfrm>
            <a:off x="5380514" y="4635796"/>
            <a:ext cx="3614630" cy="2201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FA30D9-6C96-8EF2-E721-0426F8D96C0C}"/>
              </a:ext>
            </a:extLst>
          </p:cNvPr>
          <p:cNvSpPr/>
          <p:nvPr/>
        </p:nvSpPr>
        <p:spPr>
          <a:xfrm>
            <a:off x="226801" y="225122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B7354F-E50A-1064-C885-CB2B55E24E3B}"/>
              </a:ext>
            </a:extLst>
          </p:cNvPr>
          <p:cNvSpPr/>
          <p:nvPr/>
        </p:nvSpPr>
        <p:spPr>
          <a:xfrm>
            <a:off x="5115878" y="1854646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C495297-BBA1-82D6-5593-962CAD5A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90" y="1052736"/>
            <a:ext cx="79152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891ED8-D0CC-3FFD-14FB-75C36F33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42975"/>
            <a:ext cx="78867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871DFE7-95E6-35F6-2038-C8E210629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3" y="836712"/>
            <a:ext cx="779145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A2F6D14-44CA-1DB0-4D4A-CED1E81B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057275"/>
            <a:ext cx="47053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61755</TotalTime>
  <Words>1035</Words>
  <Application>Microsoft Office PowerPoint</Application>
  <PresentationFormat>On-screen Show (4:3)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 Theme</vt:lpstr>
      <vt:lpstr>P2 Chapter 2: Graphing Functions  Composite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