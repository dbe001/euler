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sldIdLst>
    <p:sldId id="547" r:id="rId5"/>
    <p:sldId id="535" r:id="rId6"/>
    <p:sldId id="533" r:id="rId7"/>
    <p:sldId id="534" r:id="rId8"/>
    <p:sldId id="531" r:id="rId9"/>
    <p:sldId id="536" r:id="rId10"/>
    <p:sldId id="537" r:id="rId11"/>
    <p:sldId id="539" r:id="rId12"/>
    <p:sldId id="553" r:id="rId13"/>
    <p:sldId id="549" r:id="rId14"/>
    <p:sldId id="543" r:id="rId15"/>
    <p:sldId id="550" r:id="rId16"/>
    <p:sldId id="551" r:id="rId17"/>
    <p:sldId id="554" r:id="rId18"/>
    <p:sldId id="545" r:id="rId19"/>
    <p:sldId id="552" r:id="rId20"/>
    <p:sldId id="555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B8DF60-AA83-4132-9786-83AC8C721742}" v="2" dt="2025-10-17T09:40:29.1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12" autoAdjust="0"/>
    <p:restoredTop sz="88534" autoAdjust="0"/>
  </p:normalViewPr>
  <p:slideViewPr>
    <p:cSldViewPr>
      <p:cViewPr varScale="1">
        <p:scale>
          <a:sx n="125" d="100"/>
          <a:sy n="125" d="100"/>
        </p:scale>
        <p:origin x="1128" y="114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2DB8DF60-AA83-4132-9786-83AC8C721742}"/>
    <pc:docChg chg="addSld delSld modSld">
      <pc:chgData name="Dieter Beaven" userId="9bbdb69f-69d0-4759-aa9b-5c090a2da237" providerId="ADAL" clId="{2DB8DF60-AA83-4132-9786-83AC8C721742}" dt="2025-10-17T09:41:54.142" v="15" actId="47"/>
      <pc:docMkLst>
        <pc:docMk/>
      </pc:docMkLst>
      <pc:sldChg chg="addSp modSp mod">
        <pc:chgData name="Dieter Beaven" userId="9bbdb69f-69d0-4759-aa9b-5c090a2da237" providerId="ADAL" clId="{2DB8DF60-AA83-4132-9786-83AC8C721742}" dt="2025-10-17T09:38:26.846" v="2" actId="1036"/>
        <pc:sldMkLst>
          <pc:docMk/>
          <pc:sldMk cId="3458699803" sldId="545"/>
        </pc:sldMkLst>
        <pc:picChg chg="add mod">
          <ac:chgData name="Dieter Beaven" userId="9bbdb69f-69d0-4759-aa9b-5c090a2da237" providerId="ADAL" clId="{2DB8DF60-AA83-4132-9786-83AC8C721742}" dt="2025-10-17T09:38:26.846" v="2" actId="1036"/>
          <ac:picMkLst>
            <pc:docMk/>
            <pc:sldMk cId="3458699803" sldId="545"/>
            <ac:picMk id="6" creationId="{4A00506B-0A68-CEAB-17A9-71C3C4AB06A1}"/>
          </ac:picMkLst>
        </pc:picChg>
      </pc:sldChg>
      <pc:sldChg chg="addSp modSp mod">
        <pc:chgData name="Dieter Beaven" userId="9bbdb69f-69d0-4759-aa9b-5c090a2da237" providerId="ADAL" clId="{2DB8DF60-AA83-4132-9786-83AC8C721742}" dt="2025-10-17T09:40:37.102" v="13" actId="1035"/>
        <pc:sldMkLst>
          <pc:docMk/>
          <pc:sldMk cId="2531956736" sldId="552"/>
        </pc:sldMkLst>
        <pc:picChg chg="add mod">
          <ac:chgData name="Dieter Beaven" userId="9bbdb69f-69d0-4759-aa9b-5c090a2da237" providerId="ADAL" clId="{2DB8DF60-AA83-4132-9786-83AC8C721742}" dt="2025-10-17T09:40:37.102" v="13" actId="1035"/>
          <ac:picMkLst>
            <pc:docMk/>
            <pc:sldMk cId="2531956736" sldId="552"/>
            <ac:picMk id="6" creationId="{55129A8F-594E-23D9-E7A8-9FA5CBD8F43E}"/>
          </ac:picMkLst>
        </pc:picChg>
      </pc:sldChg>
      <pc:sldChg chg="addSp add mod">
        <pc:chgData name="Dieter Beaven" userId="9bbdb69f-69d0-4759-aa9b-5c090a2da237" providerId="ADAL" clId="{2DB8DF60-AA83-4132-9786-83AC8C721742}" dt="2025-10-17T09:41:52.696" v="14" actId="22"/>
        <pc:sldMkLst>
          <pc:docMk/>
          <pc:sldMk cId="1821214407" sldId="555"/>
        </pc:sldMkLst>
        <pc:picChg chg="add">
          <ac:chgData name="Dieter Beaven" userId="9bbdb69f-69d0-4759-aa9b-5c090a2da237" providerId="ADAL" clId="{2DB8DF60-AA83-4132-9786-83AC8C721742}" dt="2025-10-17T09:41:52.696" v="14" actId="22"/>
          <ac:picMkLst>
            <pc:docMk/>
            <pc:sldMk cId="1821214407" sldId="555"/>
            <ac:picMk id="6" creationId="{5061DC7B-52BE-D83D-C869-02B387F922F9}"/>
          </ac:picMkLst>
        </pc:picChg>
      </pc:sldChg>
      <pc:sldChg chg="add del">
        <pc:chgData name="Dieter Beaven" userId="9bbdb69f-69d0-4759-aa9b-5c090a2da237" providerId="ADAL" clId="{2DB8DF60-AA83-4132-9786-83AC8C721742}" dt="2025-10-17T09:41:54.142" v="15" actId="47"/>
        <pc:sldMkLst>
          <pc:docMk/>
          <pc:sldMk cId="907633146" sldId="556"/>
        </pc:sldMkLst>
      </pc:sldChg>
    </pc:docChg>
  </pc:docChgLst>
  <pc:docChgLst>
    <pc:chgData name="Dieter Beaven" userId="9bbdb69f-69d0-4759-aa9b-5c090a2da237" providerId="ADAL" clId="{3736D5E5-739F-49F8-8648-95658EB5771D}"/>
    <pc:docChg chg="undo custSel delSld modSld">
      <pc:chgData name="Dieter Beaven" userId="9bbdb69f-69d0-4759-aa9b-5c090a2da237" providerId="ADAL" clId="{3736D5E5-739F-49F8-8648-95658EB5771D}" dt="2024-09-20T16:27:38.428" v="45" actId="20577"/>
      <pc:docMkLst>
        <pc:docMk/>
      </pc:docMkLst>
      <pc:sldChg chg="modSp">
        <pc:chgData name="Dieter Beaven" userId="9bbdb69f-69d0-4759-aa9b-5c090a2da237" providerId="ADAL" clId="{3736D5E5-739F-49F8-8648-95658EB5771D}" dt="2024-09-20T16:27:38.428" v="45" actId="2057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3736D5E5-739F-49F8-8648-95658EB5771D}" dt="2024-09-17T16:12:19.708" v="5" actId="47"/>
        <pc:sldMkLst>
          <pc:docMk/>
          <pc:sldMk cId="2097919484" sldId="503"/>
        </pc:sldMkLst>
      </pc:sldChg>
      <pc:sldChg chg="addSp delSp modSp mod addAnim delAnim">
        <pc:chgData name="Dieter Beaven" userId="9bbdb69f-69d0-4759-aa9b-5c090a2da237" providerId="ADAL" clId="{3736D5E5-739F-49F8-8648-95658EB5771D}" dt="2024-09-20T16:26:58.661" v="27" actId="1076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3736D5E5-739F-49F8-8648-95658EB5771D}" dt="2024-09-17T16:12:18.145" v="1" actId="47"/>
        <pc:sldMkLst>
          <pc:docMk/>
          <pc:sldMk cId="3587264838" sldId="515"/>
        </pc:sldMkLst>
      </pc:sldChg>
      <pc:sldChg chg="del">
        <pc:chgData name="Dieter Beaven" userId="9bbdb69f-69d0-4759-aa9b-5c090a2da237" providerId="ADAL" clId="{3736D5E5-739F-49F8-8648-95658EB5771D}" dt="2024-09-17T16:12:18.486" v="2" actId="47"/>
        <pc:sldMkLst>
          <pc:docMk/>
          <pc:sldMk cId="1162890895" sldId="516"/>
        </pc:sldMkLst>
      </pc:sldChg>
      <pc:sldChg chg="del">
        <pc:chgData name="Dieter Beaven" userId="9bbdb69f-69d0-4759-aa9b-5c090a2da237" providerId="ADAL" clId="{3736D5E5-739F-49F8-8648-95658EB5771D}" dt="2024-09-17T16:12:19.107" v="3" actId="47"/>
        <pc:sldMkLst>
          <pc:docMk/>
          <pc:sldMk cId="2008796709" sldId="517"/>
        </pc:sldMkLst>
      </pc:sldChg>
      <pc:sldChg chg="del">
        <pc:chgData name="Dieter Beaven" userId="9bbdb69f-69d0-4759-aa9b-5c090a2da237" providerId="ADAL" clId="{3736D5E5-739F-49F8-8648-95658EB5771D}" dt="2024-09-17T16:12:19.696" v="4" actId="47"/>
        <pc:sldMkLst>
          <pc:docMk/>
          <pc:sldMk cId="3124780132" sldId="518"/>
        </pc:sldMkLst>
      </pc:sldChg>
      <pc:sldChg chg="del">
        <pc:chgData name="Dieter Beaven" userId="9bbdb69f-69d0-4759-aa9b-5c090a2da237" providerId="ADAL" clId="{3736D5E5-739F-49F8-8648-95658EB5771D}" dt="2024-09-17T16:12:20.787" v="7" actId="47"/>
        <pc:sldMkLst>
          <pc:docMk/>
          <pc:sldMk cId="3312647161" sldId="519"/>
        </pc:sldMkLst>
      </pc:sldChg>
      <pc:sldChg chg="del">
        <pc:chgData name="Dieter Beaven" userId="9bbdb69f-69d0-4759-aa9b-5c090a2da237" providerId="ADAL" clId="{3736D5E5-739F-49F8-8648-95658EB5771D}" dt="2024-09-17T16:12:21.247" v="8" actId="47"/>
        <pc:sldMkLst>
          <pc:docMk/>
          <pc:sldMk cId="3196817432" sldId="520"/>
        </pc:sldMkLst>
      </pc:sldChg>
      <pc:sldChg chg="del">
        <pc:chgData name="Dieter Beaven" userId="9bbdb69f-69d0-4759-aa9b-5c090a2da237" providerId="ADAL" clId="{3736D5E5-739F-49F8-8648-95658EB5771D}" dt="2024-09-17T16:12:21.260" v="9" actId="47"/>
        <pc:sldMkLst>
          <pc:docMk/>
          <pc:sldMk cId="216391128" sldId="521"/>
        </pc:sldMkLst>
      </pc:sldChg>
      <pc:sldChg chg="del">
        <pc:chgData name="Dieter Beaven" userId="9bbdb69f-69d0-4759-aa9b-5c090a2da237" providerId="ADAL" clId="{3736D5E5-739F-49F8-8648-95658EB5771D}" dt="2024-09-17T16:12:23.138" v="11" actId="47"/>
        <pc:sldMkLst>
          <pc:docMk/>
          <pc:sldMk cId="3052028698" sldId="522"/>
        </pc:sldMkLst>
      </pc:sldChg>
      <pc:sldChg chg="del">
        <pc:chgData name="Dieter Beaven" userId="9bbdb69f-69d0-4759-aa9b-5c090a2da237" providerId="ADAL" clId="{3736D5E5-739F-49F8-8648-95658EB5771D}" dt="2024-09-17T16:12:24.348" v="12" actId="47"/>
        <pc:sldMkLst>
          <pc:docMk/>
          <pc:sldMk cId="623853206" sldId="523"/>
        </pc:sldMkLst>
      </pc:sldChg>
      <pc:sldChg chg="del">
        <pc:chgData name="Dieter Beaven" userId="9bbdb69f-69d0-4759-aa9b-5c090a2da237" providerId="ADAL" clId="{3736D5E5-739F-49F8-8648-95658EB5771D}" dt="2024-09-17T16:12:25.073" v="13" actId="47"/>
        <pc:sldMkLst>
          <pc:docMk/>
          <pc:sldMk cId="280797512" sldId="524"/>
        </pc:sldMkLst>
      </pc:sldChg>
      <pc:sldChg chg="addSp modSp mod">
        <pc:chgData name="Dieter Beaven" userId="9bbdb69f-69d0-4759-aa9b-5c090a2da237" providerId="ADAL" clId="{3736D5E5-739F-49F8-8648-95658EB5771D}" dt="2024-09-20T16:25:21.649" v="17" actId="1035"/>
        <pc:sldMkLst>
          <pc:docMk/>
          <pc:sldMk cId="3896053727" sldId="543"/>
        </pc:sldMkLst>
      </pc:sldChg>
      <pc:sldChg chg="del">
        <pc:chgData name="Dieter Beaven" userId="9bbdb69f-69d0-4759-aa9b-5c090a2da237" providerId="ADAL" clId="{3736D5E5-739F-49F8-8648-95658EB5771D}" dt="2024-09-20T16:25:25.114" v="18" actId="47"/>
        <pc:sldMkLst>
          <pc:docMk/>
          <pc:sldMk cId="446446822" sldId="544"/>
        </pc:sldMkLst>
      </pc:sldChg>
      <pc:sldChg chg="addSp modSp mod">
        <pc:chgData name="Dieter Beaven" userId="9bbdb69f-69d0-4759-aa9b-5c090a2da237" providerId="ADAL" clId="{3736D5E5-739F-49F8-8648-95658EB5771D}" dt="2024-09-20T16:26:14.209" v="20" actId="1076"/>
        <pc:sldMkLst>
          <pc:docMk/>
          <pc:sldMk cId="3458699803" sldId="545"/>
        </pc:sldMkLst>
      </pc:sldChg>
      <pc:sldChg chg="del">
        <pc:chgData name="Dieter Beaven" userId="9bbdb69f-69d0-4759-aa9b-5c090a2da237" providerId="ADAL" clId="{3736D5E5-739F-49F8-8648-95658EB5771D}" dt="2024-09-17T16:12:17.231" v="0" actId="47"/>
        <pc:sldMkLst>
          <pc:docMk/>
          <pc:sldMk cId="4071243651" sldId="548"/>
        </pc:sldMkLst>
      </pc:sldChg>
      <pc:sldChg chg="del">
        <pc:chgData name="Dieter Beaven" userId="9bbdb69f-69d0-4759-aa9b-5c090a2da237" providerId="ADAL" clId="{3736D5E5-739F-49F8-8648-95658EB5771D}" dt="2024-09-17T16:12:20.028" v="6" actId="47"/>
        <pc:sldMkLst>
          <pc:docMk/>
          <pc:sldMk cId="4190994049" sldId="550"/>
        </pc:sldMkLst>
      </pc:sldChg>
      <pc:sldChg chg="del">
        <pc:chgData name="Dieter Beaven" userId="9bbdb69f-69d0-4759-aa9b-5c090a2da237" providerId="ADAL" clId="{3736D5E5-739F-49F8-8648-95658EB5771D}" dt="2024-09-17T16:12:21.650" v="10" actId="4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E502D71B-5CBE-4011-BECB-2957A9128D53}"/>
    <pc:docChg chg="custSel addSld modSld">
      <pc:chgData name="Dieter Beaven" userId="9bbdb69f-69d0-4759-aa9b-5c090a2da237" providerId="ADAL" clId="{E502D71B-5CBE-4011-BECB-2957A9128D53}" dt="2025-08-27T09:24:23.638" v="13" actId="1076"/>
      <pc:docMkLst>
        <pc:docMk/>
      </pc:docMkLst>
      <pc:sldChg chg="addSp modSp mod">
        <pc:chgData name="Dieter Beaven" userId="9bbdb69f-69d0-4759-aa9b-5c090a2da237" providerId="ADAL" clId="{E502D71B-5CBE-4011-BECB-2957A9128D53}" dt="2025-08-27T09:22:33.989" v="4" actId="1035"/>
        <pc:sldMkLst>
          <pc:docMk/>
          <pc:sldMk cId="3896053727" sldId="543"/>
        </pc:sldMkLst>
      </pc:sldChg>
      <pc:sldChg chg="addSp modSp mod">
        <pc:chgData name="Dieter Beaven" userId="9bbdb69f-69d0-4759-aa9b-5c090a2da237" providerId="ADAL" clId="{E502D71B-5CBE-4011-BECB-2957A9128D53}" dt="2025-08-27T09:23:07.375" v="7" actId="1036"/>
        <pc:sldMkLst>
          <pc:docMk/>
          <pc:sldMk cId="4091202299" sldId="550"/>
        </pc:sldMkLst>
      </pc:sldChg>
      <pc:sldChg chg="addSp modSp mod">
        <pc:chgData name="Dieter Beaven" userId="9bbdb69f-69d0-4759-aa9b-5c090a2da237" providerId="ADAL" clId="{E502D71B-5CBE-4011-BECB-2957A9128D53}" dt="2025-08-27T09:24:04.379" v="9" actId="1076"/>
        <pc:sldMkLst>
          <pc:docMk/>
          <pc:sldMk cId="3826585799" sldId="551"/>
        </pc:sldMkLst>
      </pc:sldChg>
      <pc:sldChg chg="addSp delSp modSp add mod">
        <pc:chgData name="Dieter Beaven" userId="9bbdb69f-69d0-4759-aa9b-5c090a2da237" providerId="ADAL" clId="{E502D71B-5CBE-4011-BECB-2957A9128D53}" dt="2025-08-27T09:24:23.638" v="13" actId="1076"/>
        <pc:sldMkLst>
          <pc:docMk/>
          <pc:sldMk cId="1259666615" sldId="554"/>
        </pc:sldMkLst>
      </pc:sldChg>
    </pc:docChg>
  </pc:docChgLst>
  <pc:docChgLst>
    <pc:chgData name="Dieter Beaven" userId="S::dbeaven@newsteadwood.co.uk::9bbdb69f-69d0-4759-aa9b-5c090a2da237" providerId="AD" clId="Web-{6BD7071B-32F0-A215-B523-DBD5E937F1B5}"/>
    <pc:docChg chg="modSld">
      <pc:chgData name="Dieter Beaven" userId="S::dbeaven@newsteadwood.co.uk::9bbdb69f-69d0-4759-aa9b-5c090a2da237" providerId="AD" clId="Web-{6BD7071B-32F0-A215-B523-DBD5E937F1B5}" dt="2024-09-23T10:28:21.091" v="1" actId="20577"/>
      <pc:docMkLst>
        <pc:docMk/>
      </pc:docMkLst>
      <pc:sldChg chg="modSp">
        <pc:chgData name="Dieter Beaven" userId="S::dbeaven@newsteadwood.co.uk::9bbdb69f-69d0-4759-aa9b-5c090a2da237" providerId="AD" clId="Web-{6BD7071B-32F0-A215-B523-DBD5E937F1B5}" dt="2024-09-23T10:28:21.091" v="1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AEBAE04E-4907-4488-9BE2-3C2C331A46F1}"/>
    <pc:docChg chg="modSld">
      <pc:chgData name="Dieter Beaven" userId="9bbdb69f-69d0-4759-aa9b-5c090a2da237" providerId="ADAL" clId="{AEBAE04E-4907-4488-9BE2-3C2C331A46F1}" dt="2025-04-25T15:29:32.696" v="3" actId="20577"/>
      <pc:docMkLst>
        <pc:docMk/>
      </pc:docMkLst>
      <pc:sldChg chg="modSp mod">
        <pc:chgData name="Dieter Beaven" userId="9bbdb69f-69d0-4759-aa9b-5c090a2da237" providerId="ADAL" clId="{AEBAE04E-4907-4488-9BE2-3C2C331A46F1}" dt="2025-04-25T15:29:28.587" v="1" actId="20577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AEBAE04E-4907-4488-9BE2-3C2C331A46F1}" dt="2025-04-25T15:29:32.696" v="3" actId="20577"/>
        <pc:sldMkLst>
          <pc:docMk/>
          <pc:sldMk cId="3055658135" sldId="549"/>
        </pc:sldMkLst>
      </pc:sldChg>
    </pc:docChg>
  </pc:docChgLst>
  <pc:docChgLst>
    <pc:chgData name="Dieter Beaven" userId="9bbdb69f-69d0-4759-aa9b-5c090a2da237" providerId="ADAL" clId="{1C892770-E48D-412B-AA99-7BE3E2823042}"/>
    <pc:docChg chg="custSel addSld delSld modSld">
      <pc:chgData name="Dieter Beaven" userId="9bbdb69f-69d0-4759-aa9b-5c090a2da237" providerId="ADAL" clId="{1C892770-E48D-412B-AA99-7BE3E2823042}" dt="2025-04-24T16:01:51.069" v="48"/>
      <pc:docMkLst>
        <pc:docMk/>
      </pc:docMkLst>
      <pc:sldChg chg="del">
        <pc:chgData name="Dieter Beaven" userId="9bbdb69f-69d0-4759-aa9b-5c090a2da237" providerId="ADAL" clId="{1C892770-E48D-412B-AA99-7BE3E2823042}" dt="2025-04-24T16:01:13.369" v="38" actId="4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1C892770-E48D-412B-AA99-7BE3E2823042}" dt="2025-04-24T16:01:14.591" v="39" actId="47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1C892770-E48D-412B-AA99-7BE3E2823042}" dt="2025-04-24T16:01:15.393" v="40" actId="47"/>
        <pc:sldMkLst>
          <pc:docMk/>
          <pc:sldMk cId="767054381" sldId="514"/>
        </pc:sldMkLst>
      </pc:sldChg>
      <pc:sldChg chg="delSp mod">
        <pc:chgData name="Dieter Beaven" userId="9bbdb69f-69d0-4759-aa9b-5c090a2da237" providerId="ADAL" clId="{1C892770-E48D-412B-AA99-7BE3E2823042}" dt="2025-04-24T16:01:18.643" v="41" actId="478"/>
        <pc:sldMkLst>
          <pc:docMk/>
          <pc:sldMk cId="3896053727" sldId="543"/>
        </pc:sldMkLst>
      </pc:sldChg>
      <pc:sldChg chg="delSp mod">
        <pc:chgData name="Dieter Beaven" userId="9bbdb69f-69d0-4759-aa9b-5c090a2da237" providerId="ADAL" clId="{1C892770-E48D-412B-AA99-7BE3E2823042}" dt="2025-04-24T16:01:20.187" v="42" actId="478"/>
        <pc:sldMkLst>
          <pc:docMk/>
          <pc:sldMk cId="3458699803" sldId="545"/>
        </pc:sldMkLst>
      </pc:sldChg>
      <pc:sldChg chg="modSp mod">
        <pc:chgData name="Dieter Beaven" userId="9bbdb69f-69d0-4759-aa9b-5c090a2da237" providerId="ADAL" clId="{1C892770-E48D-412B-AA99-7BE3E2823042}" dt="2025-04-24T16:01:06.370" v="37" actId="6549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1C892770-E48D-412B-AA99-7BE3E2823042}" dt="2025-04-24T16:01:42.159" v="45" actId="6549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1C892770-E48D-412B-AA99-7BE3E2823042}" dt="2025-04-24T16:01:47.507" v="46"/>
        <pc:sldMkLst>
          <pc:docMk/>
          <pc:sldMk cId="4091202299" sldId="550"/>
        </pc:sldMkLst>
      </pc:sldChg>
      <pc:sldChg chg="add">
        <pc:chgData name="Dieter Beaven" userId="9bbdb69f-69d0-4759-aa9b-5c090a2da237" providerId="ADAL" clId="{1C892770-E48D-412B-AA99-7BE3E2823042}" dt="2025-04-24T16:01:48.048" v="47"/>
        <pc:sldMkLst>
          <pc:docMk/>
          <pc:sldMk cId="3826585799" sldId="551"/>
        </pc:sldMkLst>
      </pc:sldChg>
      <pc:sldChg chg="add">
        <pc:chgData name="Dieter Beaven" userId="9bbdb69f-69d0-4759-aa9b-5c090a2da237" providerId="ADAL" clId="{1C892770-E48D-412B-AA99-7BE3E2823042}" dt="2025-04-24T16:01:51.069" v="48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E435DBB9-728B-42FC-8583-47DE17847E56}"/>
    <pc:docChg chg="undo custSel addSld modSld">
      <pc:chgData name="Dieter Beaven" userId="9bbdb69f-69d0-4759-aa9b-5c090a2da237" providerId="ADAL" clId="{E435DBB9-728B-42FC-8583-47DE17847E56}" dt="2025-05-13T15:03:48.425" v="70"/>
      <pc:docMkLst>
        <pc:docMk/>
      </pc:docMkLst>
      <pc:sldChg chg="add">
        <pc:chgData name="Dieter Beaven" userId="9bbdb69f-69d0-4759-aa9b-5c090a2da237" providerId="ADAL" clId="{E435DBB9-728B-42FC-8583-47DE17847E56}" dt="2025-05-13T14:59:33.654" v="0"/>
        <pc:sldMkLst>
          <pc:docMk/>
          <pc:sldMk cId="3948183430" sldId="531"/>
        </pc:sldMkLst>
      </pc:sldChg>
      <pc:sldChg chg="addSp modSp add mod modAnim">
        <pc:chgData name="Dieter Beaven" userId="9bbdb69f-69d0-4759-aa9b-5c090a2da237" providerId="ADAL" clId="{E435DBB9-728B-42FC-8583-47DE17847E56}" dt="2025-05-13T15:01:18.884" v="69" actId="20577"/>
        <pc:sldMkLst>
          <pc:docMk/>
          <pc:sldMk cId="1321612446" sldId="533"/>
        </pc:sldMkLst>
      </pc:sldChg>
      <pc:sldChg chg="add">
        <pc:chgData name="Dieter Beaven" userId="9bbdb69f-69d0-4759-aa9b-5c090a2da237" providerId="ADAL" clId="{E435DBB9-728B-42FC-8583-47DE17847E56}" dt="2025-05-13T14:59:33.654" v="0"/>
        <pc:sldMkLst>
          <pc:docMk/>
          <pc:sldMk cId="3244832820" sldId="534"/>
        </pc:sldMkLst>
      </pc:sldChg>
      <pc:sldChg chg="add">
        <pc:chgData name="Dieter Beaven" userId="9bbdb69f-69d0-4759-aa9b-5c090a2da237" providerId="ADAL" clId="{E435DBB9-728B-42FC-8583-47DE17847E56}" dt="2025-05-13T14:59:33.654" v="0"/>
        <pc:sldMkLst>
          <pc:docMk/>
          <pc:sldMk cId="296802942" sldId="535"/>
        </pc:sldMkLst>
      </pc:sldChg>
      <pc:sldChg chg="add">
        <pc:chgData name="Dieter Beaven" userId="9bbdb69f-69d0-4759-aa9b-5c090a2da237" providerId="ADAL" clId="{E435DBB9-728B-42FC-8583-47DE17847E56}" dt="2025-05-13T14:59:33.654" v="0"/>
        <pc:sldMkLst>
          <pc:docMk/>
          <pc:sldMk cId="531529521" sldId="536"/>
        </pc:sldMkLst>
      </pc:sldChg>
      <pc:sldChg chg="add">
        <pc:chgData name="Dieter Beaven" userId="9bbdb69f-69d0-4759-aa9b-5c090a2da237" providerId="ADAL" clId="{E435DBB9-728B-42FC-8583-47DE17847E56}" dt="2025-05-13T14:59:33.654" v="0"/>
        <pc:sldMkLst>
          <pc:docMk/>
          <pc:sldMk cId="1429917396" sldId="537"/>
        </pc:sldMkLst>
      </pc:sldChg>
      <pc:sldChg chg="add">
        <pc:chgData name="Dieter Beaven" userId="9bbdb69f-69d0-4759-aa9b-5c090a2da237" providerId="ADAL" clId="{E435DBB9-728B-42FC-8583-47DE17847E56}" dt="2025-05-13T15:03:48.425" v="70"/>
        <pc:sldMkLst>
          <pc:docMk/>
          <pc:sldMk cId="2452893539" sldId="539"/>
        </pc:sldMkLst>
      </pc:sldChg>
      <pc:sldChg chg="modSp mod">
        <pc:chgData name="Dieter Beaven" userId="9bbdb69f-69d0-4759-aa9b-5c090a2da237" providerId="ADAL" clId="{E435DBB9-728B-42FC-8583-47DE17847E56}" dt="2025-05-13T15:00:16.933" v="36" actId="20577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E435DBB9-728B-42FC-8583-47DE17847E56}" dt="2025-05-13T14:59:50.350" v="9" actId="6549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E435DBB9-728B-42FC-8583-47DE17847E56}" dt="2025-05-13T15:03:48.425" v="70"/>
        <pc:sldMkLst>
          <pc:docMk/>
          <pc:sldMk cId="1920434368" sldId="553"/>
        </pc:sldMkLst>
      </pc:sldChg>
    </pc:docChg>
  </pc:docChgLst>
  <pc:docChgLst>
    <pc:chgData name="Dieter Beaven" userId="9bbdb69f-69d0-4759-aa9b-5c090a2da237" providerId="ADAL" clId="{2A5AE0E2-2788-4AA7-8B3C-A04471EF5D14}"/>
    <pc:docChg chg="custSel addSld delSld modSld">
      <pc:chgData name="Dieter Beaven" userId="9bbdb69f-69d0-4759-aa9b-5c090a2da237" providerId="ADAL" clId="{2A5AE0E2-2788-4AA7-8B3C-A04471EF5D14}" dt="2024-09-17T16:09:35.830" v="251" actId="47"/>
      <pc:docMkLst>
        <pc:docMk/>
      </pc:docMkLst>
      <pc:sldChg chg="del">
        <pc:chgData name="Dieter Beaven" userId="9bbdb69f-69d0-4759-aa9b-5c090a2da237" providerId="ADAL" clId="{2A5AE0E2-2788-4AA7-8B3C-A04471EF5D14}" dt="2024-09-17T16:01:05.070" v="1" actId="47"/>
        <pc:sldMkLst>
          <pc:docMk/>
          <pc:sldMk cId="2913017854" sldId="481"/>
        </pc:sldMkLst>
      </pc:sldChg>
      <pc:sldChg chg="del">
        <pc:chgData name="Dieter Beaven" userId="9bbdb69f-69d0-4759-aa9b-5c090a2da237" providerId="ADAL" clId="{2A5AE0E2-2788-4AA7-8B3C-A04471EF5D14}" dt="2024-09-17T16:01:10.136" v="3" actId="47"/>
        <pc:sldMkLst>
          <pc:docMk/>
          <pc:sldMk cId="3808051470" sldId="483"/>
        </pc:sldMkLst>
      </pc:sldChg>
      <pc:sldChg chg="modSp mod">
        <pc:chgData name="Dieter Beaven" userId="9bbdb69f-69d0-4759-aa9b-5c090a2da237" providerId="ADAL" clId="{2A5AE0E2-2788-4AA7-8B3C-A04471EF5D14}" dt="2024-09-17T16:06:58.646" v="119" actId="6549"/>
        <pc:sldMkLst>
          <pc:docMk/>
          <pc:sldMk cId="2097919484" sldId="503"/>
        </pc:sldMkLst>
      </pc:sldChg>
      <pc:sldChg chg="modSp mod">
        <pc:chgData name="Dieter Beaven" userId="9bbdb69f-69d0-4759-aa9b-5c090a2da237" providerId="ADAL" clId="{2A5AE0E2-2788-4AA7-8B3C-A04471EF5D14}" dt="2024-09-17T16:08:22.961" v="181" actId="20577"/>
        <pc:sldMkLst>
          <pc:docMk/>
          <pc:sldMk cId="216391128" sldId="521"/>
        </pc:sldMkLst>
      </pc:sldChg>
      <pc:sldChg chg="modSp mod">
        <pc:chgData name="Dieter Beaven" userId="9bbdb69f-69d0-4759-aa9b-5c090a2da237" providerId="ADAL" clId="{2A5AE0E2-2788-4AA7-8B3C-A04471EF5D14}" dt="2024-09-17T16:09:15.811" v="250" actId="20577"/>
        <pc:sldMkLst>
          <pc:docMk/>
          <pc:sldMk cId="280797512" sldId="524"/>
        </pc:sldMkLst>
      </pc:sldChg>
      <pc:sldChg chg="del">
        <pc:chgData name="Dieter Beaven" userId="9bbdb69f-69d0-4759-aa9b-5c090a2da237" providerId="ADAL" clId="{2A5AE0E2-2788-4AA7-8B3C-A04471EF5D14}" dt="2024-09-17T16:09:35.830" v="251" actId="47"/>
        <pc:sldMkLst>
          <pc:docMk/>
          <pc:sldMk cId="2491822179" sldId="525"/>
        </pc:sldMkLst>
      </pc:sldChg>
      <pc:sldChg chg="del">
        <pc:chgData name="Dieter Beaven" userId="9bbdb69f-69d0-4759-aa9b-5c090a2da237" providerId="ADAL" clId="{2A5AE0E2-2788-4AA7-8B3C-A04471EF5D14}" dt="2024-09-17T16:01:06.407" v="2" actId="47"/>
        <pc:sldMkLst>
          <pc:docMk/>
          <pc:sldMk cId="3958245491" sldId="526"/>
        </pc:sldMkLst>
      </pc:sldChg>
      <pc:sldChg chg="modSp add mod">
        <pc:chgData name="Dieter Beaven" userId="9bbdb69f-69d0-4759-aa9b-5c090a2da237" providerId="ADAL" clId="{2A5AE0E2-2788-4AA7-8B3C-A04471EF5D14}" dt="2024-09-17T16:01:47.892" v="41" actId="20577"/>
        <pc:sldMkLst>
          <pc:docMk/>
          <pc:sldMk cId="3991975165" sldId="547"/>
        </pc:sldMkLst>
      </pc:sldChg>
      <pc:sldChg chg="modSp add mod">
        <pc:chgData name="Dieter Beaven" userId="9bbdb69f-69d0-4759-aa9b-5c090a2da237" providerId="ADAL" clId="{2A5AE0E2-2788-4AA7-8B3C-A04471EF5D14}" dt="2024-09-17T16:04:57.733" v="104" actId="20577"/>
        <pc:sldMkLst>
          <pc:docMk/>
          <pc:sldMk cId="4071243651" sldId="548"/>
        </pc:sldMkLst>
      </pc:sldChg>
      <pc:sldChg chg="modSp add mod">
        <pc:chgData name="Dieter Beaven" userId="9bbdb69f-69d0-4759-aa9b-5c090a2da237" providerId="ADAL" clId="{2A5AE0E2-2788-4AA7-8B3C-A04471EF5D14}" dt="2024-09-17T16:03:59.444" v="54" actId="20577"/>
        <pc:sldMkLst>
          <pc:docMk/>
          <pc:sldMk cId="3055658135" sldId="549"/>
        </pc:sldMkLst>
      </pc:sldChg>
      <pc:sldChg chg="modSp add mod">
        <pc:chgData name="Dieter Beaven" userId="9bbdb69f-69d0-4759-aa9b-5c090a2da237" providerId="ADAL" clId="{2A5AE0E2-2788-4AA7-8B3C-A04471EF5D14}" dt="2024-09-17T16:07:44.310" v="168" actId="20577"/>
        <pc:sldMkLst>
          <pc:docMk/>
          <pc:sldMk cId="4190994049" sldId="550"/>
        </pc:sldMkLst>
      </pc:sldChg>
      <pc:sldChg chg="modSp add mod">
        <pc:chgData name="Dieter Beaven" userId="9bbdb69f-69d0-4759-aa9b-5c090a2da237" providerId="ADAL" clId="{2A5AE0E2-2788-4AA7-8B3C-A04471EF5D14}" dt="2024-09-17T16:08:53.370" v="235" actId="2057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BC489C12-7655-4349-A9B7-B3F187814AC5}"/>
    <pc:docChg chg="modSld">
      <pc:chgData name="Dieter Beaven" userId="9bbdb69f-69d0-4759-aa9b-5c090a2da237" providerId="ADAL" clId="{BC489C12-7655-4349-A9B7-B3F187814AC5}" dt="2025-04-29T13:37:22.258" v="33" actId="20577"/>
      <pc:docMkLst>
        <pc:docMk/>
      </pc:docMkLst>
      <pc:sldChg chg="modSp mod">
        <pc:chgData name="Dieter Beaven" userId="9bbdb69f-69d0-4759-aa9b-5c090a2da237" providerId="ADAL" clId="{BC489C12-7655-4349-A9B7-B3F187814AC5}" dt="2025-04-29T13:37:22.258" v="33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5BC22596-4F92-4FA2-85D4-CE6A6FE2A641}"/>
    <pc:docChg chg="custSel addSld modSld">
      <pc:chgData name="Dieter Beaven" userId="9bbdb69f-69d0-4759-aa9b-5c090a2da237" providerId="ADAL" clId="{5BC22596-4F92-4FA2-85D4-CE6A6FE2A641}" dt="2024-09-17T16:11:36.921" v="3" actId="478"/>
      <pc:docMkLst>
        <pc:docMk/>
      </pc:docMkLst>
      <pc:sldChg chg="delSp add mod">
        <pc:chgData name="Dieter Beaven" userId="9bbdb69f-69d0-4759-aa9b-5c090a2da237" providerId="ADAL" clId="{5BC22596-4F92-4FA2-85D4-CE6A6FE2A641}" dt="2024-09-17T16:11:36.921" v="3" actId="478"/>
        <pc:sldMkLst>
          <pc:docMk/>
          <pc:sldMk cId="3896053727" sldId="543"/>
        </pc:sldMkLst>
      </pc:sldChg>
      <pc:sldChg chg="delSp add mod">
        <pc:chgData name="Dieter Beaven" userId="9bbdb69f-69d0-4759-aa9b-5c090a2da237" providerId="ADAL" clId="{5BC22596-4F92-4FA2-85D4-CE6A6FE2A641}" dt="2024-09-17T16:11:35.672" v="2" actId="478"/>
        <pc:sldMkLst>
          <pc:docMk/>
          <pc:sldMk cId="446446822" sldId="544"/>
        </pc:sldMkLst>
      </pc:sldChg>
      <pc:sldChg chg="delSp add mod">
        <pc:chgData name="Dieter Beaven" userId="9bbdb69f-69d0-4759-aa9b-5c090a2da237" providerId="ADAL" clId="{5BC22596-4F92-4FA2-85D4-CE6A6FE2A641}" dt="2024-09-17T16:11:34.191" v="1" actId="478"/>
        <pc:sldMkLst>
          <pc:docMk/>
          <pc:sldMk cId="3458699803" sldId="54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17/10/2025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17/10/2025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17/10/2025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17/10/2025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17/10/2025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17/10/2025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17/10/2025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17/10/2025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17/10/2025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17/10/2025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17/10/2025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17/10/2025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17/10/2025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0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10.png"/><Relationship Id="rId18" Type="http://schemas.openxmlformats.org/officeDocument/2006/relationships/image" Target="../media/image2810.png"/><Relationship Id="rId26" Type="http://schemas.openxmlformats.org/officeDocument/2006/relationships/image" Target="../media/image330.png"/><Relationship Id="rId21" Type="http://schemas.openxmlformats.org/officeDocument/2006/relationships/image" Target="../media/image1811.png"/><Relationship Id="rId12" Type="http://schemas.openxmlformats.org/officeDocument/2006/relationships/image" Target="../media/image1611.png"/><Relationship Id="rId17" Type="http://schemas.openxmlformats.org/officeDocument/2006/relationships/image" Target="../media/image2710.png"/><Relationship Id="rId25" Type="http://schemas.openxmlformats.org/officeDocument/2006/relationships/image" Target="../media/image320.png"/><Relationship Id="rId16" Type="http://schemas.openxmlformats.org/officeDocument/2006/relationships/image" Target="../media/image2610.png"/><Relationship Id="rId20" Type="http://schemas.openxmlformats.org/officeDocument/2006/relationships/image" Target="../media/image295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2110.png"/><Relationship Id="rId24" Type="http://schemas.openxmlformats.org/officeDocument/2006/relationships/image" Target="../media/image1.png"/><Relationship Id="rId23" Type="http://schemas.openxmlformats.org/officeDocument/2006/relationships/image" Target="../media/image2010.png"/><Relationship Id="rId28" Type="http://schemas.openxmlformats.org/officeDocument/2006/relationships/image" Target="../media/image2511.png"/><Relationship Id="rId19" Type="http://schemas.openxmlformats.org/officeDocument/2006/relationships/image" Target="../media/image1710.png"/><Relationship Id="rId14" Type="http://schemas.openxmlformats.org/officeDocument/2006/relationships/image" Target="../media/image2410.png"/><Relationship Id="rId22" Type="http://schemas.openxmlformats.org/officeDocument/2006/relationships/image" Target="../media/image1911.png"/><Relationship Id="rId9" Type="http://schemas.openxmlformats.org/officeDocument/2006/relationships/image" Target="../media/image1810.png"/><Relationship Id="rId27" Type="http://schemas.openxmlformats.org/officeDocument/2006/relationships/image" Target="../media/image22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25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0.png"/><Relationship Id="rId5" Type="http://schemas.openxmlformats.org/officeDocument/2006/relationships/image" Target="../media/image340.png"/><Relationship Id="rId4" Type="http://schemas.openxmlformats.org/officeDocument/2006/relationships/image" Target="../media/image3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0.png"/><Relationship Id="rId13" Type="http://schemas.openxmlformats.org/officeDocument/2006/relationships/image" Target="../media/image470.png"/><Relationship Id="rId3" Type="http://schemas.openxmlformats.org/officeDocument/2006/relationships/image" Target="../media/image370.png"/><Relationship Id="rId7" Type="http://schemas.openxmlformats.org/officeDocument/2006/relationships/image" Target="../media/image410.png"/><Relationship Id="rId12" Type="http://schemas.openxmlformats.org/officeDocument/2006/relationships/image" Target="../media/image460.png"/><Relationship Id="rId2" Type="http://schemas.openxmlformats.org/officeDocument/2006/relationships/image" Target="../media/image361.png"/><Relationship Id="rId16" Type="http://schemas.openxmlformats.org/officeDocument/2006/relationships/image" Target="../media/image50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0.png"/><Relationship Id="rId11" Type="http://schemas.openxmlformats.org/officeDocument/2006/relationships/image" Target="../media/image450.png"/><Relationship Id="rId5" Type="http://schemas.openxmlformats.org/officeDocument/2006/relationships/image" Target="../media/image390.png"/><Relationship Id="rId15" Type="http://schemas.openxmlformats.org/officeDocument/2006/relationships/image" Target="../media/image55.png"/><Relationship Id="rId10" Type="http://schemas.openxmlformats.org/officeDocument/2006/relationships/image" Target="../media/image440.png"/><Relationship Id="rId4" Type="http://schemas.openxmlformats.org/officeDocument/2006/relationships/image" Target="../media/image380.png"/><Relationship Id="rId9" Type="http://schemas.openxmlformats.org/officeDocument/2006/relationships/image" Target="../media/image430.png"/><Relationship Id="rId14" Type="http://schemas.openxmlformats.org/officeDocument/2006/relationships/image" Target="../media/image48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1.png"/><Relationship Id="rId13" Type="http://schemas.openxmlformats.org/officeDocument/2006/relationships/image" Target="../media/image60.png"/><Relationship Id="rId18" Type="http://schemas.openxmlformats.org/officeDocument/2006/relationships/image" Target="../media/image65.png"/><Relationship Id="rId3" Type="http://schemas.openxmlformats.org/officeDocument/2006/relationships/image" Target="../media/image450.png"/><Relationship Id="rId21" Type="http://schemas.openxmlformats.org/officeDocument/2006/relationships/image" Target="../media/image68.png"/><Relationship Id="rId7" Type="http://schemas.openxmlformats.org/officeDocument/2006/relationships/image" Target="../media/image541.pn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" Type="http://schemas.openxmlformats.org/officeDocument/2006/relationships/image" Target="../media/image511.png"/><Relationship Id="rId16" Type="http://schemas.openxmlformats.org/officeDocument/2006/relationships/image" Target="../media/image63.png"/><Relationship Id="rId20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1.png"/><Relationship Id="rId11" Type="http://schemas.openxmlformats.org/officeDocument/2006/relationships/image" Target="../media/image58.png"/><Relationship Id="rId5" Type="http://schemas.openxmlformats.org/officeDocument/2006/relationships/image" Target="../media/image521.png"/><Relationship Id="rId15" Type="http://schemas.openxmlformats.org/officeDocument/2006/relationships/image" Target="../media/image62.png"/><Relationship Id="rId10" Type="http://schemas.openxmlformats.org/officeDocument/2006/relationships/image" Target="../media/image57.png"/><Relationship Id="rId19" Type="http://schemas.openxmlformats.org/officeDocument/2006/relationships/image" Target="../media/image66.png"/><Relationship Id="rId4" Type="http://schemas.openxmlformats.org/officeDocument/2006/relationships/image" Target="../media/image460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8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12" Type="http://schemas.openxmlformats.org/officeDocument/2006/relationships/image" Target="../media/image77.png"/><Relationship Id="rId2" Type="http://schemas.openxmlformats.org/officeDocument/2006/relationships/image" Target="../media/image6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11" Type="http://schemas.openxmlformats.org/officeDocument/2006/relationships/image" Target="../media/image76.png"/><Relationship Id="rId5" Type="http://schemas.openxmlformats.org/officeDocument/2006/relationships/image" Target="../media/image71.png"/><Relationship Id="rId10" Type="http://schemas.openxmlformats.org/officeDocument/2006/relationships/image" Target="../media/image75.png"/><Relationship Id="rId4" Type="http://schemas.openxmlformats.org/officeDocument/2006/relationships/image" Target="../media/image70.png"/><Relationship Id="rId9" Type="http://schemas.openxmlformats.org/officeDocument/2006/relationships/image" Target="../media/image40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3" Type="http://schemas.openxmlformats.org/officeDocument/2006/relationships/image" Target="../media/image1.jpeg"/><Relationship Id="rId7" Type="http://schemas.openxmlformats.org/officeDocument/2006/relationships/image" Target="../media/image90.png"/><Relationship Id="rId12" Type="http://schemas.openxmlformats.org/officeDocument/2006/relationships/image" Target="../media/image2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0" Type="http://schemas.openxmlformats.org/officeDocument/2006/relationships/image" Target="../media/image93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2: </a:t>
            </a:r>
            <a:r>
              <a:rPr lang="en-GB" dirty="0">
                <a:solidFill>
                  <a:schemeClr val="accent5"/>
                </a:solidFill>
              </a:rPr>
              <a:t>Graphing Functions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3D  Functions as Maps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7"/>
          <p:cNvGrpSpPr/>
          <p:nvPr/>
        </p:nvGrpSpPr>
        <p:grpSpPr>
          <a:xfrm>
            <a:off x="-1144" y="0"/>
            <a:ext cx="9145144" cy="599127"/>
            <a:chOff x="-1144" y="0"/>
            <a:chExt cx="9145144" cy="599127"/>
          </a:xfrm>
        </p:grpSpPr>
        <p:sp>
          <p:nvSpPr>
            <p:cNvPr id="6" name="TextBox 5"/>
            <p:cNvSpPr txBox="1"/>
            <p:nvPr/>
          </p:nvSpPr>
          <p:spPr>
            <a:xfrm>
              <a:off x="0" y="0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GB" sz="3200" dirty="0"/>
                <a:t>   What is a mapping?</a:t>
              </a:r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-1144" y="585216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8" name="Oval 7"/>
          <p:cNvSpPr/>
          <p:nvPr/>
        </p:nvSpPr>
        <p:spPr>
          <a:xfrm>
            <a:off x="1187624" y="1287378"/>
            <a:ext cx="1627765" cy="44637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/>
          <p:cNvSpPr/>
          <p:nvPr/>
        </p:nvSpPr>
        <p:spPr>
          <a:xfrm>
            <a:off x="5700791" y="1245242"/>
            <a:ext cx="1674567" cy="443366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1691680" y="162880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9712" y="2420888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7664" y="3212976"/>
            <a:ext cx="720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1.7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3728" y="3645024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80" y="4941168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19672" y="4293096"/>
            <a:ext cx="792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3.1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6176" y="1556792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-1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4208" y="234888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2160" y="3140968"/>
            <a:ext cx="1008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4.4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8224" y="3573016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6176" y="486916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...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4168" y="4221088"/>
            <a:ext cx="8640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7.2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92080" y="764704"/>
            <a:ext cx="3672408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A </a:t>
            </a:r>
            <a:r>
              <a:rPr lang="en-GB" b="1" dirty="0"/>
              <a:t>mapping</a:t>
            </a:r>
            <a:r>
              <a:rPr lang="en-GB" dirty="0"/>
              <a:t> is something which maps one set of numbers to another.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27584" y="836712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Inputs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0312" y="1633736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Outputs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62" y="6120035"/>
            <a:ext cx="4280155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latin typeface="Wingdings" panose="05000000000000000000" pitchFamily="2" charset="2"/>
              </a:rPr>
              <a:t>!</a:t>
            </a:r>
            <a:r>
              <a:rPr lang="en-GB" dirty="0"/>
              <a:t> The </a:t>
            </a:r>
            <a:r>
              <a:rPr lang="en-GB" b="1" dirty="0"/>
              <a:t>domain</a:t>
            </a:r>
            <a:r>
              <a:rPr lang="en-GB" dirty="0"/>
              <a:t> is the set of possible inputs.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120035"/>
            <a:ext cx="4392488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latin typeface="Wingdings" panose="05000000000000000000" pitchFamily="2" charset="2"/>
              </a:rPr>
              <a:t>!</a:t>
            </a:r>
            <a:r>
              <a:rPr lang="en-GB" dirty="0"/>
              <a:t> The </a:t>
            </a:r>
            <a:r>
              <a:rPr lang="en-GB" b="1" dirty="0"/>
              <a:t>range</a:t>
            </a:r>
            <a:r>
              <a:rPr lang="en-GB" dirty="0"/>
              <a:t> is the set of possible outputs.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0C43A10-EFFD-48BE-B496-D0D9A1BCCE64}"/>
              </a:ext>
            </a:extLst>
          </p:cNvPr>
          <p:cNvSpPr/>
          <p:nvPr/>
        </p:nvSpPr>
        <p:spPr>
          <a:xfrm>
            <a:off x="2538663" y="2610853"/>
            <a:ext cx="3537284" cy="721894"/>
          </a:xfrm>
          <a:custGeom>
            <a:avLst/>
            <a:gdLst>
              <a:gd name="connsiteX0" fmla="*/ 0 w 3537284"/>
              <a:gd name="connsiteY0" fmla="*/ 0 h 721894"/>
              <a:gd name="connsiteX1" fmla="*/ 2165684 w 3537284"/>
              <a:gd name="connsiteY1" fmla="*/ 240631 h 721894"/>
              <a:gd name="connsiteX2" fmla="*/ 3537284 w 3537284"/>
              <a:gd name="connsiteY2" fmla="*/ 721894 h 721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37284" h="721894">
                <a:moveTo>
                  <a:pt x="0" y="0"/>
                </a:moveTo>
                <a:cubicBezTo>
                  <a:pt x="788068" y="60157"/>
                  <a:pt x="1576137" y="120315"/>
                  <a:pt x="2165684" y="240631"/>
                </a:cubicBezTo>
                <a:cubicBezTo>
                  <a:pt x="2755231" y="360947"/>
                  <a:pt x="3146257" y="541420"/>
                  <a:pt x="3537284" y="721894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907740FE-A0A8-47C9-A81D-7BFDB5462476}"/>
              </a:ext>
            </a:extLst>
          </p:cNvPr>
          <p:cNvSpPr/>
          <p:nvPr/>
        </p:nvSpPr>
        <p:spPr>
          <a:xfrm>
            <a:off x="2586789" y="2646947"/>
            <a:ext cx="3573379" cy="1804737"/>
          </a:xfrm>
          <a:custGeom>
            <a:avLst/>
            <a:gdLst>
              <a:gd name="connsiteX0" fmla="*/ 0 w 3573379"/>
              <a:gd name="connsiteY0" fmla="*/ 0 h 1804737"/>
              <a:gd name="connsiteX1" fmla="*/ 2358190 w 3573379"/>
              <a:gd name="connsiteY1" fmla="*/ 878306 h 1804737"/>
              <a:gd name="connsiteX2" fmla="*/ 3573379 w 3573379"/>
              <a:gd name="connsiteY2" fmla="*/ 1804737 h 1804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3379" h="1804737">
                <a:moveTo>
                  <a:pt x="0" y="0"/>
                </a:moveTo>
                <a:cubicBezTo>
                  <a:pt x="881313" y="288758"/>
                  <a:pt x="1762627" y="577517"/>
                  <a:pt x="2358190" y="878306"/>
                </a:cubicBezTo>
                <a:cubicBezTo>
                  <a:pt x="2953753" y="1179095"/>
                  <a:pt x="3263566" y="1491916"/>
                  <a:pt x="3573379" y="1804737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56503459-CDA8-47A1-B709-7047DDA2B2E3}"/>
              </a:ext>
            </a:extLst>
          </p:cNvPr>
          <p:cNvSpPr/>
          <p:nvPr/>
        </p:nvSpPr>
        <p:spPr>
          <a:xfrm>
            <a:off x="2622884" y="2634916"/>
            <a:ext cx="3573379" cy="1287379"/>
          </a:xfrm>
          <a:custGeom>
            <a:avLst/>
            <a:gdLst>
              <a:gd name="connsiteX0" fmla="*/ 0 w 3573379"/>
              <a:gd name="connsiteY0" fmla="*/ 1287379 h 1287379"/>
              <a:gd name="connsiteX1" fmla="*/ 1828800 w 3573379"/>
              <a:gd name="connsiteY1" fmla="*/ 842210 h 1287379"/>
              <a:gd name="connsiteX2" fmla="*/ 3573379 w 3573379"/>
              <a:gd name="connsiteY2" fmla="*/ 0 h 1287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3379" h="1287379">
                <a:moveTo>
                  <a:pt x="0" y="1287379"/>
                </a:moveTo>
                <a:cubicBezTo>
                  <a:pt x="616618" y="1172076"/>
                  <a:pt x="1233237" y="1056773"/>
                  <a:pt x="1828800" y="842210"/>
                </a:cubicBezTo>
                <a:cubicBezTo>
                  <a:pt x="2424363" y="627647"/>
                  <a:pt x="2998871" y="313823"/>
                  <a:pt x="3573379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A2131667-2F6B-47F1-AECF-F780F357546F}"/>
              </a:ext>
            </a:extLst>
          </p:cNvPr>
          <p:cNvSpPr/>
          <p:nvPr/>
        </p:nvSpPr>
        <p:spPr>
          <a:xfrm>
            <a:off x="2538664" y="3874605"/>
            <a:ext cx="3429000" cy="781616"/>
          </a:xfrm>
          <a:custGeom>
            <a:avLst/>
            <a:gdLst>
              <a:gd name="connsiteX0" fmla="*/ 0 w 3429000"/>
              <a:gd name="connsiteY0" fmla="*/ 294435 h 294435"/>
              <a:gd name="connsiteX1" fmla="*/ 1804737 w 3429000"/>
              <a:gd name="connsiteY1" fmla="*/ 29740 h 294435"/>
              <a:gd name="connsiteX2" fmla="*/ 3429000 w 3429000"/>
              <a:gd name="connsiteY2" fmla="*/ 17708 h 294435"/>
              <a:gd name="connsiteX0" fmla="*/ 0 w 3429000"/>
              <a:gd name="connsiteY0" fmla="*/ 772903 h 772903"/>
              <a:gd name="connsiteX1" fmla="*/ 1708485 w 3429000"/>
              <a:gd name="connsiteY1" fmla="*/ 2882 h 772903"/>
              <a:gd name="connsiteX2" fmla="*/ 3429000 w 3429000"/>
              <a:gd name="connsiteY2" fmla="*/ 496176 h 772903"/>
              <a:gd name="connsiteX0" fmla="*/ 0 w 3429000"/>
              <a:gd name="connsiteY0" fmla="*/ 772903 h 772903"/>
              <a:gd name="connsiteX1" fmla="*/ 1708485 w 3429000"/>
              <a:gd name="connsiteY1" fmla="*/ 2882 h 772903"/>
              <a:gd name="connsiteX2" fmla="*/ 3429000 w 3429000"/>
              <a:gd name="connsiteY2" fmla="*/ 496176 h 772903"/>
              <a:gd name="connsiteX0" fmla="*/ 0 w 3429000"/>
              <a:gd name="connsiteY0" fmla="*/ 781616 h 781616"/>
              <a:gd name="connsiteX1" fmla="*/ 1708485 w 3429000"/>
              <a:gd name="connsiteY1" fmla="*/ 11595 h 781616"/>
              <a:gd name="connsiteX2" fmla="*/ 3429000 w 3429000"/>
              <a:gd name="connsiteY2" fmla="*/ 504889 h 781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9000" h="781616">
                <a:moveTo>
                  <a:pt x="0" y="781616"/>
                </a:moveTo>
                <a:cubicBezTo>
                  <a:pt x="544428" y="70750"/>
                  <a:pt x="1136985" y="57716"/>
                  <a:pt x="1708485" y="11595"/>
                </a:cubicBezTo>
                <a:cubicBezTo>
                  <a:pt x="2279985" y="-34526"/>
                  <a:pt x="2746208" y="42675"/>
                  <a:pt x="3429000" y="504889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F0E6C49-E03E-43EA-B4C2-3BAE8DC1081A}"/>
                  </a:ext>
                </a:extLst>
              </p:cNvPr>
              <p:cNvSpPr txBox="1"/>
              <p:nvPr/>
            </p:nvSpPr>
            <p:spPr>
              <a:xfrm>
                <a:off x="2780085" y="1050404"/>
                <a:ext cx="2584185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The mapping might be completely arbitrary, or might have some underlying rule, e.g.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GB" sz="1400" b="1" dirty="0"/>
              </a:p>
              <a:p>
                <a:r>
                  <a:rPr lang="en-GB" sz="1400" dirty="0"/>
                  <a:t>(meaning each value is mapped to twice its value)</a:t>
                </a: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F0E6C49-E03E-43EA-B4C2-3BAE8DC108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0085" y="1050404"/>
                <a:ext cx="2584185" cy="1384995"/>
              </a:xfrm>
              <a:prstGeom prst="rect">
                <a:avLst/>
              </a:prstGeom>
              <a:blipFill>
                <a:blip r:embed="rId2"/>
                <a:stretch>
                  <a:fillRect l="-708" t="-439" b="-35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98E23679-68D0-49D0-B4F6-1DFC58915FA3}"/>
              </a:ext>
            </a:extLst>
          </p:cNvPr>
          <p:cNvSpPr txBox="1"/>
          <p:nvPr/>
        </p:nvSpPr>
        <p:spPr>
          <a:xfrm>
            <a:off x="3087589" y="4083358"/>
            <a:ext cx="25818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Also notice that </a:t>
            </a:r>
            <a:r>
              <a:rPr lang="en-GB" sz="1400" b="1" dirty="0"/>
              <a:t>one input might map to multiple outputs</a:t>
            </a:r>
            <a:r>
              <a:rPr lang="en-GB" sz="1400" dirty="0"/>
              <a:t>, or multiple inputs to one output.</a:t>
            </a:r>
          </a:p>
          <a:p>
            <a:endParaRPr lang="en-GB" sz="1400" dirty="0"/>
          </a:p>
          <a:p>
            <a:r>
              <a:rPr lang="en-GB" sz="1400" dirty="0"/>
              <a:t>Notice also that not all values in the set of inputs necessarily have a mapping to a value in the set of outputs.</a:t>
            </a:r>
          </a:p>
        </p:txBody>
      </p:sp>
    </p:spTree>
    <p:extLst>
      <p:ext uri="{BB962C8B-B14F-4D97-AF65-F5344CB8AC3E}">
        <p14:creationId xmlns:p14="http://schemas.microsoft.com/office/powerpoint/2010/main" val="296802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8" grpId="0"/>
      <p:bldP spid="3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283DF3C1-EA3E-44A1-AD4D-BBB504AAF6BB}"/>
              </a:ext>
            </a:extLst>
          </p:cNvPr>
          <p:cNvSpPr/>
          <p:nvPr/>
        </p:nvSpPr>
        <p:spPr>
          <a:xfrm>
            <a:off x="5953119" y="2333625"/>
            <a:ext cx="1581155" cy="2352675"/>
          </a:xfrm>
          <a:custGeom>
            <a:avLst/>
            <a:gdLst>
              <a:gd name="connsiteX0" fmla="*/ 1581152 w 1590677"/>
              <a:gd name="connsiteY0" fmla="*/ 0 h 2228850"/>
              <a:gd name="connsiteX1" fmla="*/ 2 w 1590677"/>
              <a:gd name="connsiteY1" fmla="*/ 1362075 h 2228850"/>
              <a:gd name="connsiteX2" fmla="*/ 1590677 w 1590677"/>
              <a:gd name="connsiteY2" fmla="*/ 2228850 h 2228850"/>
              <a:gd name="connsiteX0" fmla="*/ 1581155 w 1590680"/>
              <a:gd name="connsiteY0" fmla="*/ 0 h 2228850"/>
              <a:gd name="connsiteX1" fmla="*/ 5 w 1590680"/>
              <a:gd name="connsiteY1" fmla="*/ 1362075 h 2228850"/>
              <a:gd name="connsiteX2" fmla="*/ 1590680 w 1590680"/>
              <a:gd name="connsiteY2" fmla="*/ 2228850 h 2228850"/>
              <a:gd name="connsiteX0" fmla="*/ 1581155 w 1590680"/>
              <a:gd name="connsiteY0" fmla="*/ 0 h 2264293"/>
              <a:gd name="connsiteX1" fmla="*/ 5 w 1590680"/>
              <a:gd name="connsiteY1" fmla="*/ 1362075 h 2264293"/>
              <a:gd name="connsiteX2" fmla="*/ 1590680 w 1590680"/>
              <a:gd name="connsiteY2" fmla="*/ 2228850 h 2264293"/>
              <a:gd name="connsiteX0" fmla="*/ 1581155 w 1590680"/>
              <a:gd name="connsiteY0" fmla="*/ 0 h 2264293"/>
              <a:gd name="connsiteX1" fmla="*/ 5 w 1590680"/>
              <a:gd name="connsiteY1" fmla="*/ 1362075 h 2264293"/>
              <a:gd name="connsiteX2" fmla="*/ 1590680 w 1590680"/>
              <a:gd name="connsiteY2" fmla="*/ 2228850 h 2264293"/>
              <a:gd name="connsiteX0" fmla="*/ 1581155 w 1581155"/>
              <a:gd name="connsiteY0" fmla="*/ 0 h 2383675"/>
              <a:gd name="connsiteX1" fmla="*/ 5 w 1581155"/>
              <a:gd name="connsiteY1" fmla="*/ 1362075 h 2383675"/>
              <a:gd name="connsiteX2" fmla="*/ 1552580 w 1581155"/>
              <a:gd name="connsiteY2" fmla="*/ 2352675 h 2383675"/>
              <a:gd name="connsiteX0" fmla="*/ 1581155 w 1581155"/>
              <a:gd name="connsiteY0" fmla="*/ 0 h 2352675"/>
              <a:gd name="connsiteX1" fmla="*/ 5 w 1581155"/>
              <a:gd name="connsiteY1" fmla="*/ 1362075 h 2352675"/>
              <a:gd name="connsiteX2" fmla="*/ 1552580 w 1581155"/>
              <a:gd name="connsiteY2" fmla="*/ 2352675 h 2352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81155" h="2352675">
                <a:moveTo>
                  <a:pt x="1581155" y="0"/>
                </a:moveTo>
                <a:cubicBezTo>
                  <a:pt x="323061" y="209550"/>
                  <a:pt x="-1583" y="990600"/>
                  <a:pt x="5" y="1362075"/>
                </a:cubicBezTo>
                <a:cubicBezTo>
                  <a:pt x="1592" y="1733550"/>
                  <a:pt x="72236" y="2247900"/>
                  <a:pt x="1552580" y="2352675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13D320D9-E826-4312-98CA-FF3B15B5AA53}"/>
              </a:ext>
            </a:extLst>
          </p:cNvPr>
          <p:cNvSpPr/>
          <p:nvPr/>
        </p:nvSpPr>
        <p:spPr>
          <a:xfrm rot="1768965">
            <a:off x="2625574" y="2943366"/>
            <a:ext cx="256555" cy="369332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" name="Group 57"/>
          <p:cNvGrpSpPr/>
          <p:nvPr/>
        </p:nvGrpSpPr>
        <p:grpSpPr>
          <a:xfrm>
            <a:off x="-1144" y="0"/>
            <a:ext cx="9145144" cy="599127"/>
            <a:chOff x="-1144" y="0"/>
            <a:chExt cx="9145144" cy="599127"/>
          </a:xfrm>
        </p:grpSpPr>
        <p:sp>
          <p:nvSpPr>
            <p:cNvPr id="6" name="TextBox 5"/>
            <p:cNvSpPr txBox="1"/>
            <p:nvPr/>
          </p:nvSpPr>
          <p:spPr>
            <a:xfrm>
              <a:off x="0" y="0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GB" sz="3200" dirty="0"/>
                <a:t>   What is a function?</a:t>
              </a:r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-1144" y="585216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35" name="TextBox 34"/>
          <p:cNvSpPr txBox="1"/>
          <p:nvPr/>
        </p:nvSpPr>
        <p:spPr>
          <a:xfrm>
            <a:off x="395536" y="624616"/>
            <a:ext cx="8496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/>
              <a:buChar char="!"/>
            </a:pPr>
            <a:r>
              <a:rPr lang="en-GB" dirty="0"/>
              <a:t>A function is: a mapping such that every element of the domain is mapped to </a:t>
            </a:r>
          </a:p>
          <a:p>
            <a:r>
              <a:rPr lang="en-GB" dirty="0"/>
              <a:t>                             exactly one element of the range.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6400" y="1355839"/>
            <a:ext cx="10221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Notation: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1297" y="2060848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440582" y="1345619"/>
                <a:ext cx="17788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/>
                        </a:rPr>
                        <m:t>=2</m:t>
                      </m:r>
                      <m:r>
                        <a:rPr lang="en-GB" b="0" i="1" smtClean="0">
                          <a:latin typeface="Cambria Math"/>
                        </a:rPr>
                        <m:t>𝑥</m:t>
                      </m:r>
                      <m:r>
                        <a:rPr lang="en-GB" b="0" i="1" smtClean="0"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0582" y="1345619"/>
                <a:ext cx="1778868" cy="369332"/>
              </a:xfrm>
              <a:prstGeom prst="rect">
                <a:avLst/>
              </a:prstGeom>
              <a:blipFill>
                <a:blip r:embed="rId11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3469052" y="1343088"/>
                <a:ext cx="17896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𝑓</m:t>
                      </m:r>
                      <m:r>
                        <a:rPr lang="en-GB" b="0" i="1" smtClean="0">
                          <a:latin typeface="Cambria Math"/>
                        </a:rPr>
                        <m:t>:</m:t>
                      </m:r>
                      <m:r>
                        <a:rPr lang="en-GB" b="0" i="1" smtClean="0">
                          <a:latin typeface="Cambria Math"/>
                        </a:rPr>
                        <m:t>𝑥</m:t>
                      </m:r>
                      <m:r>
                        <a:rPr lang="en-GB" b="0" i="1" smtClean="0">
                          <a:latin typeface="Cambria Math"/>
                        </a:rPr>
                        <m:t>→2</m:t>
                      </m:r>
                      <m:r>
                        <a:rPr lang="en-GB" b="0" i="1" smtClean="0">
                          <a:latin typeface="Cambria Math"/>
                        </a:rPr>
                        <m:t>𝑥</m:t>
                      </m:r>
                      <m:r>
                        <a:rPr lang="en-GB" b="0" i="1" smtClean="0"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9052" y="1343088"/>
                <a:ext cx="1789634" cy="369332"/>
              </a:xfrm>
              <a:prstGeom prst="rect">
                <a:avLst/>
              </a:prstGeom>
              <a:blipFill>
                <a:blip r:embed="rId1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Arrow Connector 76"/>
          <p:cNvCxnSpPr/>
          <p:nvPr/>
        </p:nvCxnSpPr>
        <p:spPr>
          <a:xfrm>
            <a:off x="919128" y="4764179"/>
            <a:ext cx="28803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 flipV="1">
            <a:off x="2359288" y="2603939"/>
            <a:ext cx="0" cy="21602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/>
              <p:cNvSpPr txBox="1"/>
              <p:nvPr/>
            </p:nvSpPr>
            <p:spPr>
              <a:xfrm>
                <a:off x="3742298" y="4567205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2298" y="4567205"/>
                <a:ext cx="360040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2040207" y="2478688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0207" y="2478688"/>
                <a:ext cx="360040" cy="369332"/>
              </a:xfrm>
              <a:prstGeom prst="rect">
                <a:avLst/>
              </a:prstGeom>
              <a:blipFill>
                <a:blip r:embed="rId1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6" name="Straight Arrow Connector 85"/>
          <p:cNvCxnSpPr/>
          <p:nvPr/>
        </p:nvCxnSpPr>
        <p:spPr>
          <a:xfrm>
            <a:off x="5004048" y="3684059"/>
            <a:ext cx="28803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/>
          <p:nvPr/>
        </p:nvCxnSpPr>
        <p:spPr>
          <a:xfrm flipV="1">
            <a:off x="5940152" y="2459923"/>
            <a:ext cx="0" cy="21602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7884368" y="3540043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4368" y="3540043"/>
                <a:ext cx="360040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5746988" y="2114359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6988" y="2114359"/>
                <a:ext cx="360040" cy="369332"/>
              </a:xfrm>
              <a:prstGeom prst="rect">
                <a:avLst/>
              </a:prstGeom>
              <a:blipFill>
                <a:blip r:embed="rId1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/>
              <p:cNvSpPr txBox="1"/>
              <p:nvPr/>
            </p:nvSpPr>
            <p:spPr>
              <a:xfrm>
                <a:off x="466400" y="5589000"/>
                <a:ext cx="266429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sz="2800" baseline="30000" dirty="0"/>
              </a:p>
            </p:txBody>
          </p:sp>
        </mc:Choice>
        <mc:Fallback xmlns="">
          <p:sp>
            <p:nvSpPr>
              <p:cNvPr id="95" name="TextBox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400" y="5589000"/>
                <a:ext cx="2664296" cy="5232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/>
              <p:cNvSpPr txBox="1"/>
              <p:nvPr/>
            </p:nvSpPr>
            <p:spPr>
              <a:xfrm>
                <a:off x="2791163" y="5589000"/>
                <a:ext cx="1440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Domain: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GB" sz="1600" dirty="0"/>
              </a:p>
              <a:p>
                <a:r>
                  <a:rPr lang="en-GB" sz="1100" dirty="0"/>
                  <a:t>(i.e. all real values)</a:t>
                </a:r>
              </a:p>
            </p:txBody>
          </p:sp>
        </mc:Choice>
        <mc:Fallback xmlns="">
          <p:sp>
            <p:nvSpPr>
              <p:cNvPr id="100" name="TextBox 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1163" y="5589000"/>
                <a:ext cx="1440160" cy="523220"/>
              </a:xfrm>
              <a:prstGeom prst="rect">
                <a:avLst/>
              </a:prstGeom>
              <a:blipFill>
                <a:blip r:embed="rId19"/>
                <a:stretch>
                  <a:fillRect l="-2542" t="-3488" b="-34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/>
              <p:cNvSpPr txBox="1"/>
              <p:nvPr/>
            </p:nvSpPr>
            <p:spPr>
              <a:xfrm>
                <a:off x="4414864" y="5709316"/>
                <a:ext cx="2155271" cy="5280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=±</m:t>
                      </m:r>
                      <m:rad>
                        <m:radPr>
                          <m:degHide m:val="on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</m:oMath>
                  </m:oMathPara>
                </a14:m>
                <a:endParaRPr lang="en-GB" sz="2800" baseline="30000" dirty="0"/>
              </a:p>
            </p:txBody>
          </p:sp>
        </mc:Choice>
        <mc:Fallback xmlns="">
          <p:sp>
            <p:nvSpPr>
              <p:cNvPr id="101" name="TextBox 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4864" y="5709316"/>
                <a:ext cx="2155271" cy="52803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/>
              <p:cNvSpPr txBox="1"/>
              <p:nvPr/>
            </p:nvSpPr>
            <p:spPr>
              <a:xfrm>
                <a:off x="6656455" y="5809669"/>
                <a:ext cx="144016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Domain: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/>
                      </a:rPr>
                      <m:t>𝑥</m:t>
                    </m:r>
                    <m:r>
                      <a:rPr lang="en-GB" sz="1600" b="0" i="1" smtClean="0">
                        <a:latin typeface="Cambria Math"/>
                      </a:rPr>
                      <m:t>≥0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102" name="TextBox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6455" y="5809669"/>
                <a:ext cx="1440160" cy="338554"/>
              </a:xfrm>
              <a:prstGeom prst="rect">
                <a:avLst/>
              </a:prstGeom>
              <a:blipFill>
                <a:blip r:embed="rId21"/>
                <a:stretch>
                  <a:fillRect l="-2542" t="-5357" b="-214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/>
              <p:cNvSpPr txBox="1"/>
              <p:nvPr/>
            </p:nvSpPr>
            <p:spPr>
              <a:xfrm>
                <a:off x="6622331" y="6289077"/>
                <a:ext cx="2425275" cy="461665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sz="1200" dirty="0"/>
                  <a:t> but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r>
                  <a:rPr lang="en-GB" sz="1200" dirty="0"/>
                  <a:t> also. This is one-to-many so not a function.</a:t>
                </a:r>
              </a:p>
            </p:txBody>
          </p:sp>
        </mc:Choice>
        <mc:Fallback xmlns="">
          <p:sp>
            <p:nvSpPr>
              <p:cNvPr id="107" name="TextBox 1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2331" y="6289077"/>
                <a:ext cx="2425275" cy="461665"/>
              </a:xfrm>
              <a:prstGeom prst="rect">
                <a:avLst/>
              </a:prstGeom>
              <a:blipFill>
                <a:blip r:embed="rId22"/>
                <a:stretch>
                  <a:fillRect b="-75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/>
              <p:cNvSpPr txBox="1"/>
              <p:nvPr/>
            </p:nvSpPr>
            <p:spPr>
              <a:xfrm>
                <a:off x="6870189" y="2538043"/>
                <a:ext cx="2054735" cy="954107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For each value of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1400" dirty="0"/>
                  <a:t> (except 0), we get two values of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GB" sz="1400" dirty="0"/>
                  <a:t>! We say this is a </a:t>
                </a:r>
                <a:r>
                  <a:rPr lang="en-GB" sz="1400" b="1" u="sng" dirty="0"/>
                  <a:t>one-to-many mapping</a:t>
                </a:r>
                <a:r>
                  <a:rPr lang="en-GB" sz="1400" dirty="0"/>
                  <a:t>.</a:t>
                </a:r>
              </a:p>
            </p:txBody>
          </p:sp>
        </mc:Choice>
        <mc:Fallback xmlns="">
          <p:sp>
            <p:nvSpPr>
              <p:cNvPr id="109" name="TextBox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0189" y="2538043"/>
                <a:ext cx="2054735" cy="954107"/>
              </a:xfrm>
              <a:prstGeom prst="rect">
                <a:avLst/>
              </a:prstGeom>
              <a:blipFill>
                <a:blip r:embed="rId23"/>
                <a:stretch>
                  <a:fillRect l="-293" r="-1466" b="-43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6185556" y="2852936"/>
            <a:ext cx="168561" cy="1588206"/>
            <a:chOff x="6185556" y="2852936"/>
            <a:chExt cx="168561" cy="1588206"/>
          </a:xfrm>
        </p:grpSpPr>
        <p:sp>
          <p:nvSpPr>
            <p:cNvPr id="5" name="Oval 4"/>
            <p:cNvSpPr/>
            <p:nvPr/>
          </p:nvSpPr>
          <p:spPr>
            <a:xfrm>
              <a:off x="6205132" y="2852936"/>
              <a:ext cx="148985" cy="144016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0" name="Oval 109"/>
            <p:cNvSpPr/>
            <p:nvPr/>
          </p:nvSpPr>
          <p:spPr>
            <a:xfrm>
              <a:off x="6185556" y="4297126"/>
              <a:ext cx="148985" cy="144016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9" name="Straight Connector 8"/>
            <p:cNvCxnSpPr>
              <a:stCxn id="5" idx="4"/>
              <a:endCxn id="110" idx="0"/>
            </p:cNvCxnSpPr>
            <p:nvPr/>
          </p:nvCxnSpPr>
          <p:spPr>
            <a:xfrm flipH="1">
              <a:off x="6260049" y="2996952"/>
              <a:ext cx="19576" cy="1300174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1" name="TextBox 110"/>
          <p:cNvSpPr txBox="1"/>
          <p:nvPr/>
        </p:nvSpPr>
        <p:spPr>
          <a:xfrm>
            <a:off x="130126" y="2167535"/>
            <a:ext cx="20162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/>
              <a:t>Function?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020009" y="641510"/>
            <a:ext cx="5993691" cy="5776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61A81D6-1083-474F-A8BA-AF11F4E23632}"/>
              </a:ext>
            </a:extLst>
          </p:cNvPr>
          <p:cNvSpPr/>
          <p:nvPr/>
        </p:nvSpPr>
        <p:spPr>
          <a:xfrm>
            <a:off x="1089660" y="3230880"/>
            <a:ext cx="2369820" cy="1526717"/>
          </a:xfrm>
          <a:custGeom>
            <a:avLst/>
            <a:gdLst>
              <a:gd name="connsiteX0" fmla="*/ 0 w 2369820"/>
              <a:gd name="connsiteY0" fmla="*/ 0 h 1526717"/>
              <a:gd name="connsiteX1" fmla="*/ 670560 w 2369820"/>
              <a:gd name="connsiteY1" fmla="*/ 1508760 h 1526717"/>
              <a:gd name="connsiteX2" fmla="*/ 1272540 w 2369820"/>
              <a:gd name="connsiteY2" fmla="*/ 739140 h 1526717"/>
              <a:gd name="connsiteX3" fmla="*/ 1790700 w 2369820"/>
              <a:gd name="connsiteY3" fmla="*/ 1516380 h 1526717"/>
              <a:gd name="connsiteX4" fmla="*/ 2369820 w 2369820"/>
              <a:gd name="connsiteY4" fmla="*/ 45720 h 1526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69820" h="1526717">
                <a:moveTo>
                  <a:pt x="0" y="0"/>
                </a:moveTo>
                <a:cubicBezTo>
                  <a:pt x="229235" y="692785"/>
                  <a:pt x="458470" y="1385570"/>
                  <a:pt x="670560" y="1508760"/>
                </a:cubicBezTo>
                <a:cubicBezTo>
                  <a:pt x="882650" y="1631950"/>
                  <a:pt x="1085850" y="737870"/>
                  <a:pt x="1272540" y="739140"/>
                </a:cubicBezTo>
                <a:cubicBezTo>
                  <a:pt x="1459230" y="740410"/>
                  <a:pt x="1607820" y="1631950"/>
                  <a:pt x="1790700" y="1516380"/>
                </a:cubicBezTo>
                <a:cubicBezTo>
                  <a:pt x="1973580" y="1400810"/>
                  <a:pt x="2171700" y="723265"/>
                  <a:pt x="2369820" y="4572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/>
              <p:cNvSpPr txBox="1"/>
              <p:nvPr/>
            </p:nvSpPr>
            <p:spPr>
              <a:xfrm>
                <a:off x="2724513" y="3546983"/>
                <a:ext cx="2016224" cy="738664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For each input (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1400" dirty="0"/>
                  <a:t> value), we only get one output (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GB" sz="1400" dirty="0"/>
                  <a:t> value)</a:t>
                </a:r>
              </a:p>
            </p:txBody>
          </p:sp>
        </mc:Choice>
        <mc:Fallback xmlns="">
          <p:sp>
            <p:nvSpPr>
              <p:cNvPr id="108" name="TextBox 1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4513" y="3546983"/>
                <a:ext cx="2016224" cy="738664"/>
              </a:xfrm>
              <a:prstGeom prst="rect">
                <a:avLst/>
              </a:prstGeom>
              <a:blipFill>
                <a:blip r:embed="rId9"/>
                <a:stretch>
                  <a:fillRect l="-299" b="-56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BF493D1-026D-48D1-BE10-78F0D5E8D178}"/>
                  </a:ext>
                </a:extLst>
              </p:cNvPr>
              <p:cNvSpPr txBox="1"/>
              <p:nvPr/>
            </p:nvSpPr>
            <p:spPr>
              <a:xfrm>
                <a:off x="2615557" y="2207515"/>
                <a:ext cx="2981688" cy="76944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100" b="1" dirty="0"/>
                  <a:t>Note</a:t>
                </a:r>
                <a:r>
                  <a:rPr lang="en-GB" sz="1100" dirty="0"/>
                  <a:t>: We can illustrate a mapping/function graphically, by plotting a point </a:t>
                </a:r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100" dirty="0"/>
                  <a:t> if </a:t>
                </a:r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100" dirty="0"/>
                  <a:t> maps to </a:t>
                </a:r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100" dirty="0"/>
                  <a:t>.  We write </a:t>
                </a:r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100" dirty="0"/>
                  <a:t> to mean “make </a:t>
                </a:r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100" dirty="0"/>
                  <a:t> the output of the function”.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BF493D1-026D-48D1-BE10-78F0D5E8D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5557" y="2207515"/>
                <a:ext cx="2981688" cy="769441"/>
              </a:xfrm>
              <a:prstGeom prst="rect">
                <a:avLst/>
              </a:prstGeom>
              <a:blipFill>
                <a:blip r:embed="rId24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tangle 59">
            <a:extLst>
              <a:ext uri="{FF2B5EF4-FFF2-40B4-BE49-F238E27FC236}">
                <a16:creationId xmlns:a16="http://schemas.microsoft.com/office/drawing/2014/main" id="{D547E208-838D-4043-B855-27D16AD0333F}"/>
              </a:ext>
            </a:extLst>
          </p:cNvPr>
          <p:cNvSpPr/>
          <p:nvPr/>
        </p:nvSpPr>
        <p:spPr>
          <a:xfrm>
            <a:off x="2465103" y="4906672"/>
            <a:ext cx="770961" cy="50754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Yes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B39004F-5594-4F71-A171-A2655191F425}"/>
              </a:ext>
            </a:extLst>
          </p:cNvPr>
          <p:cNvSpPr/>
          <p:nvPr/>
        </p:nvSpPr>
        <p:spPr>
          <a:xfrm>
            <a:off x="1490834" y="4905360"/>
            <a:ext cx="770961" cy="50885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No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CA7AFE4-B1A7-4CD4-BFAF-7F7673353738}"/>
              </a:ext>
            </a:extLst>
          </p:cNvPr>
          <p:cNvSpPr/>
          <p:nvPr/>
        </p:nvSpPr>
        <p:spPr>
          <a:xfrm>
            <a:off x="2450974" y="6268508"/>
            <a:ext cx="770961" cy="50754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Yes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1046D2B-4099-4B42-BA09-3A85FE02A32E}"/>
              </a:ext>
            </a:extLst>
          </p:cNvPr>
          <p:cNvSpPr/>
          <p:nvPr/>
        </p:nvSpPr>
        <p:spPr>
          <a:xfrm>
            <a:off x="1476705" y="6267196"/>
            <a:ext cx="770961" cy="50885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No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96A5DB0-96B0-44BD-9CC1-9510D30C2FC2}"/>
              </a:ext>
            </a:extLst>
          </p:cNvPr>
          <p:cNvSpPr/>
          <p:nvPr/>
        </p:nvSpPr>
        <p:spPr>
          <a:xfrm>
            <a:off x="7031204" y="3990356"/>
            <a:ext cx="770961" cy="50754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No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EAFFBAE-D612-4217-BEAD-9AAB506E7537}"/>
              </a:ext>
            </a:extLst>
          </p:cNvPr>
          <p:cNvSpPr/>
          <p:nvPr/>
        </p:nvSpPr>
        <p:spPr>
          <a:xfrm>
            <a:off x="7981517" y="3981394"/>
            <a:ext cx="770961" cy="50885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Yes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E67ABC6-E3AE-4655-AEB6-924F94DA2FA8}"/>
              </a:ext>
            </a:extLst>
          </p:cNvPr>
          <p:cNvSpPr/>
          <p:nvPr/>
        </p:nvSpPr>
        <p:spPr>
          <a:xfrm>
            <a:off x="4711516" y="6301805"/>
            <a:ext cx="770961" cy="50754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No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A32F84E-8C76-4197-AF5F-667AB5D938AA}"/>
              </a:ext>
            </a:extLst>
          </p:cNvPr>
          <p:cNvSpPr/>
          <p:nvPr/>
        </p:nvSpPr>
        <p:spPr>
          <a:xfrm>
            <a:off x="5613703" y="6304875"/>
            <a:ext cx="770961" cy="50885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Yes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66784C9-1676-478B-ADF9-D049D0D86ED0}"/>
              </a:ext>
            </a:extLst>
          </p:cNvPr>
          <p:cNvCxnSpPr/>
          <p:nvPr/>
        </p:nvCxnSpPr>
        <p:spPr>
          <a:xfrm flipV="1">
            <a:off x="2110256" y="3009165"/>
            <a:ext cx="0" cy="1826927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1362CDB4-5A72-4386-A5D0-3D26ABB3AF55}"/>
              </a:ext>
            </a:extLst>
          </p:cNvPr>
          <p:cNvSpPr txBox="1"/>
          <p:nvPr/>
        </p:nvSpPr>
        <p:spPr>
          <a:xfrm>
            <a:off x="133940" y="3603597"/>
            <a:ext cx="1719042" cy="93871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100" b="1" dirty="0"/>
              <a:t>Tip</a:t>
            </a:r>
            <a:r>
              <a:rPr lang="en-GB" sz="1100" dirty="0"/>
              <a:t>: Use the ‘vertical ray test’. If a vertically fired ray can hit the curve multiple times, it is NOT a function.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00F9E22-4D72-4471-9459-B7F493DF3D46}"/>
              </a:ext>
            </a:extLst>
          </p:cNvPr>
          <p:cNvCxnSpPr>
            <a:cxnSpLocks/>
          </p:cNvCxnSpPr>
          <p:nvPr/>
        </p:nvCxnSpPr>
        <p:spPr>
          <a:xfrm flipV="1">
            <a:off x="1517650" y="3276601"/>
            <a:ext cx="488950" cy="317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9CE5DF10-491F-4AA4-9E29-76BB266EED4F}"/>
                  </a:ext>
                </a:extLst>
              </p:cNvPr>
              <p:cNvSpPr txBox="1"/>
              <p:nvPr/>
            </p:nvSpPr>
            <p:spPr>
              <a:xfrm>
                <a:off x="4262266" y="4680407"/>
                <a:ext cx="2155271" cy="5280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</m:oMath>
                  </m:oMathPara>
                </a14:m>
                <a:endParaRPr lang="en-GB" sz="2800" baseline="30000" dirty="0"/>
              </a:p>
            </p:txBody>
          </p:sp>
        </mc:Choice>
        <mc:Fallback xmlns="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9CE5DF10-491F-4AA4-9E29-76BB266EED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2266" y="4680407"/>
                <a:ext cx="2155271" cy="52803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7F3E418C-46CB-4D2A-9DA2-5DC29469B62C}"/>
                  </a:ext>
                </a:extLst>
              </p:cNvPr>
              <p:cNvSpPr txBox="1"/>
              <p:nvPr/>
            </p:nvSpPr>
            <p:spPr>
              <a:xfrm>
                <a:off x="6409197" y="4801486"/>
                <a:ext cx="144016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Domain: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7F3E418C-46CB-4D2A-9DA2-5DC29469B6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9197" y="4801486"/>
                <a:ext cx="1440160" cy="338554"/>
              </a:xfrm>
              <a:prstGeom prst="rect">
                <a:avLst/>
              </a:prstGeom>
              <a:blipFill>
                <a:blip r:embed="rId26"/>
                <a:stretch>
                  <a:fillRect l="-2110" t="-5455" b="-236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Rectangle 114">
            <a:extLst>
              <a:ext uri="{FF2B5EF4-FFF2-40B4-BE49-F238E27FC236}">
                <a16:creationId xmlns:a16="http://schemas.microsoft.com/office/drawing/2014/main" id="{C8D2487C-2A8C-4051-AF29-6F7911F2D1DA}"/>
              </a:ext>
            </a:extLst>
          </p:cNvPr>
          <p:cNvSpPr/>
          <p:nvPr/>
        </p:nvSpPr>
        <p:spPr>
          <a:xfrm>
            <a:off x="4695536" y="5237143"/>
            <a:ext cx="745928" cy="41656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No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238D989-7056-468D-9172-114D5502397C}"/>
              </a:ext>
            </a:extLst>
          </p:cNvPr>
          <p:cNvSpPr/>
          <p:nvPr/>
        </p:nvSpPr>
        <p:spPr>
          <a:xfrm>
            <a:off x="5597723" y="5240213"/>
            <a:ext cx="745928" cy="41763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Yes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8035F720-80BE-40D9-933B-CDABD5646C88}"/>
                  </a:ext>
                </a:extLst>
              </p:cNvPr>
              <p:cNvSpPr txBox="1"/>
              <p:nvPr/>
            </p:nvSpPr>
            <p:spPr>
              <a:xfrm>
                <a:off x="6553200" y="5117804"/>
                <a:ext cx="2339357" cy="646331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We can’t square root a negative number, but the input set is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sz="1200" dirty="0"/>
                  <a:t>, so some inputs don’t map to a value.</a:t>
                </a:r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8035F720-80BE-40D9-933B-CDABD5646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0" y="5117804"/>
                <a:ext cx="2339357" cy="646331"/>
              </a:xfrm>
              <a:prstGeom prst="rect">
                <a:avLst/>
              </a:prstGeom>
              <a:blipFill>
                <a:blip r:embed="rId27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53C6B5F-137F-4C21-AD93-38AD5CDAF322}"/>
                  </a:ext>
                </a:extLst>
              </p:cNvPr>
              <p:cNvSpPr txBox="1"/>
              <p:nvPr/>
            </p:nvSpPr>
            <p:spPr>
              <a:xfrm>
                <a:off x="2802513" y="1733519"/>
                <a:ext cx="2872868" cy="27699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200" dirty="0"/>
                  <a:t> refers to the </a:t>
                </a:r>
                <a:r>
                  <a:rPr lang="en-GB" sz="1200" b="1" u="sng" dirty="0"/>
                  <a:t>output</a:t>
                </a:r>
                <a:r>
                  <a:rPr lang="en-GB" sz="1200" dirty="0"/>
                  <a:t> of the function.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53C6B5F-137F-4C21-AD93-38AD5CDAF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2513" y="1733519"/>
                <a:ext cx="2872868" cy="276999"/>
              </a:xfrm>
              <a:prstGeom prst="rect">
                <a:avLst/>
              </a:prstGeom>
              <a:blipFill>
                <a:blip r:embed="rId28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E2DCB6D-6765-400C-A881-27E5EC524FD9}"/>
              </a:ext>
            </a:extLst>
          </p:cNvPr>
          <p:cNvCxnSpPr>
            <a:stCxn id="13" idx="1"/>
          </p:cNvCxnSpPr>
          <p:nvPr/>
        </p:nvCxnSpPr>
        <p:spPr>
          <a:xfrm flipH="1" flipV="1">
            <a:off x="2551814" y="1701209"/>
            <a:ext cx="250699" cy="1708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1612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71717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36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71717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4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71717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71717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70" restart="whenNotActive" fill="hold" evtFilter="cancelBubble" nodeType="interactiveSeq">
                <p:stCondLst>
                  <p:cond evt="onClick" delay="0">
                    <p:tgtEl>
                      <p:spTgt spid="1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5"/>
                  </p:tgtEl>
                </p:cond>
              </p:nextCondLst>
            </p:seq>
            <p:seq concurrent="1" nextAc="seek">
              <p:cTn id="78" restart="whenNotActive" fill="hold" evtFilter="cancelBubble" nodeType="interactiveSeq">
                <p:stCondLst>
                  <p:cond evt="onClick" delay="0">
                    <p:tgtEl>
                      <p:spTgt spid="1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71717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"/>
                  </p:tgtEl>
                </p:cond>
              </p:nextCondLst>
            </p:seq>
          </p:childTnLst>
        </p:cTn>
      </p:par>
    </p:tnLst>
    <p:bldLst>
      <p:bldP spid="107" grpId="0" animBg="1"/>
      <p:bldP spid="112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70" grpId="0" animBg="1"/>
      <p:bldP spid="115" grpId="0" animBg="1"/>
      <p:bldP spid="1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7"/>
          <p:cNvGrpSpPr/>
          <p:nvPr/>
        </p:nvGrpSpPr>
        <p:grpSpPr>
          <a:xfrm>
            <a:off x="-1144" y="0"/>
            <a:ext cx="9145144" cy="599127"/>
            <a:chOff x="-1144" y="0"/>
            <a:chExt cx="9145144" cy="599127"/>
          </a:xfrm>
        </p:grpSpPr>
        <p:sp>
          <p:nvSpPr>
            <p:cNvPr id="3" name="TextBox 2"/>
            <p:cNvSpPr txBox="1"/>
            <p:nvPr/>
          </p:nvSpPr>
          <p:spPr>
            <a:xfrm>
              <a:off x="0" y="0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GB" sz="3200" dirty="0"/>
                <a:t>   One-to-one </a:t>
              </a:r>
              <a:r>
                <a:rPr lang="en-GB" sz="3200" dirty="0" err="1"/>
                <a:t>vs</a:t>
              </a:r>
              <a:r>
                <a:rPr lang="en-GB" sz="3200" dirty="0"/>
                <a:t> Many-to-one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-1144" y="585216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21431" y="737809"/>
            <a:ext cx="86130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While functions permit an input only to be mapped to one output, there’s nothing stopping multiple different inputs mapping to the same output.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760" y="2454796"/>
            <a:ext cx="1545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Many-to-one</a:t>
            </a:r>
          </a:p>
          <a:p>
            <a:r>
              <a:rPr lang="en-GB" dirty="0"/>
              <a:t>function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77740" y="2416696"/>
            <a:ext cx="2448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Multiple inputs can map to the same output.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09788" y="320878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09788" y="38568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17900" y="349681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</a:t>
            </a:r>
          </a:p>
        </p:txBody>
      </p:sp>
      <p:sp>
        <p:nvSpPr>
          <p:cNvPr id="22" name="Oval 21"/>
          <p:cNvSpPr/>
          <p:nvPr/>
        </p:nvSpPr>
        <p:spPr>
          <a:xfrm>
            <a:off x="2437780" y="3064768"/>
            <a:ext cx="504056" cy="1296144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/>
          <p:cNvSpPr/>
          <p:nvPr/>
        </p:nvSpPr>
        <p:spPr>
          <a:xfrm>
            <a:off x="3445892" y="3064768"/>
            <a:ext cx="504056" cy="1296144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5" name="Straight Arrow Connector 24"/>
          <p:cNvCxnSpPr>
            <a:endCxn id="21" idx="1"/>
          </p:cNvCxnSpPr>
          <p:nvPr/>
        </p:nvCxnSpPr>
        <p:spPr>
          <a:xfrm>
            <a:off x="2797820" y="3424808"/>
            <a:ext cx="720080" cy="25667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20" idx="3"/>
          </p:cNvCxnSpPr>
          <p:nvPr/>
        </p:nvCxnSpPr>
        <p:spPr>
          <a:xfrm flipV="1">
            <a:off x="2941836" y="3784848"/>
            <a:ext cx="576064" cy="25667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4611092" y="2556396"/>
                <a:ext cx="1802408" cy="13778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400" dirty="0"/>
              </a:p>
              <a:p>
                <a:endParaRPr lang="en-GB" sz="2000" dirty="0"/>
              </a:p>
              <a:p>
                <a:r>
                  <a:rPr lang="en-GB" sz="2000" dirty="0"/>
                  <a:t>e.g.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GB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GB" sz="2400" baseline="300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1092" y="2556396"/>
                <a:ext cx="1802408" cy="1377878"/>
              </a:xfrm>
              <a:prstGeom prst="rect">
                <a:avLst/>
              </a:prstGeom>
              <a:blipFill>
                <a:blip r:embed="rId2"/>
                <a:stretch>
                  <a:fillRect l="-3378" b="-44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>
          <a:xfrm>
            <a:off x="415257" y="1914460"/>
            <a:ext cx="1564455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Type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07083" y="1914460"/>
            <a:ext cx="2509678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Description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99992" y="1922010"/>
            <a:ext cx="2088232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Example</a:t>
            </a:r>
          </a:p>
        </p:txBody>
      </p:sp>
      <p:cxnSp>
        <p:nvCxnSpPr>
          <p:cNvPr id="44" name="Straight Connector 43"/>
          <p:cNvCxnSpPr/>
          <p:nvPr/>
        </p:nvCxnSpPr>
        <p:spPr>
          <a:xfrm>
            <a:off x="1970336" y="1988840"/>
            <a:ext cx="0" cy="46085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4526136" y="2065040"/>
            <a:ext cx="0" cy="46085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11560" y="4797152"/>
            <a:ext cx="2232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One-to-one</a:t>
            </a:r>
          </a:p>
          <a:p>
            <a:r>
              <a:rPr lang="en-GB" dirty="0"/>
              <a:t>function</a:t>
            </a:r>
          </a:p>
        </p:txBody>
      </p:sp>
      <p:cxnSp>
        <p:nvCxnSpPr>
          <p:cNvPr id="49" name="Straight Connector 48"/>
          <p:cNvCxnSpPr>
            <a:cxnSpLocks/>
          </p:cNvCxnSpPr>
          <p:nvPr/>
        </p:nvCxnSpPr>
        <p:spPr>
          <a:xfrm>
            <a:off x="611560" y="4653136"/>
            <a:ext cx="597666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153940" y="4699744"/>
            <a:ext cx="2448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Each output has one input and vice versa.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85988" y="563584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85988" y="592388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94100" y="549183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</a:t>
            </a:r>
          </a:p>
        </p:txBody>
      </p:sp>
      <p:sp>
        <p:nvSpPr>
          <p:cNvPr id="56" name="Oval 55"/>
          <p:cNvSpPr/>
          <p:nvPr/>
        </p:nvSpPr>
        <p:spPr>
          <a:xfrm>
            <a:off x="2513980" y="5347816"/>
            <a:ext cx="504056" cy="1296144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Oval 56"/>
          <p:cNvSpPr/>
          <p:nvPr/>
        </p:nvSpPr>
        <p:spPr>
          <a:xfrm>
            <a:off x="3522092" y="5347816"/>
            <a:ext cx="504056" cy="1296144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8" name="Straight Arrow Connector 57"/>
          <p:cNvCxnSpPr/>
          <p:nvPr/>
        </p:nvCxnSpPr>
        <p:spPr>
          <a:xfrm flipV="1">
            <a:off x="2874020" y="5707856"/>
            <a:ext cx="792088" cy="14401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V="1">
            <a:off x="2874020" y="5995888"/>
            <a:ext cx="792088" cy="7200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3594100" y="585187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85988" y="621191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</a:t>
            </a:r>
          </a:p>
        </p:txBody>
      </p:sp>
      <p:cxnSp>
        <p:nvCxnSpPr>
          <p:cNvPr id="66" name="Straight Arrow Connector 65"/>
          <p:cNvCxnSpPr/>
          <p:nvPr/>
        </p:nvCxnSpPr>
        <p:spPr>
          <a:xfrm flipV="1">
            <a:off x="2874020" y="6283920"/>
            <a:ext cx="792088" cy="7200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3594100" y="613990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4340076" y="4903068"/>
                <a:ext cx="24482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0076" y="4903068"/>
                <a:ext cx="2448272" cy="461665"/>
              </a:xfrm>
              <a:prstGeom prst="rect">
                <a:avLst/>
              </a:prstGeom>
              <a:blipFill>
                <a:blip r:embed="rId3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Rectangle 68"/>
          <p:cNvSpPr/>
          <p:nvPr/>
        </p:nvSpPr>
        <p:spPr>
          <a:xfrm>
            <a:off x="1979712" y="2283791"/>
            <a:ext cx="2555799" cy="236760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16761" y="2283792"/>
            <a:ext cx="2071463" cy="236760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979712" y="4651394"/>
            <a:ext cx="2537049" cy="202215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26012" y="4651394"/>
            <a:ext cx="2062212" cy="202215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833B928-521C-4E11-A199-84768C16C2D6}"/>
              </a:ext>
            </a:extLst>
          </p:cNvPr>
          <p:cNvCxnSpPr/>
          <p:nvPr/>
        </p:nvCxnSpPr>
        <p:spPr>
          <a:xfrm>
            <a:off x="6948264" y="3578116"/>
            <a:ext cx="18722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22B8959-FFE5-4875-89BE-F7437A17718D}"/>
              </a:ext>
            </a:extLst>
          </p:cNvPr>
          <p:cNvCxnSpPr>
            <a:cxnSpLocks/>
          </p:cNvCxnSpPr>
          <p:nvPr/>
        </p:nvCxnSpPr>
        <p:spPr>
          <a:xfrm flipV="1">
            <a:off x="7837512" y="2505596"/>
            <a:ext cx="0" cy="17935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BEE9EED-114E-4EF5-B86F-1BF05A416AFA}"/>
                  </a:ext>
                </a:extLst>
              </p:cNvPr>
              <p:cNvSpPr txBox="1"/>
              <p:nvPr/>
            </p:nvSpPr>
            <p:spPr>
              <a:xfrm>
                <a:off x="8763321" y="3401566"/>
                <a:ext cx="3140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BEE9EED-114E-4EF5-B86F-1BF05A416A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3321" y="3401566"/>
                <a:ext cx="314003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79BD5CA-BB0B-4577-926E-1F7B458A9DEE}"/>
                  </a:ext>
                </a:extLst>
              </p:cNvPr>
              <p:cNvSpPr txBox="1"/>
              <p:nvPr/>
            </p:nvSpPr>
            <p:spPr>
              <a:xfrm>
                <a:off x="7680510" y="2197819"/>
                <a:ext cx="3140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79BD5CA-BB0B-4577-926E-1F7B458A9D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510" y="2197819"/>
                <a:ext cx="314003" cy="307777"/>
              </a:xfrm>
              <a:prstGeom prst="rect">
                <a:avLst/>
              </a:prstGeom>
              <a:blipFill>
                <a:blip r:embed="rId5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168E422-0DD2-4AC7-8292-79310B14C25D}"/>
              </a:ext>
            </a:extLst>
          </p:cNvPr>
          <p:cNvSpPr/>
          <p:nvPr/>
        </p:nvSpPr>
        <p:spPr>
          <a:xfrm>
            <a:off x="7000875" y="2638425"/>
            <a:ext cx="1590675" cy="943040"/>
          </a:xfrm>
          <a:custGeom>
            <a:avLst/>
            <a:gdLst>
              <a:gd name="connsiteX0" fmla="*/ 0 w 1590675"/>
              <a:gd name="connsiteY0" fmla="*/ 0 h 943040"/>
              <a:gd name="connsiteX1" fmla="*/ 809625 w 1590675"/>
              <a:gd name="connsiteY1" fmla="*/ 942975 h 943040"/>
              <a:gd name="connsiteX2" fmla="*/ 1590675 w 1590675"/>
              <a:gd name="connsiteY2" fmla="*/ 38100 h 94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90675" h="943040">
                <a:moveTo>
                  <a:pt x="0" y="0"/>
                </a:moveTo>
                <a:cubicBezTo>
                  <a:pt x="272256" y="468312"/>
                  <a:pt x="544513" y="936625"/>
                  <a:pt x="809625" y="942975"/>
                </a:cubicBezTo>
                <a:cubicBezTo>
                  <a:pt x="1074737" y="949325"/>
                  <a:pt x="1332706" y="493712"/>
                  <a:pt x="1590675" y="3810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3C86BE7-6F6C-40F4-ABDB-DF21D214E042}"/>
              </a:ext>
            </a:extLst>
          </p:cNvPr>
          <p:cNvCxnSpPr>
            <a:cxnSpLocks/>
          </p:cNvCxnSpPr>
          <p:nvPr/>
        </p:nvCxnSpPr>
        <p:spPr>
          <a:xfrm flipV="1">
            <a:off x="6900639" y="3101127"/>
            <a:ext cx="1872208" cy="1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993929C8-9015-46B3-BCA1-0B98001CF651}"/>
              </a:ext>
            </a:extLst>
          </p:cNvPr>
          <p:cNvSpPr/>
          <p:nvPr/>
        </p:nvSpPr>
        <p:spPr>
          <a:xfrm>
            <a:off x="7233121" y="3059852"/>
            <a:ext cx="86524" cy="8403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E79A85AE-1597-4201-B963-E765AFA361E4}"/>
              </a:ext>
            </a:extLst>
          </p:cNvPr>
          <p:cNvSpPr/>
          <p:nvPr/>
        </p:nvSpPr>
        <p:spPr>
          <a:xfrm>
            <a:off x="8312118" y="3063359"/>
            <a:ext cx="86524" cy="8403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3C4415F-3671-4B6E-BC8A-5FE93E413C7F}"/>
                  </a:ext>
                </a:extLst>
              </p:cNvPr>
              <p:cNvSpPr txBox="1"/>
              <p:nvPr/>
            </p:nvSpPr>
            <p:spPr>
              <a:xfrm>
                <a:off x="8227057" y="2397667"/>
                <a:ext cx="81061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3C4415F-3671-4B6E-BC8A-5FE93E413C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7057" y="2397667"/>
                <a:ext cx="810617" cy="307777"/>
              </a:xfrm>
              <a:prstGeom prst="rect">
                <a:avLst/>
              </a:prstGeom>
              <a:blipFill>
                <a:blip r:embed="rId6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C8AB1C23-14FF-4BC7-B102-87860C897839}"/>
              </a:ext>
            </a:extLst>
          </p:cNvPr>
          <p:cNvSpPr txBox="1"/>
          <p:nvPr/>
        </p:nvSpPr>
        <p:spPr>
          <a:xfrm>
            <a:off x="7086488" y="4498488"/>
            <a:ext cx="1684101" cy="116955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You can use the ‘horizontal ray test’ to see if a function is one-to-one or many-to-one.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8295D0D-380D-4DA2-918A-C90D37FFF9F4}"/>
              </a:ext>
            </a:extLst>
          </p:cNvPr>
          <p:cNvCxnSpPr>
            <a:cxnSpLocks/>
          </p:cNvCxnSpPr>
          <p:nvPr/>
        </p:nvCxnSpPr>
        <p:spPr>
          <a:xfrm>
            <a:off x="6588224" y="2269234"/>
            <a:ext cx="0" cy="44043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4832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</p:childTnLst>
        </p:cTn>
      </p:par>
    </p:tnLst>
    <p:bldLst>
      <p:bldP spid="69" grpId="0" animBg="1"/>
      <p:bldP spid="70" grpId="0" animBg="1"/>
      <p:bldP spid="71" grpId="0" animBg="1"/>
      <p:bldP spid="72" grpId="0" animBg="1"/>
      <p:bldP spid="10" grpId="0"/>
      <p:bldP spid="46" grpId="0"/>
      <p:bldP spid="11" grpId="0" animBg="1"/>
      <p:bldP spid="14" grpId="0" animBg="1"/>
      <p:bldP spid="60" grpId="0" animBg="1"/>
      <p:bldP spid="15" grpId="0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DA38EE2-88FB-41DA-A4FF-642B81EB52DE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332DA57E-9B37-443C-A1C1-FF833BE61898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Further Examples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B76F9B8C-9B2C-4586-9B41-9A5E72CA13F4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C3FB75-61A7-4E86-A965-0DB7035D354B}"/>
                  </a:ext>
                </a:extLst>
              </p:cNvPr>
              <p:cNvSpPr txBox="1"/>
              <p:nvPr/>
            </p:nvSpPr>
            <p:spPr>
              <a:xfrm>
                <a:off x="467544" y="1340768"/>
                <a:ext cx="5888306" cy="159293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[Textbook] Find the range of each of the following functions.</a:t>
                </a:r>
              </a:p>
              <a:p>
                <a:pPr marL="342900" indent="-342900">
                  <a:buAutoNum type="alphaLcParenR"/>
                </a:pPr>
                <a:r>
                  <a:rPr lang="en-GB" b="0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GB" dirty="0"/>
                  <a:t>, domain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{1,2,3,4}</m:t>
                    </m:r>
                  </m:oMath>
                </a14:m>
                <a:endParaRPr lang="en-GB" dirty="0"/>
              </a:p>
              <a:p>
                <a:pPr marL="342900" indent="-342900">
                  <a:buAutoNum type="alphaLcParenR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, domain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ℝ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 −5≤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≤5</m:t>
                        </m:r>
                      </m:e>
                    </m:d>
                  </m:oMath>
                </a14:m>
                <a:endParaRPr lang="en-GB" dirty="0"/>
              </a:p>
              <a:p>
                <a:pPr marL="342900" indent="-342900">
                  <a:buAutoNum type="alphaLcParenR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GB" dirty="0"/>
                  <a:t>, domain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 0&lt;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≤3</m:t>
                    </m:r>
                  </m:oMath>
                </a14:m>
                <a:r>
                  <a:rPr lang="en-GB" dirty="0"/>
                  <a:t>} </a:t>
                </a:r>
              </a:p>
              <a:p>
                <a:r>
                  <a:rPr lang="en-GB" dirty="0"/>
                  <a:t>State if the functions are one-to-one or many-to-one.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C3FB75-61A7-4E86-A965-0DB7035D35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1340768"/>
                <a:ext cx="5888306" cy="15929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AA94B04-6496-4448-B90D-B74E180BFEEB}"/>
              </a:ext>
            </a:extLst>
          </p:cNvPr>
          <p:cNvSpPr txBox="1"/>
          <p:nvPr/>
        </p:nvSpPr>
        <p:spPr>
          <a:xfrm>
            <a:off x="283857" y="746812"/>
            <a:ext cx="7582106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It is often helpful to sketch the function to reason about the range.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FEFE1A6-CA5D-4059-86EE-8FD0E139C4BB}"/>
                  </a:ext>
                </a:extLst>
              </p:cNvPr>
              <p:cNvSpPr txBox="1"/>
              <p:nvPr/>
            </p:nvSpPr>
            <p:spPr>
              <a:xfrm>
                <a:off x="599574" y="3248246"/>
                <a:ext cx="2801491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Therefore range is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1,4,7,10</m:t>
                        </m:r>
                      </m:e>
                    </m:d>
                  </m:oMath>
                </a14:m>
                <a:endParaRPr lang="en-GB" sz="1600" dirty="0"/>
              </a:p>
              <a:p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600" dirty="0"/>
                  <a:t> is one-to-one.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FEFE1A6-CA5D-4059-86EE-8FD0E139C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574" y="3248246"/>
                <a:ext cx="2801491" cy="1631216"/>
              </a:xfrm>
              <a:prstGeom prst="rect">
                <a:avLst/>
              </a:prstGeom>
              <a:blipFill>
                <a:blip r:embed="rId3"/>
                <a:stretch>
                  <a:fillRect l="-1087" b="-3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FD37683-7E98-4AB3-885E-25CF60B779A9}"/>
                  </a:ext>
                </a:extLst>
              </p:cNvPr>
              <p:cNvSpPr txBox="1"/>
              <p:nvPr/>
            </p:nvSpPr>
            <p:spPr>
              <a:xfrm>
                <a:off x="3521986" y="5279876"/>
                <a:ext cx="2021540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Using graph, range is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0≤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≤25</m:t>
                      </m:r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600" dirty="0"/>
                  <a:t> is many-to-one.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FD37683-7E98-4AB3-885E-25CF60B779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1986" y="5279876"/>
                <a:ext cx="2021540" cy="1077218"/>
              </a:xfrm>
              <a:prstGeom prst="rect">
                <a:avLst/>
              </a:prstGeom>
              <a:blipFill>
                <a:blip r:embed="rId4"/>
                <a:stretch>
                  <a:fillRect l="-1813" t="-1695" b="-62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D0AA728B-D655-45A2-B4AA-1D15B180A578}"/>
              </a:ext>
            </a:extLst>
          </p:cNvPr>
          <p:cNvSpPr/>
          <p:nvPr/>
        </p:nvSpPr>
        <p:spPr>
          <a:xfrm>
            <a:off x="467544" y="3212976"/>
            <a:ext cx="216024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420B1D-D810-439D-8F73-4460CA10DE14}"/>
              </a:ext>
            </a:extLst>
          </p:cNvPr>
          <p:cNvSpPr/>
          <p:nvPr/>
        </p:nvSpPr>
        <p:spPr>
          <a:xfrm>
            <a:off x="3195673" y="3212976"/>
            <a:ext cx="216024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62EB17-C4CD-4917-AE86-7C38B31C7347}"/>
              </a:ext>
            </a:extLst>
          </p:cNvPr>
          <p:cNvSpPr/>
          <p:nvPr/>
        </p:nvSpPr>
        <p:spPr>
          <a:xfrm>
            <a:off x="6247838" y="3212976"/>
            <a:ext cx="216024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F187BBA-8C3C-424D-9684-7425566F096E}"/>
              </a:ext>
            </a:extLst>
          </p:cNvPr>
          <p:cNvCxnSpPr/>
          <p:nvPr/>
        </p:nvCxnSpPr>
        <p:spPr>
          <a:xfrm>
            <a:off x="3552350" y="4521835"/>
            <a:ext cx="18722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ED36E4C-3533-4CD6-996E-BA11A6443E74}"/>
              </a:ext>
            </a:extLst>
          </p:cNvPr>
          <p:cNvCxnSpPr>
            <a:cxnSpLocks/>
          </p:cNvCxnSpPr>
          <p:nvPr/>
        </p:nvCxnSpPr>
        <p:spPr>
          <a:xfrm flipV="1">
            <a:off x="4441598" y="3449315"/>
            <a:ext cx="0" cy="17935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C67A2C4-3911-4159-92EB-D5529992F17C}"/>
                  </a:ext>
                </a:extLst>
              </p:cNvPr>
              <p:cNvSpPr txBox="1"/>
              <p:nvPr/>
            </p:nvSpPr>
            <p:spPr>
              <a:xfrm>
                <a:off x="5367407" y="4345285"/>
                <a:ext cx="3140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C67A2C4-3911-4159-92EB-D5529992F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7407" y="4345285"/>
                <a:ext cx="314003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0039541-DAF8-492B-B3A1-4BED58C4F20E}"/>
                  </a:ext>
                </a:extLst>
              </p:cNvPr>
              <p:cNvSpPr txBox="1"/>
              <p:nvPr/>
            </p:nvSpPr>
            <p:spPr>
              <a:xfrm>
                <a:off x="4284596" y="3141538"/>
                <a:ext cx="3140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0039541-DAF8-492B-B3A1-4BED58C4F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4596" y="3141538"/>
                <a:ext cx="314003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427C148-1A28-441F-9CF1-B2F6ABB0257B}"/>
              </a:ext>
            </a:extLst>
          </p:cNvPr>
          <p:cNvSpPr/>
          <p:nvPr/>
        </p:nvSpPr>
        <p:spPr>
          <a:xfrm>
            <a:off x="3604961" y="3582144"/>
            <a:ext cx="1590675" cy="943040"/>
          </a:xfrm>
          <a:custGeom>
            <a:avLst/>
            <a:gdLst>
              <a:gd name="connsiteX0" fmla="*/ 0 w 1590675"/>
              <a:gd name="connsiteY0" fmla="*/ 0 h 943040"/>
              <a:gd name="connsiteX1" fmla="*/ 809625 w 1590675"/>
              <a:gd name="connsiteY1" fmla="*/ 942975 h 943040"/>
              <a:gd name="connsiteX2" fmla="*/ 1590675 w 1590675"/>
              <a:gd name="connsiteY2" fmla="*/ 38100 h 94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90675" h="943040">
                <a:moveTo>
                  <a:pt x="0" y="0"/>
                </a:moveTo>
                <a:cubicBezTo>
                  <a:pt x="272256" y="468312"/>
                  <a:pt x="544513" y="936625"/>
                  <a:pt x="809625" y="942975"/>
                </a:cubicBezTo>
                <a:cubicBezTo>
                  <a:pt x="1074737" y="949325"/>
                  <a:pt x="1332706" y="493712"/>
                  <a:pt x="1590675" y="3810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E6ADEF8-FC80-4974-84FF-4F472B12562D}"/>
                  </a:ext>
                </a:extLst>
              </p:cNvPr>
              <p:cNvSpPr txBox="1"/>
              <p:nvPr/>
            </p:nvSpPr>
            <p:spPr>
              <a:xfrm>
                <a:off x="5199443" y="3564906"/>
                <a:ext cx="94100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E6ADEF8-FC80-4974-84FF-4F472B1256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443" y="3564906"/>
                <a:ext cx="941007" cy="307777"/>
              </a:xfrm>
              <a:prstGeom prst="rect">
                <a:avLst/>
              </a:prstGeom>
              <a:blipFill>
                <a:blip r:embed="rId7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DE4CE43-F2B3-4A89-92B7-43E6BD40C945}"/>
              </a:ext>
            </a:extLst>
          </p:cNvPr>
          <p:cNvCxnSpPr>
            <a:endCxn id="16" idx="2"/>
          </p:cNvCxnSpPr>
          <p:nvPr/>
        </p:nvCxnSpPr>
        <p:spPr>
          <a:xfrm flipV="1">
            <a:off x="5195636" y="3620244"/>
            <a:ext cx="0" cy="901591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92417AA-C34D-415F-8AA3-121E26761EFA}"/>
              </a:ext>
            </a:extLst>
          </p:cNvPr>
          <p:cNvCxnSpPr/>
          <p:nvPr/>
        </p:nvCxnSpPr>
        <p:spPr>
          <a:xfrm flipV="1">
            <a:off x="3604961" y="3620244"/>
            <a:ext cx="0" cy="901591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95F474F-B788-4E3F-A5FF-BD2B23CC9580}"/>
              </a:ext>
            </a:extLst>
          </p:cNvPr>
          <p:cNvCxnSpPr>
            <a:cxnSpLocks/>
            <a:endCxn id="16" idx="0"/>
          </p:cNvCxnSpPr>
          <p:nvPr/>
        </p:nvCxnSpPr>
        <p:spPr>
          <a:xfrm flipH="1" flipV="1">
            <a:off x="3604961" y="3582144"/>
            <a:ext cx="1595689" cy="5606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E49CA34-AD42-4A0D-AF51-7752CAAAAA8E}"/>
                  </a:ext>
                </a:extLst>
              </p:cNvPr>
              <p:cNvSpPr txBox="1"/>
              <p:nvPr/>
            </p:nvSpPr>
            <p:spPr>
              <a:xfrm>
                <a:off x="5047324" y="4482106"/>
                <a:ext cx="3140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E49CA34-AD42-4A0D-AF51-7752CAAAAA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7324" y="4482106"/>
                <a:ext cx="314003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6775D19-CFDB-4191-898B-8C7BB82E4E70}"/>
                  </a:ext>
                </a:extLst>
              </p:cNvPr>
              <p:cNvSpPr txBox="1"/>
              <p:nvPr/>
            </p:nvSpPr>
            <p:spPr>
              <a:xfrm>
                <a:off x="3414440" y="4482106"/>
                <a:ext cx="3140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−5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6775D19-CFDB-4191-898B-8C7BB82E4E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4440" y="4482106"/>
                <a:ext cx="314003" cy="307777"/>
              </a:xfrm>
              <a:prstGeom prst="rect">
                <a:avLst/>
              </a:prstGeom>
              <a:blipFill>
                <a:blip r:embed="rId9"/>
                <a:stretch>
                  <a:fillRect r="-230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DA31D83-3187-4E07-BBE1-75681AF314FB}"/>
                  </a:ext>
                </a:extLst>
              </p:cNvPr>
              <p:cNvSpPr txBox="1"/>
              <p:nvPr/>
            </p:nvSpPr>
            <p:spPr>
              <a:xfrm>
                <a:off x="4136934" y="3507178"/>
                <a:ext cx="3140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25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DA31D83-3187-4E07-BBE1-75681AF31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6934" y="3507178"/>
                <a:ext cx="314003" cy="307777"/>
              </a:xfrm>
              <a:prstGeom prst="rect">
                <a:avLst/>
              </a:prstGeom>
              <a:blipFill>
                <a:blip r:embed="rId10"/>
                <a:stretch>
                  <a:fillRect r="-117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A715C24-8ADE-4770-BFD7-90EEC99834CC}"/>
              </a:ext>
            </a:extLst>
          </p:cNvPr>
          <p:cNvCxnSpPr/>
          <p:nvPr/>
        </p:nvCxnSpPr>
        <p:spPr>
          <a:xfrm>
            <a:off x="6846564" y="4473588"/>
            <a:ext cx="18722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4F2FEE0-7F87-4782-8CED-68BE7B5C0DAB}"/>
              </a:ext>
            </a:extLst>
          </p:cNvPr>
          <p:cNvCxnSpPr>
            <a:cxnSpLocks/>
          </p:cNvCxnSpPr>
          <p:nvPr/>
        </p:nvCxnSpPr>
        <p:spPr>
          <a:xfrm flipV="1">
            <a:off x="7380312" y="3400284"/>
            <a:ext cx="0" cy="17935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63D83A3-513B-4333-9139-AD81A2E69A65}"/>
                  </a:ext>
                </a:extLst>
              </p:cNvPr>
              <p:cNvSpPr txBox="1"/>
              <p:nvPr/>
            </p:nvSpPr>
            <p:spPr>
              <a:xfrm>
                <a:off x="8661621" y="4297038"/>
                <a:ext cx="3140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63D83A3-513B-4333-9139-AD81A2E69A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1621" y="4297038"/>
                <a:ext cx="314003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BFA9261-40A7-4125-A2B0-198774FB60CB}"/>
                  </a:ext>
                </a:extLst>
              </p:cNvPr>
              <p:cNvSpPr txBox="1"/>
              <p:nvPr/>
            </p:nvSpPr>
            <p:spPr>
              <a:xfrm>
                <a:off x="7213140" y="3122883"/>
                <a:ext cx="3140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BFA9261-40A7-4125-A2B0-198774FB6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3140" y="3122883"/>
                <a:ext cx="314003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7CB857F-BD8A-49C5-B636-F5AB30CD1060}"/>
                  </a:ext>
                </a:extLst>
              </p:cNvPr>
              <p:cNvSpPr txBox="1"/>
              <p:nvPr/>
            </p:nvSpPr>
            <p:spPr>
              <a:xfrm>
                <a:off x="7946250" y="4429097"/>
                <a:ext cx="3140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7CB857F-BD8A-49C5-B636-F5AB30CD10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6250" y="4429097"/>
                <a:ext cx="314003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C1307576-FAF0-4D3E-BB46-A130ADE03BEB}"/>
              </a:ext>
            </a:extLst>
          </p:cNvPr>
          <p:cNvSpPr/>
          <p:nvPr/>
        </p:nvSpPr>
        <p:spPr>
          <a:xfrm>
            <a:off x="7467600" y="3467100"/>
            <a:ext cx="638175" cy="657225"/>
          </a:xfrm>
          <a:custGeom>
            <a:avLst/>
            <a:gdLst>
              <a:gd name="connsiteX0" fmla="*/ 0 w 1019175"/>
              <a:gd name="connsiteY0" fmla="*/ 0 h 942975"/>
              <a:gd name="connsiteX1" fmla="*/ 323850 w 1019175"/>
              <a:gd name="connsiteY1" fmla="*/ 714375 h 942975"/>
              <a:gd name="connsiteX2" fmla="*/ 1019175 w 1019175"/>
              <a:gd name="connsiteY2" fmla="*/ 942975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9175" h="942975">
                <a:moveTo>
                  <a:pt x="0" y="0"/>
                </a:moveTo>
                <a:cubicBezTo>
                  <a:pt x="76994" y="278606"/>
                  <a:pt x="153988" y="557213"/>
                  <a:pt x="323850" y="714375"/>
                </a:cubicBezTo>
                <a:cubicBezTo>
                  <a:pt x="493713" y="871538"/>
                  <a:pt x="756444" y="907256"/>
                  <a:pt x="1019175" y="942975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1B0DB9A-5EA2-461E-9087-C57F677696DB}"/>
              </a:ext>
            </a:extLst>
          </p:cNvPr>
          <p:cNvCxnSpPr>
            <a:cxnSpLocks/>
          </p:cNvCxnSpPr>
          <p:nvPr/>
        </p:nvCxnSpPr>
        <p:spPr>
          <a:xfrm flipV="1">
            <a:off x="8105775" y="4120407"/>
            <a:ext cx="0" cy="356343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ED37B5C-890F-447F-A68B-FFB9560C287D}"/>
                  </a:ext>
                </a:extLst>
              </p:cNvPr>
              <p:cNvSpPr txBox="1"/>
              <p:nvPr/>
            </p:nvSpPr>
            <p:spPr>
              <a:xfrm>
                <a:off x="7138974" y="3880371"/>
                <a:ext cx="314003" cy="4970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ED37B5C-890F-447F-A68B-FFB9560C28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8974" y="3880371"/>
                <a:ext cx="314003" cy="497059"/>
              </a:xfrm>
              <a:prstGeom prst="rect">
                <a:avLst/>
              </a:prstGeom>
              <a:blipFill>
                <a:blip r:embed="rId14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BDB44AE-0674-4157-A910-79F64C48EA76}"/>
              </a:ext>
            </a:extLst>
          </p:cNvPr>
          <p:cNvCxnSpPr>
            <a:cxnSpLocks/>
          </p:cNvCxnSpPr>
          <p:nvPr/>
        </p:nvCxnSpPr>
        <p:spPr>
          <a:xfrm>
            <a:off x="7386638" y="4133850"/>
            <a:ext cx="716612" cy="2446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10EC8AD-C288-4DAD-A5D0-73749D094EB5}"/>
                  </a:ext>
                </a:extLst>
              </p:cNvPr>
              <p:cNvSpPr txBox="1"/>
              <p:nvPr/>
            </p:nvSpPr>
            <p:spPr>
              <a:xfrm>
                <a:off x="6771898" y="5274915"/>
                <a:ext cx="2021540" cy="10474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Using graph, range is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  <a:p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600" dirty="0"/>
                  <a:t> is one-to-one.</a:t>
                </a: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10EC8AD-C288-4DAD-A5D0-73749D094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1898" y="5274915"/>
                <a:ext cx="2021540" cy="1047403"/>
              </a:xfrm>
              <a:prstGeom prst="rect">
                <a:avLst/>
              </a:prstGeom>
              <a:blipFill>
                <a:blip r:embed="rId15"/>
                <a:stretch>
                  <a:fillRect l="-1813" t="-1744" b="-63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Rectangle 51">
            <a:extLst>
              <a:ext uri="{FF2B5EF4-FFF2-40B4-BE49-F238E27FC236}">
                <a16:creationId xmlns:a16="http://schemas.microsoft.com/office/drawing/2014/main" id="{917F6F2B-5E6E-45B2-A529-B98F1FF995C5}"/>
              </a:ext>
            </a:extLst>
          </p:cNvPr>
          <p:cNvSpPr/>
          <p:nvPr/>
        </p:nvSpPr>
        <p:spPr>
          <a:xfrm>
            <a:off x="683219" y="3212975"/>
            <a:ext cx="2436224" cy="230425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C7C9A18-5345-40E5-9765-96E43746A6BF}"/>
              </a:ext>
            </a:extLst>
          </p:cNvPr>
          <p:cNvSpPr/>
          <p:nvPr/>
        </p:nvSpPr>
        <p:spPr>
          <a:xfrm>
            <a:off x="3404876" y="3212975"/>
            <a:ext cx="2641560" cy="314411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1F36186-9A70-48BC-92AD-6E594C940D93}"/>
              </a:ext>
            </a:extLst>
          </p:cNvPr>
          <p:cNvSpPr/>
          <p:nvPr/>
        </p:nvSpPr>
        <p:spPr>
          <a:xfrm>
            <a:off x="6470111" y="3212975"/>
            <a:ext cx="2505513" cy="314411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27DC21D-3EA8-45C8-8A36-D4E0DAAFEA4A}"/>
                  </a:ext>
                </a:extLst>
              </p:cNvPr>
              <p:cNvSpPr txBox="1"/>
              <p:nvPr/>
            </p:nvSpPr>
            <p:spPr>
              <a:xfrm>
                <a:off x="6740000" y="1450465"/>
                <a:ext cx="2081110" cy="116955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We use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to refer to the input, and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400" dirty="0"/>
                  <a:t> to refer to the output.</a:t>
                </a:r>
              </a:p>
              <a:p>
                <a:r>
                  <a:rPr lang="en-GB" sz="1400" b="1" u="sng" dirty="0"/>
                  <a:t>Thus your ranges should be in terms of </a:t>
                </a:r>
                <a14:m>
                  <m:oMath xmlns:m="http://schemas.openxmlformats.org/officeDocument/2006/math">
                    <m:r>
                      <a:rPr lang="en-GB" sz="1400" b="1" i="1" u="sng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GB" sz="1400" b="1" i="1" u="sng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400" b="1" i="1" u="sng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400" b="1" i="1" u="sng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400" dirty="0"/>
                  <a:t>.</a:t>
                </a: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27DC21D-3EA8-45C8-8A36-D4E0DAAFE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0000" y="1450465"/>
                <a:ext cx="2081110" cy="1169551"/>
              </a:xfrm>
              <a:prstGeom prst="rect">
                <a:avLst/>
              </a:prstGeom>
              <a:blipFill>
                <a:blip r:embed="rId16"/>
                <a:stretch>
                  <a:fillRect l="-290" b="-30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8183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</p:childTnLst>
        </p:cTn>
      </p:par>
    </p:tnLst>
    <p:bldLst>
      <p:bldP spid="52" grpId="0" animBg="1"/>
      <p:bldP spid="53" grpId="0" animBg="1"/>
      <p:bldP spid="5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F6FC322-C3D8-4B38-85FF-52832D6CAA76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8D81C568-9591-45C6-977B-F1DEC371202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Piecewise Functions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83903D8-E81D-4649-AB3B-E4E6302BDF83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755A8C3-1EFB-4B6D-B051-E506A86D8D83}"/>
              </a:ext>
            </a:extLst>
          </p:cNvPr>
          <p:cNvSpPr txBox="1"/>
          <p:nvPr/>
        </p:nvSpPr>
        <p:spPr>
          <a:xfrm>
            <a:off x="283857" y="757445"/>
            <a:ext cx="7582106" cy="64633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A ‘piecewise function’ is one which is defined in parts: we can use different rules for different intervals within the domain.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87AE49A-C9EB-4542-9896-43BFD732FEC6}"/>
                  </a:ext>
                </a:extLst>
              </p:cNvPr>
              <p:cNvSpPr txBox="1"/>
              <p:nvPr/>
            </p:nvSpPr>
            <p:spPr>
              <a:xfrm>
                <a:off x="778308" y="1540828"/>
                <a:ext cx="5888306" cy="154119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[Textbook] The function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is defined by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begChr m:val="{"/>
                          <m:endChr m:val="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5−2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,   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&lt;1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+3,  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≥1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/>
              </a:p>
              <a:p>
                <a:pPr marL="342900" indent="-342900">
                  <a:buAutoNum type="alphaLcParenR"/>
                </a:pPr>
                <a:r>
                  <a:rPr lang="en-GB" dirty="0"/>
                  <a:t>Sketch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dirty="0"/>
                  <a:t>, and state the range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dirty="0"/>
                  <a:t>.</a:t>
                </a:r>
              </a:p>
              <a:p>
                <a:pPr marL="342900" indent="-342900">
                  <a:buAutoNum type="alphaLcParenR"/>
                </a:pPr>
                <a:r>
                  <a:rPr lang="en-GB" dirty="0"/>
                  <a:t>Solve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=19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87AE49A-C9EB-4542-9896-43BFD732F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308" y="1540828"/>
                <a:ext cx="5888306" cy="1541191"/>
              </a:xfrm>
              <a:prstGeom prst="rect">
                <a:avLst/>
              </a:prstGeom>
              <a:blipFill>
                <a:blip r:embed="rId2"/>
                <a:stretch>
                  <a:fillRect b="-35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1653A32-E16A-4BE1-8077-CBB57C4D84CC}"/>
              </a:ext>
            </a:extLst>
          </p:cNvPr>
          <p:cNvCxnSpPr>
            <a:cxnSpLocks/>
          </p:cNvCxnSpPr>
          <p:nvPr/>
        </p:nvCxnSpPr>
        <p:spPr>
          <a:xfrm>
            <a:off x="580838" y="5589240"/>
            <a:ext cx="22629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BD56765-3442-49FA-80A7-CC4D3894EB0B}"/>
              </a:ext>
            </a:extLst>
          </p:cNvPr>
          <p:cNvCxnSpPr>
            <a:cxnSpLocks/>
          </p:cNvCxnSpPr>
          <p:nvPr/>
        </p:nvCxnSpPr>
        <p:spPr>
          <a:xfrm flipV="1">
            <a:off x="1712323" y="3501008"/>
            <a:ext cx="0" cy="2233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E861E05-4F1E-4E03-A291-0011E8BB69E8}"/>
                  </a:ext>
                </a:extLst>
              </p:cNvPr>
              <p:cNvSpPr txBox="1"/>
              <p:nvPr/>
            </p:nvSpPr>
            <p:spPr>
              <a:xfrm>
                <a:off x="2814332" y="5417213"/>
                <a:ext cx="3140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E861E05-4F1E-4E03-A291-0011E8BB69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4332" y="5417213"/>
                <a:ext cx="314003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D7394D9-449A-47B3-87FE-8C6CA442884B}"/>
                  </a:ext>
                </a:extLst>
              </p:cNvPr>
              <p:cNvSpPr txBox="1"/>
              <p:nvPr/>
            </p:nvSpPr>
            <p:spPr>
              <a:xfrm>
                <a:off x="1545034" y="3194638"/>
                <a:ext cx="3140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D7394D9-449A-47B3-87FE-8C6CA4428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5034" y="3194638"/>
                <a:ext cx="314003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76B6E06-5420-486F-99BB-7D8CF96C442A}"/>
                  </a:ext>
                </a:extLst>
              </p:cNvPr>
              <p:cNvSpPr txBox="1"/>
              <p:nvPr/>
            </p:nvSpPr>
            <p:spPr>
              <a:xfrm>
                <a:off x="2011090" y="5563045"/>
                <a:ext cx="3140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76B6E06-5420-486F-99BB-7D8CF96C44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1090" y="5563045"/>
                <a:ext cx="314003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129839D-8D2A-41B8-9860-685750605FDA}"/>
                  </a:ext>
                </a:extLst>
              </p:cNvPr>
              <p:cNvSpPr txBox="1"/>
              <p:nvPr/>
            </p:nvSpPr>
            <p:spPr>
              <a:xfrm>
                <a:off x="1462894" y="4877159"/>
                <a:ext cx="3140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129839D-8D2A-41B8-9860-685750605F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2894" y="4877159"/>
                <a:ext cx="314003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B4E40E2-3642-49BF-99B4-0657D1F8D592}"/>
              </a:ext>
            </a:extLst>
          </p:cNvPr>
          <p:cNvCxnSpPr>
            <a:cxnSpLocks/>
          </p:cNvCxnSpPr>
          <p:nvPr/>
        </p:nvCxnSpPr>
        <p:spPr>
          <a:xfrm>
            <a:off x="1119994" y="3645024"/>
            <a:ext cx="991381" cy="135877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F7B250D-510F-4DEA-9132-2AA167762AA7}"/>
              </a:ext>
            </a:extLst>
          </p:cNvPr>
          <p:cNvSpPr/>
          <p:nvPr/>
        </p:nvSpPr>
        <p:spPr>
          <a:xfrm>
            <a:off x="2188092" y="3747755"/>
            <a:ext cx="659218" cy="967563"/>
          </a:xfrm>
          <a:custGeom>
            <a:avLst/>
            <a:gdLst>
              <a:gd name="connsiteX0" fmla="*/ 0 w 659218"/>
              <a:gd name="connsiteY0" fmla="*/ 967563 h 967563"/>
              <a:gd name="connsiteX1" fmla="*/ 404037 w 659218"/>
              <a:gd name="connsiteY1" fmla="*/ 563526 h 967563"/>
              <a:gd name="connsiteX2" fmla="*/ 659218 w 659218"/>
              <a:gd name="connsiteY2" fmla="*/ 0 h 967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59218" h="967563">
                <a:moveTo>
                  <a:pt x="0" y="967563"/>
                </a:moveTo>
                <a:cubicBezTo>
                  <a:pt x="147083" y="846174"/>
                  <a:pt x="294167" y="724786"/>
                  <a:pt x="404037" y="563526"/>
                </a:cubicBezTo>
                <a:cubicBezTo>
                  <a:pt x="513907" y="402265"/>
                  <a:pt x="586562" y="201132"/>
                  <a:pt x="659218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DFE82B1-5C31-49B1-B712-277EC6B966F2}"/>
              </a:ext>
            </a:extLst>
          </p:cNvPr>
          <p:cNvSpPr/>
          <p:nvPr/>
        </p:nvSpPr>
        <p:spPr>
          <a:xfrm>
            <a:off x="2109140" y="4706864"/>
            <a:ext cx="94310" cy="9373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0A06BDC-F5F0-45D1-9BA6-8408B3EB93A1}"/>
              </a:ext>
            </a:extLst>
          </p:cNvPr>
          <p:cNvSpPr/>
          <p:nvPr/>
        </p:nvSpPr>
        <p:spPr>
          <a:xfrm>
            <a:off x="2107109" y="4993471"/>
            <a:ext cx="94310" cy="937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229E4AB-E33A-4A0E-9DB3-8904E8C890DB}"/>
                  </a:ext>
                </a:extLst>
              </p:cNvPr>
              <p:cNvSpPr txBox="1"/>
              <p:nvPr/>
            </p:nvSpPr>
            <p:spPr>
              <a:xfrm>
                <a:off x="1471630" y="4596109"/>
                <a:ext cx="3140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229E4AB-E33A-4A0E-9DB3-8904E8C890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1630" y="4596109"/>
                <a:ext cx="314003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DB8F62A-59BE-4B9A-948B-79B359127277}"/>
                  </a:ext>
                </a:extLst>
              </p:cNvPr>
              <p:cNvSpPr txBox="1"/>
              <p:nvPr/>
            </p:nvSpPr>
            <p:spPr>
              <a:xfrm>
                <a:off x="1484330" y="4299345"/>
                <a:ext cx="3140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DB8F62A-59BE-4B9A-948B-79B359127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330" y="4299345"/>
                <a:ext cx="314003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B478012-FF04-4E6F-9185-C192B2A67B79}"/>
                  </a:ext>
                </a:extLst>
              </p:cNvPr>
              <p:cNvSpPr txBox="1"/>
              <p:nvPr/>
            </p:nvSpPr>
            <p:spPr>
              <a:xfrm>
                <a:off x="5100694" y="3162647"/>
                <a:ext cx="2150711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Using the graph, the range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&gt;3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+3=19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=±4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GB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5−2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=19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=−7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B478012-FF04-4E6F-9185-C192B2A67B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0694" y="3162647"/>
                <a:ext cx="2150711" cy="3139321"/>
              </a:xfrm>
              <a:prstGeom prst="rect">
                <a:avLst/>
              </a:prstGeom>
              <a:blipFill>
                <a:blip r:embed="rId9"/>
                <a:stretch>
                  <a:fillRect l="-2550" t="-1165" r="-8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38068225-81E2-44EB-821F-EF11E1BB30F5}"/>
              </a:ext>
            </a:extLst>
          </p:cNvPr>
          <p:cNvSpPr txBox="1"/>
          <p:nvPr/>
        </p:nvSpPr>
        <p:spPr>
          <a:xfrm>
            <a:off x="2512868" y="4415043"/>
            <a:ext cx="1878388" cy="101566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The filled/unfilled circles have the same meaning as with inequalities on a number line – unfilled indicates not included.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AE2E8B8-9173-4F8C-9B74-934E3BCFD6A5}"/>
                  </a:ext>
                </a:extLst>
              </p:cNvPr>
              <p:cNvSpPr txBox="1"/>
              <p:nvPr/>
            </p:nvSpPr>
            <p:spPr>
              <a:xfrm>
                <a:off x="2099599" y="3512954"/>
                <a:ext cx="126791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AE2E8B8-9173-4F8C-9B74-934E3BCFD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9599" y="3512954"/>
                <a:ext cx="1267914" cy="307777"/>
              </a:xfrm>
              <a:prstGeom prst="rect">
                <a:avLst/>
              </a:prstGeom>
              <a:blipFill>
                <a:blip r:embed="rId10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945B4BB-4D9B-46E8-895D-39A55C72D599}"/>
                  </a:ext>
                </a:extLst>
              </p:cNvPr>
              <p:cNvSpPr txBox="1"/>
              <p:nvPr/>
            </p:nvSpPr>
            <p:spPr>
              <a:xfrm>
                <a:off x="463542" y="3434378"/>
                <a:ext cx="126791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=5−2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945B4BB-4D9B-46E8-895D-39A55C72D5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542" y="3434378"/>
                <a:ext cx="1267914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EBE3D449-3100-4A30-A1FA-3806604A9EC0}"/>
              </a:ext>
            </a:extLst>
          </p:cNvPr>
          <p:cNvGrpSpPr/>
          <p:nvPr/>
        </p:nvGrpSpPr>
        <p:grpSpPr>
          <a:xfrm>
            <a:off x="7120933" y="3596617"/>
            <a:ext cx="1976108" cy="2195092"/>
            <a:chOff x="7205993" y="2986025"/>
            <a:chExt cx="2825956" cy="3205090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30C2DCB8-F907-4CB3-B2DD-9DAD61CA90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05993" y="5838046"/>
              <a:ext cx="2526284" cy="2934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6AC61C01-CCF5-411B-8D2E-FF3B889734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29281" y="3353221"/>
              <a:ext cx="8197" cy="265985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1FFF3E4F-FE86-4F00-9070-F4A2AD7C77C8}"/>
                    </a:ext>
                  </a:extLst>
                </p:cNvPr>
                <p:cNvSpPr txBox="1"/>
                <p:nvPr/>
              </p:nvSpPr>
              <p:spPr>
                <a:xfrm>
                  <a:off x="9521215" y="5741725"/>
                  <a:ext cx="310951" cy="4493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1FFF3E4F-FE86-4F00-9070-F4A2AD7C77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1215" y="5741725"/>
                  <a:ext cx="310951" cy="449390"/>
                </a:xfrm>
                <a:prstGeom prst="rect">
                  <a:avLst/>
                </a:prstGeom>
                <a:blipFill>
                  <a:blip r:embed="rId12"/>
                  <a:stretch>
                    <a:fillRect r="-5714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6700B630-FCEC-4F31-A1A2-C7F6783F5EDA}"/>
                    </a:ext>
                  </a:extLst>
                </p:cNvPr>
                <p:cNvSpPr txBox="1"/>
                <p:nvPr/>
              </p:nvSpPr>
              <p:spPr>
                <a:xfrm>
                  <a:off x="8122514" y="2986025"/>
                  <a:ext cx="31400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6700B630-FCEC-4F31-A1A2-C7F6783F5E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2514" y="2986025"/>
                  <a:ext cx="314003" cy="307777"/>
                </a:xfrm>
                <a:prstGeom prst="rect">
                  <a:avLst/>
                </a:prstGeom>
                <a:blipFill>
                  <a:blip r:embed="rId13"/>
                  <a:stretch>
                    <a:fillRect r="-16667" b="-45714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84334580-89B0-4A16-976C-F3B0065C1330}"/>
                    </a:ext>
                  </a:extLst>
                </p:cNvPr>
                <p:cNvSpPr txBox="1"/>
                <p:nvPr/>
              </p:nvSpPr>
              <p:spPr>
                <a:xfrm>
                  <a:off x="8636245" y="5841198"/>
                  <a:ext cx="31400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84334580-89B0-4A16-976C-F3B0065C13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6245" y="5841198"/>
                  <a:ext cx="314003" cy="307777"/>
                </a:xfrm>
                <a:prstGeom prst="rect">
                  <a:avLst/>
                </a:prstGeom>
                <a:blipFill>
                  <a:blip r:embed="rId14"/>
                  <a:stretch>
                    <a:fillRect r="-13889" b="-2941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113B24ED-31F1-4456-8420-51C9ED7705B0}"/>
                    </a:ext>
                  </a:extLst>
                </p:cNvPr>
                <p:cNvSpPr txBox="1"/>
                <p:nvPr/>
              </p:nvSpPr>
              <p:spPr>
                <a:xfrm>
                  <a:off x="8088049" y="5155312"/>
                  <a:ext cx="31400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113B24ED-31F1-4456-8420-51C9ED7705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8049" y="5155312"/>
                  <a:ext cx="314003" cy="307777"/>
                </a:xfrm>
                <a:prstGeom prst="rect">
                  <a:avLst/>
                </a:prstGeom>
                <a:blipFill>
                  <a:blip r:embed="rId15"/>
                  <a:stretch>
                    <a:fillRect r="-13889" b="-2941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2BF54E1-B0ED-4406-8E81-8A83594A395E}"/>
                </a:ext>
              </a:extLst>
            </p:cNvPr>
            <p:cNvCxnSpPr>
              <a:cxnSpLocks/>
            </p:cNvCxnSpPr>
            <p:nvPr/>
          </p:nvCxnSpPr>
          <p:spPr>
            <a:xfrm>
              <a:off x="7409841" y="3415805"/>
              <a:ext cx="1326690" cy="186614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857EF49-3008-497A-827E-7DCFBBD59DFF}"/>
                </a:ext>
              </a:extLst>
            </p:cNvPr>
            <p:cNvSpPr/>
            <p:nvPr/>
          </p:nvSpPr>
          <p:spPr>
            <a:xfrm>
              <a:off x="8813246" y="3441789"/>
              <a:ext cx="747756" cy="1551682"/>
            </a:xfrm>
            <a:custGeom>
              <a:avLst/>
              <a:gdLst>
                <a:gd name="connsiteX0" fmla="*/ 0 w 659218"/>
                <a:gd name="connsiteY0" fmla="*/ 967563 h 967563"/>
                <a:gd name="connsiteX1" fmla="*/ 404037 w 659218"/>
                <a:gd name="connsiteY1" fmla="*/ 563526 h 967563"/>
                <a:gd name="connsiteX2" fmla="*/ 659218 w 659218"/>
                <a:gd name="connsiteY2" fmla="*/ 0 h 967563"/>
                <a:gd name="connsiteX0" fmla="*/ 0 w 747756"/>
                <a:gd name="connsiteY0" fmla="*/ 1551683 h 1551683"/>
                <a:gd name="connsiteX1" fmla="*/ 404037 w 747756"/>
                <a:gd name="connsiteY1" fmla="*/ 1147646 h 1551683"/>
                <a:gd name="connsiteX2" fmla="*/ 747756 w 747756"/>
                <a:gd name="connsiteY2" fmla="*/ 0 h 1551683"/>
                <a:gd name="connsiteX0" fmla="*/ 0 w 747756"/>
                <a:gd name="connsiteY0" fmla="*/ 1551683 h 1551683"/>
                <a:gd name="connsiteX1" fmla="*/ 404037 w 747756"/>
                <a:gd name="connsiteY1" fmla="*/ 1147646 h 1551683"/>
                <a:gd name="connsiteX2" fmla="*/ 747756 w 747756"/>
                <a:gd name="connsiteY2" fmla="*/ 0 h 1551683"/>
                <a:gd name="connsiteX0" fmla="*/ 0 w 747756"/>
                <a:gd name="connsiteY0" fmla="*/ 1551683 h 1551683"/>
                <a:gd name="connsiteX1" fmla="*/ 404037 w 747756"/>
                <a:gd name="connsiteY1" fmla="*/ 1147646 h 1551683"/>
                <a:gd name="connsiteX2" fmla="*/ 747756 w 747756"/>
                <a:gd name="connsiteY2" fmla="*/ 0 h 1551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47756" h="1551683">
                  <a:moveTo>
                    <a:pt x="0" y="1551683"/>
                  </a:moveTo>
                  <a:cubicBezTo>
                    <a:pt x="147083" y="1430294"/>
                    <a:pt x="279411" y="1406260"/>
                    <a:pt x="404037" y="1147646"/>
                  </a:cubicBezTo>
                  <a:cubicBezTo>
                    <a:pt x="515042" y="951616"/>
                    <a:pt x="600184" y="910421"/>
                    <a:pt x="747756" y="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03DC25DF-C2EB-4415-8BEE-24219932921B}"/>
                </a:ext>
              </a:extLst>
            </p:cNvPr>
            <p:cNvSpPr/>
            <p:nvPr/>
          </p:nvSpPr>
          <p:spPr>
            <a:xfrm>
              <a:off x="8734295" y="4985017"/>
              <a:ext cx="94310" cy="9373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11374F31-A17C-4E48-9510-0C8631139ED1}"/>
                </a:ext>
              </a:extLst>
            </p:cNvPr>
            <p:cNvSpPr/>
            <p:nvPr/>
          </p:nvSpPr>
          <p:spPr>
            <a:xfrm>
              <a:off x="8732264" y="5271624"/>
              <a:ext cx="94310" cy="9373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D173FFF-2799-4086-8D1F-8AE9D9B6D50D}"/>
                    </a:ext>
                  </a:extLst>
                </p:cNvPr>
                <p:cNvSpPr txBox="1"/>
                <p:nvPr/>
              </p:nvSpPr>
              <p:spPr>
                <a:xfrm>
                  <a:off x="8096785" y="4874262"/>
                  <a:ext cx="31400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D173FFF-2799-4086-8D1F-8AE9D9B6D5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96785" y="4874262"/>
                  <a:ext cx="314003" cy="307777"/>
                </a:xfrm>
                <a:prstGeom prst="rect">
                  <a:avLst/>
                </a:prstGeom>
                <a:blipFill>
                  <a:blip r:embed="rId16"/>
                  <a:stretch>
                    <a:fillRect r="-13889" b="-2857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A3BF5D39-691E-476F-95DE-81833988C6FF}"/>
                    </a:ext>
                  </a:extLst>
                </p:cNvPr>
                <p:cNvSpPr txBox="1"/>
                <p:nvPr/>
              </p:nvSpPr>
              <p:spPr>
                <a:xfrm>
                  <a:off x="8109485" y="4577498"/>
                  <a:ext cx="31400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A3BF5D39-691E-476F-95DE-81833988C6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9485" y="4577498"/>
                  <a:ext cx="314003" cy="307777"/>
                </a:xfrm>
                <a:prstGeom prst="rect">
                  <a:avLst/>
                </a:prstGeom>
                <a:blipFill>
                  <a:blip r:embed="rId17"/>
                  <a:stretch>
                    <a:fillRect r="-13889" b="-3235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1AF6A7EC-32E5-403A-B593-4D67FF3FE402}"/>
                    </a:ext>
                  </a:extLst>
                </p:cNvPr>
                <p:cNvSpPr txBox="1"/>
                <p:nvPr/>
              </p:nvSpPr>
              <p:spPr>
                <a:xfrm>
                  <a:off x="8496220" y="3065648"/>
                  <a:ext cx="1535729" cy="4483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+3</m:t>
                        </m:r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1AF6A7EC-32E5-403A-B593-4D67FF3FE4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96220" y="3065648"/>
                  <a:ext cx="1535729" cy="448320"/>
                </a:xfrm>
                <a:prstGeom prst="rect">
                  <a:avLst/>
                </a:prstGeom>
                <a:blipFill>
                  <a:blip r:embed="rId18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0DA56B86-C4C2-4909-A969-573531A872AE}"/>
                    </a:ext>
                  </a:extLst>
                </p:cNvPr>
                <p:cNvSpPr txBox="1"/>
                <p:nvPr/>
              </p:nvSpPr>
              <p:spPr>
                <a:xfrm>
                  <a:off x="7939390" y="3558610"/>
                  <a:ext cx="314003" cy="40445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19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0DA56B86-C4C2-4909-A969-573531A872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39390" y="3558610"/>
                  <a:ext cx="314003" cy="404451"/>
                </a:xfrm>
                <a:prstGeom prst="rect">
                  <a:avLst/>
                </a:prstGeom>
                <a:blipFill>
                  <a:blip r:embed="rId19"/>
                  <a:stretch>
                    <a:fillRect r="-44444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04CC5A4-BD56-4B64-BB57-398C6F9B6C72}"/>
              </a:ext>
            </a:extLst>
          </p:cNvPr>
          <p:cNvCxnSpPr>
            <a:cxnSpLocks/>
          </p:cNvCxnSpPr>
          <p:nvPr/>
        </p:nvCxnSpPr>
        <p:spPr>
          <a:xfrm flipH="1">
            <a:off x="7477790" y="4186238"/>
            <a:ext cx="1243012" cy="4762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566BC5F-A215-4F5E-B58E-3A94DB373E44}"/>
              </a:ext>
            </a:extLst>
          </p:cNvPr>
          <p:cNvCxnSpPr>
            <a:cxnSpLocks/>
          </p:cNvCxnSpPr>
          <p:nvPr/>
        </p:nvCxnSpPr>
        <p:spPr>
          <a:xfrm flipH="1">
            <a:off x="7484139" y="4197350"/>
            <a:ext cx="6350" cy="135890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FC3370E-D0C9-41DA-B55D-96F3782700AA}"/>
              </a:ext>
            </a:extLst>
          </p:cNvPr>
          <p:cNvCxnSpPr>
            <a:cxnSpLocks/>
          </p:cNvCxnSpPr>
          <p:nvPr/>
        </p:nvCxnSpPr>
        <p:spPr>
          <a:xfrm flipH="1">
            <a:off x="8721555" y="4185507"/>
            <a:ext cx="6350" cy="135890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9971C2CF-BA20-4A45-97CF-6C57631E0373}"/>
              </a:ext>
            </a:extLst>
          </p:cNvPr>
          <p:cNvSpPr/>
          <p:nvPr/>
        </p:nvSpPr>
        <p:spPr>
          <a:xfrm>
            <a:off x="169832" y="3244873"/>
            <a:ext cx="216024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9399380-667D-4200-A025-4B872D1E8280}"/>
              </a:ext>
            </a:extLst>
          </p:cNvPr>
          <p:cNvSpPr/>
          <p:nvPr/>
        </p:nvSpPr>
        <p:spPr>
          <a:xfrm>
            <a:off x="4759948" y="3244873"/>
            <a:ext cx="216024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38FBDA5-31DA-4239-BF34-CACFBB5196ED}"/>
                  </a:ext>
                </a:extLst>
              </p:cNvPr>
              <p:cNvSpPr txBox="1"/>
              <p:nvPr/>
            </p:nvSpPr>
            <p:spPr>
              <a:xfrm>
                <a:off x="7038623" y="5929709"/>
                <a:ext cx="1654671" cy="600164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r>
                  <a:rPr lang="en-GB" sz="1100" dirty="0"/>
                  <a:t> corresponds to a part of the curve which was never used.</a:t>
                </a: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38FBDA5-31DA-4239-BF34-CACFBB5196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8623" y="5929709"/>
                <a:ext cx="1654671" cy="600164"/>
              </a:xfrm>
              <a:prstGeom prst="rect">
                <a:avLst/>
              </a:prstGeom>
              <a:blipFill>
                <a:blip r:embed="rId20"/>
                <a:stretch>
                  <a:fillRect b="-39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BAE05A3-DBC8-4B63-AD45-17FB109942F9}"/>
              </a:ext>
            </a:extLst>
          </p:cNvPr>
          <p:cNvCxnSpPr>
            <a:cxnSpLocks/>
          </p:cNvCxnSpPr>
          <p:nvPr/>
        </p:nvCxnSpPr>
        <p:spPr>
          <a:xfrm flipH="1" flipV="1">
            <a:off x="6677247" y="5018568"/>
            <a:ext cx="435934" cy="914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F263C786-58D7-4A73-81B2-7999FBA8117E}"/>
              </a:ext>
            </a:extLst>
          </p:cNvPr>
          <p:cNvSpPr/>
          <p:nvPr/>
        </p:nvSpPr>
        <p:spPr>
          <a:xfrm>
            <a:off x="4975972" y="3244873"/>
            <a:ext cx="4059828" cy="3285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812506" y="5877529"/>
                <a:ext cx="258920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&gt;3</m:t>
                    </m:r>
                  </m:oMath>
                </a14:m>
                <a:r>
                  <a:rPr lang="en-GB" dirty="0"/>
                  <a:t> </a:t>
                </a:r>
              </a:p>
              <a:p>
                <a:r>
                  <a:rPr lang="en-GB" sz="1400" dirty="0"/>
                  <a:t>(as the 3 is not included)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506" y="5877529"/>
                <a:ext cx="2589205" cy="584775"/>
              </a:xfrm>
              <a:prstGeom prst="rect">
                <a:avLst/>
              </a:prstGeom>
              <a:blipFill>
                <a:blip r:embed="rId21"/>
                <a:stretch>
                  <a:fillRect l="-706" b="-10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Rectangle 56">
            <a:extLst>
              <a:ext uri="{FF2B5EF4-FFF2-40B4-BE49-F238E27FC236}">
                <a16:creationId xmlns:a16="http://schemas.microsoft.com/office/drawing/2014/main" id="{5E20951B-EA1B-4CA4-A08E-2401F66D74B6}"/>
              </a:ext>
            </a:extLst>
          </p:cNvPr>
          <p:cNvSpPr/>
          <p:nvPr/>
        </p:nvSpPr>
        <p:spPr>
          <a:xfrm>
            <a:off x="385856" y="3227013"/>
            <a:ext cx="4059828" cy="330285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31529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</p:childTnLst>
        </p:cTn>
      </p:par>
    </p:tnLst>
    <p:bldLst>
      <p:bldP spid="58" grpId="0" animBg="1"/>
      <p:bldP spid="5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1A7AD8-8252-4906-8865-71E77D35B23A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D17F3CAB-1153-4FEF-BE85-2E4EEA847944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Test Your Understanding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03B14D4A-6F75-4723-8B95-F9F178733B2A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7031893-09DE-41E0-8083-3730EBCC8101}"/>
                  </a:ext>
                </a:extLst>
              </p:cNvPr>
              <p:cNvSpPr txBox="1"/>
              <p:nvPr/>
            </p:nvSpPr>
            <p:spPr>
              <a:xfrm>
                <a:off x="539552" y="1340768"/>
                <a:ext cx="3600400" cy="92333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function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dirty="0"/>
                  <a:t> is defined by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+2,   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State the range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7031893-09DE-41E0-8083-3730EBCC81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1340768"/>
                <a:ext cx="3600400" cy="923330"/>
              </a:xfrm>
              <a:prstGeom prst="rect">
                <a:avLst/>
              </a:prstGeom>
              <a:blipFill>
                <a:blip r:embed="rId2"/>
                <a:stretch>
                  <a:fillRect b="-1714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C34B9B64-A488-456C-8011-2A94A33116D3}"/>
              </a:ext>
            </a:extLst>
          </p:cNvPr>
          <p:cNvSpPr txBox="1"/>
          <p:nvPr/>
        </p:nvSpPr>
        <p:spPr>
          <a:xfrm>
            <a:off x="467544" y="980728"/>
            <a:ext cx="2664296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C4 June 2012 Q6a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86BF526-4105-453E-89C5-59181815C0AD}"/>
                  </a:ext>
                </a:extLst>
              </p:cNvPr>
              <p:cNvSpPr txBox="1"/>
              <p:nvPr/>
            </p:nvSpPr>
            <p:spPr>
              <a:xfrm>
                <a:off x="4427984" y="1360155"/>
                <a:ext cx="4479968" cy="92333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function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GB" dirty="0"/>
                  <a:t> is defined by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+1,   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ℝ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0≤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≤5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Find the range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86BF526-4105-453E-89C5-59181815C0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984" y="1360155"/>
                <a:ext cx="4479968" cy="923330"/>
              </a:xfrm>
              <a:prstGeom prst="rect">
                <a:avLst/>
              </a:prstGeom>
              <a:blipFill>
                <a:blip r:embed="rId3"/>
                <a:stretch>
                  <a:fillRect b="-113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7B5E079-28D1-4AB9-8F52-375DD94A00E5}"/>
              </a:ext>
            </a:extLst>
          </p:cNvPr>
          <p:cNvSpPr txBox="1"/>
          <p:nvPr/>
        </p:nvSpPr>
        <p:spPr>
          <a:xfrm>
            <a:off x="4425928" y="980728"/>
            <a:ext cx="4482024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C4 June 2010 Q4d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C4F4AA-4FA3-4AD7-8C23-BD9BB1545B08}"/>
              </a:ext>
            </a:extLst>
          </p:cNvPr>
          <p:cNvSpPr txBox="1"/>
          <p:nvPr/>
        </p:nvSpPr>
        <p:spPr>
          <a:xfrm>
            <a:off x="4400528" y="2350635"/>
            <a:ext cx="38904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Hint: </a:t>
            </a:r>
            <a:r>
              <a:rPr lang="en-GB" sz="1400" dirty="0"/>
              <a:t>Identify the minimum point first, as this may or may not affect the range.</a:t>
            </a:r>
          </a:p>
          <a:p>
            <a:r>
              <a:rPr lang="en-GB" sz="1400" b="1" dirty="0"/>
              <a:t>Extra Hint</a:t>
            </a:r>
            <a:r>
              <a:rPr lang="en-GB" sz="1400" dirty="0"/>
              <a:t>: Carefully consider the stated domain.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1111994-015E-4020-8E5F-A531540ACE6E}"/>
              </a:ext>
            </a:extLst>
          </p:cNvPr>
          <p:cNvCxnSpPr/>
          <p:nvPr/>
        </p:nvCxnSpPr>
        <p:spPr>
          <a:xfrm>
            <a:off x="1207021" y="3792627"/>
            <a:ext cx="18722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A2F885F-E4CC-4706-A189-A53E88EE723A}"/>
              </a:ext>
            </a:extLst>
          </p:cNvPr>
          <p:cNvCxnSpPr>
            <a:cxnSpLocks/>
          </p:cNvCxnSpPr>
          <p:nvPr/>
        </p:nvCxnSpPr>
        <p:spPr>
          <a:xfrm flipV="1">
            <a:off x="2096269" y="2720107"/>
            <a:ext cx="0" cy="17935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7644D65-2861-405A-8159-A014F259E8E5}"/>
                  </a:ext>
                </a:extLst>
              </p:cNvPr>
              <p:cNvSpPr txBox="1"/>
              <p:nvPr/>
            </p:nvSpPr>
            <p:spPr>
              <a:xfrm>
                <a:off x="3022078" y="3616077"/>
                <a:ext cx="3140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7644D65-2861-405A-8159-A014F259E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2078" y="3616077"/>
                <a:ext cx="314003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4A8F725-19B1-4B08-88AE-14D6E388A8A5}"/>
                  </a:ext>
                </a:extLst>
              </p:cNvPr>
              <p:cNvSpPr txBox="1"/>
              <p:nvPr/>
            </p:nvSpPr>
            <p:spPr>
              <a:xfrm>
                <a:off x="1939267" y="2412330"/>
                <a:ext cx="3140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4A8F725-19B1-4B08-88AE-14D6E388A8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9267" y="2412330"/>
                <a:ext cx="314003" cy="307777"/>
              </a:xfrm>
              <a:prstGeom prst="rect">
                <a:avLst/>
              </a:prstGeom>
              <a:blipFill>
                <a:blip r:embed="rId5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52A1409-F88C-46E0-8888-50BC25B06172}"/>
              </a:ext>
            </a:extLst>
          </p:cNvPr>
          <p:cNvSpPr/>
          <p:nvPr/>
        </p:nvSpPr>
        <p:spPr>
          <a:xfrm>
            <a:off x="1222745" y="2636875"/>
            <a:ext cx="1658679" cy="871870"/>
          </a:xfrm>
          <a:custGeom>
            <a:avLst/>
            <a:gdLst>
              <a:gd name="connsiteX0" fmla="*/ 0 w 1658679"/>
              <a:gd name="connsiteY0" fmla="*/ 871870 h 871870"/>
              <a:gd name="connsiteX1" fmla="*/ 914400 w 1658679"/>
              <a:gd name="connsiteY1" fmla="*/ 659218 h 871870"/>
              <a:gd name="connsiteX2" fmla="*/ 1414130 w 1658679"/>
              <a:gd name="connsiteY2" fmla="*/ 308344 h 871870"/>
              <a:gd name="connsiteX3" fmla="*/ 1658679 w 1658679"/>
              <a:gd name="connsiteY3" fmla="*/ 0 h 871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8679" h="871870">
                <a:moveTo>
                  <a:pt x="0" y="871870"/>
                </a:moveTo>
                <a:cubicBezTo>
                  <a:pt x="339356" y="812504"/>
                  <a:pt x="678712" y="753139"/>
                  <a:pt x="914400" y="659218"/>
                </a:cubicBezTo>
                <a:cubicBezTo>
                  <a:pt x="1150088" y="565297"/>
                  <a:pt x="1290084" y="418214"/>
                  <a:pt x="1414130" y="308344"/>
                </a:cubicBezTo>
                <a:cubicBezTo>
                  <a:pt x="1538177" y="198474"/>
                  <a:pt x="1598428" y="99237"/>
                  <a:pt x="1658679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FFBC284-41A0-4736-8E7A-857B59E19180}"/>
              </a:ext>
            </a:extLst>
          </p:cNvPr>
          <p:cNvCxnSpPr/>
          <p:nvPr/>
        </p:nvCxnSpPr>
        <p:spPr>
          <a:xfrm>
            <a:off x="1226488" y="3532257"/>
            <a:ext cx="180020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BD3C64B-475B-4F4D-92F4-8E8D48B0F011}"/>
                  </a:ext>
                </a:extLst>
              </p:cNvPr>
              <p:cNvSpPr txBox="1"/>
              <p:nvPr/>
            </p:nvSpPr>
            <p:spPr>
              <a:xfrm>
                <a:off x="2693627" y="3289250"/>
                <a:ext cx="68203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BD3C64B-475B-4F4D-92F4-8E8D48B0F0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3627" y="3289250"/>
                <a:ext cx="682033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EE5862C-E43E-4591-B5B0-D4199104BC1A}"/>
                  </a:ext>
                </a:extLst>
              </p:cNvPr>
              <p:cNvSpPr txBox="1"/>
              <p:nvPr/>
            </p:nvSpPr>
            <p:spPr>
              <a:xfrm>
                <a:off x="1219722" y="4784452"/>
                <a:ext cx="21290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&gt;2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EE5862C-E43E-4591-B5B0-D4199104BC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722" y="4784452"/>
                <a:ext cx="2129060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768E695-FA4A-44F5-82FE-01032409C931}"/>
              </a:ext>
            </a:extLst>
          </p:cNvPr>
          <p:cNvCxnSpPr>
            <a:cxnSpLocks/>
          </p:cNvCxnSpPr>
          <p:nvPr/>
        </p:nvCxnSpPr>
        <p:spPr>
          <a:xfrm>
            <a:off x="4434255" y="4703100"/>
            <a:ext cx="1992536" cy="3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A7D45D6-0DFA-4CB8-AB52-759D85CD2516}"/>
              </a:ext>
            </a:extLst>
          </p:cNvPr>
          <p:cNvCxnSpPr>
            <a:cxnSpLocks/>
          </p:cNvCxnSpPr>
          <p:nvPr/>
        </p:nvCxnSpPr>
        <p:spPr>
          <a:xfrm flipV="1">
            <a:off x="5323503" y="3630580"/>
            <a:ext cx="0" cy="17935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93322EE-1452-42AF-A130-F841C9BD2615}"/>
                  </a:ext>
                </a:extLst>
              </p:cNvPr>
              <p:cNvSpPr txBox="1"/>
              <p:nvPr/>
            </p:nvSpPr>
            <p:spPr>
              <a:xfrm>
                <a:off x="6414412" y="4526550"/>
                <a:ext cx="3140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93322EE-1452-42AF-A130-F841C9BD26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4412" y="4526550"/>
                <a:ext cx="314003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768D6CB-AB4E-42D3-A8E6-E7AE6B34CC02}"/>
                  </a:ext>
                </a:extLst>
              </p:cNvPr>
              <p:cNvSpPr txBox="1"/>
              <p:nvPr/>
            </p:nvSpPr>
            <p:spPr>
              <a:xfrm>
                <a:off x="5166501" y="3322803"/>
                <a:ext cx="3140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768D6CB-AB4E-42D3-A8E6-E7AE6B34CC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6501" y="3322803"/>
                <a:ext cx="314003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61E2B6AF-F63B-401B-90C7-CC4347E1AA67}"/>
              </a:ext>
            </a:extLst>
          </p:cNvPr>
          <p:cNvSpPr/>
          <p:nvPr/>
        </p:nvSpPr>
        <p:spPr>
          <a:xfrm>
            <a:off x="5328877" y="4115417"/>
            <a:ext cx="999490" cy="828426"/>
          </a:xfrm>
          <a:custGeom>
            <a:avLst/>
            <a:gdLst>
              <a:gd name="connsiteX0" fmla="*/ 0 w 1590675"/>
              <a:gd name="connsiteY0" fmla="*/ 0 h 943040"/>
              <a:gd name="connsiteX1" fmla="*/ 809625 w 1590675"/>
              <a:gd name="connsiteY1" fmla="*/ 942975 h 943040"/>
              <a:gd name="connsiteX2" fmla="*/ 1590675 w 1590675"/>
              <a:gd name="connsiteY2" fmla="*/ 38100 h 943040"/>
              <a:gd name="connsiteX0" fmla="*/ 0 w 1310849"/>
              <a:gd name="connsiteY0" fmla="*/ 390968 h 921962"/>
              <a:gd name="connsiteX1" fmla="*/ 529799 w 1310849"/>
              <a:gd name="connsiteY1" fmla="*/ 904875 h 921962"/>
              <a:gd name="connsiteX2" fmla="*/ 1310849 w 1310849"/>
              <a:gd name="connsiteY2" fmla="*/ 0 h 921962"/>
              <a:gd name="connsiteX0" fmla="*/ 0 w 1310849"/>
              <a:gd name="connsiteY0" fmla="*/ 390968 h 914650"/>
              <a:gd name="connsiteX1" fmla="*/ 529799 w 1310849"/>
              <a:gd name="connsiteY1" fmla="*/ 904875 h 914650"/>
              <a:gd name="connsiteX2" fmla="*/ 1310849 w 1310849"/>
              <a:gd name="connsiteY2" fmla="*/ 0 h 914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10849" h="914650">
                <a:moveTo>
                  <a:pt x="0" y="390968"/>
                </a:moveTo>
                <a:cubicBezTo>
                  <a:pt x="182311" y="699431"/>
                  <a:pt x="311324" y="970036"/>
                  <a:pt x="529799" y="904875"/>
                </a:cubicBezTo>
                <a:cubicBezTo>
                  <a:pt x="748274" y="839714"/>
                  <a:pt x="1052880" y="455612"/>
                  <a:pt x="1310849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0E80F40-8BCD-4962-B30F-BB54ED082445}"/>
                  </a:ext>
                </a:extLst>
              </p:cNvPr>
              <p:cNvSpPr txBox="1"/>
              <p:nvPr/>
            </p:nvSpPr>
            <p:spPr>
              <a:xfrm>
                <a:off x="5106735" y="4336422"/>
                <a:ext cx="24216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0E80F40-8BCD-4962-B30F-BB54ED0824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6735" y="4336422"/>
                <a:ext cx="242168" cy="2616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4539C04-DE1E-44FB-B6B1-07CCA83B0949}"/>
                  </a:ext>
                </a:extLst>
              </p:cNvPr>
              <p:cNvSpPr txBox="1"/>
              <p:nvPr/>
            </p:nvSpPr>
            <p:spPr>
              <a:xfrm>
                <a:off x="5530172" y="4919284"/>
                <a:ext cx="24216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2,−3</m:t>
                          </m:r>
                        </m:e>
                      </m:d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4539C04-DE1E-44FB-B6B1-07CCA83B09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0172" y="4919284"/>
                <a:ext cx="242168" cy="261610"/>
              </a:xfrm>
              <a:prstGeom prst="rect">
                <a:avLst/>
              </a:prstGeom>
              <a:blipFill>
                <a:blip r:embed="rId11"/>
                <a:stretch>
                  <a:fillRect r="-1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E9C5BB7-96C0-4BBD-AC3D-6B06A510F4DA}"/>
                  </a:ext>
                </a:extLst>
              </p:cNvPr>
              <p:cNvSpPr txBox="1"/>
              <p:nvPr/>
            </p:nvSpPr>
            <p:spPr>
              <a:xfrm>
                <a:off x="6248878" y="3928567"/>
                <a:ext cx="24216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(5,6)</m:t>
                      </m:r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E9C5BB7-96C0-4BBD-AC3D-6B06A510F4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878" y="3928567"/>
                <a:ext cx="242168" cy="261610"/>
              </a:xfrm>
              <a:prstGeom prst="rect">
                <a:avLst/>
              </a:prstGeom>
              <a:blipFill>
                <a:blip r:embed="rId12"/>
                <a:stretch>
                  <a:fillRect r="-90000" b="-69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79045077-BABF-457B-879F-DEE4060A702C}"/>
              </a:ext>
            </a:extLst>
          </p:cNvPr>
          <p:cNvSpPr txBox="1"/>
          <p:nvPr/>
        </p:nvSpPr>
        <p:spPr>
          <a:xfrm>
            <a:off x="1178094" y="5325521"/>
            <a:ext cx="2266855" cy="73866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Notice the range doesn’t include 2, as the line never reaches the asymptote.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F27E2F5-91E5-4D9D-B5C9-B467F2277490}"/>
                  </a:ext>
                </a:extLst>
              </p:cNvPr>
              <p:cNvSpPr txBox="1"/>
              <p:nvPr/>
            </p:nvSpPr>
            <p:spPr>
              <a:xfrm>
                <a:off x="6820674" y="3461026"/>
                <a:ext cx="2163838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−4+1</m:t>
                      </m:r>
                    </m:oMath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GB" sz="1400" dirty="0"/>
              </a:p>
              <a:p>
                <a:r>
                  <a:rPr lang="en-GB" sz="1400" dirty="0"/>
                  <a:t>So minimum point is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(2,−3)</m:t>
                    </m:r>
                  </m:oMath>
                </a14:m>
                <a:endParaRPr lang="en-GB" sz="1400" dirty="0"/>
              </a:p>
              <a:p>
                <a:r>
                  <a:rPr lang="en-GB" sz="1400" dirty="0"/>
                  <a:t>At two end points of curve: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GB" sz="1400" dirty="0"/>
              </a:p>
              <a:p>
                <a:r>
                  <a:rPr lang="en-GB" sz="1400" dirty="0"/>
                  <a:t>Therefore range: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GB" sz="1400" b="1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F27E2F5-91E5-4D9D-B5C9-B467F22774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0674" y="3461026"/>
                <a:ext cx="2163838" cy="2246769"/>
              </a:xfrm>
              <a:prstGeom prst="rect">
                <a:avLst/>
              </a:prstGeom>
              <a:blipFill>
                <a:blip r:embed="rId13"/>
                <a:stretch>
                  <a:fillRect l="-845" b="-2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5C302F62-7EE3-4C2A-97E8-598B1A4F392A}"/>
              </a:ext>
            </a:extLst>
          </p:cNvPr>
          <p:cNvSpPr/>
          <p:nvPr/>
        </p:nvSpPr>
        <p:spPr>
          <a:xfrm>
            <a:off x="520464" y="2427604"/>
            <a:ext cx="3619488" cy="380970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A9AE28E-CF1E-4990-94DC-6BCB06C25ED6}"/>
              </a:ext>
            </a:extLst>
          </p:cNvPr>
          <p:cNvSpPr/>
          <p:nvPr/>
        </p:nvSpPr>
        <p:spPr>
          <a:xfrm>
            <a:off x="4434254" y="3156450"/>
            <a:ext cx="4473697" cy="308086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29917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2BCBDAA-7C30-4A42-87FB-D437D7022B55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0E9AE510-D40E-4EAC-BB88-4512B31372B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Summary of Domain/Range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F83E2208-5829-4F9E-9ED7-9849BCDAB9DD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71D26EB-8644-4A9D-ACAD-4EBB6779AB4D}"/>
              </a:ext>
            </a:extLst>
          </p:cNvPr>
          <p:cNvSpPr txBox="1"/>
          <p:nvPr/>
        </p:nvSpPr>
        <p:spPr>
          <a:xfrm>
            <a:off x="406168" y="804814"/>
            <a:ext cx="8652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It is important that you can identify the range for </a:t>
            </a:r>
            <a:r>
              <a:rPr lang="en-GB" b="1" u="sng" dirty="0"/>
              <a:t>common graphs</a:t>
            </a:r>
            <a:r>
              <a:rPr lang="en-GB" dirty="0"/>
              <a:t>, </a:t>
            </a:r>
            <a:r>
              <a:rPr lang="en-GB" b="1" dirty="0"/>
              <a:t>using a suitable sketch</a:t>
            </a:r>
            <a:r>
              <a:rPr lang="en-GB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688398E-0CC2-48B8-A70F-CCD9C1BD1672}"/>
                  </a:ext>
                </a:extLst>
              </p:cNvPr>
              <p:cNvSpPr txBox="1"/>
              <p:nvPr/>
            </p:nvSpPr>
            <p:spPr>
              <a:xfrm>
                <a:off x="540505" y="1463519"/>
                <a:ext cx="280831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b="1" dirty="0"/>
                  <a:t>Range: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GB" b="1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GB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688398E-0CC2-48B8-A70F-CCD9C1BD16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05" y="1463519"/>
                <a:ext cx="2808312" cy="646331"/>
              </a:xfrm>
              <a:prstGeom prst="rect">
                <a:avLst/>
              </a:prstGeom>
              <a:blipFill>
                <a:blip r:embed="rId2"/>
                <a:stretch>
                  <a:fillRect l="-1957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092C4C-7E48-497B-8079-5255DDC7A00E}"/>
                  </a:ext>
                </a:extLst>
              </p:cNvPr>
              <p:cNvSpPr txBox="1"/>
              <p:nvPr/>
            </p:nvSpPr>
            <p:spPr>
              <a:xfrm>
                <a:off x="4644008" y="1324009"/>
                <a:ext cx="3195560" cy="8897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ℝ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≠0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b="1" dirty="0"/>
                  <a:t>Range: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GB" b="1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GB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092C4C-7E48-497B-8079-5255DDC7A0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4008" y="1324009"/>
                <a:ext cx="3195560" cy="889731"/>
              </a:xfrm>
              <a:prstGeom prst="rect">
                <a:avLst/>
              </a:prstGeom>
              <a:blipFill>
                <a:blip r:embed="rId3"/>
                <a:stretch>
                  <a:fillRect l="-1718" b="-102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5A9D37C-0C5C-4F5B-9EC0-0C63D168E4B9}"/>
                  </a:ext>
                </a:extLst>
              </p:cNvPr>
              <p:cNvSpPr txBox="1"/>
              <p:nvPr/>
            </p:nvSpPr>
            <p:spPr>
              <a:xfrm>
                <a:off x="552679" y="2505548"/>
                <a:ext cx="320061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ℝ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b="1" dirty="0"/>
                  <a:t>Range: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GB" b="1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GB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5A9D37C-0C5C-4F5B-9EC0-0C63D168E4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679" y="2505548"/>
                <a:ext cx="3200613" cy="646331"/>
              </a:xfrm>
              <a:prstGeom prst="rect">
                <a:avLst/>
              </a:prstGeom>
              <a:blipFill>
                <a:blip r:embed="rId4"/>
                <a:stretch>
                  <a:fillRect l="-1714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6DE45AE-4664-4494-AF0A-2B95E0F5B2A6}"/>
                  </a:ext>
                </a:extLst>
              </p:cNvPr>
              <p:cNvSpPr txBox="1"/>
              <p:nvPr/>
            </p:nvSpPr>
            <p:spPr>
              <a:xfrm>
                <a:off x="4571428" y="2492896"/>
                <a:ext cx="319556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ℝ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b="1" dirty="0"/>
                  <a:t>Range: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GB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GB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6DE45AE-4664-4494-AF0A-2B95E0F5B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428" y="2492896"/>
                <a:ext cx="3195560" cy="646331"/>
              </a:xfrm>
              <a:prstGeom prst="rect">
                <a:avLst/>
              </a:prstGeom>
              <a:blipFill>
                <a:blip r:embed="rId5"/>
                <a:stretch>
                  <a:fillRect l="-1718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235FBDD-C9E7-404E-B4D0-528F42197ECC}"/>
                  </a:ext>
                </a:extLst>
              </p:cNvPr>
              <p:cNvSpPr txBox="1"/>
              <p:nvPr/>
            </p:nvSpPr>
            <p:spPr>
              <a:xfrm>
                <a:off x="527634" y="3557543"/>
                <a:ext cx="343831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+9,    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b="1" dirty="0"/>
                  <a:t>Range: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GB" b="1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𝟖</m:t>
                    </m:r>
                  </m:oMath>
                </a14:m>
                <a:endParaRPr lang="en-GB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235FBDD-C9E7-404E-B4D0-528F42197E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634" y="3557543"/>
                <a:ext cx="3438310" cy="646331"/>
              </a:xfrm>
              <a:prstGeom prst="rect">
                <a:avLst/>
              </a:prstGeom>
              <a:blipFill>
                <a:blip r:embed="rId6"/>
                <a:stretch>
                  <a:fillRect l="-1596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AB26B14E-CD7A-432D-96E0-A230E125FCD6}"/>
              </a:ext>
            </a:extLst>
          </p:cNvPr>
          <p:cNvSpPr txBox="1"/>
          <p:nvPr/>
        </p:nvSpPr>
        <p:spPr>
          <a:xfrm>
            <a:off x="508865" y="4511252"/>
            <a:ext cx="7591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Be careful in noting the domain – it may be ‘restricted’, which similarly restricts the range. Again, use a sketch!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58939F1-918A-4E47-B62B-A1BD2A585006}"/>
              </a:ext>
            </a:extLst>
          </p:cNvPr>
          <p:cNvCxnSpPr/>
          <p:nvPr/>
        </p:nvCxnSpPr>
        <p:spPr>
          <a:xfrm>
            <a:off x="406168" y="1324009"/>
            <a:ext cx="827028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9D60F70-5A1B-4E1C-A00C-0F0C6921C6B7}"/>
              </a:ext>
            </a:extLst>
          </p:cNvPr>
          <p:cNvCxnSpPr/>
          <p:nvPr/>
        </p:nvCxnSpPr>
        <p:spPr>
          <a:xfrm>
            <a:off x="406168" y="4365104"/>
            <a:ext cx="827028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379B039-D0C5-4DFA-A69A-A3465EBE8CD5}"/>
                  </a:ext>
                </a:extLst>
              </p:cNvPr>
              <p:cNvSpPr txBox="1"/>
              <p:nvPr/>
            </p:nvSpPr>
            <p:spPr>
              <a:xfrm>
                <a:off x="587452" y="5434726"/>
                <a:ext cx="369651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ℝ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−1≤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≤4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b="1" dirty="0"/>
                  <a:t>Range: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GB" b="1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𝟏𝟔</m:t>
                    </m:r>
                  </m:oMath>
                </a14:m>
                <a:endParaRPr lang="en-GB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379B039-D0C5-4DFA-A69A-A3465EBE8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452" y="5434726"/>
                <a:ext cx="3696516" cy="646331"/>
              </a:xfrm>
              <a:prstGeom prst="rect">
                <a:avLst/>
              </a:prstGeom>
              <a:blipFill>
                <a:blip r:embed="rId7"/>
                <a:stretch>
                  <a:fillRect l="-1318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4D3D0817-56C5-42F1-A241-232E00801F7C}"/>
              </a:ext>
            </a:extLst>
          </p:cNvPr>
          <p:cNvSpPr/>
          <p:nvPr/>
        </p:nvSpPr>
        <p:spPr>
          <a:xfrm>
            <a:off x="1317801" y="1797316"/>
            <a:ext cx="2073986" cy="47805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3841DD-A42A-4381-98BC-4C6406DE63EA}"/>
              </a:ext>
            </a:extLst>
          </p:cNvPr>
          <p:cNvSpPr/>
          <p:nvPr/>
        </p:nvSpPr>
        <p:spPr>
          <a:xfrm>
            <a:off x="1345555" y="2851060"/>
            <a:ext cx="2073986" cy="47805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DF6175-1EE2-45B3-A990-F01BE39C5396}"/>
              </a:ext>
            </a:extLst>
          </p:cNvPr>
          <p:cNvSpPr/>
          <p:nvPr/>
        </p:nvSpPr>
        <p:spPr>
          <a:xfrm>
            <a:off x="5446728" y="1913355"/>
            <a:ext cx="1613290" cy="41517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4CFB5AF-2AEB-44EE-9B6F-2BE1B3D1DB0B}"/>
              </a:ext>
            </a:extLst>
          </p:cNvPr>
          <p:cNvSpPr/>
          <p:nvPr/>
        </p:nvSpPr>
        <p:spPr>
          <a:xfrm>
            <a:off x="5362563" y="2848007"/>
            <a:ext cx="1613290" cy="41517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808562-5067-4C42-BC6A-E60AAACC9014}"/>
              </a:ext>
            </a:extLst>
          </p:cNvPr>
          <p:cNvSpPr/>
          <p:nvPr/>
        </p:nvSpPr>
        <p:spPr>
          <a:xfrm>
            <a:off x="1317998" y="3869313"/>
            <a:ext cx="1613290" cy="41517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EA644EB-FFD3-4185-AB7E-B4237B5E7301}"/>
              </a:ext>
            </a:extLst>
          </p:cNvPr>
          <p:cNvSpPr/>
          <p:nvPr/>
        </p:nvSpPr>
        <p:spPr>
          <a:xfrm>
            <a:off x="1387208" y="5767163"/>
            <a:ext cx="1770662" cy="49541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52893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40B9E68-48A6-45D7-9C50-0B7685285267}"/>
              </a:ext>
            </a:extLst>
          </p:cNvPr>
          <p:cNvCxnSpPr>
            <a:cxnSpLocks/>
          </p:cNvCxnSpPr>
          <p:nvPr/>
        </p:nvCxnSpPr>
        <p:spPr>
          <a:xfrm>
            <a:off x="4359160" y="4529470"/>
            <a:ext cx="477430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1625697-9F98-4D1C-8420-955B72734EBA}"/>
              </a:ext>
            </a:extLst>
          </p:cNvPr>
          <p:cNvCxnSpPr/>
          <p:nvPr/>
        </p:nvCxnSpPr>
        <p:spPr>
          <a:xfrm>
            <a:off x="4347468" y="1970509"/>
            <a:ext cx="0" cy="44828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80DE37DF-AAED-45C3-A93C-84A0786B719C}"/>
              </a:ext>
            </a:extLst>
          </p:cNvPr>
          <p:cNvSpPr/>
          <p:nvPr/>
        </p:nvSpPr>
        <p:spPr>
          <a:xfrm>
            <a:off x="6682740" y="5356860"/>
            <a:ext cx="2466338" cy="1505566"/>
          </a:xfrm>
          <a:prstGeom prst="rect">
            <a:avLst/>
          </a:pr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801B132-BBF8-4BBC-A815-4597BC652027}"/>
              </a:ext>
            </a:extLst>
          </p:cNvPr>
          <p:cNvSpPr/>
          <p:nvPr/>
        </p:nvSpPr>
        <p:spPr>
          <a:xfrm>
            <a:off x="4560893" y="1587938"/>
            <a:ext cx="4572572" cy="2941532"/>
          </a:xfrm>
          <a:prstGeom prst="rect">
            <a:avLst/>
          </a:pr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Just for your interest…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33758" y="622585"/>
                <a:ext cx="678304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400" dirty="0"/>
                  <a:t>What is the difference between the notation </a:t>
                </a:r>
                <a:br>
                  <a:rPr lang="en-GB" sz="2400" dirty="0"/>
                </a:b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sz="2400" dirty="0"/>
                  <a:t> and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→2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sz="2400" dirty="0"/>
                  <a:t>?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758" y="622585"/>
                <a:ext cx="6783042" cy="830997"/>
              </a:xfrm>
              <a:prstGeom prst="rect">
                <a:avLst/>
              </a:prstGeom>
              <a:blipFill>
                <a:blip r:embed="rId2"/>
                <a:stretch>
                  <a:fillRect t="-5882" b="-161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2" descr="Image result for stick man scratching hea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6203" y="674217"/>
            <a:ext cx="691428" cy="824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90E5339-7711-42CF-9D14-CC035C0ACFC5}"/>
                  </a:ext>
                </a:extLst>
              </p:cNvPr>
              <p:cNvSpPr txBox="1"/>
              <p:nvPr/>
            </p:nvSpPr>
            <p:spPr>
              <a:xfrm>
                <a:off x="319108" y="1587938"/>
                <a:ext cx="3672408" cy="646331"/>
              </a:xfrm>
              <a:prstGeom prst="rect">
                <a:avLst/>
              </a:prstGeom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→2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dirty="0"/>
                  <a:t> means “the value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dirty="0"/>
                  <a:t> is a mapping from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to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dirty="0"/>
                  <a:t>”.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90E5339-7711-42CF-9D14-CC035C0ACF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108" y="1587938"/>
                <a:ext cx="3672408" cy="646331"/>
              </a:xfrm>
              <a:prstGeom prst="rect">
                <a:avLst/>
              </a:prstGeom>
              <a:blipFill>
                <a:blip r:embed="rId4"/>
                <a:stretch>
                  <a:fillRect b="-1527"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08A7386-3F4A-4DC6-BF28-F8B70098B29E}"/>
                  </a:ext>
                </a:extLst>
              </p:cNvPr>
              <p:cNvSpPr txBox="1"/>
              <p:nvPr/>
            </p:nvSpPr>
            <p:spPr>
              <a:xfrm>
                <a:off x="316774" y="2293160"/>
                <a:ext cx="3479049" cy="1824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300" dirty="0"/>
                  <a:t>You’re used to variables, e.g. </a:t>
                </a:r>
                <a14:m>
                  <m:oMath xmlns:m="http://schemas.openxmlformats.org/officeDocument/2006/math"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300" dirty="0"/>
                  <a:t>, representing numerical values. But we’ve also seen that the value of a variable can be a vector, e.g. </a:t>
                </a:r>
                <a14:m>
                  <m:oMath xmlns:m="http://schemas.openxmlformats.org/officeDocument/2006/math">
                    <m:r>
                      <a:rPr lang="en-GB" sz="13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13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13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sz="13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GB" sz="13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sz="1300" dirty="0"/>
                  <a:t>, sets, e.g. </a:t>
                </a:r>
                <a14:m>
                  <m:oMath xmlns:m="http://schemas.openxmlformats.org/officeDocument/2006/math"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={1,2,3}</m:t>
                    </m:r>
                  </m:oMath>
                </a14:m>
                <a:r>
                  <a:rPr lang="en-GB" sz="1300" dirty="0"/>
                  <a:t> and so on. So when we use </a:t>
                </a:r>
                <a14:m>
                  <m:oMath xmlns:m="http://schemas.openxmlformats.org/officeDocument/2006/math"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sz="1300" dirty="0"/>
                  <a:t> on its own, its ‘value’ is a mapping, in this case with the value </a:t>
                </a:r>
                <a14:m>
                  <m:oMath xmlns:m="http://schemas.openxmlformats.org/officeDocument/2006/math"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→2</m:t>
                    </m:r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sz="1300" dirty="0"/>
                  <a:t>.</a:t>
                </a:r>
              </a:p>
              <a:p>
                <a:r>
                  <a:rPr lang="en-GB" sz="1300" b="1" dirty="0"/>
                  <a:t>This notation therefore places more emphasis on the </a:t>
                </a:r>
                <a:r>
                  <a:rPr lang="en-GB" sz="1300" b="1" u="sng" dirty="0"/>
                  <a:t>value</a:t>
                </a:r>
                <a:r>
                  <a:rPr lang="en-GB" sz="1300" b="1" dirty="0"/>
                  <a:t> of </a:t>
                </a:r>
                <a14:m>
                  <m:oMath xmlns:m="http://schemas.openxmlformats.org/officeDocument/2006/math">
                    <m:r>
                      <a:rPr lang="en-GB" sz="1300" b="1" i="1" smtClean="0"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en-GB" sz="1300" b="1" dirty="0"/>
                  <a:t>, and its ‘value’ </a:t>
                </a:r>
                <a:r>
                  <a:rPr lang="en-GB" sz="1300" b="1" u="sng" dirty="0"/>
                  <a:t>as a mapping</a:t>
                </a:r>
                <a:r>
                  <a:rPr lang="en-GB" sz="1300" b="1" dirty="0"/>
                  <a:t>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08A7386-3F4A-4DC6-BF28-F8B70098B2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774" y="2293160"/>
                <a:ext cx="3479049" cy="1824987"/>
              </a:xfrm>
              <a:prstGeom prst="rect">
                <a:avLst/>
              </a:prstGeom>
              <a:blipFill>
                <a:blip r:embed="rId5"/>
                <a:stretch>
                  <a:fillRect l="-350" t="-333" r="-876" b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A687C92-2325-4756-B1FF-B54D5C5C7745}"/>
                  </a:ext>
                </a:extLst>
              </p:cNvPr>
              <p:cNvSpPr txBox="1"/>
              <p:nvPr/>
            </p:nvSpPr>
            <p:spPr>
              <a:xfrm>
                <a:off x="358198" y="4349642"/>
                <a:ext cx="3773732" cy="646331"/>
              </a:xfrm>
              <a:prstGeom prst="rect">
                <a:avLst/>
              </a:prstGeom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dirty="0"/>
                  <a:t> means “the output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dirty="0"/>
                  <a:t>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dirty="0"/>
                  <a:t>”.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A687C92-2325-4756-B1FF-B54D5C5C77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98" y="4349642"/>
                <a:ext cx="3773732" cy="646331"/>
              </a:xfrm>
              <a:prstGeom prst="rect">
                <a:avLst/>
              </a:prstGeom>
              <a:blipFill>
                <a:blip r:embed="rId6"/>
                <a:stretch>
                  <a:fillRect b="-2308"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77177EC-A2E3-40AD-B876-FAAA1C7A2773}"/>
                  </a:ext>
                </a:extLst>
              </p:cNvPr>
              <p:cNvSpPr txBox="1"/>
              <p:nvPr/>
            </p:nvSpPr>
            <p:spPr>
              <a:xfrm>
                <a:off x="316568" y="5061169"/>
                <a:ext cx="4030900" cy="1692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300" dirty="0"/>
                  <a:t>It’s easy to think that the notation “</a:t>
                </a:r>
                <a14:m>
                  <m:oMath xmlns:m="http://schemas.openxmlformats.org/officeDocument/2006/math"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300" dirty="0"/>
                  <a:t>” refers to the function. It doesn’t! The </a:t>
                </a:r>
                <a14:m>
                  <m:oMath xmlns:m="http://schemas.openxmlformats.org/officeDocument/2006/math"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sz="1300" dirty="0"/>
                  <a:t> is the function, and the </a:t>
                </a:r>
                <a14:m>
                  <m:oMath xmlns:m="http://schemas.openxmlformats.org/officeDocument/2006/math">
                    <m:r>
                      <a:rPr lang="en-GB" sz="1300" b="0" i="0" smtClean="0">
                        <a:latin typeface="Cambria Math" panose="02040503050406030204" pitchFamily="18" charset="0"/>
                      </a:rPr>
                      <m:t>"</m:t>
                    </m:r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)"</m:t>
                    </m:r>
                  </m:oMath>
                </a14:m>
                <a:r>
                  <a:rPr lang="en-GB" sz="1300" dirty="0"/>
                  <a:t> appendage obtains the </a:t>
                </a:r>
                <a:r>
                  <a:rPr lang="en-GB" sz="1300" u="sng" dirty="0"/>
                  <a:t>output</a:t>
                </a:r>
                <a:r>
                  <a:rPr lang="en-GB" sz="1300" dirty="0"/>
                  <a:t> of the function when the input is </a:t>
                </a:r>
                <a14:m>
                  <m:oMath xmlns:m="http://schemas.openxmlformats.org/officeDocument/2006/math"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300" dirty="0"/>
                  <a:t>. Therefore </a:t>
                </a:r>
                <a14:m>
                  <m:oMath xmlns:m="http://schemas.openxmlformats.org/officeDocument/2006/math"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300" dirty="0"/>
                  <a:t> refers specifically to the output of the function, which is why we write the range of a function in terms of </a:t>
                </a:r>
                <a14:m>
                  <m:oMath xmlns:m="http://schemas.openxmlformats.org/officeDocument/2006/math"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300" dirty="0"/>
                  <a:t> (and not in terms of </a:t>
                </a:r>
                <a14:m>
                  <m:oMath xmlns:m="http://schemas.openxmlformats.org/officeDocument/2006/math"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sz="1300" dirty="0"/>
                  <a:t>).</a:t>
                </a:r>
              </a:p>
              <a:p>
                <a:r>
                  <a:rPr lang="en-GB" sz="1300" b="1" dirty="0"/>
                  <a:t>This notation therefore places more emphasis on the </a:t>
                </a:r>
                <a:r>
                  <a:rPr lang="en-GB" sz="1300" b="1" u="sng" dirty="0"/>
                  <a:t>output</a:t>
                </a:r>
                <a:r>
                  <a:rPr lang="en-GB" sz="1300" b="1" dirty="0"/>
                  <a:t> of </a:t>
                </a:r>
                <a14:m>
                  <m:oMath xmlns:m="http://schemas.openxmlformats.org/officeDocument/2006/math">
                    <m:r>
                      <a:rPr lang="en-GB" sz="1300" b="1" i="1" smtClean="0"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en-GB" sz="1300" b="1" dirty="0"/>
                  <a:t>.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77177EC-A2E3-40AD-B876-FAAA1C7A27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568" y="5061169"/>
                <a:ext cx="4030900" cy="1692771"/>
              </a:xfrm>
              <a:prstGeom prst="rect">
                <a:avLst/>
              </a:prstGeom>
              <a:blipFill>
                <a:blip r:embed="rId7"/>
                <a:stretch>
                  <a:fillRect l="-303" t="-360" b="-21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Arrow: Right 20">
            <a:extLst>
              <a:ext uri="{FF2B5EF4-FFF2-40B4-BE49-F238E27FC236}">
                <a16:creationId xmlns:a16="http://schemas.microsoft.com/office/drawing/2014/main" id="{5776B8B7-95A9-490D-9217-E17816ADEBDC}"/>
              </a:ext>
            </a:extLst>
          </p:cNvPr>
          <p:cNvSpPr/>
          <p:nvPr/>
        </p:nvSpPr>
        <p:spPr>
          <a:xfrm rot="20019137">
            <a:off x="3835740" y="2297271"/>
            <a:ext cx="1870161" cy="48885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Consequence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ABB979-F2AD-44F0-B6D1-F5253C640186}"/>
                  </a:ext>
                </a:extLst>
              </p:cNvPr>
              <p:cNvSpPr txBox="1"/>
              <p:nvPr/>
            </p:nvSpPr>
            <p:spPr>
              <a:xfrm>
                <a:off x="5911633" y="1647724"/>
                <a:ext cx="2880320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To solve an equation means to find the values of the variables, e.g. the “solution” of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+1=5</m:t>
                    </m:r>
                  </m:oMath>
                </a14:m>
                <a:r>
                  <a:rPr lang="en-GB" sz="1400" dirty="0"/>
                  <a:t> is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sz="1400" dirty="0"/>
                  <a:t>.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ABB979-F2AD-44F0-B6D1-F5253C6401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633" y="1647724"/>
                <a:ext cx="2880320" cy="738664"/>
              </a:xfrm>
              <a:prstGeom prst="rect">
                <a:avLst/>
              </a:prstGeom>
              <a:blipFill>
                <a:blip r:embed="rId8"/>
                <a:stretch>
                  <a:fillRect l="-636" t="-826" b="-826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B46EDC1-7FF7-42E0-A248-946F1F39C2B7}"/>
                  </a:ext>
                </a:extLst>
              </p:cNvPr>
              <p:cNvSpPr txBox="1"/>
              <p:nvPr/>
            </p:nvSpPr>
            <p:spPr>
              <a:xfrm>
                <a:off x="5285723" y="3058136"/>
                <a:ext cx="3271569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/>
                  <a:t>Solve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B46EDC1-7FF7-42E0-A248-946F1F39C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5723" y="3058136"/>
                <a:ext cx="3271569" cy="369332"/>
              </a:xfrm>
              <a:prstGeom prst="rect">
                <a:avLst/>
              </a:prstGeom>
              <a:blipFill>
                <a:blip r:embed="rId9"/>
                <a:stretch>
                  <a:fillRect b="-476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2F5D776-0A5A-4903-BBD0-45C67D231081}"/>
                  </a:ext>
                </a:extLst>
              </p:cNvPr>
              <p:cNvSpPr txBox="1"/>
              <p:nvPr/>
            </p:nvSpPr>
            <p:spPr>
              <a:xfrm>
                <a:off x="4898279" y="3433063"/>
                <a:ext cx="4046459" cy="11263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One solution to this equation is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sz="1400" dirty="0"/>
                  <a:t> because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lang="en-GB" sz="1400" dirty="0"/>
                  <a:t>.</a:t>
                </a:r>
              </a:p>
              <a:p>
                <a:r>
                  <a:rPr lang="en-GB" sz="1400" dirty="0"/>
                  <a:t>To fully solve this functional equation means to find </a:t>
                </a:r>
                <a:r>
                  <a:rPr lang="en-GB" sz="1400" b="1" dirty="0"/>
                  <a:t>all</a:t>
                </a:r>
                <a:r>
                  <a:rPr lang="en-GB" sz="1400" dirty="0"/>
                  <a:t> functions which satisfy the equation.</a:t>
                </a:r>
              </a:p>
              <a:p>
                <a:endParaRPr lang="en-GB" sz="100" dirty="0"/>
              </a:p>
              <a:p>
                <a:r>
                  <a:rPr lang="en-GB" sz="900" dirty="0"/>
                  <a:t>See http://www.drfrostmaths.com/resources/resource.php?rid=165 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2F5D776-0A5A-4903-BBD0-45C67D231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8279" y="3433063"/>
                <a:ext cx="4046459" cy="1126399"/>
              </a:xfrm>
              <a:prstGeom prst="rect">
                <a:avLst/>
              </a:prstGeom>
              <a:blipFill>
                <a:blip r:embed="rId10"/>
                <a:stretch>
                  <a:fillRect l="-452" t="-10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39F3CF7-B5E6-4E13-972C-BEA4F7DD70EA}"/>
                  </a:ext>
                </a:extLst>
              </p:cNvPr>
              <p:cNvSpPr/>
              <p:nvPr/>
            </p:nvSpPr>
            <p:spPr>
              <a:xfrm>
                <a:off x="5982576" y="2458652"/>
                <a:ext cx="2479334" cy="52322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r>
                  <a:rPr lang="en-GB" sz="1400" dirty="0"/>
                  <a:t>To solve a </a:t>
                </a:r>
                <a:r>
                  <a:rPr lang="en-GB" sz="1400" b="1" dirty="0"/>
                  <a:t>functional equation </a:t>
                </a:r>
                <a:r>
                  <a:rPr lang="en-GB" sz="1400" dirty="0"/>
                  <a:t>means to find the ‘values’ of </a:t>
                </a:r>
                <a14:m>
                  <m:oMath xmlns:m="http://schemas.openxmlformats.org/officeDocument/2006/math">
                    <m:r>
                      <a:rPr lang="en-GB" sz="1400" b="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sz="1400" dirty="0"/>
                  <a:t>.</a:t>
                </a: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39F3CF7-B5E6-4E13-972C-BEA4F7DD70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2576" y="2458652"/>
                <a:ext cx="2479334" cy="523220"/>
              </a:xfrm>
              <a:prstGeom prst="rect">
                <a:avLst/>
              </a:prstGeom>
              <a:blipFill>
                <a:blip r:embed="rId11"/>
                <a:stretch>
                  <a:fillRect l="-243" b="-8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Arrow: Right 40">
            <a:extLst>
              <a:ext uri="{FF2B5EF4-FFF2-40B4-BE49-F238E27FC236}">
                <a16:creationId xmlns:a16="http://schemas.microsoft.com/office/drawing/2014/main" id="{5E06C0CB-B8D6-4BB3-8899-137AE16867E3}"/>
              </a:ext>
            </a:extLst>
          </p:cNvPr>
          <p:cNvSpPr/>
          <p:nvPr/>
        </p:nvSpPr>
        <p:spPr>
          <a:xfrm rot="2340673">
            <a:off x="3611866" y="4170066"/>
            <a:ext cx="1873779" cy="48885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Consequence 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DDB1ACC-5CA4-4D89-B306-ACDF19AFF25F}"/>
              </a:ext>
            </a:extLst>
          </p:cNvPr>
          <p:cNvSpPr txBox="1"/>
          <p:nvPr/>
        </p:nvSpPr>
        <p:spPr>
          <a:xfrm>
            <a:off x="5545793" y="4709672"/>
            <a:ext cx="3019087" cy="78483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200" b="1" dirty="0"/>
              <a:t>A bit of Computer Science!</a:t>
            </a:r>
          </a:p>
          <a:p>
            <a:r>
              <a:rPr lang="en-GB" sz="1100" dirty="0"/>
              <a:t>In many programming languages, we can pass functions as the parameters of a method, when a variable is allowed to have a function as its value.</a:t>
            </a:r>
          </a:p>
        </p:txBody>
      </p:sp>
      <p:pic>
        <p:nvPicPr>
          <p:cNvPr id="1026" name="Picture 2" descr="computer icon">
            <a:extLst>
              <a:ext uri="{FF2B5EF4-FFF2-40B4-BE49-F238E27FC236}">
                <a16:creationId xmlns:a16="http://schemas.microsoft.com/office/drawing/2014/main" id="{2F30ED10-28B2-49E7-ACA3-F038AAACBC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1224" y="4548836"/>
            <a:ext cx="554794" cy="554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455F741-1155-4683-9516-C0F4C432EBA4}"/>
                  </a:ext>
                </a:extLst>
              </p:cNvPr>
              <p:cNvSpPr txBox="1"/>
              <p:nvPr/>
            </p:nvSpPr>
            <p:spPr>
              <a:xfrm>
                <a:off x="4475548" y="5538819"/>
                <a:ext cx="213861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100" dirty="0"/>
                  <a:t>We could code a function </a:t>
                </a:r>
                <a:r>
                  <a:rPr lang="en-GB" sz="11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map</a:t>
                </a:r>
                <a:r>
                  <a:rPr lang="en-GB" sz="1100" dirty="0"/>
                  <a:t> which takes a list, say </a:t>
                </a:r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100" dirty="0"/>
                  <a:t>, and applies a function </a:t>
                </a:r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sz="1100" dirty="0"/>
                  <a:t> to each item of this list. </a:t>
                </a:r>
              </a:p>
              <a:p>
                <a:r>
                  <a:rPr lang="en-GB" sz="1100" dirty="0"/>
                  <a:t>e.g. </a:t>
                </a:r>
                <a:r>
                  <a:rPr lang="en-GB" sz="11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map(x</a:t>
                </a:r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→</m:t>
                    </m:r>
                  </m:oMath>
                </a14:m>
                <a:r>
                  <a:rPr lang="en-GB" sz="11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x+1,[1,2,3])</a:t>
                </a:r>
              </a:p>
              <a:p>
                <a:r>
                  <a:rPr lang="en-GB" sz="1100" dirty="0"/>
                  <a:t>w</a:t>
                </a:r>
                <a:r>
                  <a:rPr lang="en-GB" sz="1100" b="0" dirty="0"/>
                  <a:t>ould output </a:t>
                </a:r>
                <a:r>
                  <a:rPr lang="en-GB" sz="1100" b="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[2,3,4]</a:t>
                </a:r>
                <a:r>
                  <a:rPr lang="en-GB" sz="1100" dirty="0"/>
                  <a:t>.</a:t>
                </a: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455F741-1155-4683-9516-C0F4C432EB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5548" y="5538819"/>
                <a:ext cx="2138612" cy="1107996"/>
              </a:xfrm>
              <a:prstGeom prst="rect">
                <a:avLst/>
              </a:prstGeom>
              <a:blipFill>
                <a:blip r:embed="rId13"/>
                <a:stretch>
                  <a:fillRect t="-552" b="-38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5ABA1E68-9746-4F01-9897-37DBB06F9879}"/>
              </a:ext>
            </a:extLst>
          </p:cNvPr>
          <p:cNvSpPr txBox="1"/>
          <p:nvPr/>
        </p:nvSpPr>
        <p:spPr>
          <a:xfrm>
            <a:off x="6682740" y="5555575"/>
            <a:ext cx="242309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function map(f, a) {</a:t>
            </a:r>
            <a:b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let b be a new list</a:t>
            </a:r>
          </a:p>
          <a:p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for(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from 1 to size(a)) {</a:t>
            </a:r>
          </a:p>
          <a:p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b</a:t>
            </a:r>
            <a:r>
              <a:rPr lang="en-GB" sz="1000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f(</a:t>
            </a:r>
            <a:r>
              <a:rPr lang="en-GB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GB" sz="1000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return b</a:t>
            </a:r>
          </a:p>
          <a:p>
            <a:r>
              <a:rPr lang="en-GB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0434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2.2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2/AS</a:t>
            </a:r>
          </a:p>
          <a:p>
            <a:r>
              <a:rPr lang="en-GB" sz="2400" dirty="0"/>
              <a:t>Page 7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0278455-1D13-E90B-7021-E00F424FD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903" y="620688"/>
            <a:ext cx="7639050" cy="620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954F095-9D48-F209-568B-F61ADDD5F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65" y="873596"/>
            <a:ext cx="7858125" cy="52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0FF53-D376-6E8C-D0FD-1D517FE59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BC62057-5111-B8A6-4E80-4193E055911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B0E89DB0-01D1-BE2B-F9D3-8CB397834D7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13F8B5A-9D24-B9B4-CD6B-9A26C85DC69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6A815292-DAC2-FFF4-CA3F-E1465908E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65" y="836712"/>
            <a:ext cx="8086725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85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E1647-48C5-EF69-F56B-70ADE49D8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998DAC1-5716-48D5-974A-3907D654676C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50A1A603-0D73-9201-139C-38FEDCBA6037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BF030A6B-D7E5-08FF-8940-5C0D5384DF96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551A560B-09B9-0B36-AEBF-24A437988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980728"/>
            <a:ext cx="781050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666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4A00506B-0A68-CEAB-17A9-71C3C4AB0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5895"/>
            <a:ext cx="9144000" cy="5421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0CC18-388A-D791-BD8C-B4F964CF1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E7F01EA-0633-F206-2359-D81F0A434E3E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60A9E226-99AD-F974-6305-7281F3EE1D40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27722CE-8429-DC51-558C-3C088CC9A7C2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5129A8F-594E-23D9-E7A8-9FA5CBD8F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764704"/>
            <a:ext cx="89535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956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F407C-A6ED-D68C-403F-7A213CF73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C016532-A867-62BE-E5F7-F77233331335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8EBC4C49-AEDE-45EC-6F1D-1F61DDE753BC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0B006277-E120-2AB9-C461-E0A36FD5385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061DC7B-52BE-D83D-C869-02B387F92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" y="838200"/>
            <a:ext cx="84201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214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3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61758</TotalTime>
  <Words>1784</Words>
  <Application>Microsoft Office PowerPoint</Application>
  <PresentationFormat>On-screen Show (4:3)</PresentationFormat>
  <Paragraphs>253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Cambria Math</vt:lpstr>
      <vt:lpstr>Courier New</vt:lpstr>
      <vt:lpstr>Wingdings</vt:lpstr>
      <vt:lpstr>Office Theme</vt:lpstr>
      <vt:lpstr>P2 Chapter 2: Graphing Functions  3D  Functions as Maps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2025-10-17T09:41:59Z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