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547" r:id="rId5"/>
    <p:sldId id="484" r:id="rId6"/>
    <p:sldId id="508" r:id="rId7"/>
    <p:sldId id="509" r:id="rId8"/>
    <p:sldId id="510" r:id="rId9"/>
    <p:sldId id="511" r:id="rId10"/>
    <p:sldId id="549" r:id="rId11"/>
    <p:sldId id="534" r:id="rId12"/>
    <p:sldId id="535" r:id="rId13"/>
    <p:sldId id="543" r:id="rId14"/>
    <p:sldId id="550" r:id="rId15"/>
    <p:sldId id="551" r:id="rId16"/>
    <p:sldId id="545" r:id="rId17"/>
    <p:sldId id="552" r:id="rId18"/>
    <p:sldId id="553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D31C32-9E31-4FE6-B2FC-B56E0B1270BD}" v="2" dt="2025-10-16T09:37:15.2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12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518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109E0D9D-4685-4CB5-A0D3-31A2C7DCBDA9}"/>
    <pc:docChg chg="undo custSel modSld">
      <pc:chgData name="Dieter Beaven" userId="9bbdb69f-69d0-4759-aa9b-5c090a2da237" providerId="ADAL" clId="{109E0D9D-4685-4CB5-A0D3-31A2C7DCBDA9}" dt="2025-08-27T08:43:46.587" v="9" actId="1076"/>
      <pc:docMkLst>
        <pc:docMk/>
      </pc:docMkLst>
      <pc:sldChg chg="addSp delSp modSp mod">
        <pc:chgData name="Dieter Beaven" userId="9bbdb69f-69d0-4759-aa9b-5c090a2da237" providerId="ADAL" clId="{109E0D9D-4685-4CB5-A0D3-31A2C7DCBDA9}" dt="2025-08-27T08:43:41.211" v="6" actId="22"/>
        <pc:sldMkLst>
          <pc:docMk/>
          <pc:sldMk cId="3896053727" sldId="543"/>
        </pc:sldMkLst>
      </pc:sldChg>
      <pc:sldChg chg="addSp modSp mod">
        <pc:chgData name="Dieter Beaven" userId="9bbdb69f-69d0-4759-aa9b-5c090a2da237" providerId="ADAL" clId="{109E0D9D-4685-4CB5-A0D3-31A2C7DCBDA9}" dt="2025-08-27T08:43:03.055" v="4" actId="1076"/>
        <pc:sldMkLst>
          <pc:docMk/>
          <pc:sldMk cId="4091202299" sldId="550"/>
        </pc:sldMkLst>
      </pc:sldChg>
      <pc:sldChg chg="addSp modSp mod">
        <pc:chgData name="Dieter Beaven" userId="9bbdb69f-69d0-4759-aa9b-5c090a2da237" providerId="ADAL" clId="{109E0D9D-4685-4CB5-A0D3-31A2C7DCBDA9}" dt="2025-08-27T08:43:46.587" v="9" actId="1076"/>
        <pc:sldMkLst>
          <pc:docMk/>
          <pc:sldMk cId="3826585799" sldId="551"/>
        </pc:sldMkLst>
      </pc:sldChg>
    </pc:docChg>
  </pc:docChgLst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D3D31C32-9E31-4FE6-B2FC-B56E0B1270BD}"/>
    <pc:docChg chg="addSld delSld modSld">
      <pc:chgData name="Dieter Beaven" userId="9bbdb69f-69d0-4759-aa9b-5c090a2da237" providerId="ADAL" clId="{D3D31C32-9E31-4FE6-B2FC-B56E0B1270BD}" dt="2025-10-16T09:40:19.799" v="17" actId="47"/>
      <pc:docMkLst>
        <pc:docMk/>
      </pc:docMkLst>
      <pc:sldChg chg="addSp mod">
        <pc:chgData name="Dieter Beaven" userId="9bbdb69f-69d0-4759-aa9b-5c090a2da237" providerId="ADAL" clId="{D3D31C32-9E31-4FE6-B2FC-B56E0B1270BD}" dt="2025-10-16T09:37:12.870" v="0" actId="22"/>
        <pc:sldMkLst>
          <pc:docMk/>
          <pc:sldMk cId="3458699803" sldId="545"/>
        </pc:sldMkLst>
        <pc:picChg chg="add">
          <ac:chgData name="Dieter Beaven" userId="9bbdb69f-69d0-4759-aa9b-5c090a2da237" providerId="ADAL" clId="{D3D31C32-9E31-4FE6-B2FC-B56E0B1270BD}" dt="2025-10-16T09:37:12.870" v="0" actId="22"/>
          <ac:picMkLst>
            <pc:docMk/>
            <pc:sldMk cId="3458699803" sldId="545"/>
            <ac:picMk id="6" creationId="{81D36A65-7940-31D9-25E5-CD9747E343FF}"/>
          </ac:picMkLst>
        </pc:picChg>
      </pc:sldChg>
      <pc:sldChg chg="addSp modSp mod">
        <pc:chgData name="Dieter Beaven" userId="9bbdb69f-69d0-4759-aa9b-5c090a2da237" providerId="ADAL" clId="{D3D31C32-9E31-4FE6-B2FC-B56E0B1270BD}" dt="2025-10-16T09:38:54.045" v="6" actId="1076"/>
        <pc:sldMkLst>
          <pc:docMk/>
          <pc:sldMk cId="2531956736" sldId="552"/>
        </pc:sldMkLst>
        <pc:picChg chg="add mod">
          <ac:chgData name="Dieter Beaven" userId="9bbdb69f-69d0-4759-aa9b-5c090a2da237" providerId="ADAL" clId="{D3D31C32-9E31-4FE6-B2FC-B56E0B1270BD}" dt="2025-10-16T09:38:54.045" v="6" actId="1076"/>
          <ac:picMkLst>
            <pc:docMk/>
            <pc:sldMk cId="2531956736" sldId="552"/>
            <ac:picMk id="6" creationId="{61C326B4-0EF6-82C6-0979-97CA2807B815}"/>
          </ac:picMkLst>
        </pc:picChg>
      </pc:sldChg>
      <pc:sldChg chg="addSp modSp add mod">
        <pc:chgData name="Dieter Beaven" userId="9bbdb69f-69d0-4759-aa9b-5c090a2da237" providerId="ADAL" clId="{D3D31C32-9E31-4FE6-B2FC-B56E0B1270BD}" dt="2025-10-16T09:40:15.070" v="16" actId="1036"/>
        <pc:sldMkLst>
          <pc:docMk/>
          <pc:sldMk cId="3168270208" sldId="553"/>
        </pc:sldMkLst>
        <pc:picChg chg="add mod">
          <ac:chgData name="Dieter Beaven" userId="9bbdb69f-69d0-4759-aa9b-5c090a2da237" providerId="ADAL" clId="{D3D31C32-9E31-4FE6-B2FC-B56E0B1270BD}" dt="2025-10-16T09:40:15.070" v="16" actId="1036"/>
          <ac:picMkLst>
            <pc:docMk/>
            <pc:sldMk cId="3168270208" sldId="553"/>
            <ac:picMk id="6" creationId="{DAEABA8E-6DE8-D9C4-C620-2E04F0079AFB}"/>
          </ac:picMkLst>
        </pc:picChg>
      </pc:sldChg>
      <pc:sldChg chg="add del">
        <pc:chgData name="Dieter Beaven" userId="9bbdb69f-69d0-4759-aa9b-5c090a2da237" providerId="ADAL" clId="{D3D31C32-9E31-4FE6-B2FC-B56E0B1270BD}" dt="2025-10-16T09:40:19.799" v="17" actId="47"/>
        <pc:sldMkLst>
          <pc:docMk/>
          <pc:sldMk cId="2168217673" sldId="554"/>
        </pc:sldMkLst>
      </pc:sldChg>
    </pc:docChg>
  </pc:docChgLst>
  <pc:docChgLst>
    <pc:chgData name="Dieter Beaven" userId="9bbdb69f-69d0-4759-aa9b-5c090a2da237" providerId="ADAL" clId="{08027983-B405-435B-B7C5-79CEF493E4F5}"/>
    <pc:docChg chg="addSld delSld modSld">
      <pc:chgData name="Dieter Beaven" userId="9bbdb69f-69d0-4759-aa9b-5c090a2da237" providerId="ADAL" clId="{08027983-B405-435B-B7C5-79CEF493E4F5}" dt="2025-05-13T14:45:46.568" v="68" actId="1076"/>
      <pc:docMkLst>
        <pc:docMk/>
      </pc:docMkLst>
      <pc:sldChg chg="modSp add mod">
        <pc:chgData name="Dieter Beaven" userId="9bbdb69f-69d0-4759-aa9b-5c090a2da237" providerId="ADAL" clId="{08027983-B405-435B-B7C5-79CEF493E4F5}" dt="2025-05-13T14:42:48.476" v="5" actId="20577"/>
        <pc:sldMkLst>
          <pc:docMk/>
          <pc:sldMk cId="3617830027" sldId="484"/>
        </pc:sldMkLst>
      </pc:sldChg>
      <pc:sldChg chg="modSp add">
        <pc:chgData name="Dieter Beaven" userId="9bbdb69f-69d0-4759-aa9b-5c090a2da237" providerId="ADAL" clId="{08027983-B405-435B-B7C5-79CEF493E4F5}" dt="2025-05-13T14:44:06.454" v="58" actId="20577"/>
        <pc:sldMkLst>
          <pc:docMk/>
          <pc:sldMk cId="358566063" sldId="508"/>
        </pc:sldMkLst>
      </pc:sldChg>
      <pc:sldChg chg="add">
        <pc:chgData name="Dieter Beaven" userId="9bbdb69f-69d0-4759-aa9b-5c090a2da237" providerId="ADAL" clId="{08027983-B405-435B-B7C5-79CEF493E4F5}" dt="2025-05-13T14:42:44.244" v="0"/>
        <pc:sldMkLst>
          <pc:docMk/>
          <pc:sldMk cId="1808939409" sldId="509"/>
        </pc:sldMkLst>
      </pc:sldChg>
      <pc:sldChg chg="add">
        <pc:chgData name="Dieter Beaven" userId="9bbdb69f-69d0-4759-aa9b-5c090a2da237" providerId="ADAL" clId="{08027983-B405-435B-B7C5-79CEF493E4F5}" dt="2025-05-13T14:42:44.244" v="0"/>
        <pc:sldMkLst>
          <pc:docMk/>
          <pc:sldMk cId="1990110542" sldId="510"/>
        </pc:sldMkLst>
      </pc:sldChg>
      <pc:sldChg chg="add">
        <pc:chgData name="Dieter Beaven" userId="9bbdb69f-69d0-4759-aa9b-5c090a2da237" providerId="ADAL" clId="{08027983-B405-435B-B7C5-79CEF493E4F5}" dt="2025-05-13T14:42:44.244" v="0"/>
        <pc:sldMkLst>
          <pc:docMk/>
          <pc:sldMk cId="1595955829" sldId="511"/>
        </pc:sldMkLst>
      </pc:sldChg>
      <pc:sldChg chg="add del">
        <pc:chgData name="Dieter Beaven" userId="9bbdb69f-69d0-4759-aa9b-5c090a2da237" providerId="ADAL" clId="{08027983-B405-435B-B7C5-79CEF493E4F5}" dt="2025-05-13T14:44:50.824" v="61" actId="47"/>
        <pc:sldMkLst>
          <pc:docMk/>
          <pc:sldMk cId="3086841540" sldId="513"/>
        </pc:sldMkLst>
      </pc:sldChg>
      <pc:sldChg chg="add">
        <pc:chgData name="Dieter Beaven" userId="9bbdb69f-69d0-4759-aa9b-5c090a2da237" providerId="ADAL" clId="{08027983-B405-435B-B7C5-79CEF493E4F5}" dt="2025-05-13T14:45:11.698" v="62"/>
        <pc:sldMkLst>
          <pc:docMk/>
          <pc:sldMk cId="1012286022" sldId="534"/>
        </pc:sldMkLst>
      </pc:sldChg>
      <pc:sldChg chg="modSp add mod">
        <pc:chgData name="Dieter Beaven" userId="9bbdb69f-69d0-4759-aa9b-5c090a2da237" providerId="ADAL" clId="{08027983-B405-435B-B7C5-79CEF493E4F5}" dt="2025-05-13T14:45:46.568" v="68" actId="1076"/>
        <pc:sldMkLst>
          <pc:docMk/>
          <pc:sldMk cId="1314027495" sldId="535"/>
        </pc:sldMkLst>
      </pc:sldChg>
      <pc:sldChg chg="modSp mod">
        <pc:chgData name="Dieter Beaven" userId="9bbdb69f-69d0-4759-aa9b-5c090a2da237" providerId="ADAL" clId="{08027983-B405-435B-B7C5-79CEF493E4F5}" dt="2025-05-13T14:43:12.187" v="31" actId="20577"/>
        <pc:sldMkLst>
          <pc:docMk/>
          <pc:sldMk cId="3991975165" sldId="547"/>
        </pc:sldMkLst>
      </pc:sldChg>
      <pc:sldChg chg="addSp modSp mod">
        <pc:chgData name="Dieter Beaven" userId="9bbdb69f-69d0-4759-aa9b-5c090a2da237" providerId="ADAL" clId="{08027983-B405-435B-B7C5-79CEF493E4F5}" dt="2025-05-13T14:44:48.558" v="60" actId="1036"/>
        <pc:sldMkLst>
          <pc:docMk/>
          <pc:sldMk cId="3055658135" sldId="549"/>
        </pc:sldMkLst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E3225408-2109-42C5-B871-153E02B5443F}"/>
    <pc:docChg chg="modSld">
      <pc:chgData name="Dieter Beaven" userId="9bbdb69f-69d0-4759-aa9b-5c090a2da237" providerId="ADAL" clId="{E3225408-2109-42C5-B871-153E02B5443F}" dt="2025-04-29T13:33:59.584" v="0" actId="20577"/>
      <pc:docMkLst>
        <pc:docMk/>
      </pc:docMkLst>
      <pc:sldChg chg="modSp mod">
        <pc:chgData name="Dieter Beaven" userId="9bbdb69f-69d0-4759-aa9b-5c090a2da237" providerId="ADAL" clId="{E3225408-2109-42C5-B871-153E02B5443F}" dt="2025-04-29T13:33:59.584" v="0" actId="20577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1: </a:t>
            </a:r>
            <a:r>
              <a:rPr lang="en-GB" dirty="0">
                <a:solidFill>
                  <a:schemeClr val="accent5"/>
                </a:solidFill>
              </a:rPr>
              <a:t>Algebra Techniques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Proof by Contradiction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Proof By Contradiction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611560" y="908720"/>
            <a:ext cx="6912768" cy="147732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latin typeface="Wingdings" panose="05000000000000000000" pitchFamily="2" charset="2"/>
              </a:rPr>
              <a:t>!</a:t>
            </a:r>
            <a:r>
              <a:rPr lang="en-GB" dirty="0"/>
              <a:t> To prove a statement is true by contradiction: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Assume</a:t>
            </a:r>
            <a:r>
              <a:rPr lang="en-GB" dirty="0"/>
              <a:t> that the statement is in fact </a:t>
            </a:r>
            <a:r>
              <a:rPr lang="en-GB" b="1" dirty="0"/>
              <a:t>false</a:t>
            </a:r>
            <a:r>
              <a:rPr lang="en-GB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Prove that this would </a:t>
            </a:r>
            <a:r>
              <a:rPr lang="en-GB" b="1" dirty="0"/>
              <a:t>lead to a contradiction</a:t>
            </a:r>
            <a:r>
              <a:rPr lang="en-GB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Therefore we were wrong in assuming the statement was false, and therefore it must be true.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1DBE97-480B-475F-A5A7-D1A1FA54DDE1}"/>
              </a:ext>
            </a:extLst>
          </p:cNvPr>
          <p:cNvSpPr txBox="1"/>
          <p:nvPr/>
        </p:nvSpPr>
        <p:spPr>
          <a:xfrm>
            <a:off x="611560" y="2852936"/>
            <a:ext cx="6480720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Prove that there is no greatest odd integer.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0E48873-E07F-4BBA-BD6F-00D2563CB7A2}"/>
                  </a:ext>
                </a:extLst>
              </p:cNvPr>
              <p:cNvSpPr txBox="1"/>
              <p:nvPr/>
            </p:nvSpPr>
            <p:spPr>
              <a:xfrm>
                <a:off x="611560" y="3501008"/>
                <a:ext cx="455734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Assume that there is a greatest odd integer,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r>
                  <a:rPr lang="en-GB" dirty="0"/>
                  <a:t>Then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GB" dirty="0"/>
                  <a:t> is an odd integer which is larger than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This contradicts the assumption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is the greatest odd integer.</a:t>
                </a:r>
              </a:p>
              <a:p>
                <a:endParaRPr lang="en-GB" dirty="0"/>
              </a:p>
              <a:p>
                <a:r>
                  <a:rPr lang="en-GB" dirty="0"/>
                  <a:t>Therefore, there is no greatest odd integer.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0E48873-E07F-4BBA-BD6F-00D2563CB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3501008"/>
                <a:ext cx="4557340" cy="2308324"/>
              </a:xfrm>
              <a:prstGeom prst="rect">
                <a:avLst/>
              </a:prstGeom>
              <a:blipFill>
                <a:blip r:embed="rId2"/>
                <a:stretch>
                  <a:fillRect l="-1070" t="-1319" b="-31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F7D1A0E3-8A1E-47A7-98EF-DE5CEE231F73}"/>
              </a:ext>
            </a:extLst>
          </p:cNvPr>
          <p:cNvSpPr/>
          <p:nvPr/>
        </p:nvSpPr>
        <p:spPr>
          <a:xfrm>
            <a:off x="555802" y="3367803"/>
            <a:ext cx="4520254" cy="66690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Assumption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EEB392C-7A73-40B4-AD66-D955216898B7}"/>
              </a:ext>
            </a:extLst>
          </p:cNvPr>
          <p:cNvSpPr/>
          <p:nvPr/>
        </p:nvSpPr>
        <p:spPr>
          <a:xfrm>
            <a:off x="555802" y="4032522"/>
            <a:ext cx="4520254" cy="126868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Show contradiction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E0E5B19-9C24-426E-A3B1-8CAB64BB4299}"/>
              </a:ext>
            </a:extLst>
          </p:cNvPr>
          <p:cNvSpPr/>
          <p:nvPr/>
        </p:nvSpPr>
        <p:spPr>
          <a:xfrm>
            <a:off x="555802" y="5286444"/>
            <a:ext cx="4520254" cy="66690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Conclusion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227593-1664-45C8-BFF3-1489CFB19E6D}"/>
              </a:ext>
            </a:extLst>
          </p:cNvPr>
          <p:cNvSpPr txBox="1"/>
          <p:nvPr/>
        </p:nvSpPr>
        <p:spPr>
          <a:xfrm>
            <a:off x="5508104" y="3870047"/>
            <a:ext cx="3168352" cy="258532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How to structure/word proof:</a:t>
            </a:r>
          </a:p>
          <a:p>
            <a:pPr marL="342900" indent="-342900">
              <a:buAutoNum type="arabicPeriod"/>
            </a:pPr>
            <a:r>
              <a:rPr lang="en-GB" dirty="0"/>
              <a:t>“Assume that </a:t>
            </a:r>
            <a:r>
              <a:rPr lang="en-GB" i="1" dirty="0"/>
              <a:t>[negation of statement]</a:t>
            </a:r>
            <a:r>
              <a:rPr lang="en-GB" dirty="0"/>
              <a:t>.”</a:t>
            </a:r>
          </a:p>
          <a:p>
            <a:pPr marL="342900" indent="-342900">
              <a:buAutoNum type="arabicPeriod"/>
            </a:pPr>
            <a:r>
              <a:rPr lang="en-GB" dirty="0"/>
              <a:t>[</a:t>
            </a:r>
            <a:r>
              <a:rPr lang="en-GB" i="1" dirty="0"/>
              <a:t>Reasoning followed by…</a:t>
            </a:r>
            <a:r>
              <a:rPr lang="en-GB" dirty="0"/>
              <a:t>] “</a:t>
            </a:r>
            <a:r>
              <a:rPr lang="en-GB" i="1" dirty="0"/>
              <a:t>This contradicts the assumption that</a:t>
            </a:r>
            <a:r>
              <a:rPr lang="en-GB" dirty="0"/>
              <a:t>…” or “</a:t>
            </a:r>
            <a:r>
              <a:rPr lang="en-GB" i="1" dirty="0"/>
              <a:t>This is a contradiction</a:t>
            </a:r>
            <a:r>
              <a:rPr lang="en-GB" dirty="0"/>
              <a:t>”.</a:t>
            </a:r>
          </a:p>
          <a:p>
            <a:pPr marL="342900" indent="-342900">
              <a:buAutoNum type="arabicPeriod"/>
            </a:pPr>
            <a:r>
              <a:rPr lang="en-GB" dirty="0"/>
              <a:t>“Therefore [</a:t>
            </a:r>
            <a:r>
              <a:rPr lang="en-GB" i="1" dirty="0"/>
              <a:t>restate original statement</a:t>
            </a:r>
            <a:r>
              <a:rPr lang="en-GB" dirty="0"/>
              <a:t>].”</a:t>
            </a:r>
          </a:p>
        </p:txBody>
      </p:sp>
    </p:spTree>
    <p:extLst>
      <p:ext uri="{BB962C8B-B14F-4D97-AF65-F5344CB8AC3E}">
        <p14:creationId xmlns:p14="http://schemas.microsoft.com/office/powerpoint/2010/main" val="3617830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71260D9-E1A0-4A61-931B-A7138471258E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18BEB7B3-1B94-4D60-ADD8-1F29E9F71AAB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Negating the original statement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924A6DA-340E-4207-8A5A-03E45AF16C6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BEF0590-DF83-4A1F-9BE7-65F4D60A457B}"/>
              </a:ext>
            </a:extLst>
          </p:cNvPr>
          <p:cNvSpPr txBox="1"/>
          <p:nvPr/>
        </p:nvSpPr>
        <p:spPr>
          <a:xfrm>
            <a:off x="323528" y="908720"/>
            <a:ext cx="84249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first part of a proof by contradiction requires you to negate the original statement.</a:t>
            </a:r>
          </a:p>
          <a:p>
            <a:r>
              <a:rPr lang="en-GB" dirty="0"/>
              <a:t>What is the negation of each of these statements? </a:t>
            </a:r>
            <a:r>
              <a:rPr lang="en-GB" b="1" i="1" dirty="0"/>
              <a:t>(Click to choose)</a:t>
            </a:r>
          </a:p>
          <a:p>
            <a:endParaRPr lang="en-GB" dirty="0"/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C03EB27B-4DEC-4729-A971-0DE76B463A88}"/>
              </a:ext>
            </a:extLst>
          </p:cNvPr>
          <p:cNvSpPr/>
          <p:nvPr/>
        </p:nvSpPr>
        <p:spPr>
          <a:xfrm>
            <a:off x="683568" y="1832050"/>
            <a:ext cx="2088232" cy="1080120"/>
          </a:xfrm>
          <a:prstGeom prst="wedgeRectCallout">
            <a:avLst>
              <a:gd name="adj1" fmla="val -47592"/>
              <a:gd name="adj2" fmla="val 7425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“There are infinitely many prime numbers.”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E9781F-F5AC-4A79-9A49-CB6E75B89FDC}"/>
              </a:ext>
            </a:extLst>
          </p:cNvPr>
          <p:cNvSpPr/>
          <p:nvPr/>
        </p:nvSpPr>
        <p:spPr>
          <a:xfrm>
            <a:off x="404044" y="3450332"/>
            <a:ext cx="2520280" cy="70056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“There are infinitely many non-prime (i.e. composite) numbers.”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66918A-7BFB-4F4D-9C7C-E29EA245C2E5}"/>
              </a:ext>
            </a:extLst>
          </p:cNvPr>
          <p:cNvSpPr/>
          <p:nvPr/>
        </p:nvSpPr>
        <p:spPr>
          <a:xfrm>
            <a:off x="404044" y="4248755"/>
            <a:ext cx="2520280" cy="72028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“There are finitely many prime numbers.”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D18C36-C190-4FE2-8B3E-A2CA846D974B}"/>
              </a:ext>
            </a:extLst>
          </p:cNvPr>
          <p:cNvSpPr/>
          <p:nvPr/>
        </p:nvSpPr>
        <p:spPr>
          <a:xfrm>
            <a:off x="404044" y="5084948"/>
            <a:ext cx="2520280" cy="5763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“There are finitely many non-composite numbers.”</a:t>
            </a:r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40EE51F0-0DD8-4A6A-9338-6348A725DB32}"/>
              </a:ext>
            </a:extLst>
          </p:cNvPr>
          <p:cNvSpPr/>
          <p:nvPr/>
        </p:nvSpPr>
        <p:spPr>
          <a:xfrm>
            <a:off x="3419872" y="1832050"/>
            <a:ext cx="2088232" cy="1080120"/>
          </a:xfrm>
          <a:prstGeom prst="wedgeRectCallout">
            <a:avLst>
              <a:gd name="adj1" fmla="val -47592"/>
              <a:gd name="adj2" fmla="val 7425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“All Popes are Catholic.”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86D96C-9410-4780-8EEE-4AC967A40828}"/>
              </a:ext>
            </a:extLst>
          </p:cNvPr>
          <p:cNvSpPr/>
          <p:nvPr/>
        </p:nvSpPr>
        <p:spPr>
          <a:xfrm>
            <a:off x="3491880" y="4221005"/>
            <a:ext cx="2220942" cy="7480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“No Popes are Catholic.”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B09C73-CFBE-4E4B-AF99-AA72B5D05690}"/>
              </a:ext>
            </a:extLst>
          </p:cNvPr>
          <p:cNvSpPr/>
          <p:nvPr/>
        </p:nvSpPr>
        <p:spPr>
          <a:xfrm>
            <a:off x="3491880" y="3450332"/>
            <a:ext cx="2221532" cy="70056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“There exists a Pope who is not Catholic.”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90F445-E128-4D0E-94F5-EAC37139A3E8}"/>
              </a:ext>
            </a:extLst>
          </p:cNvPr>
          <p:cNvSpPr/>
          <p:nvPr/>
        </p:nvSpPr>
        <p:spPr>
          <a:xfrm>
            <a:off x="3491880" y="5084948"/>
            <a:ext cx="2232792" cy="5763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“Harry Potter is the Pope.”</a:t>
            </a:r>
          </a:p>
        </p:txBody>
      </p:sp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CE62D12A-1EA6-45D6-94BD-777F68492681}"/>
              </a:ext>
            </a:extLst>
          </p:cNvPr>
          <p:cNvSpPr/>
          <p:nvPr/>
        </p:nvSpPr>
        <p:spPr>
          <a:xfrm>
            <a:off x="6483347" y="1832050"/>
            <a:ext cx="2088232" cy="1080120"/>
          </a:xfrm>
          <a:prstGeom prst="wedgeRectCallout">
            <a:avLst>
              <a:gd name="adj1" fmla="val -47592"/>
              <a:gd name="adj2" fmla="val 7425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“If it is raining, my garden is wet.”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3E299B-0F76-4266-AE81-E88943F3E9D3}"/>
              </a:ext>
            </a:extLst>
          </p:cNvPr>
          <p:cNvSpPr/>
          <p:nvPr/>
        </p:nvSpPr>
        <p:spPr>
          <a:xfrm>
            <a:off x="6372199" y="3450332"/>
            <a:ext cx="2310529" cy="70056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“It is not raining and my garden is dry.”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9E4E55-5F38-4652-BF1D-D058AD2FE224}"/>
              </a:ext>
            </a:extLst>
          </p:cNvPr>
          <p:cNvSpPr/>
          <p:nvPr/>
        </p:nvSpPr>
        <p:spPr>
          <a:xfrm>
            <a:off x="6372199" y="5084948"/>
            <a:ext cx="2310530" cy="5763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“It is raining and my garden is not wet.”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0F0744-007B-44BA-BC5E-DDF1DDE5834E}"/>
              </a:ext>
            </a:extLst>
          </p:cNvPr>
          <p:cNvSpPr/>
          <p:nvPr/>
        </p:nvSpPr>
        <p:spPr>
          <a:xfrm>
            <a:off x="6372199" y="4221005"/>
            <a:ext cx="2310530" cy="7480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“It is not raining and my garden is wet.”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AF484E-D1A9-48C6-8B0E-6805CB8E4517}"/>
              </a:ext>
            </a:extLst>
          </p:cNvPr>
          <p:cNvSpPr txBox="1"/>
          <p:nvPr/>
        </p:nvSpPr>
        <p:spPr>
          <a:xfrm>
            <a:off x="2971801" y="5780838"/>
            <a:ext cx="29477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Comments:</a:t>
            </a:r>
            <a:r>
              <a:rPr lang="en-GB" sz="1200" dirty="0"/>
              <a:t> The negation of “all are” isn’t “none are”. So the negation of “everyone likes green” </a:t>
            </a:r>
            <a:r>
              <a:rPr lang="en-GB" sz="1200" u="sng" dirty="0"/>
              <a:t>wouldn’t</a:t>
            </a:r>
            <a:r>
              <a:rPr lang="en-GB" sz="1200" dirty="0"/>
              <a:t> be “no one likes green”, but: “not everyone likes green”. Do not confuse a ‘negation’ with the ‘opposite’.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A420D6-8B86-468D-86B9-675AA42150D0}"/>
              </a:ext>
            </a:extLst>
          </p:cNvPr>
          <p:cNvSpPr txBox="1"/>
          <p:nvPr/>
        </p:nvSpPr>
        <p:spPr>
          <a:xfrm>
            <a:off x="6084168" y="5780838"/>
            <a:ext cx="30598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Comments:</a:t>
            </a:r>
            <a:r>
              <a:rPr lang="en-GB" sz="1200" dirty="0"/>
              <a:t> If you have a </a:t>
            </a:r>
            <a:r>
              <a:rPr lang="en-GB" sz="1200" u="sng" dirty="0"/>
              <a:t>conditional</a:t>
            </a:r>
            <a:r>
              <a:rPr lang="en-GB" sz="1200" dirty="0"/>
              <a:t> statement like “</a:t>
            </a:r>
            <a:r>
              <a:rPr lang="en-GB" sz="1200" i="1" dirty="0"/>
              <a:t>If A then B</a:t>
            </a:r>
            <a:r>
              <a:rPr lang="en-GB" sz="1200" dirty="0"/>
              <a:t>”, then the negation is “</a:t>
            </a:r>
            <a:r>
              <a:rPr lang="en-GB" sz="1200" i="1" dirty="0"/>
              <a:t>A and not B</a:t>
            </a:r>
            <a:r>
              <a:rPr lang="en-GB" sz="1200" dirty="0"/>
              <a:t>”, i.e. the condition is true, but the conclusion is false/negated.  </a:t>
            </a:r>
          </a:p>
        </p:txBody>
      </p:sp>
    </p:spTree>
    <p:extLst>
      <p:ext uri="{BB962C8B-B14F-4D97-AF65-F5344CB8AC3E}">
        <p14:creationId xmlns:p14="http://schemas.microsoft.com/office/powerpoint/2010/main" val="358566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71717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71717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71717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71717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71717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71717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E04023D-3FDD-46D2-83F5-BD476B1B5DE5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40257B13-FA9A-4F8B-A7BC-1E65130AFEAD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More Examples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FD1B62A-9750-4D59-A89E-113D98F0D3EB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67F44B-586A-4FA6-97AF-B89F43643ED5}"/>
                  </a:ext>
                </a:extLst>
              </p:cNvPr>
              <p:cNvSpPr txBox="1"/>
              <p:nvPr/>
            </p:nvSpPr>
            <p:spPr>
              <a:xfrm>
                <a:off x="395536" y="806157"/>
                <a:ext cx="6480720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Prove by contradiction that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is even, then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must be even.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67F44B-586A-4FA6-97AF-B89F43643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806157"/>
                <a:ext cx="6480720" cy="369332"/>
              </a:xfrm>
              <a:prstGeom prst="rect">
                <a:avLst/>
              </a:prstGeom>
              <a:blipFill>
                <a:blip r:embed="rId2"/>
                <a:stretch>
                  <a:fillRect b="-352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58F956F-8986-4125-9980-707BA716A949}"/>
                  </a:ext>
                </a:extLst>
              </p:cNvPr>
              <p:cNvSpPr txBox="1"/>
              <p:nvPr/>
            </p:nvSpPr>
            <p:spPr>
              <a:xfrm>
                <a:off x="395536" y="1412776"/>
                <a:ext cx="4836864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Assume there exists a number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is even, but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is not even.</a:t>
                </a:r>
              </a:p>
              <a:p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is odd therefore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dirty="0"/>
                  <a:t> for some integer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=2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which is odd.</a:t>
                </a:r>
              </a:p>
              <a:p>
                <a:endParaRPr lang="en-GB" dirty="0"/>
              </a:p>
              <a:p>
                <a:r>
                  <a:rPr lang="en-GB" dirty="0"/>
                  <a:t>This contradicts the assumption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is even.</a:t>
                </a:r>
              </a:p>
              <a:p>
                <a:endParaRPr lang="en-GB" dirty="0"/>
              </a:p>
              <a:p>
                <a:r>
                  <a:rPr lang="en-GB" dirty="0"/>
                  <a:t>Therefore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is even then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must be even.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58F956F-8986-4125-9980-707BA716A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412776"/>
                <a:ext cx="4836864" cy="3416320"/>
              </a:xfrm>
              <a:prstGeom prst="rect">
                <a:avLst/>
              </a:prstGeom>
              <a:blipFill>
                <a:blip r:embed="rId3"/>
                <a:stretch>
                  <a:fillRect l="-1135" t="-1071" r="-1009" b="-19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43924E8-24E3-4A0D-BDC9-DCD8796D67F2}"/>
              </a:ext>
            </a:extLst>
          </p:cNvPr>
          <p:cNvSpPr txBox="1"/>
          <p:nvPr/>
        </p:nvSpPr>
        <p:spPr>
          <a:xfrm>
            <a:off x="5905690" y="1426515"/>
            <a:ext cx="2592288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Remember the negation of “if A then B” is “A and not B”.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9465BE-C4ED-40A2-88B5-08B38153699B}"/>
              </a:ext>
            </a:extLst>
          </p:cNvPr>
          <p:cNvSpPr/>
          <p:nvPr/>
        </p:nvSpPr>
        <p:spPr>
          <a:xfrm>
            <a:off x="369940" y="1377127"/>
            <a:ext cx="4942629" cy="80593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Assumption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D21141-C16D-4574-B42A-A82524F66B03}"/>
              </a:ext>
            </a:extLst>
          </p:cNvPr>
          <p:cNvSpPr/>
          <p:nvPr/>
        </p:nvSpPr>
        <p:spPr>
          <a:xfrm>
            <a:off x="369939" y="2153840"/>
            <a:ext cx="4942629" cy="23367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Show contradiction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6D4452-54AF-4A02-A763-A9108D5D685B}"/>
              </a:ext>
            </a:extLst>
          </p:cNvPr>
          <p:cNvSpPr/>
          <p:nvPr/>
        </p:nvSpPr>
        <p:spPr>
          <a:xfrm>
            <a:off x="369938" y="4490584"/>
            <a:ext cx="4942629" cy="9075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Conclusion</a:t>
            </a:r>
          </a:p>
        </p:txBody>
      </p:sp>
    </p:spTree>
    <p:extLst>
      <p:ext uri="{BB962C8B-B14F-4D97-AF65-F5344CB8AC3E}">
        <p14:creationId xmlns:p14="http://schemas.microsoft.com/office/powerpoint/2010/main" val="1808939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5F4CCC9-9DA0-42F2-8793-F728804555E8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0F758901-0966-41D7-8F13-D5D544D8EB19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More Examples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FBAA5B4-77D4-444D-A849-8E0564453F39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3D9225C-76E0-4030-A364-C0A545827F21}"/>
                  </a:ext>
                </a:extLst>
              </p:cNvPr>
              <p:cNvSpPr txBox="1"/>
              <p:nvPr/>
            </p:nvSpPr>
            <p:spPr>
              <a:xfrm>
                <a:off x="395536" y="806157"/>
                <a:ext cx="6480720" cy="39632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Prove by contradiction that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GB" dirty="0"/>
                  <a:t> is an irrational number.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3D9225C-76E0-4030-A364-C0A545827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806157"/>
                <a:ext cx="6480720" cy="396327"/>
              </a:xfrm>
              <a:prstGeom prst="rect">
                <a:avLst/>
              </a:prstGeom>
              <a:blipFill>
                <a:blip r:embed="rId2"/>
                <a:stretch>
                  <a:fillRect b="-449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EE6D0E-3D62-493C-A0C1-BB50AD0614CF}"/>
                  </a:ext>
                </a:extLst>
              </p:cNvPr>
              <p:cNvSpPr txBox="1"/>
              <p:nvPr/>
            </p:nvSpPr>
            <p:spPr>
              <a:xfrm>
                <a:off x="6372200" y="1409514"/>
                <a:ext cx="2592288" cy="255531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A </a:t>
                </a:r>
                <a:r>
                  <a:rPr lang="en-GB" sz="1400" b="1" dirty="0"/>
                  <a:t>rational number </a:t>
                </a:r>
                <a:r>
                  <a:rPr lang="en-GB" sz="1400" dirty="0"/>
                  <a:t>is one that can be expressed in the form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GB" sz="1400" dirty="0"/>
                  <a:t> where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400" dirty="0"/>
                  <a:t>,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400" dirty="0"/>
                  <a:t> are integers.</a:t>
                </a:r>
              </a:p>
              <a:p>
                <a:endParaRPr lang="en-GB" sz="1400" dirty="0"/>
              </a:p>
              <a:p>
                <a:r>
                  <a:rPr lang="en-GB" sz="1400" dirty="0"/>
                  <a:t>An </a:t>
                </a:r>
                <a:r>
                  <a:rPr lang="en-GB" sz="1400" b="1" dirty="0"/>
                  <a:t>irrational</a:t>
                </a:r>
                <a:r>
                  <a:rPr lang="en-GB" sz="1400" dirty="0"/>
                  <a:t> number cannot be expressed in this form, e.g.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, </m:t>
                    </m:r>
                    <m:rad>
                      <m:radPr>
                        <m:degHide m:val="on"/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GB" sz="1400" dirty="0"/>
                  <a:t>.</a:t>
                </a:r>
              </a:p>
              <a:p>
                <a:endParaRPr lang="en-GB" sz="1400" dirty="0"/>
              </a:p>
              <a:p>
                <a:r>
                  <a:rPr lang="en-GB" sz="1400" dirty="0"/>
                  <a:t>The set of all rational numbers is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lang="en-GB" sz="1400" dirty="0"/>
                  <a:t> (real numbers: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1400" dirty="0"/>
                  <a:t>, natural numbers: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GB" sz="1400" dirty="0"/>
                  <a:t>, integers: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GB" sz="1400" dirty="0"/>
                  <a:t>).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EE6D0E-3D62-493C-A0C1-BB50AD0614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200" y="1409514"/>
                <a:ext cx="2592288" cy="2555315"/>
              </a:xfrm>
              <a:prstGeom prst="rect">
                <a:avLst/>
              </a:prstGeom>
              <a:blipFill>
                <a:blip r:embed="rId3"/>
                <a:stretch>
                  <a:fillRect l="-233" b="-14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1AE909-AD68-4A7E-A41C-6AF8C2512FB9}"/>
                  </a:ext>
                </a:extLst>
              </p:cNvPr>
              <p:cNvSpPr txBox="1"/>
              <p:nvPr/>
            </p:nvSpPr>
            <p:spPr>
              <a:xfrm>
                <a:off x="395536" y="1409514"/>
                <a:ext cx="5328592" cy="4740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Assume that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GB" dirty="0"/>
                  <a:t> is a rational number.</a:t>
                </a:r>
              </a:p>
              <a:p>
                <a:r>
                  <a:rPr lang="en-GB" dirty="0"/>
                  <a:t>Then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 are integers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GB" dirty="0"/>
                  <a:t> is a fraction in its simplest form.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∴2=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⇒    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Since LHS is even,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is even, and therefore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is even.</a:t>
                </a:r>
              </a:p>
              <a:p>
                <a:r>
                  <a:rPr lang="en-GB" dirty="0"/>
                  <a:t>Therefore let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 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 is an integer.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Since RHS is even,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is even, and therefore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 is even.</a:t>
                </a:r>
              </a:p>
              <a:p>
                <a:r>
                  <a:rPr lang="en-GB" dirty="0"/>
                  <a:t>But then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 are both even, contradicting that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GB" dirty="0"/>
                  <a:t> is a fraction in its simplest form.</a:t>
                </a:r>
              </a:p>
              <a:p>
                <a:endParaRPr lang="en-GB" dirty="0"/>
              </a:p>
              <a:p>
                <a:r>
                  <a:rPr lang="en-GB" dirty="0"/>
                  <a:t>Therefore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GB" dirty="0"/>
                  <a:t> is irrational.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1AE909-AD68-4A7E-A41C-6AF8C2512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409514"/>
                <a:ext cx="5328592" cy="4740337"/>
              </a:xfrm>
              <a:prstGeom prst="rect">
                <a:avLst/>
              </a:prstGeom>
              <a:blipFill>
                <a:blip r:embed="rId4"/>
                <a:stretch>
                  <a:fillRect l="-1030" b="-16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F4C64DF-4D67-4FE6-890F-2C53C1D2A8CC}"/>
                  </a:ext>
                </a:extLst>
              </p:cNvPr>
              <p:cNvSpPr txBox="1"/>
              <p:nvPr/>
            </p:nvSpPr>
            <p:spPr>
              <a:xfrm>
                <a:off x="6354180" y="4171859"/>
                <a:ext cx="2448272" cy="23263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This is the standard (and well known) proof for the irrationality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GB" sz="1200" dirty="0"/>
                  <a:t>. Here’s Dr Frost’s non-standard but quicker proof:</a:t>
                </a:r>
              </a:p>
              <a:p>
                <a:pPr/>
                <a:r>
                  <a:rPr lang="en-GB" sz="1200" dirty="0"/>
                  <a:t>___________________________</a:t>
                </a:r>
                <a:br>
                  <a:rPr lang="en-GB" sz="1200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200" dirty="0"/>
              </a:p>
              <a:p>
                <a:r>
                  <a:rPr lang="en-GB" sz="1200" dirty="0"/>
                  <a:t>If a number is square then the powers in the prime factorisation are even. The power of 2 on the RHS is therefore even, but odd on the LHS (due to the extra 2). This is a contradiction.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F4C64DF-4D67-4FE6-890F-2C53C1D2A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4180" y="4171859"/>
                <a:ext cx="2448272" cy="2326342"/>
              </a:xfrm>
              <a:prstGeom prst="rect">
                <a:avLst/>
              </a:prstGeom>
              <a:blipFill>
                <a:blip r:embed="rId5"/>
                <a:stretch>
                  <a:fillRect r="-1493" b="-10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41D514F-5A5A-4CF0-85B0-58427EF31874}"/>
              </a:ext>
            </a:extLst>
          </p:cNvPr>
          <p:cNvCxnSpPr>
            <a:cxnSpLocks/>
          </p:cNvCxnSpPr>
          <p:nvPr/>
        </p:nvCxnSpPr>
        <p:spPr>
          <a:xfrm flipH="1">
            <a:off x="6039853" y="4437112"/>
            <a:ext cx="332347" cy="86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230159BB-C048-483E-8EF8-7EDB2F2F3F16}"/>
              </a:ext>
            </a:extLst>
          </p:cNvPr>
          <p:cNvSpPr/>
          <p:nvPr/>
        </p:nvSpPr>
        <p:spPr>
          <a:xfrm>
            <a:off x="395536" y="1335044"/>
            <a:ext cx="5544616" cy="11849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Assumption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CA9B6A-9724-48F5-9223-B9AA768BB17B}"/>
              </a:ext>
            </a:extLst>
          </p:cNvPr>
          <p:cNvSpPr/>
          <p:nvPr/>
        </p:nvSpPr>
        <p:spPr>
          <a:xfrm>
            <a:off x="395536" y="2503806"/>
            <a:ext cx="5544616" cy="308543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Show contradiction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87CF00-8B8D-4DB4-A8C2-D3C78B1B3328}"/>
              </a:ext>
            </a:extLst>
          </p:cNvPr>
          <p:cNvSpPr/>
          <p:nvPr/>
        </p:nvSpPr>
        <p:spPr>
          <a:xfrm>
            <a:off x="395536" y="5602985"/>
            <a:ext cx="5544616" cy="80593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Conclusion</a:t>
            </a:r>
          </a:p>
        </p:txBody>
      </p:sp>
    </p:spTree>
    <p:extLst>
      <p:ext uri="{BB962C8B-B14F-4D97-AF65-F5344CB8AC3E}">
        <p14:creationId xmlns:p14="http://schemas.microsoft.com/office/powerpoint/2010/main" val="1990110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8" grpId="0"/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7AE8ACE-743E-447D-A82B-E10F75F0F686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AEB1E8B5-84A5-4EB4-88B2-FAB6EC77CEDB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More Examples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077625C-6C2B-4A38-8704-914AC97F944F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E979063-6E24-42CD-8159-FCE1EFA75824}"/>
              </a:ext>
            </a:extLst>
          </p:cNvPr>
          <p:cNvSpPr txBox="1"/>
          <p:nvPr/>
        </p:nvSpPr>
        <p:spPr>
          <a:xfrm>
            <a:off x="395536" y="806157"/>
            <a:ext cx="6840760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Prove by contradiction that there are infinitely many prime numbers.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1F2747-6213-4246-AE90-B779EF052408}"/>
              </a:ext>
            </a:extLst>
          </p:cNvPr>
          <p:cNvSpPr txBox="1"/>
          <p:nvPr/>
        </p:nvSpPr>
        <p:spPr>
          <a:xfrm>
            <a:off x="6372200" y="1409514"/>
            <a:ext cx="2160240" cy="73866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This proof is courtesy of Euclid, and is one of the earliest known proofs.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B555F0-3E8D-43A6-AD37-052678F2520C}"/>
                  </a:ext>
                </a:extLst>
              </p:cNvPr>
              <p:cNvSpPr txBox="1"/>
              <p:nvPr/>
            </p:nvSpPr>
            <p:spPr>
              <a:xfrm>
                <a:off x="455694" y="1469672"/>
                <a:ext cx="5616624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Assume that there is a finite number of prime numbers.</a:t>
                </a:r>
              </a:p>
              <a:p>
                <a:r>
                  <a:rPr lang="en-GB" dirty="0"/>
                  <a:t>Therefore we can list all the prime numbers: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Consider the number: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×…×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)+1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When you divide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dirty="0"/>
                  <a:t> by any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dirty="0"/>
                  <a:t>, the remainder will always be 1.</a:t>
                </a:r>
              </a:p>
              <a:p>
                <a:r>
                  <a:rPr lang="en-GB" dirty="0"/>
                  <a:t>Therefore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dirty="0"/>
                  <a:t> is not divisible by any of these primes.</a:t>
                </a:r>
              </a:p>
              <a:p>
                <a:endParaRPr lang="en-GB" dirty="0"/>
              </a:p>
              <a:p>
                <a:r>
                  <a:rPr lang="en-GB" dirty="0"/>
                  <a:t>Therefore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dirty="0"/>
                  <a:t> must itself be prime, or its prime factorisation contains only primes not in our original list.</a:t>
                </a:r>
              </a:p>
              <a:p>
                <a:r>
                  <a:rPr lang="en-GB" dirty="0"/>
                  <a:t>This contradicts the assumption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dirty="0"/>
                  <a:t> contained the list of all prime numbers.</a:t>
                </a:r>
              </a:p>
              <a:p>
                <a:endParaRPr lang="en-GB" dirty="0"/>
              </a:p>
              <a:p>
                <a:r>
                  <a:rPr lang="en-GB" dirty="0"/>
                  <a:t>Therefore, there are an infinite number of primes.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B555F0-3E8D-43A6-AD37-052678F25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694" y="1469672"/>
                <a:ext cx="5616624" cy="4524315"/>
              </a:xfrm>
              <a:prstGeom prst="rect">
                <a:avLst/>
              </a:prstGeom>
              <a:blipFill>
                <a:blip r:embed="rId2"/>
                <a:stretch>
                  <a:fillRect l="-977" t="-674" r="-543" b="-12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5234336D-1D73-4F61-B745-F9723734E434}"/>
              </a:ext>
            </a:extLst>
          </p:cNvPr>
          <p:cNvSpPr/>
          <p:nvPr/>
        </p:nvSpPr>
        <p:spPr>
          <a:xfrm>
            <a:off x="393358" y="1334946"/>
            <a:ext cx="5544616" cy="11849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Assumption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A390CC-6EE4-45D5-89B6-FD5E479E8B92}"/>
              </a:ext>
            </a:extLst>
          </p:cNvPr>
          <p:cNvSpPr/>
          <p:nvPr/>
        </p:nvSpPr>
        <p:spPr>
          <a:xfrm>
            <a:off x="395536" y="2519941"/>
            <a:ext cx="5544616" cy="30830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Show contradiction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2BECBB-4555-4720-B8AC-0C8B82AF3DAA}"/>
              </a:ext>
            </a:extLst>
          </p:cNvPr>
          <p:cNvSpPr/>
          <p:nvPr/>
        </p:nvSpPr>
        <p:spPr>
          <a:xfrm>
            <a:off x="395536" y="5602985"/>
            <a:ext cx="5544616" cy="80593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Conclusion</a:t>
            </a:r>
          </a:p>
        </p:txBody>
      </p:sp>
    </p:spTree>
    <p:extLst>
      <p:ext uri="{BB962C8B-B14F-4D97-AF65-F5344CB8AC3E}">
        <p14:creationId xmlns:p14="http://schemas.microsoft.com/office/powerpoint/2010/main" val="1595955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1.1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/>
              <a:t>Page </a:t>
            </a:r>
            <a:r>
              <a:rPr lang="en-GB" sz="2400" dirty="0"/>
              <a:t>1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8F0E51-4C23-DCA9-A86F-0E56A62C99B7}"/>
                  </a:ext>
                </a:extLst>
              </p:cNvPr>
              <p:cNvSpPr txBox="1"/>
              <p:nvPr/>
            </p:nvSpPr>
            <p:spPr>
              <a:xfrm>
                <a:off x="385180" y="2217053"/>
                <a:ext cx="8435292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i="1" dirty="0"/>
                  <a:t>[STEP I 2008 Q1]</a:t>
                </a:r>
                <a:r>
                  <a:rPr lang="en-GB" dirty="0"/>
                  <a:t> What does it mean to say that a number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is rational?</a:t>
                </a:r>
              </a:p>
              <a:p>
                <a:r>
                  <a:rPr lang="en-GB" dirty="0"/>
                  <a:t>Prove by contradiction statements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dirty="0"/>
                  <a:t> below, 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dirty="0"/>
                  <a:t> are real numbers.</a:t>
                </a:r>
              </a:p>
              <a:p>
                <a:endParaRPr lang="en-GB" dirty="0"/>
              </a:p>
              <a:p>
                <a:r>
                  <a:rPr lang="en-GB" dirty="0"/>
                  <a:t>A: 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𝑝𝑞</m:t>
                    </m:r>
                  </m:oMath>
                </a14:m>
                <a:r>
                  <a:rPr lang="en-GB" dirty="0"/>
                  <a:t> is irrational, then at least one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dirty="0"/>
                  <a:t> is irrational.</a:t>
                </a:r>
              </a:p>
              <a:p>
                <a:r>
                  <a:rPr lang="en-GB" dirty="0"/>
                  <a:t>B: 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dirty="0"/>
                  <a:t> is irrational, then at least one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dirty="0"/>
                  <a:t> is irrational.</a:t>
                </a:r>
              </a:p>
              <a:p>
                <a:endParaRPr lang="en-GB" dirty="0"/>
              </a:p>
              <a:p>
                <a:r>
                  <a:rPr lang="en-GB" dirty="0"/>
                  <a:t>Disprove by means of a counterexample statement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 below, 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dirty="0"/>
                  <a:t> are real numbers.</a:t>
                </a:r>
              </a:p>
              <a:p>
                <a:endParaRPr lang="en-GB" dirty="0"/>
              </a:p>
              <a:p>
                <a:r>
                  <a:rPr lang="en-GB" dirty="0"/>
                  <a:t>C: 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dirty="0"/>
                  <a:t> are irrational, then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dirty="0"/>
                  <a:t> is irrational.</a:t>
                </a:r>
              </a:p>
              <a:p>
                <a:endParaRPr lang="en-GB" dirty="0"/>
              </a:p>
              <a:p>
                <a:r>
                  <a:rPr lang="en-GB" dirty="0"/>
                  <a:t>If the numbers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dirty="0"/>
                  <a:t> are irrational, prove that at most one of the numbers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is rational.</a:t>
                </a:r>
              </a:p>
              <a:p>
                <a:endParaRPr lang="en-GB" dirty="0"/>
              </a:p>
              <a:p>
                <a:r>
                  <a:rPr lang="en-GB" b="1" u="sng" dirty="0"/>
                  <a:t>Solutions on next slide.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8F0E51-4C23-DCA9-A86F-0E56A62C9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80" y="2217053"/>
                <a:ext cx="8435292" cy="4524315"/>
              </a:xfrm>
              <a:prstGeom prst="rect">
                <a:avLst/>
              </a:prstGeom>
              <a:blipFill>
                <a:blip r:embed="rId2"/>
                <a:stretch>
                  <a:fillRect l="-578" t="-8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D46FB25-CE7D-5868-BA7E-61EB86E88F8D}"/>
              </a:ext>
            </a:extLst>
          </p:cNvPr>
          <p:cNvSpPr txBox="1"/>
          <p:nvPr/>
        </p:nvSpPr>
        <p:spPr>
          <a:xfrm>
            <a:off x="377077" y="1886605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Extension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38C8AD3-CCAA-DD47-8AB7-4A313BC390A1}"/>
                  </a:ext>
                </a:extLst>
              </p:cNvPr>
              <p:cNvSpPr txBox="1"/>
              <p:nvPr/>
            </p:nvSpPr>
            <p:spPr>
              <a:xfrm>
                <a:off x="5968856" y="4359126"/>
                <a:ext cx="2736304" cy="83099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b="1" dirty="0"/>
                  <a:t>Note: </a:t>
                </a:r>
                <a14:m>
                  <m:oMath xmlns:m="http://schemas.openxmlformats.org/officeDocument/2006/math"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en-GB" sz="1200" dirty="0"/>
                  <a:t> is Euler’s Number and you will encounter it later at A Level. But for the moment, you only need to know it is an irrational number, like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sz="1200" dirty="0"/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38C8AD3-CCAA-DD47-8AB7-4A313BC39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8856" y="4359126"/>
                <a:ext cx="2736304" cy="830997"/>
              </a:xfrm>
              <a:prstGeom prst="rect">
                <a:avLst/>
              </a:prstGeom>
              <a:blipFill>
                <a:blip r:embed="rId3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Solution to Extension Problem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776" y="764704"/>
            <a:ext cx="6967220" cy="56886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64817" y="1117173"/>
            <a:ext cx="6745684" cy="55922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3357" y="2780928"/>
            <a:ext cx="6745684" cy="224827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4817" y="5867399"/>
            <a:ext cx="6745684" cy="74103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12286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4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Solution to Extension Problem</a:t>
              </a:r>
              <a:endParaRPr lang="en-GB" sz="3200" dirty="0"/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950" y="890587"/>
            <a:ext cx="7289626" cy="548985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37" y="6294437"/>
            <a:ext cx="4030663" cy="36845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50517" y="1447799"/>
            <a:ext cx="7050484" cy="51689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436096" y="6217054"/>
                <a:ext cx="3570808" cy="52322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Fun Fact</a:t>
                </a:r>
                <a:r>
                  <a:rPr lang="en-GB" sz="1400" dirty="0"/>
                  <a:t>: No mathematician has yet managed to prove that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GB" sz="1400" dirty="0"/>
                  <a:t> or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GB" sz="1400" dirty="0"/>
                  <a:t> is irrational.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096" y="6217054"/>
                <a:ext cx="3570808" cy="523220"/>
              </a:xfrm>
              <a:prstGeom prst="rect">
                <a:avLst/>
              </a:prstGeom>
              <a:blipFill>
                <a:blip r:embed="rId4"/>
                <a:stretch>
                  <a:fillRect l="-169" b="-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4027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1DFF156-7C36-EC5D-F048-D2B3F7B3D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28" y="764704"/>
            <a:ext cx="7543800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4E8C9E77-E726-6A66-2EFA-87EF7B703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78" y="980728"/>
            <a:ext cx="7886700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FF53-D376-6E8C-D0FD-1D517FE5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C62057-5111-B8A6-4E80-4193E05591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0E89DB0-01D1-BE2B-F9D3-8CB397834D7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3F8B5A-9D24-B9B4-CD6B-9A26C85DC69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3DC9824-2EC4-4E48-A8AC-A22E080C7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40" y="1052736"/>
            <a:ext cx="7800975" cy="482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85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1D36A65-7940-31D9-25E5-CD9747E34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2505"/>
            <a:ext cx="9144000" cy="455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0CC18-388A-D791-BD8C-B4F964CF1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E7F01EA-0633-F206-2359-D81F0A434E3E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0A9E226-99AD-F974-6305-7281F3EE1D40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27722CE-8429-DC51-558C-3C088CC9A7C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61C326B4-0EF6-82C6-0979-97CA2807B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74" y="625170"/>
            <a:ext cx="8163652" cy="623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956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9D8C9-DDD4-0DEE-1A00-13EECB484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C0C3B8A-6B6C-6229-1203-7CCA8B940A3C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51FA264D-0393-36C3-D5C7-9CF1EFB43F1B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F69C8CC-AED1-3C18-E701-9CAE1EE64B0F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DAEABA8E-6DE8-D9C4-C620-2E04F0079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67" y="656034"/>
            <a:ext cx="8925321" cy="6157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270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Props1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61761</TotalTime>
  <Words>1193</Words>
  <Application>Microsoft Office PowerPoint</Application>
  <PresentationFormat>On-screen Show (4:3)</PresentationFormat>
  <Paragraphs>128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 Math</vt:lpstr>
      <vt:lpstr>Wingdings</vt:lpstr>
      <vt:lpstr>Office Theme</vt:lpstr>
      <vt:lpstr>P2 Chapter 1: Algebra Techniques  Proof by Contradiction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2025-10-16T09:40:24Z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