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547" r:id="rId5"/>
    <p:sldId id="625" r:id="rId6"/>
    <p:sldId id="626" r:id="rId7"/>
    <p:sldId id="627" r:id="rId8"/>
    <p:sldId id="628" r:id="rId9"/>
    <p:sldId id="631" r:id="rId10"/>
    <p:sldId id="629" r:id="rId11"/>
    <p:sldId id="632" r:id="rId12"/>
    <p:sldId id="638" r:id="rId13"/>
    <p:sldId id="549" r:id="rId14"/>
    <p:sldId id="543" r:id="rId15"/>
    <p:sldId id="550" r:id="rId16"/>
    <p:sldId id="551" r:id="rId17"/>
    <p:sldId id="545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8D1A77-CDBC-4B47-A740-1F476775BCC6}" v="1" dt="2025-10-23T11:19:58.0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49429DE5-5706-457D-AD6F-FFF8E92DBFDA}"/>
    <pc:docChg chg="addSld modSld">
      <pc:chgData name="Dieter Beaven" userId="9bbdb69f-69d0-4759-aa9b-5c090a2da237" providerId="ADAL" clId="{49429DE5-5706-457D-AD6F-FFF8E92DBFDA}" dt="2025-05-13T15:14:36.938" v="65"/>
      <pc:docMkLst>
        <pc:docMk/>
      </pc:docMkLst>
      <pc:sldChg chg="add">
        <pc:chgData name="Dieter Beaven" userId="9bbdb69f-69d0-4759-aa9b-5c090a2da237" providerId="ADAL" clId="{49429DE5-5706-457D-AD6F-FFF8E92DBFDA}" dt="2025-05-13T15:10:39.880" v="0"/>
        <pc:sldMkLst>
          <pc:docMk/>
          <pc:sldMk cId="2377282328" sldId="530"/>
        </pc:sldMkLst>
      </pc:sldChg>
      <pc:sldChg chg="modSp mod">
        <pc:chgData name="Dieter Beaven" userId="9bbdb69f-69d0-4759-aa9b-5c090a2da237" providerId="ADAL" clId="{49429DE5-5706-457D-AD6F-FFF8E92DBFDA}" dt="2025-05-13T15:12:31.215" v="64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49429DE5-5706-457D-AD6F-FFF8E92DBFDA}" dt="2025-05-13T15:11:23.167" v="43" actId="20577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49429DE5-5706-457D-AD6F-FFF8E92DBFDA}" dt="2025-05-13T15:10:39.880" v="0"/>
        <pc:sldMkLst>
          <pc:docMk/>
          <pc:sldMk cId="3567641499" sldId="625"/>
        </pc:sldMkLst>
      </pc:sldChg>
      <pc:sldChg chg="add">
        <pc:chgData name="Dieter Beaven" userId="9bbdb69f-69d0-4759-aa9b-5c090a2da237" providerId="ADAL" clId="{49429DE5-5706-457D-AD6F-FFF8E92DBFDA}" dt="2025-05-13T15:10:39.880" v="0"/>
        <pc:sldMkLst>
          <pc:docMk/>
          <pc:sldMk cId="3511052808" sldId="626"/>
        </pc:sldMkLst>
      </pc:sldChg>
      <pc:sldChg chg="add">
        <pc:chgData name="Dieter Beaven" userId="9bbdb69f-69d0-4759-aa9b-5c090a2da237" providerId="ADAL" clId="{49429DE5-5706-457D-AD6F-FFF8E92DBFDA}" dt="2025-05-13T15:10:39.880" v="0"/>
        <pc:sldMkLst>
          <pc:docMk/>
          <pc:sldMk cId="612248264" sldId="627"/>
        </pc:sldMkLst>
      </pc:sldChg>
      <pc:sldChg chg="add">
        <pc:chgData name="Dieter Beaven" userId="9bbdb69f-69d0-4759-aa9b-5c090a2da237" providerId="ADAL" clId="{49429DE5-5706-457D-AD6F-FFF8E92DBFDA}" dt="2025-05-13T15:10:39.880" v="0"/>
        <pc:sldMkLst>
          <pc:docMk/>
          <pc:sldMk cId="20628073" sldId="628"/>
        </pc:sldMkLst>
      </pc:sldChg>
      <pc:sldChg chg="add">
        <pc:chgData name="Dieter Beaven" userId="9bbdb69f-69d0-4759-aa9b-5c090a2da237" providerId="ADAL" clId="{49429DE5-5706-457D-AD6F-FFF8E92DBFDA}" dt="2025-05-13T15:10:39.880" v="0"/>
        <pc:sldMkLst>
          <pc:docMk/>
          <pc:sldMk cId="1121388877" sldId="629"/>
        </pc:sldMkLst>
      </pc:sldChg>
      <pc:sldChg chg="add">
        <pc:chgData name="Dieter Beaven" userId="9bbdb69f-69d0-4759-aa9b-5c090a2da237" providerId="ADAL" clId="{49429DE5-5706-457D-AD6F-FFF8E92DBFDA}" dt="2025-05-13T15:10:39.880" v="0"/>
        <pc:sldMkLst>
          <pc:docMk/>
          <pc:sldMk cId="1433473421" sldId="631"/>
        </pc:sldMkLst>
      </pc:sldChg>
      <pc:sldChg chg="add">
        <pc:chgData name="Dieter Beaven" userId="9bbdb69f-69d0-4759-aa9b-5c090a2da237" providerId="ADAL" clId="{49429DE5-5706-457D-AD6F-FFF8E92DBFDA}" dt="2025-05-13T15:10:39.880" v="0"/>
        <pc:sldMkLst>
          <pc:docMk/>
          <pc:sldMk cId="900426757" sldId="632"/>
        </pc:sldMkLst>
      </pc:sldChg>
      <pc:sldChg chg="add">
        <pc:chgData name="Dieter Beaven" userId="9bbdb69f-69d0-4759-aa9b-5c090a2da237" providerId="ADAL" clId="{49429DE5-5706-457D-AD6F-FFF8E92DBFDA}" dt="2025-05-13T15:14:36.938" v="65"/>
        <pc:sldMkLst>
          <pc:docMk/>
          <pc:sldMk cId="4204849788" sldId="638"/>
        </pc:sldMkLst>
      </pc:sldChg>
    </pc:docChg>
  </pc:docChgLst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AF4429DE-69D1-4CF8-841D-B9C26A2A5A21}"/>
    <pc:docChg chg="delSld modSld">
      <pc:chgData name="Dieter Beaven" userId="9bbdb69f-69d0-4759-aa9b-5c090a2da237" providerId="ADAL" clId="{AF4429DE-69D1-4CF8-841D-B9C26A2A5A21}" dt="2025-10-23T11:23:21.342" v="7" actId="47"/>
      <pc:docMkLst>
        <pc:docMk/>
      </pc:docMkLst>
      <pc:sldChg chg="del">
        <pc:chgData name="Dieter Beaven" userId="9bbdb69f-69d0-4759-aa9b-5c090a2da237" providerId="ADAL" clId="{AF4429DE-69D1-4CF8-841D-B9C26A2A5A21}" dt="2025-10-23T11:20:00.604" v="1" actId="47"/>
        <pc:sldMkLst>
          <pc:docMk/>
          <pc:sldMk cId="2377282328" sldId="530"/>
        </pc:sldMkLst>
      </pc:sldChg>
      <pc:sldChg chg="addSp modSp mod">
        <pc:chgData name="Dieter Beaven" userId="9bbdb69f-69d0-4759-aa9b-5c090a2da237" providerId="ADAL" clId="{AF4429DE-69D1-4CF8-841D-B9C26A2A5A21}" dt="2025-10-23T11:23:19.158" v="6" actId="1036"/>
        <pc:sldMkLst>
          <pc:docMk/>
          <pc:sldMk cId="3458699803" sldId="545"/>
        </pc:sldMkLst>
        <pc:picChg chg="add mod">
          <ac:chgData name="Dieter Beaven" userId="9bbdb69f-69d0-4759-aa9b-5c090a2da237" providerId="ADAL" clId="{AF4429DE-69D1-4CF8-841D-B9C26A2A5A21}" dt="2025-10-23T11:23:19.158" v="6" actId="1036"/>
          <ac:picMkLst>
            <pc:docMk/>
            <pc:sldMk cId="3458699803" sldId="545"/>
            <ac:picMk id="6" creationId="{C5BFAD49-C87B-A228-4307-25193850B4EF}"/>
          </ac:picMkLst>
        </pc:picChg>
      </pc:sldChg>
      <pc:sldChg chg="addSp modSp">
        <pc:chgData name="Dieter Beaven" userId="9bbdb69f-69d0-4759-aa9b-5c090a2da237" providerId="ADAL" clId="{AF4429DE-69D1-4CF8-841D-B9C26A2A5A21}" dt="2025-10-23T11:19:58.074" v="0"/>
        <pc:sldMkLst>
          <pc:docMk/>
          <pc:sldMk cId="3055658135" sldId="549"/>
        </pc:sldMkLst>
        <pc:spChg chg="add mod">
          <ac:chgData name="Dieter Beaven" userId="9bbdb69f-69d0-4759-aa9b-5c090a2da237" providerId="ADAL" clId="{AF4429DE-69D1-4CF8-841D-B9C26A2A5A21}" dt="2025-10-23T11:19:58.074" v="0"/>
          <ac:spMkLst>
            <pc:docMk/>
            <pc:sldMk cId="3055658135" sldId="549"/>
            <ac:spMk id="7" creationId="{E5E454C5-03D6-1AB8-ABD6-8953D1BC7251}"/>
          </ac:spMkLst>
        </pc:spChg>
        <pc:spChg chg="add mod">
          <ac:chgData name="Dieter Beaven" userId="9bbdb69f-69d0-4759-aa9b-5c090a2da237" providerId="ADAL" clId="{AF4429DE-69D1-4CF8-841D-B9C26A2A5A21}" dt="2025-10-23T11:19:58.074" v="0"/>
          <ac:spMkLst>
            <pc:docMk/>
            <pc:sldMk cId="3055658135" sldId="549"/>
            <ac:spMk id="8" creationId="{1858D46C-BDD8-751A-B348-8BBBDC656CF0}"/>
          </ac:spMkLst>
        </pc:spChg>
        <pc:spChg chg="add mod">
          <ac:chgData name="Dieter Beaven" userId="9bbdb69f-69d0-4759-aa9b-5c090a2da237" providerId="ADAL" clId="{AF4429DE-69D1-4CF8-841D-B9C26A2A5A21}" dt="2025-10-23T11:19:58.074" v="0"/>
          <ac:spMkLst>
            <pc:docMk/>
            <pc:sldMk cId="3055658135" sldId="549"/>
            <ac:spMk id="9" creationId="{F0AD0EC7-A867-D185-5B97-A2AD3703992E}"/>
          </ac:spMkLst>
        </pc:spChg>
      </pc:sldChg>
      <pc:sldChg chg="del">
        <pc:chgData name="Dieter Beaven" userId="9bbdb69f-69d0-4759-aa9b-5c090a2da237" providerId="ADAL" clId="{AF4429DE-69D1-4CF8-841D-B9C26A2A5A21}" dt="2025-10-23T11:23:21.342" v="7" actId="47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5CE79A1A-5410-4824-B974-082FA9D12CEE}"/>
    <pc:docChg chg="modSld">
      <pc:chgData name="Dieter Beaven" userId="9bbdb69f-69d0-4759-aa9b-5c090a2da237" providerId="ADAL" clId="{5CE79A1A-5410-4824-B974-082FA9D12CEE}" dt="2025-04-25T15:30:13.659" v="1" actId="20577"/>
      <pc:docMkLst>
        <pc:docMk/>
      </pc:docMkLst>
      <pc:sldChg chg="modSp mod">
        <pc:chgData name="Dieter Beaven" userId="9bbdb69f-69d0-4759-aa9b-5c090a2da237" providerId="ADAL" clId="{5CE79A1A-5410-4824-B974-082FA9D12CEE}" dt="2025-04-25T15:30:13.659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4796F1B7-9351-447A-9B66-EACE233BCD8A}"/>
    <pc:docChg chg="modSld">
      <pc:chgData name="Dieter Beaven" userId="9bbdb69f-69d0-4759-aa9b-5c090a2da237" providerId="ADAL" clId="{4796F1B7-9351-447A-9B66-EACE233BCD8A}" dt="2025-08-27T11:01:53.375" v="6" actId="1035"/>
      <pc:docMkLst>
        <pc:docMk/>
      </pc:docMkLst>
      <pc:sldChg chg="addSp modSp mod">
        <pc:chgData name="Dieter Beaven" userId="9bbdb69f-69d0-4759-aa9b-5c090a2da237" providerId="ADAL" clId="{4796F1B7-9351-447A-9B66-EACE233BCD8A}" dt="2025-08-27T11:00:09.900" v="1" actId="1076"/>
        <pc:sldMkLst>
          <pc:docMk/>
          <pc:sldMk cId="3896053727" sldId="543"/>
        </pc:sldMkLst>
      </pc:sldChg>
      <pc:sldChg chg="addSp modSp mod">
        <pc:chgData name="Dieter Beaven" userId="9bbdb69f-69d0-4759-aa9b-5c090a2da237" providerId="ADAL" clId="{4796F1B7-9351-447A-9B66-EACE233BCD8A}" dt="2025-08-27T11:01:11.328" v="3" actId="1076"/>
        <pc:sldMkLst>
          <pc:docMk/>
          <pc:sldMk cId="4091202299" sldId="550"/>
        </pc:sldMkLst>
      </pc:sldChg>
      <pc:sldChg chg="addSp modSp mod">
        <pc:chgData name="Dieter Beaven" userId="9bbdb69f-69d0-4759-aa9b-5c090a2da237" providerId="ADAL" clId="{4796F1B7-9351-447A-9B66-EACE233BCD8A}" dt="2025-08-27T11:01:53.375" v="6" actId="1035"/>
        <pc:sldMkLst>
          <pc:docMk/>
          <pc:sldMk cId="3826585799" sldId="551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8C84B5C2-8CD8-4543-826A-29DD19B25E87}"/>
    <pc:docChg chg="modSld">
      <pc:chgData name="Dieter Beaven" userId="9bbdb69f-69d0-4759-aa9b-5c090a2da237" providerId="ADAL" clId="{8C84B5C2-8CD8-4543-826A-29DD19B25E87}" dt="2025-04-29T13:44:58.110" v="56" actId="20577"/>
      <pc:docMkLst>
        <pc:docMk/>
      </pc:docMkLst>
      <pc:sldChg chg="modSp mod">
        <pc:chgData name="Dieter Beaven" userId="9bbdb69f-69d0-4759-aa9b-5c090a2da237" providerId="ADAL" clId="{8C84B5C2-8CD8-4543-826A-29DD19B25E87}" dt="2025-04-29T13:44:58.110" v="56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8C84B5C2-8CD8-4543-826A-29DD19B25E87}" dt="2025-04-29T13:44:41.908" v="41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10.png"/><Relationship Id="rId7" Type="http://schemas.openxmlformats.org/officeDocument/2006/relationships/image" Target="../media/image12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0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15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4: </a:t>
            </a:r>
            <a:r>
              <a:rPr lang="en-GB" dirty="0">
                <a:solidFill>
                  <a:schemeClr val="accent5"/>
                </a:solidFill>
              </a:rPr>
              <a:t>Binomial Terms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Basic Binomials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Pure Year 1 Recap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87415" y="725206"/>
                <a:ext cx="856895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Remember that for small integer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you could use a row of Pascal Triangle for the Binomial coefficients, descending powers of the first term and ascending powers of the second.</a:t>
                </a:r>
              </a:p>
              <a:p>
                <a:r>
                  <a:rPr lang="en-GB" dirty="0"/>
                  <a:t>If the first term is 1, we can ignore the powers of 1.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15" y="725206"/>
                <a:ext cx="8568952" cy="923330"/>
              </a:xfrm>
              <a:prstGeom prst="rect">
                <a:avLst/>
              </a:prstGeom>
              <a:blipFill>
                <a:blip r:embed="rId2"/>
                <a:stretch>
                  <a:fillRect l="-569" t="-3974" r="-427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47673" y="1844824"/>
                <a:ext cx="7848872" cy="194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/>
                                </a:rPr>
                                <m:t>1+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GB" sz="2400" b="0" i="1" smtClean="0">
                          <a:latin typeface="Cambria Math"/>
                        </a:rPr>
                        <m:t>  =1+5</m:t>
                      </m:r>
                      <m:r>
                        <a:rPr lang="en-GB" sz="2400" b="0" i="1" smtClean="0">
                          <a:latin typeface="Cambria Math"/>
                        </a:rPr>
                        <m:t>𝑥</m:t>
                      </m:r>
                      <m:r>
                        <a:rPr lang="en-GB" sz="2400" b="0" i="1" smtClean="0">
                          <a:latin typeface="Cambria Math"/>
                        </a:rPr>
                        <m:t>+10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/>
                        </a:rPr>
                        <m:t>+10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GB" sz="2400" b="0" i="1" smtClean="0">
                          <a:latin typeface="Cambria Math"/>
                        </a:rPr>
                        <m:t>+5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GB" sz="2400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/>
                            </a:rPr>
                            <m:t>5</m:t>
                          </m:r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/>
                                </a:rPr>
                                <m:t>1+2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GB" sz="2400" b="0" i="1" smtClean="0">
                          <a:latin typeface="Cambria Math"/>
                        </a:rPr>
                        <m:t>=1+4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GB" sz="24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/>
                        </a:rPr>
                        <m:t>+6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/>
                        </a:rPr>
                        <m:t>+4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GB" sz="2400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/>
                            </a:rPr>
                            <m:t>4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/>
                        </a:rPr>
                        <m:t>                    =1+8</m:t>
                      </m:r>
                      <m:r>
                        <a:rPr lang="en-GB" sz="2400" b="0" i="1" smtClean="0">
                          <a:latin typeface="Cambria Math"/>
                        </a:rPr>
                        <m:t>𝑥</m:t>
                      </m:r>
                      <m:r>
                        <a:rPr lang="en-GB" sz="2400" b="0" i="1" smtClean="0">
                          <a:latin typeface="Cambria Math"/>
                        </a:rPr>
                        <m:t>+24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/>
                        </a:rPr>
                        <m:t>+32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GB" sz="2400" b="0" i="1" smtClean="0">
                          <a:latin typeface="Cambria Math"/>
                        </a:rPr>
                        <m:t>+16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/>
                            </a:rPr>
                            <m:t>5</m:t>
                          </m:r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/>
                                </a:rPr>
                                <m:t>1−3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GB" sz="2400" b="0" i="1" smtClean="0">
                          <a:latin typeface="Cambria Math"/>
                        </a:rPr>
                        <m:t>=1+3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/>
                            </a:rPr>
                            <m:t>−3</m:t>
                          </m:r>
                          <m:r>
                            <a:rPr lang="en-GB" sz="24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/>
                        </a:rPr>
                        <m:t>+3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/>
                                </a:rPr>
                                <m:t>−3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/>
                                </a:rPr>
                                <m:t>−3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/>
                        </a:rPr>
                        <m:t>                    =1−9</m:t>
                      </m:r>
                      <m:r>
                        <a:rPr lang="en-GB" sz="2400" b="0" i="1" smtClean="0">
                          <a:latin typeface="Cambria Math"/>
                        </a:rPr>
                        <m:t>𝑥</m:t>
                      </m:r>
                      <m:r>
                        <a:rPr lang="en-GB" sz="2400" b="0" i="1" smtClean="0">
                          <a:latin typeface="Cambria Math"/>
                        </a:rPr>
                        <m:t>+27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/>
                        </a:rPr>
                        <m:t>−27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73" y="1844824"/>
                <a:ext cx="7848872" cy="194732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2323697" y="1890217"/>
            <a:ext cx="5432610" cy="3542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23697" y="2244436"/>
            <a:ext cx="5432610" cy="74814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23697" y="2992582"/>
            <a:ext cx="5432610" cy="74814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450" y="3844497"/>
            <a:ext cx="7108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 you remember the simple way to find your Binomial coefficients?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233552" y="4512436"/>
                <a:ext cx="2052119" cy="628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𝒏</m:t>
                          </m:r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GB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𝟐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552" y="4512436"/>
                <a:ext cx="2052119" cy="6280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243909" y="4512436"/>
                <a:ext cx="2592288" cy="628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𝒏</m:t>
                          </m:r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GB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  <m:r>
                            <a:rPr lang="en-GB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𝒏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𝟐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𝟑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909" y="4512436"/>
                <a:ext cx="2592288" cy="6280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-147342" y="4594294"/>
                <a:ext cx="1386100" cy="506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latin typeface="Cambria Math"/>
                        </a:rPr>
                        <m:t>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7342" y="4594294"/>
                <a:ext cx="1386100" cy="506870"/>
              </a:xfrm>
              <a:prstGeom prst="rect">
                <a:avLst/>
              </a:prstGeom>
              <a:blipFill>
                <a:blip r:embed="rId6"/>
                <a:stretch>
                  <a:fillRect b="-60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-45203" y="5418673"/>
                <a:ext cx="2844425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𝟏𝟎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×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𝟗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×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𝟖</m:t>
                          </m:r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𝟔</m:t>
                          </m:r>
                        </m:den>
                      </m:f>
                      <m:r>
                        <a:rPr lang="en-GB" b="1" i="1" smtClean="0"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latin typeface="Cambria Math"/>
                        </a:rPr>
                        <m:t>𝟏𝟐𝟎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5203" y="5418673"/>
                <a:ext cx="2844425" cy="612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678421" y="5376938"/>
                <a:ext cx="2531655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×−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𝟐</m:t>
                          </m:r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GB" b="1" i="1" smtClean="0"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8421" y="5376938"/>
                <a:ext cx="2531655" cy="6109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368450" y="5389638"/>
                <a:ext cx="3096344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𝟐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×−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𝟑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×−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𝟒</m:t>
                          </m:r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𝟔</m:t>
                          </m:r>
                        </m:den>
                      </m:f>
                      <m:r>
                        <a:rPr lang="en-GB" b="1" i="1" smtClean="0">
                          <a:latin typeface="Cambria Math"/>
                        </a:rPr>
                        <m:t>=−</m:t>
                      </m:r>
                      <m:r>
                        <a:rPr lang="en-GB" b="1" i="1" smtClean="0">
                          <a:latin typeface="Cambria Math"/>
                        </a:rPr>
                        <m:t>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450" y="5389638"/>
                <a:ext cx="3096344" cy="6127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375452" y="6174336"/>
                <a:ext cx="2829687" cy="6183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𝟎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.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𝟓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×−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𝟎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.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𝟓</m:t>
                          </m:r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GB" b="1" i="1" smtClean="0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𝟖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452" y="6174336"/>
                <a:ext cx="2829687" cy="61837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/>
          <p:cNvSpPr/>
          <p:nvPr/>
        </p:nvSpPr>
        <p:spPr>
          <a:xfrm>
            <a:off x="2147453" y="4437065"/>
            <a:ext cx="992151" cy="74814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43977" y="4437065"/>
            <a:ext cx="1759814" cy="74814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0299" y="4458330"/>
            <a:ext cx="576064" cy="74814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7938" y="5257632"/>
            <a:ext cx="1800200" cy="74814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66954" y="5308333"/>
            <a:ext cx="1543122" cy="74814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7450" y="5321033"/>
            <a:ext cx="2125336" cy="74814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56609" y="6109450"/>
            <a:ext cx="1948749" cy="6596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2B7733E-FE87-45E8-9D1E-919845381661}"/>
                  </a:ext>
                </a:extLst>
              </p:cNvPr>
              <p:cNvSpPr txBox="1"/>
              <p:nvPr/>
            </p:nvSpPr>
            <p:spPr>
              <a:xfrm>
                <a:off x="5823393" y="4491865"/>
                <a:ext cx="3285784" cy="628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𝒏</m:t>
                          </m:r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GB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GB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/>
                                </a:rPr>
                                <m:t>𝟐</m:t>
                              </m:r>
                            </m:e>
                          </m:d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2B7733E-FE87-45E8-9D1E-919845381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393" y="4491865"/>
                <a:ext cx="3285784" cy="62805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BC9A85A0-888E-4FFF-B997-25A6A2E8100D}"/>
              </a:ext>
            </a:extLst>
          </p:cNvPr>
          <p:cNvSpPr/>
          <p:nvPr/>
        </p:nvSpPr>
        <p:spPr>
          <a:xfrm>
            <a:off x="6588880" y="4444008"/>
            <a:ext cx="2375608" cy="74814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861DCC-C6C9-4736-8098-C3B8D28FF59D}"/>
              </a:ext>
            </a:extLst>
          </p:cNvPr>
          <p:cNvSpPr txBox="1"/>
          <p:nvPr/>
        </p:nvSpPr>
        <p:spPr>
          <a:xfrm>
            <a:off x="7175500" y="3792152"/>
            <a:ext cx="1815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Hopefully you can see the pattern by this point.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2E06D3-06B9-416D-8350-F1908AD8EB59}"/>
              </a:ext>
            </a:extLst>
          </p:cNvPr>
          <p:cNvCxnSpPr/>
          <p:nvPr/>
        </p:nvCxnSpPr>
        <p:spPr>
          <a:xfrm>
            <a:off x="8648700" y="4048125"/>
            <a:ext cx="95250" cy="295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3CF79F0-F4FE-4CF1-BCBD-E72B241F41D5}"/>
              </a:ext>
            </a:extLst>
          </p:cNvPr>
          <p:cNvSpPr txBox="1"/>
          <p:nvPr/>
        </p:nvSpPr>
        <p:spPr>
          <a:xfrm>
            <a:off x="5518697" y="6136236"/>
            <a:ext cx="3488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Note: </a:t>
            </a:r>
            <a:r>
              <a:rPr lang="en-GB" sz="1200" dirty="0"/>
              <a:t>You can work out a ‘choose’ value, in the same way, when the top number is negative or fractional, but your calculator can not do this directly.</a:t>
            </a:r>
          </a:p>
        </p:txBody>
      </p:sp>
    </p:spTree>
    <p:extLst>
      <p:ext uri="{BB962C8B-B14F-4D97-AF65-F5344CB8AC3E}">
        <p14:creationId xmlns:p14="http://schemas.microsoft.com/office/powerpoint/2010/main" val="3567641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10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Binomial Expansion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3528" y="764704"/>
                <a:ext cx="8424936" cy="50488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0" dirty="0">
                    <a:latin typeface="Wingdings" panose="05000000000000000000" pitchFamily="2" charset="2"/>
                  </a:rPr>
                  <a:t>!</a:t>
                </a:r>
                <a:r>
                  <a:rPr lang="en-GB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1+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=1+</m:t>
                    </m:r>
                    <m:r>
                      <a:rPr lang="en-GB" b="0" i="1" smtClean="0">
                        <a:latin typeface="Cambria Math"/>
                      </a:rPr>
                      <m:t>𝑛𝑥</m:t>
                    </m:r>
                    <m:r>
                      <a:rPr lang="en-GB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𝑛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2!</m:t>
                        </m:r>
                      </m:den>
                    </m:f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𝑛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−1</m:t>
                            </m:r>
                          </m:e>
                        </m:d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−2</m:t>
                            </m:r>
                          </m:e>
                        </m:d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3!</m:t>
                        </m:r>
                      </m:den>
                    </m:f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+…+</m:t>
                    </m:r>
                    <m:r>
                      <a:rPr lang="en-GB" b="0" i="1" baseline="30000" smtClean="0">
                        <a:latin typeface="Cambria Math"/>
                      </a:rPr>
                      <m:t>𝑛</m:t>
                    </m:r>
                    <m:r>
                      <a:rPr lang="en-GB" b="0" i="1" smtClean="0">
                        <a:latin typeface="Cambria Math"/>
                      </a:rPr>
                      <m:t>𝐶</m:t>
                    </m:r>
                    <m:r>
                      <a:rPr lang="en-GB" b="0" i="1" baseline="-25000" smtClean="0">
                        <a:latin typeface="Cambria Math"/>
                      </a:rPr>
                      <m:t>𝑟</m:t>
                    </m:r>
                    <m:r>
                      <a:rPr lang="en-GB" b="0" i="1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764704"/>
                <a:ext cx="8424936" cy="504882"/>
              </a:xfrm>
              <a:prstGeom prst="rect">
                <a:avLst/>
              </a:prstGeom>
              <a:blipFill>
                <a:blip r:embed="rId2"/>
                <a:stretch>
                  <a:fillRect l="-433" b="-34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67544" y="2106409"/>
                <a:ext cx="7056784" cy="48494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Use the binomial expansion to find the first four terms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/>
                          </a:rPr>
                          <m:t>1+</m:t>
                        </m:r>
                        <m:r>
                          <a:rPr lang="en-GB" i="1">
                            <a:latin typeface="Cambria Math"/>
                          </a:rPr>
                          <m:t>𝑥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106409"/>
                <a:ext cx="7056784" cy="48494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7544" y="2797702"/>
                <a:ext cx="6840760" cy="1414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1+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1+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    =1+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−1×−2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−1×−2×−3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+…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   </m:t>
                      </m:r>
                      <m:r>
                        <a:rPr lang="en-GB" b="1" i="1" smtClean="0"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latin typeface="Cambria Math"/>
                        </a:rPr>
                        <m:t>𝟏</m:t>
                      </m:r>
                      <m:r>
                        <a:rPr lang="en-GB" b="1" i="1" smtClean="0">
                          <a:latin typeface="Cambria Math"/>
                        </a:rPr>
                        <m:t>−</m:t>
                      </m:r>
                      <m:r>
                        <a:rPr lang="en-GB" b="1" i="1" smtClean="0">
                          <a:latin typeface="Cambria Math"/>
                        </a:rPr>
                        <m:t>𝒙</m:t>
                      </m:r>
                      <m:r>
                        <a:rPr lang="en-GB" b="1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/>
                            </a:rPr>
                            <m:t>𝟑</m:t>
                          </m:r>
                        </m:sup>
                      </m:sSup>
                      <m:r>
                        <a:rPr lang="en-GB" b="1" i="1" smtClean="0">
                          <a:latin typeface="Cambria Math"/>
                        </a:rPr>
                        <m:t>+…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797702"/>
                <a:ext cx="6840760" cy="141474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3528" y="1556792"/>
                <a:ext cx="82089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Binomial expansions,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GB" dirty="0"/>
                  <a:t> is either negative or fractions, are infinitely long.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556792"/>
                <a:ext cx="8208912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594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67544" y="4446239"/>
                <a:ext cx="7056784" cy="3954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And the first four terms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/>
                          </a:rPr>
                          <m:t>1−3</m:t>
                        </m:r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</m:ra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446239"/>
                <a:ext cx="7056784" cy="395429"/>
              </a:xfrm>
              <a:prstGeom prst="rect">
                <a:avLst/>
              </a:prstGeom>
              <a:blipFill rotWithShape="1">
                <a:blip r:embed="rId6"/>
                <a:stretch>
                  <a:fillRect b="-449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39552" y="4841668"/>
                <a:ext cx="6840760" cy="17116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/>
                            </a:rPr>
                            <m:t>1−3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1−3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          =1+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/>
                            </a:rPr>
                            <m:t>−3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/>
                            </a:rPr>
                            <m:t>×−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−3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/>
                            </a:rPr>
                            <m:t>×−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/>
                            </a:rPr>
                            <m:t>×−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−3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+…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          </m:t>
                      </m:r>
                      <m:r>
                        <a:rPr lang="en-GB" b="1" i="1" smtClean="0"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latin typeface="Cambria Math"/>
                        </a:rPr>
                        <m:t>𝟏</m:t>
                      </m:r>
                      <m:r>
                        <a:rPr lang="en-GB" b="1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𝟑</m:t>
                          </m:r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GB" b="1" i="1" smtClean="0">
                          <a:latin typeface="Cambria Math"/>
                        </a:rPr>
                        <m:t>𝒙</m:t>
                      </m:r>
                      <m:r>
                        <a:rPr lang="en-GB" b="1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𝟗</m:t>
                          </m:r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𝟖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𝟐𝟕</m:t>
                          </m:r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𝟏𝟔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/>
                            </a:rPr>
                            <m:t>𝟑</m:t>
                          </m:r>
                        </m:sup>
                      </m:sSup>
                      <m:r>
                        <a:rPr lang="en-GB" b="1" i="1" smtClean="0">
                          <a:latin typeface="Cambria Math"/>
                        </a:rPr>
                        <m:t>−…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4841668"/>
                <a:ext cx="6840760" cy="171162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467544" y="2567252"/>
            <a:ext cx="7056784" cy="16451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770" y="4841668"/>
            <a:ext cx="7056784" cy="16451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1105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When are infinite expansions valid?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51520" y="764704"/>
            <a:ext cx="8208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Our expansion might be an infinite number of terms. If so, the result must converge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11560" y="1170527"/>
                <a:ext cx="6840760" cy="141474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1+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1+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    =1+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−1×−2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−1×−2×−3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+…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   </m:t>
                      </m:r>
                      <m:r>
                        <a:rPr lang="en-GB" b="1" i="1" smtClean="0"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latin typeface="Cambria Math"/>
                        </a:rPr>
                        <m:t>𝟏</m:t>
                      </m:r>
                      <m:r>
                        <a:rPr lang="en-GB" b="1" i="1" smtClean="0">
                          <a:latin typeface="Cambria Math"/>
                        </a:rPr>
                        <m:t>−</m:t>
                      </m:r>
                      <m:r>
                        <a:rPr lang="en-GB" b="1" i="1" smtClean="0">
                          <a:latin typeface="Cambria Math"/>
                        </a:rPr>
                        <m:t>𝒙</m:t>
                      </m:r>
                      <m:r>
                        <a:rPr lang="en-GB" b="1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/>
                            </a:rPr>
                            <m:t>𝟑</m:t>
                          </m:r>
                        </m:sup>
                      </m:sSup>
                      <m:r>
                        <a:rPr lang="en-GB" b="1" i="1" smtClean="0">
                          <a:latin typeface="Cambria Math"/>
                        </a:rPr>
                        <m:t>+…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170527"/>
                <a:ext cx="6840760" cy="141474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7544" y="2852936"/>
                <a:ext cx="7953442" cy="3530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What would happen in the expansion if:</a:t>
                </a:r>
              </a:p>
              <a:p>
                <a:r>
                  <a:rPr lang="en-GB" dirty="0"/>
                  <a:t>a)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&gt;1</m:t>
                    </m:r>
                  </m:oMath>
                </a14:m>
                <a:r>
                  <a:rPr lang="en-GB" dirty="0"/>
                  <a:t>   :   e.g.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1−2+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+…</m:t>
                    </m:r>
                  </m:oMath>
                </a14:m>
                <a:r>
                  <a:rPr lang="en-GB" dirty="0"/>
                  <a:t>  This diverges, so expansion is not valid. </a:t>
                </a:r>
              </a:p>
              <a:p>
                <a:r>
                  <a:rPr lang="en-GB" dirty="0"/>
                  <a:t>b)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0&lt;</m:t>
                    </m:r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&lt;1</m:t>
                    </m:r>
                  </m:oMath>
                </a14:m>
                <a:r>
                  <a:rPr lang="en-GB" dirty="0"/>
                  <a:t>:     </a:t>
                </a:r>
                <a:r>
                  <a:rPr lang="en-GB" dirty="0" err="1"/>
                  <a:t>e.g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1−0.5+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0.5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0.5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+…</m:t>
                    </m:r>
                  </m:oMath>
                </a14:m>
                <a:r>
                  <a:rPr lang="en-GB" dirty="0"/>
                  <a:t>  This converges, as the terms</a:t>
                </a:r>
                <a:br>
                  <a:rPr lang="en-GB" dirty="0"/>
                </a:br>
                <a:r>
                  <a:rPr lang="en-GB" dirty="0"/>
                  <a:t>                                become smaller each time.</a:t>
                </a:r>
              </a:p>
              <a:p>
                <a:r>
                  <a:rPr lang="en-GB" dirty="0"/>
                  <a:t>c)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−1&lt;</m:t>
                    </m:r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&lt;0</m:t>
                    </m:r>
                  </m:oMath>
                </a14:m>
                <a:r>
                  <a:rPr lang="en-GB" dirty="0"/>
                  <a:t>:   Again, this converges.</a:t>
                </a:r>
              </a:p>
              <a:p>
                <a:r>
                  <a:rPr lang="en-GB" dirty="0"/>
                  <a:t>d)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=1</m:t>
                    </m:r>
                  </m:oMath>
                </a14:m>
                <a:r>
                  <a:rPr lang="en-GB" dirty="0"/>
                  <a:t>    :  This would suggest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1−1+1−1+1−…=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/>
                  <a:t> ! Indeed in</a:t>
                </a:r>
                <a:br>
                  <a:rPr lang="en-GB" dirty="0"/>
                </a:br>
                <a:r>
                  <a:rPr lang="en-GB" dirty="0"/>
                  <a:t>                      some branches of mathematics this result is valid, but for the purposes</a:t>
                </a:r>
                <a:br>
                  <a:rPr lang="en-GB" dirty="0"/>
                </a:br>
                <a:r>
                  <a:rPr lang="en-GB" dirty="0"/>
                  <a:t>                      of A Level this expansion is not valid.</a:t>
                </a:r>
              </a:p>
              <a:p>
                <a:endParaRPr lang="en-GB" dirty="0"/>
              </a:p>
              <a:p>
                <a:r>
                  <a:rPr lang="en-GB" dirty="0"/>
                  <a:t>Therefore requirement 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/>
                        </a:rPr>
                        <m:t>−</m:t>
                      </m:r>
                      <m:r>
                        <a:rPr lang="en-GB" b="1" i="1" smtClean="0">
                          <a:latin typeface="Cambria Math"/>
                        </a:rPr>
                        <m:t>𝟏</m:t>
                      </m:r>
                      <m:r>
                        <a:rPr lang="en-GB" b="1" i="1" smtClean="0">
                          <a:latin typeface="Cambria Math"/>
                        </a:rPr>
                        <m:t>&lt;</m:t>
                      </m:r>
                      <m:r>
                        <a:rPr lang="en-GB" b="1" i="1" smtClean="0">
                          <a:latin typeface="Cambria Math"/>
                        </a:rPr>
                        <m:t>𝒙</m:t>
                      </m:r>
                      <m:r>
                        <a:rPr lang="en-GB" b="1" i="1" smtClean="0">
                          <a:latin typeface="Cambria Math"/>
                        </a:rPr>
                        <m:t>&lt;</m:t>
                      </m:r>
                      <m:r>
                        <a:rPr lang="en-GB" b="1" i="1" smtClean="0">
                          <a:latin typeface="Cambria Math"/>
                        </a:rPr>
                        <m:t>𝟏</m:t>
                      </m:r>
                      <m:r>
                        <a:rPr lang="en-GB" b="1" i="1" smtClean="0">
                          <a:latin typeface="Cambria Math"/>
                        </a:rPr>
                        <m:t>      </m:t>
                      </m:r>
                    </m:oMath>
                  </m:oMathPara>
                </a14:m>
                <a:endParaRPr lang="en-GB" b="1" i="1" dirty="0">
                  <a:latin typeface="Cambria Math"/>
                </a:endParaRPr>
              </a:p>
              <a:p>
                <a:r>
                  <a:rPr lang="en-GB" b="1" dirty="0"/>
                  <a:t>which we’d typically write 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GB" b="1" i="1" smtClean="0">
                        <a:latin typeface="Cambria Math"/>
                      </a:rPr>
                      <m:t>&lt;</m:t>
                    </m:r>
                    <m:r>
                      <a:rPr lang="en-GB" b="1" i="1" smtClean="0">
                        <a:latin typeface="Cambria Math"/>
                      </a:rPr>
                      <m:t>𝟏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852936"/>
                <a:ext cx="7953442" cy="3530454"/>
              </a:xfrm>
              <a:prstGeom prst="rect">
                <a:avLst/>
              </a:prstGeom>
              <a:blipFill>
                <a:blip r:embed="rId3"/>
                <a:stretch>
                  <a:fillRect l="-690" t="-864" r="-230" b="-19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1691680" y="3166237"/>
            <a:ext cx="7008975" cy="27892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1979712" y="3445164"/>
            <a:ext cx="6720943" cy="5599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1720" y="4005064"/>
            <a:ext cx="6648935" cy="3175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79" y="4322486"/>
            <a:ext cx="7008975" cy="90658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874" y="5759141"/>
            <a:ext cx="3762094" cy="6242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12248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When are infinite expansions valid?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51520" y="764704"/>
            <a:ext cx="8208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Expansions are allowed to infinite. However, the result must converge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7544" y="2852936"/>
                <a:ext cx="7704856" cy="1443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This time, what do you think needs to be between -1 and 1 for the expansion to be valid?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/>
                            </a:rPr>
                            <m:t>𝟑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GB" b="1" i="1" smtClean="0">
                          <a:latin typeface="Cambria Math"/>
                        </a:rPr>
                        <m:t>&lt;</m:t>
                      </m:r>
                      <m:r>
                        <a:rPr lang="en-GB" b="1" i="1" smtClean="0">
                          <a:latin typeface="Cambria Math"/>
                        </a:rPr>
                        <m:t>𝟏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/>
                        </a:rPr>
                        <m:t>→</m:t>
                      </m:r>
                      <m:d>
                        <m:dPr>
                          <m:begChr m:val="|"/>
                          <m:endChr m:val="|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GB" b="1" i="1" smtClean="0">
                          <a:latin typeface="Cambria Math"/>
                        </a:rPr>
                        <m:t>&lt;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852936"/>
                <a:ext cx="7704856" cy="1443729"/>
              </a:xfrm>
              <a:prstGeom prst="rect">
                <a:avLst/>
              </a:prstGeom>
              <a:blipFill rotWithShape="1">
                <a:blip r:embed="rId2"/>
                <a:stretch>
                  <a:fillRect l="-712" t="-21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815484" y="3435336"/>
            <a:ext cx="7008975" cy="86132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043608" y="1134036"/>
                <a:ext cx="6840760" cy="171162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/>
                            </a:rPr>
                            <m:t>1−3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1−3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          =1+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/>
                            </a:rPr>
                            <m:t>−3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/>
                            </a:rPr>
                            <m:t>×−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−3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/>
                            </a:rPr>
                            <m:t>×−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/>
                            </a:rPr>
                            <m:t>×−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−3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+…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          </m:t>
                      </m:r>
                      <m:r>
                        <a:rPr lang="en-GB" b="1" i="1" smtClean="0"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latin typeface="Cambria Math"/>
                        </a:rPr>
                        <m:t>𝟏</m:t>
                      </m:r>
                      <m:r>
                        <a:rPr lang="en-GB" b="1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𝟑</m:t>
                          </m:r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GB" b="1" i="1" smtClean="0">
                          <a:latin typeface="Cambria Math"/>
                        </a:rPr>
                        <m:t>𝒙</m:t>
                      </m:r>
                      <m:r>
                        <a:rPr lang="en-GB" b="1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𝟗</m:t>
                          </m:r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𝟖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𝟐𝟕</m:t>
                          </m:r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𝟏𝟔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/>
                            </a:rPr>
                            <m:t>𝟑</m:t>
                          </m:r>
                        </m:sup>
                      </m:sSup>
                      <m:r>
                        <a:rPr lang="en-GB" b="1" i="1" smtClean="0">
                          <a:latin typeface="Cambria Math"/>
                        </a:rPr>
                        <m:t>−…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1134036"/>
                <a:ext cx="6840760" cy="171162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104498" y="4630672"/>
                <a:ext cx="5203806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/>
                  <a:t> An infinite expansion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1+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dirty="0"/>
                  <a:t> is valid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/>
                      </a:rPr>
                      <m:t>&lt;1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498" y="4630672"/>
                <a:ext cx="5203806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699" t="-6250" b="-218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42F9433-87E7-4195-84F3-1AE571619684}"/>
              </a:ext>
            </a:extLst>
          </p:cNvPr>
          <p:cNvSpPr txBox="1"/>
          <p:nvPr/>
        </p:nvSpPr>
        <p:spPr>
          <a:xfrm>
            <a:off x="537132" y="5207935"/>
            <a:ext cx="2808312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Quickfire Examples: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4994DD-6D08-4227-B7DB-116969AC300E}"/>
                  </a:ext>
                </a:extLst>
              </p:cNvPr>
              <p:cNvSpPr txBox="1"/>
              <p:nvPr/>
            </p:nvSpPr>
            <p:spPr>
              <a:xfrm>
                <a:off x="526499" y="5630915"/>
                <a:ext cx="32427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Expansion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1+2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dirty="0"/>
                  <a:t> valid if: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4994DD-6D08-4227-B7DB-116969AC3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99" y="5630915"/>
                <a:ext cx="3242780" cy="369332"/>
              </a:xfrm>
              <a:prstGeom prst="rect">
                <a:avLst/>
              </a:prstGeom>
              <a:blipFill>
                <a:blip r:embed="rId5"/>
                <a:stretch>
                  <a:fillRect l="-1504" t="-10000" r="-1128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3155F84-378B-4CC7-8BF7-1EF006F54667}"/>
                  </a:ext>
                </a:extLst>
              </p:cNvPr>
              <p:cNvSpPr txBox="1"/>
              <p:nvPr/>
            </p:nvSpPr>
            <p:spPr>
              <a:xfrm>
                <a:off x="537132" y="5976519"/>
                <a:ext cx="32427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Expansion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GB" dirty="0"/>
                  <a:t> valid if: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3155F84-378B-4CC7-8BF7-1EF006F54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32" y="5976519"/>
                <a:ext cx="3242780" cy="369332"/>
              </a:xfrm>
              <a:prstGeom prst="rect">
                <a:avLst/>
              </a:prstGeom>
              <a:blipFill>
                <a:blip r:embed="rId6"/>
                <a:stretch>
                  <a:fillRect l="-1504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FCF8BCD-7F0F-4D7E-8EFF-4B9A5F366205}"/>
                  </a:ext>
                </a:extLst>
              </p:cNvPr>
              <p:cNvSpPr txBox="1"/>
              <p:nvPr/>
            </p:nvSpPr>
            <p:spPr>
              <a:xfrm>
                <a:off x="526499" y="6226429"/>
                <a:ext cx="3242780" cy="636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Expansion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GB" dirty="0"/>
                  <a:t> valid if: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FCF8BCD-7F0F-4D7E-8EFF-4B9A5F366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99" y="6226429"/>
                <a:ext cx="3242780" cy="636521"/>
              </a:xfrm>
              <a:prstGeom prst="rect">
                <a:avLst/>
              </a:prstGeom>
              <a:blipFill>
                <a:blip r:embed="rId7"/>
                <a:stretch>
                  <a:fillRect l="-1504" b="-38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ACCFAE-E6E9-4937-A59A-1486B208FC4D}"/>
                  </a:ext>
                </a:extLst>
              </p:cNvPr>
              <p:cNvSpPr txBox="1"/>
              <p:nvPr/>
            </p:nvSpPr>
            <p:spPr>
              <a:xfrm>
                <a:off x="4046678" y="5502839"/>
                <a:ext cx="2232248" cy="495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   →   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ACCFAE-E6E9-4937-A59A-1486B208F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6678" y="5502839"/>
                <a:ext cx="2232248" cy="495649"/>
              </a:xfrm>
              <a:prstGeom prst="rect">
                <a:avLst/>
              </a:prstGeom>
              <a:blipFill>
                <a:blip r:embed="rId8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BB2E8E4-56E1-42E7-BEBD-2958EE73DC95}"/>
                  </a:ext>
                </a:extLst>
              </p:cNvPr>
              <p:cNvSpPr txBox="1"/>
              <p:nvPr/>
            </p:nvSpPr>
            <p:spPr>
              <a:xfrm>
                <a:off x="4057311" y="5945257"/>
                <a:ext cx="22322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|&lt;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BB2E8E4-56E1-42E7-BEBD-2958EE73D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311" y="5945257"/>
                <a:ext cx="2232248" cy="307777"/>
              </a:xfrm>
              <a:prstGeom prst="rect">
                <a:avLst/>
              </a:prstGeom>
              <a:blipFill>
                <a:blip r:embed="rId9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6F886E-F161-450C-B274-DE2DA3500A49}"/>
                  </a:ext>
                </a:extLst>
              </p:cNvPr>
              <p:cNvSpPr txBox="1"/>
              <p:nvPr/>
            </p:nvSpPr>
            <p:spPr>
              <a:xfrm>
                <a:off x="4046678" y="6345851"/>
                <a:ext cx="2232248" cy="502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   →   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6F886E-F161-450C-B274-DE2DA3500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6678" y="6345851"/>
                <a:ext cx="2232248" cy="5028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224B818-8720-4468-B414-E5500B5BB46F}"/>
                  </a:ext>
                </a:extLst>
              </p:cNvPr>
              <p:cNvSpPr txBox="1"/>
              <p:nvPr/>
            </p:nvSpPr>
            <p:spPr>
              <a:xfrm>
                <a:off x="6579716" y="5156248"/>
                <a:ext cx="2400647" cy="837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Expansion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dirty="0"/>
                  <a:t> valid if: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224B818-8720-4468-B414-E5500B5BB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9716" y="5156248"/>
                <a:ext cx="2400647" cy="837986"/>
              </a:xfrm>
              <a:prstGeom prst="rect">
                <a:avLst/>
              </a:prstGeom>
              <a:blipFill>
                <a:blip r:embed="rId11"/>
                <a:stretch>
                  <a:fillRect l="-2030" t="-4380" b="-36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E4E87E4-7EAF-4F46-957A-CBF0663DD56F}"/>
                  </a:ext>
                </a:extLst>
              </p:cNvPr>
              <p:cNvSpPr txBox="1"/>
              <p:nvPr/>
            </p:nvSpPr>
            <p:spPr>
              <a:xfrm>
                <a:off x="6663915" y="6113399"/>
                <a:ext cx="2232248" cy="521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num>
                            <m:den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   →   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E4E87E4-7EAF-4F46-957A-CBF0663DD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915" y="6113399"/>
                <a:ext cx="2232248" cy="52142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D1D653C-2A90-4D8A-A2A9-E49C89F566D8}"/>
              </a:ext>
            </a:extLst>
          </p:cNvPr>
          <p:cNvCxnSpPr/>
          <p:nvPr/>
        </p:nvCxnSpPr>
        <p:spPr>
          <a:xfrm>
            <a:off x="6300192" y="5227549"/>
            <a:ext cx="0" cy="13697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46295EB-454A-4BB1-8090-2C40749285F8}"/>
              </a:ext>
            </a:extLst>
          </p:cNvPr>
          <p:cNvSpPr/>
          <p:nvPr/>
        </p:nvSpPr>
        <p:spPr>
          <a:xfrm>
            <a:off x="4046489" y="5454401"/>
            <a:ext cx="2049512" cy="5146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210BFA-FFBF-4CA6-B736-7318C8E26236}"/>
              </a:ext>
            </a:extLst>
          </p:cNvPr>
          <p:cNvSpPr/>
          <p:nvPr/>
        </p:nvSpPr>
        <p:spPr>
          <a:xfrm>
            <a:off x="4035856" y="5961547"/>
            <a:ext cx="2049512" cy="3754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270E9A-F802-4E7C-8E37-D8BDF96CC533}"/>
              </a:ext>
            </a:extLst>
          </p:cNvPr>
          <p:cNvSpPr/>
          <p:nvPr/>
        </p:nvSpPr>
        <p:spPr>
          <a:xfrm>
            <a:off x="4035856" y="6337006"/>
            <a:ext cx="2049512" cy="4784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F7B807-6620-4828-B870-6CA478070596}"/>
              </a:ext>
            </a:extLst>
          </p:cNvPr>
          <p:cNvSpPr/>
          <p:nvPr/>
        </p:nvSpPr>
        <p:spPr>
          <a:xfrm>
            <a:off x="6629082" y="6052543"/>
            <a:ext cx="2049512" cy="60343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628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6" grpId="0" animBg="1"/>
      <p:bldP spid="9" grpId="0"/>
      <p:bldP spid="12" grpId="0"/>
      <p:bldP spid="15" grpId="0"/>
      <p:bldP spid="10" grpId="0"/>
      <p:bldP spid="16" grpId="0"/>
      <p:bldP spid="18" grpId="0"/>
      <p:bldP spid="19" grpId="0"/>
      <p:bldP spid="20" grpId="0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78" y="1055472"/>
            <a:ext cx="7986342" cy="144016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Combining Expansions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362178" y="695432"/>
            <a:ext cx="2736304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C4 June 2013 Q2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95736" y="2544480"/>
                <a:ext cx="4968334" cy="910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1+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den>
                          </m:f>
                        </m:e>
                      </m:rad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1+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2544480"/>
                <a:ext cx="4968334" cy="91069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406457" y="2544480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Firstly express as a product: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2678" y="3455179"/>
                <a:ext cx="8064896" cy="3405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How many terms do we need in each expansion?</a:t>
                </a:r>
              </a:p>
              <a:p>
                <a:r>
                  <a:rPr lang="en-GB" sz="1600" b="1" dirty="0"/>
                  <a:t>We don’t need beyond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 smtClean="0"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GB" sz="16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sz="1600" b="1" dirty="0"/>
                  <a:t> in each, because in the product other terms would have a power higher than 2.</a:t>
                </a:r>
              </a:p>
              <a:p>
                <a:r>
                  <a:rPr lang="en-GB" sz="1600" dirty="0"/>
                  <a:t>Completing: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/>
                                </a:rPr>
                                <m:t>1+</m:t>
                              </m:r>
                              <m:r>
                                <a:rPr lang="en-GB" sz="16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600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sz="1600" b="0" i="1" smtClean="0">
                          <a:latin typeface="Cambria Math"/>
                        </a:rPr>
                        <m:t>=1+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GB" sz="1600" b="0" i="1" smtClean="0">
                          <a:latin typeface="Cambria Math"/>
                        </a:rPr>
                        <m:t>𝑥</m:t>
                      </m:r>
                      <m:r>
                        <a:rPr lang="en-GB" sz="16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600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GB" sz="1600" b="0" i="1" smtClean="0">
                              <a:latin typeface="Cambria Math"/>
                            </a:rPr>
                            <m:t>×−</m:t>
                          </m:r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600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/>
                        </a:rPr>
                        <m:t>    =1+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GB" sz="1600" b="0" i="1" smtClean="0">
                          <a:latin typeface="Cambria Math"/>
                        </a:rPr>
                        <m:t>𝑥</m:t>
                      </m:r>
                      <m:r>
                        <a:rPr lang="en-GB" sz="1600" b="0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8</m:t>
                          </m:r>
                        </m:den>
                      </m:f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/>
                        </a:rPr>
                        <m:t>+…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GB" sz="16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600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sz="1600" b="0" i="1" smtClean="0">
                          <a:latin typeface="Cambria Math"/>
                        </a:rPr>
                        <m:t>=1+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600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GB" sz="16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GB" sz="16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6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GB" sz="1600" i="1">
                              <a:latin typeface="Cambria Math"/>
                            </a:rPr>
                            <m:t>×−</m:t>
                          </m:r>
                          <m:f>
                            <m:f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16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>
                            <a:rPr lang="en-GB" sz="1600" i="1">
                              <a:latin typeface="Cambria Math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GB" sz="16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/>
                        </a:rPr>
                        <m:t>=1+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GB" sz="1600" b="0" i="1" smtClean="0">
                          <a:latin typeface="Cambria Math"/>
                        </a:rPr>
                        <m:t>𝑥</m:t>
                      </m:r>
                      <m:r>
                        <a:rPr lang="en-GB" sz="16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8</m:t>
                          </m:r>
                        </m:den>
                      </m:f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/>
                        </a:rPr>
                        <m:t>−…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1+</m:t>
                          </m:r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600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GB" sz="16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600" b="0" i="1" smtClean="0">
                                  <a:latin typeface="Cambria Math"/>
                                </a:rPr>
                                <m:t>8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/>
                            </a:rPr>
                            <m:t>1+</m:t>
                          </m:r>
                          <m:f>
                            <m:f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6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GB" sz="1600" i="1">
                              <a:latin typeface="Cambria Math"/>
                            </a:rPr>
                            <m:t>𝑥</m:t>
                          </m:r>
                          <m:r>
                            <a:rPr lang="en-GB" sz="1600" i="1"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i="1"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1600" i="1">
                                  <a:latin typeface="Cambria Math"/>
                                </a:rPr>
                                <m:t>8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GB" sz="1600" b="0" i="1" smtClean="0">
                          <a:latin typeface="Cambria Math"/>
                        </a:rPr>
                        <m:t>=1+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GB" sz="1600" b="0" i="1" smtClean="0">
                          <a:latin typeface="Cambria Math"/>
                        </a:rPr>
                        <m:t>𝑥</m:t>
                      </m:r>
                      <m:r>
                        <a:rPr lang="en-GB" sz="16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GB" sz="1600" b="0" i="1" smtClean="0">
                          <a:latin typeface="Cambria Math"/>
                        </a:rPr>
                        <m:t>𝑥</m:t>
                      </m:r>
                      <m:r>
                        <a:rPr lang="en-GB" sz="16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GB" sz="1600" b="0" i="1" smtClean="0">
                          <a:latin typeface="Cambria Math"/>
                        </a:rPr>
                        <m:t>𝑥</m:t>
                      </m:r>
                      <m:r>
                        <a:rPr lang="en-GB" sz="1600" b="0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8</m:t>
                          </m:r>
                        </m:den>
                      </m:f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8</m:t>
                          </m:r>
                        </m:den>
                      </m:f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/>
                        </a:rPr>
                        <m:t>+…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                                                                  =1+</m:t>
                      </m:r>
                      <m:r>
                        <a:rPr lang="en-GB" sz="1600" b="0" i="1" smtClean="0">
                          <a:latin typeface="Cambria Math"/>
                        </a:rPr>
                        <m:t>𝑥</m:t>
                      </m:r>
                      <m:r>
                        <a:rPr lang="en-GB" sz="16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78" y="3455179"/>
                <a:ext cx="8064896" cy="3405228"/>
              </a:xfrm>
              <a:prstGeom prst="rect">
                <a:avLst/>
              </a:prstGeom>
              <a:blipFill rotWithShape="1">
                <a:blip r:embed="rId4"/>
                <a:stretch>
                  <a:fillRect l="-454" t="-5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3295692" y="2537873"/>
            <a:ext cx="3004500" cy="8985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5322" y="3789040"/>
            <a:ext cx="8032251" cy="4365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5163" y="4509120"/>
            <a:ext cx="8032251" cy="2348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3347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95536" y="743736"/>
                <a:ext cx="7056784" cy="79053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the binomial expansion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1+4</m:t>
                                </m:r>
                                <m:r>
                                  <a:rPr lang="en-GB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dirty="0"/>
                  <a:t> up to an including the term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dirty="0"/>
                  <a:t>. State the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for which the expansion is valid.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743736"/>
                <a:ext cx="7056784" cy="790537"/>
              </a:xfrm>
              <a:prstGeom prst="rect">
                <a:avLst/>
              </a:prstGeom>
              <a:blipFill rotWithShape="1">
                <a:blip r:embed="rId2"/>
                <a:stretch>
                  <a:fillRect b="-194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95536" y="1700808"/>
                <a:ext cx="7056784" cy="1051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GB" b="1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/>
                                </a:rPr>
                                <m:t>𝟒</m:t>
                              </m:r>
                              <m:r>
                                <a:rPr lang="en-GB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latin typeface="Cambria Math"/>
                        </a:rPr>
                        <m:t>𝟏</m:t>
                      </m:r>
                      <m:r>
                        <a:rPr lang="en-GB" b="1" i="1" smtClean="0">
                          <a:latin typeface="Cambria Math"/>
                        </a:rPr>
                        <m:t>−</m:t>
                      </m:r>
                      <m:r>
                        <a:rPr lang="en-GB" b="1" i="1" smtClean="0">
                          <a:latin typeface="Cambria Math"/>
                        </a:rPr>
                        <m:t>𝟖</m:t>
                      </m:r>
                      <m:r>
                        <a:rPr lang="en-GB" b="1" i="1" smtClean="0">
                          <a:latin typeface="Cambria Math"/>
                        </a:rPr>
                        <m:t>𝒙</m:t>
                      </m:r>
                      <m:r>
                        <a:rPr lang="en-GB" b="1" i="1" smtClean="0">
                          <a:latin typeface="Cambria Math"/>
                        </a:rPr>
                        <m:t>+</m:t>
                      </m:r>
                      <m:r>
                        <a:rPr lang="en-GB" b="1" i="1" smtClean="0">
                          <a:latin typeface="Cambria Math"/>
                        </a:rPr>
                        <m:t>𝟒𝟖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/>
                        </a:rPr>
                        <m:t>−</m:t>
                      </m:r>
                      <m:r>
                        <a:rPr lang="en-GB" b="1" i="1" smtClean="0">
                          <a:latin typeface="Cambria Math"/>
                        </a:rPr>
                        <m:t>𝟐𝟓𝟔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/>
                            </a:rPr>
                            <m:t>𝟑</m:t>
                          </m:r>
                        </m:sup>
                      </m:sSup>
                      <m:r>
                        <a:rPr lang="en-GB" b="1" i="1" smtClean="0">
                          <a:latin typeface="Cambria Math"/>
                        </a:rPr>
                        <m:t>+…</m:t>
                      </m:r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Expand valid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/>
                          </a:rPr>
                          <m:t>𝟒</m:t>
                        </m:r>
                        <m:r>
                          <a:rPr lang="en-GB" b="1" i="1" smtClean="0"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GB" b="1" i="1" smtClean="0">
                        <a:latin typeface="Cambria Math"/>
                      </a:rPr>
                      <m:t>&lt;</m:t>
                    </m:r>
                    <m:r>
                      <a:rPr lang="en-GB" b="1" i="1" smtClean="0">
                        <a:latin typeface="Cambria Math"/>
                      </a:rPr>
                      <m:t>𝟏</m:t>
                    </m:r>
                  </m:oMath>
                </a14:m>
                <a:endParaRPr lang="en-GB" b="1" dirty="0"/>
              </a:p>
              <a:p>
                <a:r>
                  <a:rPr lang="en-GB" b="1" dirty="0"/>
                  <a:t>             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/>
                      </a:rPr>
                      <m:t>⇒</m:t>
                    </m:r>
                    <m:d>
                      <m:dPr>
                        <m:begChr m:val="|"/>
                        <m:endChr m:val="|"/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/>
                          </a:rPr>
                          <m:t>𝒙</m:t>
                        </m:r>
                      </m:e>
                    </m:d>
                    <m:r>
                      <a:rPr lang="en-GB" b="1" i="1" smtClean="0">
                        <a:latin typeface="Cambria Math"/>
                      </a:rPr>
                      <m:t>&lt;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GB" b="1" i="1" smtClean="0">
                            <a:latin typeface="Cambria Math"/>
                          </a:rPr>
                          <m:t>𝟒</m:t>
                        </m:r>
                      </m:den>
                    </m:f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700808"/>
                <a:ext cx="7056784" cy="1051313"/>
              </a:xfrm>
              <a:prstGeom prst="rect">
                <a:avLst/>
              </a:prstGeom>
              <a:blipFill rotWithShape="1">
                <a:blip r:embed="rId3"/>
                <a:stretch>
                  <a:fillRect l="-778" b="-5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5" y="3387687"/>
            <a:ext cx="6905625" cy="337185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5165" y="2996952"/>
            <a:ext cx="212672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C4 Edexcel Jan 2010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2776830"/>
            <a:ext cx="3086100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5580112" y="2748938"/>
            <a:ext cx="3408575" cy="169476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564" y="1563045"/>
            <a:ext cx="5879628" cy="11890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2138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Accuracy of an approximation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71600" y="980728"/>
                <a:ext cx="6984776" cy="10257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/>
                            </a:rPr>
                            <m:t>1+</m:t>
                          </m:r>
                          <m:r>
                            <a:rPr lang="en-GB" sz="3200" b="0" i="1" smtClean="0">
                              <a:latin typeface="Cambria Math"/>
                            </a:rPr>
                            <m:t>𝑥</m:t>
                          </m:r>
                        </m:den>
                      </m:f>
                      <m:r>
                        <a:rPr lang="en-GB" sz="3200" b="0" i="1" smtClean="0">
                          <a:latin typeface="Cambria Math"/>
                        </a:rPr>
                        <m:t>=1−</m:t>
                      </m:r>
                      <m:r>
                        <a:rPr lang="en-GB" sz="3200" b="0" i="1" smtClean="0">
                          <a:latin typeface="Cambria Math"/>
                        </a:rPr>
                        <m:t>𝑥</m:t>
                      </m:r>
                      <m:r>
                        <a:rPr lang="en-GB" sz="3200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GB" sz="3200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GB" sz="3200" b="0" i="1" smtClean="0">
                          <a:latin typeface="Cambria Math"/>
                        </a:rPr>
                        <m:t>−…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980728"/>
                <a:ext cx="6984776" cy="102573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3459" y="2276872"/>
                <a:ext cx="6912768" cy="2093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If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/>
                      </a:rPr>
                      <m:t>𝑥</m:t>
                    </m:r>
                    <m:r>
                      <a:rPr lang="en-GB" sz="2400" b="0" i="1" smtClean="0">
                        <a:latin typeface="Cambria Math"/>
                      </a:rPr>
                      <m:t>=0.01</m:t>
                    </m:r>
                  </m:oMath>
                </a14:m>
                <a:r>
                  <a:rPr lang="en-GB" sz="2400" dirty="0"/>
                  <a:t>, how accurate would the approximation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/>
                      </a:rPr>
                      <m:t>1−</m:t>
                    </m:r>
                    <m:r>
                      <a:rPr lang="en-GB" sz="2400" b="0" i="1" smtClean="0">
                        <a:latin typeface="Cambria Math"/>
                      </a:rPr>
                      <m:t>𝑥</m:t>
                    </m:r>
                    <m:r>
                      <a:rPr lang="en-GB" sz="2400" b="0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400" dirty="0"/>
                  <a:t> by for the value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sz="2400" b="0" i="1" smtClean="0">
                            <a:latin typeface="Cambria Math"/>
                          </a:rPr>
                          <m:t>1+</m:t>
                        </m:r>
                        <m:r>
                          <a:rPr lang="en-GB" sz="2400" b="0" i="1" smtClean="0">
                            <a:latin typeface="Cambria Math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sz="2400" dirty="0"/>
                  <a:t>?</a:t>
                </a:r>
              </a:p>
              <a:p>
                <a:endParaRPr lang="en-GB" sz="2400" b="1" dirty="0"/>
              </a:p>
              <a:p>
                <a:r>
                  <a:rPr lang="en-GB" sz="2400" b="1" dirty="0"/>
                  <a:t>Fairly accurate, as the values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GB" sz="24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GB" sz="2400" b="1" dirty="0"/>
                  <a:t> and beyond will be very small (consider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latin typeface="Cambria Math"/>
                          </a:rPr>
                          <m:t>𝟎</m:t>
                        </m:r>
                        <m:r>
                          <a:rPr lang="en-GB" sz="2400" b="1" i="1" smtClean="0">
                            <a:latin typeface="Cambria Math"/>
                          </a:rPr>
                          <m:t>.</m:t>
                        </m:r>
                        <m:r>
                          <a:rPr lang="en-GB" sz="2400" b="1" i="1" smtClean="0">
                            <a:latin typeface="Cambria Math"/>
                          </a:rPr>
                          <m:t>𝟎𝟏</m:t>
                        </m:r>
                      </m:e>
                      <m:sup>
                        <m:r>
                          <a:rPr lang="en-GB" sz="2400" b="1" i="1" smtClean="0">
                            <a:latin typeface="Cambria Math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GB" sz="2400" b="1" dirty="0"/>
                  <a:t> and so on).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59" y="2276872"/>
                <a:ext cx="6912768" cy="2093202"/>
              </a:xfrm>
              <a:prstGeom prst="rect">
                <a:avLst/>
              </a:prstGeom>
              <a:blipFill rotWithShape="1">
                <a:blip r:embed="rId3"/>
                <a:stretch>
                  <a:fillRect l="-1411" t="-2332" b="-6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23459" y="3429001"/>
            <a:ext cx="7448941" cy="136815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0042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Common Errors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28278" y="908720"/>
                <a:ext cx="6840760" cy="171162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/>
                            </a:rPr>
                            <m:t>1−3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1−3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          =1+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/>
                            </a:rPr>
                            <m:t>−3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/>
                            </a:rPr>
                            <m:t>×−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−3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/>
                            </a:rPr>
                            <m:t>×−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/>
                            </a:rPr>
                            <m:t>×−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−3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+…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          </m:t>
                      </m:r>
                      <m:r>
                        <a:rPr lang="en-GB" b="1" i="1" smtClean="0"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latin typeface="Cambria Math"/>
                        </a:rPr>
                        <m:t>𝟏</m:t>
                      </m:r>
                      <m:r>
                        <a:rPr lang="en-GB" b="1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𝟑</m:t>
                          </m:r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GB" b="1" i="1" smtClean="0">
                          <a:latin typeface="Cambria Math"/>
                        </a:rPr>
                        <m:t>𝒙</m:t>
                      </m:r>
                      <m:r>
                        <a:rPr lang="en-GB" b="1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𝟗</m:t>
                          </m:r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𝟖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𝟐𝟕</m:t>
                          </m:r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𝟏𝟔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/>
                            </a:rPr>
                            <m:t>𝟑</m:t>
                          </m:r>
                        </m:sup>
                      </m:sSup>
                      <m:r>
                        <a:rPr lang="en-GB" b="1" i="1" smtClean="0">
                          <a:latin typeface="Cambria Math"/>
                        </a:rPr>
                        <m:t>−…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278" y="908720"/>
                <a:ext cx="6840760" cy="171162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55576" y="2996952"/>
                <a:ext cx="777686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What errors do you think are easy to make?</a:t>
                </a:r>
                <a:br>
                  <a:rPr lang="en-GB" dirty="0"/>
                </a:br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Sign errors, 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−3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=−9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Not putting brackets around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−3</m:t>
                    </m:r>
                    <m:r>
                      <a:rPr lang="en-GB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, e.g.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−3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instead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−3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Dividing by say 3 instead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3!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996952"/>
                <a:ext cx="7776864" cy="1477328"/>
              </a:xfrm>
              <a:prstGeom prst="rect">
                <a:avLst/>
              </a:prstGeom>
              <a:blipFill rotWithShape="1">
                <a:blip r:embed="rId3"/>
                <a:stretch>
                  <a:fillRect l="-705" t="-2066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484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4.1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29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5E454C5-03D6-1AB8-ABD6-8953D1BC7251}"/>
              </a:ext>
            </a:extLst>
          </p:cNvPr>
          <p:cNvSpPr txBox="1"/>
          <p:nvPr/>
        </p:nvSpPr>
        <p:spPr>
          <a:xfrm>
            <a:off x="330862" y="1721384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58D46C-BDD8-751A-B348-8BBBDC656CF0}"/>
              </a:ext>
            </a:extLst>
          </p:cNvPr>
          <p:cNvSpPr/>
          <p:nvPr/>
        </p:nvSpPr>
        <p:spPr>
          <a:xfrm>
            <a:off x="278942" y="2153794"/>
            <a:ext cx="213604" cy="1855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AD0EC7-A867-D185-5B97-A2AD3703992E}"/>
                  </a:ext>
                </a:extLst>
              </p:cNvPr>
              <p:cNvSpPr txBox="1"/>
              <p:nvPr/>
            </p:nvSpPr>
            <p:spPr>
              <a:xfrm>
                <a:off x="515867" y="2036836"/>
                <a:ext cx="3907277" cy="33817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[STEP I 2011 Q6] Use the binomial expansion to show that the coefficient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n-GB" sz="1600" dirty="0"/>
                  <a:t> in the expansion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GB" sz="1600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r>
                  <a:rPr lang="en-GB" sz="1600" dirty="0"/>
                  <a:t>.</a:t>
                </a:r>
              </a:p>
              <a:p>
                <a:pPr marL="400050" indent="-400050">
                  <a:buAutoNum type="romanLcParenBoth"/>
                </a:pPr>
                <a:r>
                  <a:rPr lang="en-GB" sz="1600" dirty="0"/>
                  <a:t>Show that the coefficient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n-GB" sz="1600" dirty="0"/>
                  <a:t> in the expansion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1600" dirty="0"/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1600" dirty="0"/>
                  <a:t> and hence find the sum of the series</a:t>
                </a:r>
                <a:br>
                  <a:rPr lang="en-GB" sz="1600" dirty="0"/>
                </a:b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en-GB" sz="1600" dirty="0"/>
              </a:p>
              <a:p>
                <a:pPr marL="400050" indent="-400050">
                  <a:buAutoNum type="romanLcParenBoth"/>
                </a:pPr>
                <a:r>
                  <a:rPr lang="en-GB" sz="1600" dirty="0"/>
                  <a:t>Find the sum of the series</a:t>
                </a:r>
                <a:br>
                  <a:rPr lang="en-GB" sz="1600" dirty="0"/>
                </a:b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1+2+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+2+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endParaRPr lang="en-GB" sz="1600" dirty="0"/>
              </a:p>
              <a:p>
                <a:pPr marL="400050" indent="-400050">
                  <a:buAutoNum type="romanLcParenBoth"/>
                </a:pPr>
                <a:endParaRPr lang="en-GB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AD0EC7-A867-D185-5B97-A2AD37039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67" y="2036836"/>
                <a:ext cx="3907277" cy="3381760"/>
              </a:xfrm>
              <a:prstGeom prst="rect">
                <a:avLst/>
              </a:prstGeom>
              <a:blipFill>
                <a:blip r:embed="rId2"/>
                <a:stretch>
                  <a:fillRect l="-936" t="-541" r="-9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56FDE8F-CECB-3964-B77C-BCE63E99F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53" y="908720"/>
            <a:ext cx="7753350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D1EEBC4-E71F-E0D8-C662-6690288C5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65" y="764704"/>
            <a:ext cx="7781925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27617EE-5D75-5CBE-0CC0-45F2E705F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620688"/>
            <a:ext cx="7905750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5BFAD49-C87B-A228-4307-25193850B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94" y="647212"/>
            <a:ext cx="8364611" cy="616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61754</TotalTime>
  <Words>1121</Words>
  <Application>Microsoft Office PowerPoint</Application>
  <PresentationFormat>On-screen Show (4:3)</PresentationFormat>
  <Paragraphs>116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 Math</vt:lpstr>
      <vt:lpstr>Wingdings</vt:lpstr>
      <vt:lpstr>Office Theme</vt:lpstr>
      <vt:lpstr>P2 Chapter 4: Binomial Terms  Basic Binomials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2025-10-23T11:23:27Z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