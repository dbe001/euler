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547" r:id="rId5"/>
    <p:sldId id="634" r:id="rId6"/>
    <p:sldId id="635" r:id="rId7"/>
    <p:sldId id="636" r:id="rId8"/>
    <p:sldId id="637" r:id="rId9"/>
    <p:sldId id="549" r:id="rId10"/>
    <p:sldId id="543" r:id="rId11"/>
    <p:sldId id="550" r:id="rId12"/>
    <p:sldId id="551" r:id="rId13"/>
    <p:sldId id="54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F4429DE-69D1-4CF8-841D-B9C26A2A5A21}"/>
    <pc:docChg chg="delSld modSld">
      <pc:chgData name="Dieter Beaven" userId="9bbdb69f-69d0-4759-aa9b-5c090a2da237" providerId="ADAL" clId="{AF4429DE-69D1-4CF8-841D-B9C26A2A5A21}" dt="2025-10-23T11:27:16.385" v="4" actId="1036"/>
      <pc:docMkLst>
        <pc:docMk/>
      </pc:docMkLst>
      <pc:sldChg chg="addSp modSp mod">
        <pc:chgData name="Dieter Beaven" userId="9bbdb69f-69d0-4759-aa9b-5c090a2da237" providerId="ADAL" clId="{AF4429DE-69D1-4CF8-841D-B9C26A2A5A21}" dt="2025-10-23T11:27:16.385" v="4" actId="1036"/>
        <pc:sldMkLst>
          <pc:docMk/>
          <pc:sldMk cId="3458699803" sldId="545"/>
        </pc:sldMkLst>
        <pc:picChg chg="add mod">
          <ac:chgData name="Dieter Beaven" userId="9bbdb69f-69d0-4759-aa9b-5c090a2da237" providerId="ADAL" clId="{AF4429DE-69D1-4CF8-841D-B9C26A2A5A21}" dt="2025-10-23T11:27:16.385" v="4" actId="1036"/>
          <ac:picMkLst>
            <pc:docMk/>
            <pc:sldMk cId="3458699803" sldId="545"/>
            <ac:picMk id="6" creationId="{AA5BA079-8AC9-ABBB-1898-357E3BD761B5}"/>
          </ac:picMkLst>
        </pc:picChg>
      </pc:sldChg>
      <pc:sldChg chg="del">
        <pc:chgData name="Dieter Beaven" userId="9bbdb69f-69d0-4759-aa9b-5c090a2da237" providerId="ADAL" clId="{AF4429DE-69D1-4CF8-841D-B9C26A2A5A21}" dt="2025-10-23T11:27:09.847" v="2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CE79A1A-5410-4824-B974-082FA9D12CEE}"/>
    <pc:docChg chg="modSld">
      <pc:chgData name="Dieter Beaven" userId="9bbdb69f-69d0-4759-aa9b-5c090a2da237" providerId="ADAL" clId="{5CE79A1A-5410-4824-B974-082FA9D12CEE}" dt="2025-04-25T15:30:13.659" v="1" actId="20577"/>
      <pc:docMkLst>
        <pc:docMk/>
      </pc:docMkLst>
      <pc:sldChg chg="modSp mod">
        <pc:chgData name="Dieter Beaven" userId="9bbdb69f-69d0-4759-aa9b-5c090a2da237" providerId="ADAL" clId="{5CE79A1A-5410-4824-B974-082FA9D12CEE}" dt="2025-04-25T15:30:13.659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2C35AC9-69FD-4947-B16A-033754610A9D}"/>
    <pc:docChg chg="addSld modSld">
      <pc:chgData name="Dieter Beaven" userId="9bbdb69f-69d0-4759-aa9b-5c090a2da237" providerId="ADAL" clId="{12C35AC9-69FD-4947-B16A-033754610A9D}" dt="2025-05-13T15:14:14.926" v="41" actId="20577"/>
      <pc:docMkLst>
        <pc:docMk/>
      </pc:docMkLst>
      <pc:sldChg chg="modSp mod">
        <pc:chgData name="Dieter Beaven" userId="9bbdb69f-69d0-4759-aa9b-5c090a2da237" providerId="ADAL" clId="{12C35AC9-69FD-4947-B16A-033754610A9D}" dt="2025-05-13T15:13:00.336" v="27" actId="20577"/>
        <pc:sldMkLst>
          <pc:docMk/>
          <pc:sldMk cId="3991975165" sldId="547"/>
        </pc:sldMkLst>
      </pc:sldChg>
      <pc:sldChg chg="addSp modSp mod modAnim">
        <pc:chgData name="Dieter Beaven" userId="9bbdb69f-69d0-4759-aa9b-5c090a2da237" providerId="ADAL" clId="{12C35AC9-69FD-4947-B16A-033754610A9D}" dt="2025-05-13T15:14:14.926" v="41" actId="2057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2C35AC9-69FD-4947-B16A-033754610A9D}" dt="2025-05-13T15:13:32.093" v="28"/>
        <pc:sldMkLst>
          <pc:docMk/>
          <pc:sldMk cId="1669232352" sldId="634"/>
        </pc:sldMkLst>
      </pc:sldChg>
      <pc:sldChg chg="add">
        <pc:chgData name="Dieter Beaven" userId="9bbdb69f-69d0-4759-aa9b-5c090a2da237" providerId="ADAL" clId="{12C35AC9-69FD-4947-B16A-033754610A9D}" dt="2025-05-13T15:13:32.093" v="28"/>
        <pc:sldMkLst>
          <pc:docMk/>
          <pc:sldMk cId="578578086" sldId="635"/>
        </pc:sldMkLst>
      </pc:sldChg>
      <pc:sldChg chg="add">
        <pc:chgData name="Dieter Beaven" userId="9bbdb69f-69d0-4759-aa9b-5c090a2da237" providerId="ADAL" clId="{12C35AC9-69FD-4947-B16A-033754610A9D}" dt="2025-05-13T15:13:32.093" v="28"/>
        <pc:sldMkLst>
          <pc:docMk/>
          <pc:sldMk cId="1661076611" sldId="636"/>
        </pc:sldMkLst>
      </pc:sldChg>
      <pc:sldChg chg="add">
        <pc:chgData name="Dieter Beaven" userId="9bbdb69f-69d0-4759-aa9b-5c090a2da237" providerId="ADAL" clId="{12C35AC9-69FD-4947-B16A-033754610A9D}" dt="2025-05-13T15:13:32.093" v="28"/>
        <pc:sldMkLst>
          <pc:docMk/>
          <pc:sldMk cId="3215028577" sldId="637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60BF3A6B-65CB-4E49-B569-0EA6163D82E8}"/>
    <pc:docChg chg="custSel modSld">
      <pc:chgData name="Dieter Beaven" userId="9bbdb69f-69d0-4759-aa9b-5c090a2da237" providerId="ADAL" clId="{60BF3A6B-65CB-4E49-B569-0EA6163D82E8}" dt="2025-08-27T11:04:34.102" v="7" actId="1076"/>
      <pc:docMkLst>
        <pc:docMk/>
      </pc:docMkLst>
      <pc:sldChg chg="addSp modSp mod">
        <pc:chgData name="Dieter Beaven" userId="9bbdb69f-69d0-4759-aa9b-5c090a2da237" providerId="ADAL" clId="{60BF3A6B-65CB-4E49-B569-0EA6163D82E8}" dt="2025-08-27T11:03:05.338" v="1" actId="1076"/>
        <pc:sldMkLst>
          <pc:docMk/>
          <pc:sldMk cId="3896053727" sldId="543"/>
        </pc:sldMkLst>
      </pc:sldChg>
      <pc:sldChg chg="addSp delSp modSp mod">
        <pc:chgData name="Dieter Beaven" userId="9bbdb69f-69d0-4759-aa9b-5c090a2da237" providerId="ADAL" clId="{60BF3A6B-65CB-4E49-B569-0EA6163D82E8}" dt="2025-08-27T11:04:34.102" v="7" actId="1076"/>
        <pc:sldMkLst>
          <pc:docMk/>
          <pc:sldMk cId="4091202299" sldId="550"/>
        </pc:sldMkLst>
      </pc:sldChg>
      <pc:sldChg chg="addSp modSp mod">
        <pc:chgData name="Dieter Beaven" userId="9bbdb69f-69d0-4759-aa9b-5c090a2da237" providerId="ADAL" clId="{60BF3A6B-65CB-4E49-B569-0EA6163D82E8}" dt="2025-08-27T11:04:15.710" v="4" actId="1076"/>
        <pc:sldMkLst>
          <pc:docMk/>
          <pc:sldMk cId="3826585799" sldId="551"/>
        </pc:sldMkLst>
      </pc:sldChg>
    </pc:docChg>
  </pc:docChgLst>
  <pc:docChgLst>
    <pc:chgData name="Dieter Beaven" userId="9bbdb69f-69d0-4759-aa9b-5c090a2da237" providerId="ADAL" clId="{8C84B5C2-8CD8-4543-826A-29DD19B25E87}"/>
    <pc:docChg chg="modSld">
      <pc:chgData name="Dieter Beaven" userId="9bbdb69f-69d0-4759-aa9b-5c090a2da237" providerId="ADAL" clId="{8C84B5C2-8CD8-4543-826A-29DD19B25E87}" dt="2025-04-29T13:44:58.110" v="56" actId="20577"/>
      <pc:docMkLst>
        <pc:docMk/>
      </pc:docMkLst>
      <pc:sldChg chg="modSp mod">
        <pc:chgData name="Dieter Beaven" userId="9bbdb69f-69d0-4759-aa9b-5c090a2da237" providerId="ADAL" clId="{8C84B5C2-8CD8-4543-826A-29DD19B25E87}" dt="2025-04-29T13:44:58.110" v="56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8C84B5C2-8CD8-4543-826A-29DD19B25E87}" dt="2025-04-29T13:44:41.908" v="41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9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4: </a:t>
            </a:r>
            <a:r>
              <a:rPr lang="en-GB" dirty="0">
                <a:solidFill>
                  <a:schemeClr val="accent5"/>
                </a:solidFill>
              </a:rPr>
              <a:t>Binomial Terms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General Binomials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/>
                    <a:t>Dealing with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GB" sz="32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GB" sz="3200" b="0" i="1" smtClean="0">
                                  <a:latin typeface="Cambria Math"/>
                                </a:rPr>
                                <m:t>𝑏𝑥</m:t>
                              </m:r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9957" y="766768"/>
                <a:ext cx="8064896" cy="8620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first four terms in the binomial expansion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400" b="0" i="1" smtClean="0">
                            <a:latin typeface="Cambria Math"/>
                          </a:rPr>
                          <m:t>4+</m:t>
                        </m:r>
                        <m:r>
                          <a:rPr lang="en-GB" sz="2400" b="0" i="1" smtClean="0">
                            <a:latin typeface="Cambria Math"/>
                          </a:rPr>
                          <m:t>𝑥</m:t>
                        </m:r>
                      </m:e>
                    </m:rad>
                  </m:oMath>
                </a14:m>
                <a:endParaRPr lang="en-GB" sz="2400" b="0" dirty="0"/>
              </a:p>
              <a:p>
                <a:r>
                  <a:rPr lang="en-GB" sz="2400" dirty="0"/>
                  <a:t>State the values of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/>
                  <a:t> for which the expansion is valid.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57" y="766768"/>
                <a:ext cx="8064896" cy="862031"/>
              </a:xfrm>
              <a:prstGeom prst="rect">
                <a:avLst/>
              </a:prstGeom>
              <a:blipFill rotWithShape="1">
                <a:blip r:embed="rId3"/>
                <a:stretch>
                  <a:fillRect b="-606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99592" y="2090465"/>
                <a:ext cx="7848872" cy="4233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4+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4</m:t>
                                      </m:r>
                                    </m:den>
                                  </m:f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             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              =2(1+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b="0" i="1" smtClean="0">
                                  <a:latin typeface="Cambria Math"/>
                                </a:rPr>
                                <m:t>×−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b="0" i="1" smtClean="0">
                                  <a:latin typeface="Cambria Math"/>
                                </a:rPr>
                                <m:t>×−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             =2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1+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8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128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1024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/>
                            </a:rPr>
                            <m:t>−…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             =2+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64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512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−…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Valid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/>
                              </a:rPr>
                              <m:t>4</m:t>
                            </m:r>
                          </m:den>
                        </m:f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&lt;1   ⇒    </m:t>
                    </m:r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&lt;4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090465"/>
                <a:ext cx="7848872" cy="4233338"/>
              </a:xfrm>
              <a:prstGeom prst="rect">
                <a:avLst/>
              </a:prstGeom>
              <a:blipFill rotWithShape="1">
                <a:blip r:embed="rId4"/>
                <a:stretch>
                  <a:fillRect l="-699" b="-4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300192" y="2075829"/>
                <a:ext cx="2448272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We need it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1+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. So factorise the 4 out.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2075829"/>
                <a:ext cx="2448272" cy="923330"/>
              </a:xfrm>
              <a:prstGeom prst="rect">
                <a:avLst/>
              </a:prstGeom>
              <a:blipFill>
                <a:blip r:embed="rId5"/>
                <a:stretch>
                  <a:fillRect l="-1478" t="-2581" b="-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423712" y="1997636"/>
            <a:ext cx="2605662" cy="9291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711" y="2926818"/>
            <a:ext cx="2637561" cy="7858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711" y="3712684"/>
            <a:ext cx="5938091" cy="7381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711" y="4450815"/>
            <a:ext cx="5938091" cy="6059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2227" y="5056742"/>
            <a:ext cx="5949575" cy="6059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81" y="5717876"/>
            <a:ext cx="4608512" cy="6059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E2FDDE-4A8E-459B-BB40-AF6739D22782}"/>
                  </a:ext>
                </a:extLst>
              </p:cNvPr>
              <p:cNvSpPr txBox="1"/>
              <p:nvPr/>
            </p:nvSpPr>
            <p:spPr>
              <a:xfrm>
                <a:off x="6653408" y="6022219"/>
                <a:ext cx="2448272" cy="72244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Remember for the 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200" dirty="0"/>
                  <a:t> to be valid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sz="1200" dirty="0"/>
                  <a:t>. In this case the ‘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’ is in fact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E2FDDE-4A8E-459B-BB40-AF6739D22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408" y="6022219"/>
                <a:ext cx="2448272" cy="722442"/>
              </a:xfrm>
              <a:prstGeom prst="rect">
                <a:avLst/>
              </a:prstGeom>
              <a:blipFill>
                <a:blip r:embed="rId6"/>
                <a:stretch>
                  <a:fillRect r="-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23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 err="1"/>
                <a:t>Quickfire</a:t>
              </a:r>
              <a:r>
                <a:rPr lang="en-GB" sz="3200" dirty="0"/>
                <a:t> First Step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64704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would be the first step in finding the Binomial expansion of each of these?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72936" y="1934724"/>
                <a:ext cx="4249939" cy="3808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2+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−3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   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𝟖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9+2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   ⇒  </m:t>
                      </m:r>
                      <m:r>
                        <a:rPr lang="en-GB" b="1" i="1" smtClean="0">
                          <a:latin typeface="Cambria Math"/>
                        </a:rPr>
                        <m:t>𝟑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𝟗</m:t>
                                  </m:r>
                                </m:den>
                              </m:f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8−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     ⇒  </m:t>
                      </m:r>
                      <m:r>
                        <a:rPr lang="en-GB" b="1" i="1" smtClean="0">
                          <a:latin typeface="Cambria Math"/>
                        </a:rPr>
                        <m:t>𝟐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den>
                              </m:f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/>
                                </a:rPr>
                                <m:t>𝟑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5−2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−3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⇒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𝟐𝟓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𝟓</m:t>
                                  </m:r>
                                </m:den>
                              </m:f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16+3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  ⇒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𝟒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𝟏𝟔</m:t>
                                  </m:r>
                                </m:den>
                              </m:f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36" y="1934724"/>
                <a:ext cx="4249939" cy="38080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F78F159-0067-421F-A52D-F77AF201BA1A}"/>
              </a:ext>
            </a:extLst>
          </p:cNvPr>
          <p:cNvSpPr txBox="1"/>
          <p:nvPr/>
        </p:nvSpPr>
        <p:spPr>
          <a:xfrm>
            <a:off x="5188689" y="1437837"/>
            <a:ext cx="2818625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Binomial expansion valid if: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08A99F-E1FC-46EC-9A63-0337D0B7A6AE}"/>
                  </a:ext>
                </a:extLst>
              </p:cNvPr>
              <p:cNvSpPr txBox="1"/>
              <p:nvPr/>
            </p:nvSpPr>
            <p:spPr>
              <a:xfrm>
                <a:off x="4887091" y="2012524"/>
                <a:ext cx="2819340" cy="620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&lt;1   →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08A99F-E1FC-46EC-9A63-0337D0B7A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091" y="2012524"/>
                <a:ext cx="2819340" cy="6202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F8CDBF-BBD9-4E24-B3B9-F433D89D370F}"/>
                  </a:ext>
                </a:extLst>
              </p:cNvPr>
              <p:cNvSpPr txBox="1"/>
              <p:nvPr/>
            </p:nvSpPr>
            <p:spPr>
              <a:xfrm>
                <a:off x="4887091" y="2697456"/>
                <a:ext cx="2819340" cy="620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&lt;1   →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F8CDBF-BBD9-4E24-B3B9-F433D89D3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091" y="2697456"/>
                <a:ext cx="2819340" cy="6202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E00ECC-5DBB-4F3D-BA08-33A61641CD69}"/>
                  </a:ext>
                </a:extLst>
              </p:cNvPr>
              <p:cNvSpPr txBox="1"/>
              <p:nvPr/>
            </p:nvSpPr>
            <p:spPr>
              <a:xfrm>
                <a:off x="4887091" y="3455498"/>
                <a:ext cx="2819340" cy="620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&lt;1   →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E00ECC-5DBB-4F3D-BA08-33A61641C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091" y="3455498"/>
                <a:ext cx="2819340" cy="6202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0A8235-8A37-4B03-8BD0-ECE35BD8EF49}"/>
                  </a:ext>
                </a:extLst>
              </p:cNvPr>
              <p:cNvSpPr txBox="1"/>
              <p:nvPr/>
            </p:nvSpPr>
            <p:spPr>
              <a:xfrm>
                <a:off x="4887091" y="4249618"/>
                <a:ext cx="2819340" cy="620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&lt;1   →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0A8235-8A37-4B03-8BD0-ECE35BD8E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091" y="4249618"/>
                <a:ext cx="2819340" cy="6202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6DB727-2876-463F-8B39-2F507FCFB71C}"/>
                  </a:ext>
                </a:extLst>
              </p:cNvPr>
              <p:cNvSpPr txBox="1"/>
              <p:nvPr/>
            </p:nvSpPr>
            <p:spPr>
              <a:xfrm>
                <a:off x="4990043" y="4974953"/>
                <a:ext cx="2819340" cy="620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&lt;1   →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6DB727-2876-463F-8B39-2F507FCFB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043" y="4974953"/>
                <a:ext cx="2819340" cy="6202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590691" y="1856531"/>
            <a:ext cx="1715496" cy="7909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5241" y="2636912"/>
            <a:ext cx="1710945" cy="81858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0690" y="3455498"/>
            <a:ext cx="1715495" cy="7549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0689" y="4210492"/>
            <a:ext cx="1715496" cy="6804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3030" y="4869852"/>
            <a:ext cx="1946329" cy="8614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66F9A0-EEE3-4479-ADAF-3089958020D0}"/>
              </a:ext>
            </a:extLst>
          </p:cNvPr>
          <p:cNvSpPr/>
          <p:nvPr/>
        </p:nvSpPr>
        <p:spPr>
          <a:xfrm>
            <a:off x="5120807" y="1871027"/>
            <a:ext cx="2688576" cy="7909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F4E87C-CEE1-4CA7-8325-11AD2B3174AC}"/>
              </a:ext>
            </a:extLst>
          </p:cNvPr>
          <p:cNvSpPr/>
          <p:nvPr/>
        </p:nvSpPr>
        <p:spPr>
          <a:xfrm>
            <a:off x="5120807" y="2647507"/>
            <a:ext cx="2688576" cy="7909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3D4D8E-4614-434A-88D8-0258C94DBDD6}"/>
              </a:ext>
            </a:extLst>
          </p:cNvPr>
          <p:cNvSpPr/>
          <p:nvPr/>
        </p:nvSpPr>
        <p:spPr>
          <a:xfrm>
            <a:off x="5126963" y="3435479"/>
            <a:ext cx="2688576" cy="7856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9C8C93-A2B8-46C5-8129-7CEC0D8BBB43}"/>
              </a:ext>
            </a:extLst>
          </p:cNvPr>
          <p:cNvSpPr/>
          <p:nvPr/>
        </p:nvSpPr>
        <p:spPr>
          <a:xfrm>
            <a:off x="5120807" y="4211959"/>
            <a:ext cx="2688576" cy="67901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38E785-74DB-4E67-8298-E2B2C7312ECC}"/>
              </a:ext>
            </a:extLst>
          </p:cNvPr>
          <p:cNvSpPr/>
          <p:nvPr/>
        </p:nvSpPr>
        <p:spPr>
          <a:xfrm>
            <a:off x="5120807" y="4890976"/>
            <a:ext cx="2688576" cy="7734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7857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77" y="1089173"/>
            <a:ext cx="5217935" cy="199105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62177" y="695432"/>
            <a:ext cx="3993799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2013 (Withdrawn) Q1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83" y="3140968"/>
            <a:ext cx="5903328" cy="3673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626" y="5074054"/>
            <a:ext cx="3680155" cy="87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79512" y="3140968"/>
            <a:ext cx="5284114" cy="36731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13085" y="5051083"/>
            <a:ext cx="3530915" cy="8941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6107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4B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36048" y="662045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Pages 99-100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594754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20BC57-9537-47DC-9CF8-D5EA0B97268B}"/>
                  </a:ext>
                </a:extLst>
              </p:cNvPr>
              <p:cNvSpPr txBox="1"/>
              <p:nvPr/>
            </p:nvSpPr>
            <p:spPr>
              <a:xfrm>
                <a:off x="254893" y="1760716"/>
                <a:ext cx="3934335" cy="2232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Extension</a:t>
                </a:r>
              </a:p>
              <a:p>
                <a:endParaRPr lang="en-GB" sz="700" dirty="0"/>
              </a:p>
              <a:p>
                <a:r>
                  <a:rPr lang="en-GB" sz="1600" dirty="0"/>
                  <a:t>[</a:t>
                </a:r>
                <a:r>
                  <a:rPr lang="en-GB" sz="1400" dirty="0"/>
                  <a:t>AEA 2006 Q1]</a:t>
                </a:r>
              </a:p>
              <a:p>
                <a:pPr marL="342900" indent="-342900">
                  <a:buAutoNum type="alphaLcParenBoth"/>
                </a:pPr>
                <a:r>
                  <a:rPr lang="en-GB" sz="1400" dirty="0"/>
                  <a:t>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sz="1400" dirty="0"/>
                  <a:t>, write down the binomial series 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GB" sz="1400" dirty="0"/>
                  <a:t> in ascending powers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up to and including the term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400" dirty="0"/>
                  <a:t>.</a:t>
                </a:r>
              </a:p>
              <a:p>
                <a:pPr marL="342900" indent="-342900">
                  <a:buAutoNum type="alphaLcParenBoth"/>
                </a:pPr>
                <a:r>
                  <a:rPr lang="en-GB" sz="1400" dirty="0"/>
                  <a:t>Hence, or otherwise, show that</a:t>
                </a:r>
                <a:br>
                  <a:rPr lang="en-GB" sz="1400" dirty="0"/>
                </a:b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br>
                  <a:rPr lang="en-GB" sz="1400" dirty="0"/>
                </a:br>
                <a:r>
                  <a:rPr lang="en-GB" sz="1400" dirty="0"/>
                  <a:t>can be written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400" dirty="0"/>
                  <a:t>. Write down the values of the integers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pPr marL="342900" indent="-342900">
                  <a:buAutoNum type="alphaLcParenBoth"/>
                </a:pPr>
                <a:r>
                  <a:rPr lang="en-GB" sz="1400" dirty="0"/>
                  <a:t>Find the set of values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for which the series in part (b) is convergent.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20BC57-9537-47DC-9CF8-D5EA0B972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93" y="1760716"/>
                <a:ext cx="3934335" cy="2232406"/>
              </a:xfrm>
              <a:prstGeom prst="rect">
                <a:avLst/>
              </a:prstGeom>
              <a:blipFill>
                <a:blip r:embed="rId2"/>
                <a:stretch>
                  <a:fillRect l="-930" t="-820" r="-1240" b="-306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A363DD4-9E41-4E1F-802E-B95F65A4E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3972706"/>
            <a:ext cx="4714872" cy="277582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91E82F7-51AF-4099-A80A-8F5FE694923D}"/>
              </a:ext>
            </a:extLst>
          </p:cNvPr>
          <p:cNvSpPr/>
          <p:nvPr/>
        </p:nvSpPr>
        <p:spPr>
          <a:xfrm>
            <a:off x="4742121" y="3934047"/>
            <a:ext cx="4384275" cy="3681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7AABC9-07E5-4CF1-A2AF-D01307083EDC}"/>
              </a:ext>
            </a:extLst>
          </p:cNvPr>
          <p:cNvSpPr/>
          <p:nvPr/>
        </p:nvSpPr>
        <p:spPr>
          <a:xfrm>
            <a:off x="4742120" y="4302185"/>
            <a:ext cx="4384275" cy="9821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7C6DB-9C5C-4EC1-8FC9-70235F5CE6CD}"/>
              </a:ext>
            </a:extLst>
          </p:cNvPr>
          <p:cNvSpPr/>
          <p:nvPr/>
        </p:nvSpPr>
        <p:spPr>
          <a:xfrm>
            <a:off x="4733793" y="5284380"/>
            <a:ext cx="4384275" cy="154172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c</a:t>
            </a:r>
          </a:p>
        </p:txBody>
      </p:sp>
    </p:spTree>
    <p:extLst>
      <p:ext uri="{BB962C8B-B14F-4D97-AF65-F5344CB8AC3E}">
        <p14:creationId xmlns:p14="http://schemas.microsoft.com/office/powerpoint/2010/main" val="321502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4.2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30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8EC351-A9E3-C7C6-296F-03524FB5B6F2}"/>
                  </a:ext>
                </a:extLst>
              </p:cNvPr>
              <p:cNvSpPr txBox="1"/>
              <p:nvPr/>
            </p:nvSpPr>
            <p:spPr>
              <a:xfrm>
                <a:off x="254893" y="1988682"/>
                <a:ext cx="3934335" cy="3309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Extension</a:t>
                </a:r>
              </a:p>
              <a:p>
                <a:endParaRPr lang="en-GB" sz="700" dirty="0"/>
              </a:p>
              <a:p>
                <a:r>
                  <a:rPr lang="en-GB" sz="1600" dirty="0"/>
                  <a:t>[</a:t>
                </a:r>
                <a:r>
                  <a:rPr lang="en-GB" sz="1400" dirty="0"/>
                  <a:t>AEA 2006 Q1]</a:t>
                </a:r>
              </a:p>
              <a:p>
                <a:pPr marL="342900" indent="-342900">
                  <a:buAutoNum type="alphaLcParenBoth"/>
                </a:pPr>
                <a:r>
                  <a:rPr lang="en-GB" sz="1400" dirty="0"/>
                  <a:t>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sz="1400" dirty="0"/>
                  <a:t>, write down the binomial series 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GB" sz="1400" dirty="0"/>
                  <a:t> in ascending powers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up to and including the term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400" dirty="0"/>
                  <a:t>.</a:t>
                </a:r>
              </a:p>
              <a:p>
                <a:pPr marL="342900" indent="-342900">
                  <a:buAutoNum type="alphaLcParenBoth"/>
                </a:pPr>
                <a:r>
                  <a:rPr lang="en-GB" sz="1400" dirty="0"/>
                  <a:t>Hence, or otherwise, show that</a:t>
                </a:r>
                <a:br>
                  <a:rPr lang="en-GB" sz="1400" dirty="0"/>
                </a:b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br>
                  <a:rPr lang="en-GB" sz="1400" dirty="0"/>
                </a:br>
                <a:r>
                  <a:rPr lang="en-GB" sz="1400" dirty="0"/>
                  <a:t>can be written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400" dirty="0"/>
                  <a:t>. Write down the values of the integers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pPr marL="342900" indent="-342900">
                  <a:buAutoNum type="alphaLcParenBoth"/>
                </a:pPr>
                <a:r>
                  <a:rPr lang="en-GB" sz="1400" dirty="0"/>
                  <a:t>Find the set of values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for which the series in part (b) is convergent.</a:t>
                </a:r>
              </a:p>
              <a:p>
                <a:pPr marL="342900" indent="-342900">
                  <a:buAutoNum type="alphaLcParenBoth"/>
                </a:pPr>
                <a:endParaRPr lang="en-GB" sz="1400" dirty="0"/>
              </a:p>
              <a:p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8EC351-A9E3-C7C6-296F-03524FB5B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93" y="1988682"/>
                <a:ext cx="3934335" cy="3309624"/>
              </a:xfrm>
              <a:prstGeom prst="rect">
                <a:avLst/>
              </a:prstGeom>
              <a:blipFill>
                <a:blip r:embed="rId2"/>
                <a:stretch>
                  <a:fillRect l="-930" t="-552" r="-12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BB08C5C-CD87-DCE8-2737-979CEE905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3972706"/>
            <a:ext cx="4714872" cy="27758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F738ED5-DE2A-4E36-E960-CE8C73EE1582}"/>
              </a:ext>
            </a:extLst>
          </p:cNvPr>
          <p:cNvSpPr/>
          <p:nvPr/>
        </p:nvSpPr>
        <p:spPr>
          <a:xfrm>
            <a:off x="4742121" y="3934047"/>
            <a:ext cx="4384275" cy="3681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4BFAAD-1531-28DC-F427-CA03D05B3E39}"/>
              </a:ext>
            </a:extLst>
          </p:cNvPr>
          <p:cNvSpPr/>
          <p:nvPr/>
        </p:nvSpPr>
        <p:spPr>
          <a:xfrm>
            <a:off x="4742120" y="4302185"/>
            <a:ext cx="4384275" cy="9821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4E5C1D-80E8-5A67-AD9E-FB3E3A5FDC1E}"/>
              </a:ext>
            </a:extLst>
          </p:cNvPr>
          <p:cNvSpPr/>
          <p:nvPr/>
        </p:nvSpPr>
        <p:spPr>
          <a:xfrm>
            <a:off x="4733793" y="5284380"/>
            <a:ext cx="4384275" cy="154172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c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4CE912C-A768-5121-B90D-7CC170371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90" y="836712"/>
            <a:ext cx="776287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388D33E-837C-6989-A625-33DF84AD2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0" y="980728"/>
            <a:ext cx="806767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F074F2A-8EE2-63FF-1697-05289FE21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80728"/>
            <a:ext cx="791527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A5BA079-8AC9-ABBB-1898-357E3BD76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3" y="856828"/>
            <a:ext cx="904875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61753</TotalTime>
  <Words>456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P2 Chapter 4: Binomial Terms  General Binomials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2025-10-23T11:27:21Z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