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547" r:id="rId5"/>
    <p:sldId id="682" r:id="rId6"/>
    <p:sldId id="684" r:id="rId7"/>
    <p:sldId id="683" r:id="rId8"/>
    <p:sldId id="549" r:id="rId9"/>
    <p:sldId id="543" r:id="rId10"/>
    <p:sldId id="550" r:id="rId11"/>
    <p:sldId id="551" r:id="rId12"/>
    <p:sldId id="545" r:id="rId13"/>
    <p:sldId id="68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986215-0900-41C9-A173-BB2CEA73CB78}" v="3" dt="2026-01-15T15:48:14.0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96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custSel addSld delSld modSld">
      <pc:chgData name="Dieter Beaven" userId="9bbdb69f-69d0-4759-aa9b-5c090a2da237" providerId="ADAL" clId="{B47B330E-67D7-47E6-A6C8-686253D34652}" dt="2026-01-15T15:53:41.704" v="25" actId="20577"/>
      <pc:docMkLst>
        <pc:docMk/>
      </pc:docMkLst>
      <pc:sldChg chg="addSp mod">
        <pc:chgData name="Dieter Beaven" userId="9bbdb69f-69d0-4759-aa9b-5c090a2da237" providerId="ADAL" clId="{B47B330E-67D7-47E6-A6C8-686253D34652}" dt="2026-01-13T15:53:43.903" v="1" actId="22"/>
        <pc:sldMkLst>
          <pc:docMk/>
          <pc:sldMk cId="3896053727" sldId="543"/>
        </pc:sldMkLst>
        <pc:picChg chg="add">
          <ac:chgData name="Dieter Beaven" userId="9bbdb69f-69d0-4759-aa9b-5c090a2da237" providerId="ADAL" clId="{B47B330E-67D7-47E6-A6C8-686253D34652}" dt="2026-01-13T15:53:43.903" v="1" actId="22"/>
          <ac:picMkLst>
            <pc:docMk/>
            <pc:sldMk cId="3896053727" sldId="543"/>
            <ac:picMk id="6" creationId="{F2F6F565-86AD-B83F-0A22-097E8FFC2D55}"/>
          </ac:picMkLst>
        </pc:picChg>
      </pc:sldChg>
      <pc:sldChg chg="addSp delSp modSp mod">
        <pc:chgData name="Dieter Beaven" userId="9bbdb69f-69d0-4759-aa9b-5c090a2da237" providerId="ADAL" clId="{B47B330E-67D7-47E6-A6C8-686253D34652}" dt="2026-01-15T15:50:15.344" v="13" actId="1076"/>
        <pc:sldMkLst>
          <pc:docMk/>
          <pc:sldMk cId="3458699803" sldId="545"/>
        </pc:sldMkLst>
        <pc:picChg chg="add del mod">
          <ac:chgData name="Dieter Beaven" userId="9bbdb69f-69d0-4759-aa9b-5c090a2da237" providerId="ADAL" clId="{B47B330E-67D7-47E6-A6C8-686253D34652}" dt="2026-01-15T15:48:51.614" v="11" actId="478"/>
          <ac:picMkLst>
            <pc:docMk/>
            <pc:sldMk cId="3458699803" sldId="545"/>
            <ac:picMk id="6" creationId="{CB397A31-B32D-6B58-3AA0-A5DF8E6CE82E}"/>
          </ac:picMkLst>
        </pc:picChg>
        <pc:picChg chg="add mod">
          <ac:chgData name="Dieter Beaven" userId="9bbdb69f-69d0-4759-aa9b-5c090a2da237" providerId="ADAL" clId="{B47B330E-67D7-47E6-A6C8-686253D34652}" dt="2026-01-15T15:50:15.344" v="13" actId="1076"/>
          <ac:picMkLst>
            <pc:docMk/>
            <pc:sldMk cId="3458699803" sldId="545"/>
            <ac:picMk id="8" creationId="{5490B125-CFDD-9245-43FB-6356D72C732C}"/>
          </ac:picMkLst>
        </pc:picChg>
      </pc:sldChg>
      <pc:sldChg chg="modSp mod">
        <pc:chgData name="Dieter Beaven" userId="9bbdb69f-69d0-4759-aa9b-5c090a2da237" providerId="ADAL" clId="{B47B330E-67D7-47E6-A6C8-686253D34652}" dt="2026-01-15T15:53:41.704" v="25" actId="20577"/>
        <pc:sldMkLst>
          <pc:docMk/>
          <pc:sldMk cId="3991975165" sldId="547"/>
        </pc:sldMkLst>
        <pc:spChg chg="mod">
          <ac:chgData name="Dieter Beaven" userId="9bbdb69f-69d0-4759-aa9b-5c090a2da237" providerId="ADAL" clId="{B47B330E-67D7-47E6-A6C8-686253D34652}" dt="2026-01-15T15:53:41.704" v="25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addSp modSp mod">
        <pc:chgData name="Dieter Beaven" userId="9bbdb69f-69d0-4759-aa9b-5c090a2da237" providerId="ADAL" clId="{B47B330E-67D7-47E6-A6C8-686253D34652}" dt="2026-01-13T15:54:21.288" v="3" actId="1076"/>
        <pc:sldMkLst>
          <pc:docMk/>
          <pc:sldMk cId="4091202299" sldId="550"/>
        </pc:sldMkLst>
        <pc:picChg chg="add mod">
          <ac:chgData name="Dieter Beaven" userId="9bbdb69f-69d0-4759-aa9b-5c090a2da237" providerId="ADAL" clId="{B47B330E-67D7-47E6-A6C8-686253D34652}" dt="2026-01-13T15:54:21.288" v="3" actId="1076"/>
          <ac:picMkLst>
            <pc:docMk/>
            <pc:sldMk cId="4091202299" sldId="550"/>
            <ac:picMk id="6" creationId="{DC4294D2-28B8-9477-C733-D1F81825442C}"/>
          </ac:picMkLst>
        </pc:picChg>
      </pc:sldChg>
      <pc:sldChg chg="addSp modSp mod">
        <pc:chgData name="Dieter Beaven" userId="9bbdb69f-69d0-4759-aa9b-5c090a2da237" providerId="ADAL" clId="{B47B330E-67D7-47E6-A6C8-686253D34652}" dt="2026-01-13T15:54:49.336" v="5" actId="1076"/>
        <pc:sldMkLst>
          <pc:docMk/>
          <pc:sldMk cId="3826585799" sldId="551"/>
        </pc:sldMkLst>
        <pc:picChg chg="add mod">
          <ac:chgData name="Dieter Beaven" userId="9bbdb69f-69d0-4759-aa9b-5c090a2da237" providerId="ADAL" clId="{B47B330E-67D7-47E6-A6C8-686253D34652}" dt="2026-01-13T15:54:49.336" v="5" actId="1076"/>
          <ac:picMkLst>
            <pc:docMk/>
            <pc:sldMk cId="3826585799" sldId="551"/>
            <ac:picMk id="6" creationId="{BAEB79D6-CCBB-AF5B-1184-12DA21C77367}"/>
          </ac:picMkLst>
        </pc:picChg>
      </pc:sldChg>
      <pc:sldChg chg="addSp modSp add mod">
        <pc:chgData name="Dieter Beaven" userId="9bbdb69f-69d0-4759-aa9b-5c090a2da237" providerId="ADAL" clId="{B47B330E-67D7-47E6-A6C8-686253D34652}" dt="2026-01-15T15:51:19.621" v="15" actId="1076"/>
        <pc:sldMkLst>
          <pc:docMk/>
          <pc:sldMk cId="3414484115" sldId="685"/>
        </pc:sldMkLst>
        <pc:picChg chg="add mod">
          <ac:chgData name="Dieter Beaven" userId="9bbdb69f-69d0-4759-aa9b-5c090a2da237" providerId="ADAL" clId="{B47B330E-67D7-47E6-A6C8-686253D34652}" dt="2026-01-15T15:51:19.621" v="15" actId="1076"/>
          <ac:picMkLst>
            <pc:docMk/>
            <pc:sldMk cId="3414484115" sldId="685"/>
            <ac:picMk id="6" creationId="{47A6A437-2DA1-E405-A74B-9A8C6DE6AA95}"/>
          </ac:picMkLst>
        </pc:picChg>
      </pc:sldChg>
      <pc:sldChg chg="add del">
        <pc:chgData name="Dieter Beaven" userId="9bbdb69f-69d0-4759-aa9b-5c090a2da237" providerId="ADAL" clId="{B47B330E-67D7-47E6-A6C8-686253D34652}" dt="2026-01-15T15:51:20.969" v="16" actId="47"/>
        <pc:sldMkLst>
          <pc:docMk/>
          <pc:sldMk cId="2948650824" sldId="6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0.png"/><Relationship Id="rId7" Type="http://schemas.openxmlformats.org/officeDocument/2006/relationships/image" Target="../media/image299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0.png"/><Relationship Id="rId11" Type="http://schemas.openxmlformats.org/officeDocument/2006/relationships/image" Target="../media/image19.png"/><Relationship Id="rId5" Type="http://schemas.openxmlformats.org/officeDocument/2006/relationships/image" Target="../media/image298.png"/><Relationship Id="rId10" Type="http://schemas.openxmlformats.org/officeDocument/2006/relationships/image" Target="../media/image18.png"/><Relationship Id="rId4" Type="http://schemas.openxmlformats.org/officeDocument/2006/relationships/image" Target="../media/image54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496" y="2130425"/>
            <a:ext cx="9073008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6: </a:t>
            </a:r>
            <a:r>
              <a:rPr lang="en-GB" dirty="0" err="1">
                <a:solidFill>
                  <a:schemeClr val="accent5"/>
                </a:solidFill>
              </a:rPr>
              <a:t>CoAngle</a:t>
            </a:r>
            <a:r>
              <a:rPr lang="en-GB" dirty="0">
                <a:solidFill>
                  <a:schemeClr val="accent5"/>
                </a:solidFill>
              </a:rPr>
              <a:t> Trigonometry</a:t>
            </a:r>
            <a:br>
              <a:rPr lang="en-GB" dirty="0"/>
            </a:br>
            <a:br>
              <a:rPr lang="en-GB"/>
            </a:br>
            <a:r>
              <a:rPr lang="en-GB"/>
              <a:t>Secant </a:t>
            </a:r>
            <a:r>
              <a:rPr lang="en-GB" dirty="0"/>
              <a:t>Identities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New Identities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51520" y="2060848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 are two tangent identities to know: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240" y="775989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Pure-1 we had the Pythagorean Trig Identity: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159623" y="1341474"/>
                <a:ext cx="48245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623" y="1341474"/>
                <a:ext cx="4824536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43676" y="2780221"/>
                <a:ext cx="2160240" cy="369332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Dividing by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: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76" y="2780221"/>
                <a:ext cx="2160240" cy="369332"/>
              </a:xfrm>
              <a:prstGeom prst="rect">
                <a:avLst/>
              </a:prstGeom>
              <a:blipFill>
                <a:blip r:embed="rId5"/>
                <a:stretch>
                  <a:fillRect b="-3529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159623" y="2703277"/>
                <a:ext cx="48245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1+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623" y="2703277"/>
                <a:ext cx="4824536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35008" y="3476969"/>
                <a:ext cx="2160240" cy="369332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Dividing by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: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08" y="3476969"/>
                <a:ext cx="2160240" cy="369332"/>
              </a:xfrm>
              <a:prstGeom prst="rect">
                <a:avLst/>
              </a:prstGeom>
              <a:blipFill>
                <a:blip r:embed="rId7"/>
                <a:stretch>
                  <a:fillRect b="-3529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67744" y="3354230"/>
                <a:ext cx="48245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1+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cosec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3354230"/>
                <a:ext cx="4824536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2915816" y="2788744"/>
            <a:ext cx="3528392" cy="3954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15816" y="3412826"/>
            <a:ext cx="3528392" cy="3954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6423361" y="3950673"/>
            <a:ext cx="2395052" cy="1822645"/>
            <a:chOff x="6423361" y="3950673"/>
            <a:chExt cx="2395052" cy="1822645"/>
          </a:xfrm>
        </p:grpSpPr>
        <p:cxnSp>
          <p:nvCxnSpPr>
            <p:cNvPr id="23" name="Straight Arrow Connector 22"/>
            <p:cNvCxnSpPr>
              <a:stCxn id="19" idx="0"/>
            </p:cNvCxnSpPr>
            <p:nvPr/>
          </p:nvCxnSpPr>
          <p:spPr>
            <a:xfrm flipH="1" flipV="1">
              <a:off x="6423361" y="3950673"/>
              <a:ext cx="1422944" cy="6530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6874197" y="4603767"/>
              <a:ext cx="1944216" cy="116955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sz="1400" b="1" dirty="0"/>
                <a:t>Tip: r</a:t>
              </a:r>
              <a:r>
                <a:rPr lang="en-GB" sz="1400" dirty="0"/>
                <a:t>emember this one by starting with the above then putting ‘co-’ on front of each trig function.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E44AEE8-9A4F-4D4A-81AC-30EA7FA3E116}"/>
                  </a:ext>
                </a:extLst>
              </p:cNvPr>
              <p:cNvSpPr txBox="1"/>
              <p:nvPr/>
            </p:nvSpPr>
            <p:spPr>
              <a:xfrm>
                <a:off x="220801" y="4351792"/>
                <a:ext cx="3816424" cy="369332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“Prove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1+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.”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E44AEE8-9A4F-4D4A-81AC-30EA7FA3E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01" y="4351792"/>
                <a:ext cx="3816424" cy="369332"/>
              </a:xfrm>
              <a:prstGeom prst="rect">
                <a:avLst/>
              </a:prstGeom>
              <a:blipFill>
                <a:blip r:embed="rId10"/>
                <a:stretch>
                  <a:fillRect b="-4762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5AC3B6-5C77-4A4C-B706-26D12F249ABC}"/>
                  </a:ext>
                </a:extLst>
              </p:cNvPr>
              <p:cNvSpPr txBox="1"/>
              <p:nvPr/>
            </p:nvSpPr>
            <p:spPr>
              <a:xfrm>
                <a:off x="453593" y="4883111"/>
                <a:ext cx="2870178" cy="1529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  <a:p>
                <a:pPr/>
                <a:r>
                  <a:rPr lang="en-GB" sz="1000" b="1" dirty="0"/>
                  <a:t> </a:t>
                </a:r>
                <a:br>
                  <a:rPr lang="en-GB" b="1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0" smtClean="0">
                                      <a:latin typeface="Cambria Math" panose="02040503050406030204" pitchFamily="18" charset="0"/>
                                    </a:rPr>
                                    <m:t>𝐬𝐢𝐧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0" smtClean="0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0" smtClean="0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0" smtClean="0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0" smtClean="0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b="1" dirty="0"/>
              </a:p>
              <a:p>
                <a:pPr/>
                <a:r>
                  <a:rPr lang="en-GB" sz="1000" b="1" dirty="0"/>
                  <a:t> </a:t>
                </a:r>
                <a:br>
                  <a:rPr lang="en-GB" b="1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≡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𝐬𝐞𝐜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5AC3B6-5C77-4A4C-B706-26D12F249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93" y="4883111"/>
                <a:ext cx="2870178" cy="152939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9F5C5D0-1642-4234-A301-4B561FF2965F}"/>
                  </a:ext>
                </a:extLst>
              </p:cNvPr>
              <p:cNvSpPr txBox="1"/>
              <p:nvPr/>
            </p:nvSpPr>
            <p:spPr>
              <a:xfrm>
                <a:off x="4382461" y="5279194"/>
                <a:ext cx="2250568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Tip: </a:t>
                </a:r>
                <a:r>
                  <a:rPr lang="en-GB" sz="1400" dirty="0"/>
                  <a:t>This has been asked in an exam!  </a:t>
                </a:r>
                <a:r>
                  <a:rPr lang="en-GB" sz="1400" u="sng" dirty="0"/>
                  <a:t>You must explicitly show each term being divided by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u="sng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b="0" i="1" u="sng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 b="0" i="0" u="sng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1400" b="0" i="1" u="sng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400" b="0" i="1" u="sng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400" u="sng" dirty="0"/>
                  <a:t>.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9F5C5D0-1642-4234-A301-4B561FF29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461" y="5279194"/>
                <a:ext cx="2250568" cy="954107"/>
              </a:xfrm>
              <a:prstGeom prst="rect">
                <a:avLst/>
              </a:prstGeom>
              <a:blipFill>
                <a:blip r:embed="rId12"/>
                <a:stretch>
                  <a:fillRect l="-268" b="-49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14125CA-3F66-452F-B556-CC31605D89BF}"/>
              </a:ext>
            </a:extLst>
          </p:cNvPr>
          <p:cNvCxnSpPr>
            <a:cxnSpLocks/>
          </p:cNvCxnSpPr>
          <p:nvPr/>
        </p:nvCxnSpPr>
        <p:spPr>
          <a:xfrm flipH="1" flipV="1">
            <a:off x="3454400" y="5617029"/>
            <a:ext cx="988305" cy="27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856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4" grpId="0" animBg="1"/>
      <p:bldP spid="6" grpId="0"/>
      <p:bldP spid="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00285B8-6618-430B-B6C6-7847EB8E0E58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2A6CD04-84BB-432D-A11C-2A7D97495E1C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Examples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4CFF96C-7A45-4A28-A3F0-55B447D4ED9C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ECAFA1-DBC3-46A0-BF5F-FE5260AE19AF}"/>
                  </a:ext>
                </a:extLst>
              </p:cNvPr>
              <p:cNvSpPr txBox="1"/>
              <p:nvPr/>
            </p:nvSpPr>
            <p:spPr>
              <a:xfrm>
                <a:off x="322964" y="785146"/>
                <a:ext cx="4969116" cy="52418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Prove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𝑜𝑠𝑒𝑐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ECAFA1-DBC3-46A0-BF5F-FE5260AE1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64" y="785146"/>
                <a:ext cx="4969116" cy="5241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207F2EC-A4BB-4D18-8F25-C3548616CA99}"/>
                  </a:ext>
                </a:extLst>
              </p:cNvPr>
              <p:cNvSpPr/>
              <p:nvPr/>
            </p:nvSpPr>
            <p:spPr>
              <a:xfrm>
                <a:off x="232927" y="1404205"/>
                <a:ext cx="5195416" cy="18139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𝑳𝑯𝑺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unc>
                                <m:func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𝐜</m:t>
                                      </m:r>
                                      <m:r>
                                        <a:rPr lang="en-GB" b="1">
                                          <a:latin typeface="Cambria Math" panose="02040503050406030204" pitchFamily="18" charset="0"/>
                                        </a:rPr>
                                        <m:t>𝐨𝐬𝐞</m:t>
                                      </m:r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p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func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𝒄𝒐𝒕</m:t>
                                      </m:r>
                                    </m:e>
                                    <m:sup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func>
                            </m:e>
                          </m:func>
                        </m:e>
                      </m:d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>
                                      <a:latin typeface="Cambria Math" panose="02040503050406030204" pitchFamily="18" charset="0"/>
                                    </a:rPr>
                                    <m:t>𝐜𝐨𝐬𝐞𝐜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𝒄𝒐𝒕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𝐜𝐨𝐬𝐞</m:t>
                                  </m:r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𝒄𝒐𝒕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>
                                      <a:latin typeface="Cambria Math" panose="02040503050406030204" pitchFamily="18" charset="0"/>
                                    </a:rPr>
                                    <m:t>𝐬𝐢𝐧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>
                                      <a:latin typeface="Cambria Math" panose="02040503050406030204" pitchFamily="18" charset="0"/>
                                    </a:rPr>
                                    <m:t>𝐬𝐢𝐧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𝒄𝒐𝒔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𝒄𝒐𝒔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𝑹𝑯𝑺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207F2EC-A4BB-4D18-8F25-C3548616CA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27" y="1404205"/>
                <a:ext cx="5195416" cy="18139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3D76D83-E3A2-4E50-B30D-727CB5BFD02E}"/>
              </a:ext>
            </a:extLst>
          </p:cNvPr>
          <p:cNvSpPr/>
          <p:nvPr/>
        </p:nvSpPr>
        <p:spPr>
          <a:xfrm>
            <a:off x="322964" y="1309327"/>
            <a:ext cx="4969116" cy="19088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51D0C8-75BE-4CF6-90C4-5B2FEBFA9EB7}"/>
                  </a:ext>
                </a:extLst>
              </p:cNvPr>
              <p:cNvSpPr txBox="1"/>
              <p:nvPr/>
            </p:nvSpPr>
            <p:spPr>
              <a:xfrm>
                <a:off x="338042" y="3501008"/>
                <a:ext cx="7010424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the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𝑐𝑜𝑠𝑒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−9=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dirty="0"/>
                  <a:t> in the interval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51D0C8-75BE-4CF6-90C4-5B2FEBFA9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42" y="3501008"/>
                <a:ext cx="7010424" cy="369332"/>
              </a:xfrm>
              <a:prstGeom prst="rect">
                <a:avLst/>
              </a:prstGeom>
              <a:blipFill>
                <a:blip r:embed="rId4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43C991-954E-416E-B42C-ABCC6F82382E}"/>
                  </a:ext>
                </a:extLst>
              </p:cNvPr>
              <p:cNvSpPr txBox="1"/>
              <p:nvPr/>
            </p:nvSpPr>
            <p:spPr>
              <a:xfrm>
                <a:off x="466980" y="4032966"/>
                <a:ext cx="3335763" cy="2285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0" smtClean="0">
                                      <a:latin typeface="Cambria Math" panose="02040503050406030204" pitchFamily="18" charset="0"/>
                                    </a:rPr>
                                    <m:t>𝐜𝐨𝐭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𝐜𝐨𝐭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𝐜𝐨𝐭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𝐜𝐨𝐭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𝐜𝐨𝐭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𝐜𝐨𝐭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𝐜𝐨𝐭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𝒐𝒓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𝐜𝐨𝐭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𝒐𝒓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𝟏𝟑𝟓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°,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𝟑𝟏𝟓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43C991-954E-416E-B42C-ABCC6F823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80" y="4032966"/>
                <a:ext cx="3335763" cy="22858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3889D6-6200-441B-8055-75AFE4BC63B7}"/>
                  </a:ext>
                </a:extLst>
              </p:cNvPr>
              <p:cNvSpPr txBox="1"/>
              <p:nvPr/>
            </p:nvSpPr>
            <p:spPr>
              <a:xfrm>
                <a:off x="6415314" y="4134949"/>
                <a:ext cx="2509146" cy="138499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This is just like in C2; if you had say a mixture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1400" dirty="0"/>
                  <a:t>: you’d change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1400" dirty="0"/>
                  <a:t> to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1−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1400" dirty="0"/>
                  <a:t> in order to get a quadratic in terms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𝑠𝑖𝑛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3889D6-6200-441B-8055-75AFE4BC6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5314" y="4134949"/>
                <a:ext cx="2509146" cy="1384995"/>
              </a:xfrm>
              <a:prstGeom prst="rect">
                <a:avLst/>
              </a:prstGeom>
              <a:blipFill>
                <a:blip r:embed="rId6"/>
                <a:stretch>
                  <a:fillRect l="-240" b="-25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BD3AA589-E7FF-4B65-B75D-7E337C6AA688}"/>
              </a:ext>
            </a:extLst>
          </p:cNvPr>
          <p:cNvSpPr/>
          <p:nvPr/>
        </p:nvSpPr>
        <p:spPr>
          <a:xfrm>
            <a:off x="332205" y="3887784"/>
            <a:ext cx="5602110" cy="23802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361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25881"/>
            <a:ext cx="6543675" cy="14001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323528" y="718250"/>
            <a:ext cx="2664296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C3 June 2013 (R)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014814" y="2598931"/>
                <a:ext cx="6048672" cy="1332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3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+3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+3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+2=0     →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fName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fName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=−2     →   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   → 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=−1      →  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=−1     → 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814" y="2598931"/>
                <a:ext cx="6048672" cy="133267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771269" y="2627627"/>
            <a:ext cx="5095934" cy="132021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4049411"/>
                <a:ext cx="6523934" cy="2808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Solve,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0≤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&lt;2</m:t>
                    </m:r>
                    <m:r>
                      <a:rPr lang="en-GB" b="0" i="1" smtClean="0">
                        <a:latin typeface="Cambria Math"/>
                      </a:rPr>
                      <m:t>𝜋</m:t>
                    </m:r>
                  </m:oMath>
                </a14:m>
                <a:r>
                  <a:rPr lang="en-GB" dirty="0"/>
                  <a:t>, the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2</m:t>
                      </m:r>
                      <m:r>
                        <a:rPr lang="en-GB" b="0" i="1" smtClean="0">
                          <a:latin typeface="Cambria Math"/>
                        </a:rPr>
                        <m:t>𝑐𝑜𝑠𝑒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giving your solutions to 3sf.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/>
                        </a:rPr>
                        <m:t>2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1+</m:t>
                          </m:r>
                          <m:func>
                            <m:func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 b="0" i="0" smtClean="0">
                                      <a:latin typeface="Cambria Math"/>
                                    </a:rPr>
                                    <m:t>cot</m:t>
                                  </m:r>
                                </m:e>
                                <m:sup>
                                  <m:r>
                                    <a:rPr lang="en-GB" sz="14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sz="1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sz="1400" b="0" i="1" smtClean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/>
                        </a:rPr>
                        <m:t>−5=0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/>
                        </a:rPr>
                        <m:t>2+2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/>
                                </a:rPr>
                                <m:t>cot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/>
                        </a:rPr>
                        <m:t>−5=0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/>
                        </a:rPr>
                        <m:t>2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/>
                                </a:rPr>
                                <m:t>cot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/>
                        </a:rPr>
                        <m:t>−3=0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2</m:t>
                          </m:r>
                          <m:func>
                            <m:func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/>
                                </a:rPr>
                                <m:t>cot</m:t>
                              </m:r>
                            </m:fName>
                            <m:e>
                              <m:r>
                                <a:rPr lang="en-GB" sz="1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1400" b="0" i="1" smtClean="0">
                              <a:latin typeface="Cambria Math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/>
                                </a:rPr>
                                <m:t>cot</m:t>
                              </m:r>
                            </m:fName>
                            <m:e>
                              <m:r>
                                <a:rPr lang="en-GB" sz="1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1400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GB" sz="1400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GB" sz="1400" b="0" i="1" smtClean="0">
                          <a:latin typeface="Cambria Math"/>
                        </a:rPr>
                        <m:t>  </m:t>
                      </m:r>
                      <m:r>
                        <a:rPr lang="en-GB" sz="1400" b="0" i="1" smtClean="0">
                          <a:latin typeface="Cambria Math"/>
                        </a:rPr>
                        <m:t>𝑜𝑟</m:t>
                      </m:r>
                      <m:r>
                        <a:rPr lang="en-GB" sz="1400" b="0" i="1" smtClean="0">
                          <a:latin typeface="Cambria Math"/>
                        </a:rPr>
                        <m:t>  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/>
                        </a:rPr>
                        <m:t>=1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GB" sz="1400" b="0" i="1" smtClean="0">
                          <a:latin typeface="Cambria Math"/>
                        </a:rPr>
                        <m:t>   </m:t>
                      </m:r>
                      <m:r>
                        <a:rPr lang="en-GB" sz="1400" b="0" i="1" smtClean="0">
                          <a:latin typeface="Cambria Math"/>
                        </a:rPr>
                        <m:t>𝑜𝑟</m:t>
                      </m:r>
                      <m:r>
                        <a:rPr lang="en-GB" sz="1400" b="0" i="1" smtClean="0">
                          <a:latin typeface="Cambria Math"/>
                        </a:rPr>
                        <m:t> 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/>
                        </a:rPr>
                        <m:t>=1</m:t>
                      </m:r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/>
                        </a:rPr>
                        <m:t>𝒙</m:t>
                      </m:r>
                      <m:r>
                        <a:rPr lang="en-GB" sz="1400" b="1" i="1" smtClean="0">
                          <a:latin typeface="Cambria Math"/>
                        </a:rPr>
                        <m:t>=</m:t>
                      </m:r>
                      <m:r>
                        <a:rPr lang="en-GB" sz="1400" b="1" i="1" smtClean="0">
                          <a:latin typeface="Cambria Math"/>
                        </a:rPr>
                        <m:t>𝟐</m:t>
                      </m:r>
                      <m:r>
                        <a:rPr lang="en-GB" sz="1400" b="1" i="1" smtClean="0">
                          <a:latin typeface="Cambria Math"/>
                        </a:rPr>
                        <m:t>.</m:t>
                      </m:r>
                      <m:r>
                        <a:rPr lang="en-GB" sz="1400" b="1" i="1" smtClean="0">
                          <a:latin typeface="Cambria Math"/>
                        </a:rPr>
                        <m:t>𝟓𝟓</m:t>
                      </m:r>
                      <m:r>
                        <a:rPr lang="en-GB" sz="1400" b="1" i="1" smtClean="0">
                          <a:latin typeface="Cambria Math"/>
                        </a:rPr>
                        <m:t>,  </m:t>
                      </m:r>
                      <m:r>
                        <a:rPr lang="en-GB" sz="1400" b="1" i="1" smtClean="0">
                          <a:latin typeface="Cambria Math"/>
                        </a:rPr>
                        <m:t>𝟓</m:t>
                      </m:r>
                      <m:r>
                        <a:rPr lang="en-GB" sz="1400" b="1" i="1" smtClean="0">
                          <a:latin typeface="Cambria Math"/>
                        </a:rPr>
                        <m:t>.</m:t>
                      </m:r>
                      <m:r>
                        <a:rPr lang="en-GB" sz="1400" b="1" i="1" smtClean="0">
                          <a:latin typeface="Cambria Math"/>
                        </a:rPr>
                        <m:t>𝟕𝟎</m:t>
                      </m:r>
                      <m:r>
                        <a:rPr lang="en-GB" sz="1400" b="1" i="1" smtClean="0">
                          <a:latin typeface="Cambria Math"/>
                        </a:rPr>
                        <m:t>,  </m:t>
                      </m:r>
                      <m:r>
                        <a:rPr lang="en-GB" sz="1400" b="1" i="1" smtClean="0">
                          <a:latin typeface="Cambria Math"/>
                        </a:rPr>
                        <m:t>𝟎</m:t>
                      </m:r>
                      <m:r>
                        <a:rPr lang="en-GB" sz="1400" b="1" i="1" smtClean="0">
                          <a:latin typeface="Cambria Math"/>
                        </a:rPr>
                        <m:t>.</m:t>
                      </m:r>
                      <m:r>
                        <a:rPr lang="en-GB" sz="1400" b="1" i="1" smtClean="0">
                          <a:latin typeface="Cambria Math"/>
                        </a:rPr>
                        <m:t>𝟕𝟖𝟓</m:t>
                      </m:r>
                      <m:r>
                        <a:rPr lang="en-GB" sz="1400" b="1" i="1" smtClean="0">
                          <a:latin typeface="Cambria Math"/>
                        </a:rPr>
                        <m:t>,  </m:t>
                      </m:r>
                      <m:r>
                        <a:rPr lang="en-GB" sz="1400" b="1" i="1" smtClean="0">
                          <a:latin typeface="Cambria Math"/>
                        </a:rPr>
                        <m:t>𝟑</m:t>
                      </m:r>
                      <m:r>
                        <a:rPr lang="en-GB" sz="1400" b="1" i="1" smtClean="0">
                          <a:latin typeface="Cambria Math"/>
                        </a:rPr>
                        <m:t>.</m:t>
                      </m:r>
                      <m:r>
                        <a:rPr lang="en-GB" sz="1400" b="1" i="1" smtClean="0">
                          <a:latin typeface="Cambria Math"/>
                        </a:rPr>
                        <m:t>𝟗𝟑</m:t>
                      </m:r>
                      <m:r>
                        <a:rPr lang="en-GB" sz="1400" b="1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4049411"/>
                <a:ext cx="6523934" cy="2808589"/>
              </a:xfrm>
              <a:prstGeom prst="rect">
                <a:avLst/>
              </a:prstGeom>
              <a:blipFill rotWithShape="1">
                <a:blip r:embed="rId5"/>
                <a:stretch>
                  <a:fillRect l="-841" t="-10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43508" y="4149080"/>
            <a:ext cx="36004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1720" y="4936182"/>
            <a:ext cx="3672408" cy="19168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3249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6.4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45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2F6F565-86AD-B83F-0A22-097E8FFC2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12" y="971550"/>
            <a:ext cx="719137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C4294D2-28B8-9477-C733-D1F818254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90" y="836712"/>
            <a:ext cx="7610475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AEB79D6-CCBB-AF5B-1184-12DA21C77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28" y="908720"/>
            <a:ext cx="762000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490B125-CFDD-9245-43FB-6356D72C7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" y="908720"/>
            <a:ext cx="9144000" cy="548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F0565-EF68-6CB9-DA69-8905809B9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C079E0E-EF37-274C-F9A9-C9FFB928BBFC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88F27BB-0B59-0D4D-28D7-45851B1CA359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01436F5-FCAD-A668-72D8-CE833EBDB3DD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7A6A437-2DA1-E405-A74B-9A8C6DE6A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836712"/>
            <a:ext cx="5229225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484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61760</TotalTime>
  <Words>431</Words>
  <Application>Microsoft Office PowerPoint</Application>
  <PresentationFormat>On-screen Show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P2 Chapter 6: CoAngle Trigonometry  Secant Identities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2026-01-15T15:53:48Z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