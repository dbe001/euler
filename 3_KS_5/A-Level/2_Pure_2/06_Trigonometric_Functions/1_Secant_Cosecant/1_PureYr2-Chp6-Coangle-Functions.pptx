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7"/>
  </p:notesMasterIdLst>
  <p:sldIdLst>
    <p:sldId id="547" r:id="rId6"/>
    <p:sldId id="966" r:id="rId7"/>
    <p:sldId id="968" r:id="rId8"/>
    <p:sldId id="969" r:id="rId9"/>
    <p:sldId id="592" r:id="rId10"/>
    <p:sldId id="946" r:id="rId11"/>
    <p:sldId id="673" r:id="rId12"/>
    <p:sldId id="549" r:id="rId13"/>
    <p:sldId id="543" r:id="rId14"/>
    <p:sldId id="550" r:id="rId15"/>
    <p:sldId id="54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2D8212FC-6CF0-4EAC-9F59-B520D2D2E3F2}"/>
    <pc:docChg chg="custSel delSld modSld">
      <pc:chgData name="Dieter Beaven" userId="9bbdb69f-69d0-4759-aa9b-5c090a2da237" providerId="ADAL" clId="{2D8212FC-6CF0-4EAC-9F59-B520D2D2E3F2}" dt="2026-01-13T14:07:30.851" v="13" actId="478"/>
      <pc:docMkLst>
        <pc:docMk/>
      </pc:docMkLst>
      <pc:sldChg chg="addSp delSp modSp mod">
        <pc:chgData name="Dieter Beaven" userId="9bbdb69f-69d0-4759-aa9b-5c090a2da237" providerId="ADAL" clId="{2D8212FC-6CF0-4EAC-9F59-B520D2D2E3F2}" dt="2026-01-13T14:04:15.525" v="5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2D8212FC-6CF0-4EAC-9F59-B520D2D2E3F2}" dt="2026-01-13T14:04:15.525" v="5" actId="1076"/>
          <ac:picMkLst>
            <pc:docMk/>
            <pc:sldMk cId="3896053727" sldId="543"/>
            <ac:picMk id="8" creationId="{F1A34C1A-0D1C-76EA-4FD0-C1CC05F5166E}"/>
          </ac:picMkLst>
        </pc:picChg>
      </pc:sldChg>
      <pc:sldChg chg="delSp mod">
        <pc:chgData name="Dieter Beaven" userId="9bbdb69f-69d0-4759-aa9b-5c090a2da237" providerId="ADAL" clId="{2D8212FC-6CF0-4EAC-9F59-B520D2D2E3F2}" dt="2026-01-13T14:07:28.864" v="12" actId="478"/>
        <pc:sldMkLst>
          <pc:docMk/>
          <pc:sldMk cId="3458699803" sldId="545"/>
        </pc:sldMkLst>
      </pc:sldChg>
      <pc:sldChg chg="addSp modSp mod">
        <pc:chgData name="Dieter Beaven" userId="9bbdb69f-69d0-4759-aa9b-5c090a2da237" providerId="ADAL" clId="{2D8212FC-6CF0-4EAC-9F59-B520D2D2E3F2}" dt="2026-01-13T14:06:17.006" v="10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2D8212FC-6CF0-4EAC-9F59-B520D2D2E3F2}" dt="2026-01-13T14:06:17.006" v="10" actId="1076"/>
          <ac:picMkLst>
            <pc:docMk/>
            <pc:sldMk cId="4091202299" sldId="550"/>
            <ac:picMk id="6" creationId="{B65E1A70-DE59-F8E9-1DA7-9590923DB7A3}"/>
          </ac:picMkLst>
        </pc:picChg>
      </pc:sldChg>
      <pc:sldChg chg="delSp mod">
        <pc:chgData name="Dieter Beaven" userId="9bbdb69f-69d0-4759-aa9b-5c090a2da237" providerId="ADAL" clId="{2D8212FC-6CF0-4EAC-9F59-B520D2D2E3F2}" dt="2026-01-13T14:07:30.851" v="13" actId="47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32C6039E-D0BB-4E5F-993B-FBBF68266147}"/>
    <pc:docChg chg="modSld">
      <pc:chgData name="Dieter Beaven" userId="9bbdb69f-69d0-4759-aa9b-5c090a2da237" providerId="ADAL" clId="{32C6039E-D0BB-4E5F-993B-FBBF68266147}" dt="2026-01-12T14:00:54.098" v="2" actId="20577"/>
      <pc:docMkLst>
        <pc:docMk/>
      </pc:docMkLst>
      <pc:sldChg chg="modSp mod">
        <pc:chgData name="Dieter Beaven" userId="9bbdb69f-69d0-4759-aa9b-5c090a2da237" providerId="ADAL" clId="{32C6039E-D0BB-4E5F-993B-FBBF68266147}" dt="2026-01-12T14:00:54.098" v="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32C6039E-D0BB-4E5F-993B-FBBF68266147}" dt="2026-01-12T14:00:54.098" v="2" actId="20577"/>
          <ac:spMkLst>
            <pc:docMk/>
            <pc:sldMk cId="3991975165" sldId="547"/>
            <ac:spMk id="5" creationId="{12B721EE-5C1D-F475-16EA-A9153B76FD5C}"/>
          </ac:spMkLst>
        </pc:spChg>
      </pc:sldChg>
    </pc:docChg>
  </pc:docChgLst>
  <pc:docChgLst>
    <pc:chgData name="Dieter Beaven" userId="9bbdb69f-69d0-4759-aa9b-5c090a2da237" providerId="ADAL" clId="{B47B330E-67D7-47E6-A6C8-686253D34652}"/>
    <pc:docChg chg="delSld modSld">
      <pc:chgData name="Dieter Beaven" userId="9bbdb69f-69d0-4759-aa9b-5c090a2da237" providerId="ADAL" clId="{B47B330E-67D7-47E6-A6C8-686253D34652}" dt="2026-01-15T13:44:20.205" v="39" actId="47"/>
      <pc:docMkLst>
        <pc:docMk/>
      </pc:docMkLst>
      <pc:sldChg chg="addSp modSp mod">
        <pc:chgData name="Dieter Beaven" userId="9bbdb69f-69d0-4759-aa9b-5c090a2da237" providerId="ADAL" clId="{B47B330E-67D7-47E6-A6C8-686253D34652}" dt="2026-01-15T13:44:16.221" v="38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47B330E-67D7-47E6-A6C8-686253D34652}" dt="2026-01-15T13:44:16.221" v="38" actId="1076"/>
          <ac:picMkLst>
            <pc:docMk/>
            <pc:sldMk cId="3458699803" sldId="545"/>
            <ac:picMk id="6" creationId="{464AC4EA-0078-C5FE-B59F-386F8B2A665C}"/>
          </ac:picMkLst>
        </pc:picChg>
        <pc:picChg chg="add mod">
          <ac:chgData name="Dieter Beaven" userId="9bbdb69f-69d0-4759-aa9b-5c090a2da237" providerId="ADAL" clId="{B47B330E-67D7-47E6-A6C8-686253D34652}" dt="2026-01-15T13:44:14.690" v="37" actId="1076"/>
          <ac:picMkLst>
            <pc:docMk/>
            <pc:sldMk cId="3458699803" sldId="545"/>
            <ac:picMk id="8" creationId="{45E9EA69-B10D-8D1B-69CB-6F4C385886CC}"/>
          </ac:picMkLst>
        </pc:picChg>
      </pc:sldChg>
      <pc:sldChg chg="modSp mod">
        <pc:chgData name="Dieter Beaven" userId="9bbdb69f-69d0-4759-aa9b-5c090a2da237" providerId="ADAL" clId="{B47B330E-67D7-47E6-A6C8-686253D34652}" dt="2026-01-15T10:37:52.874" v="33" actId="20577"/>
        <pc:sldMkLst>
          <pc:docMk/>
          <pc:sldMk cId="3991975165" sldId="547"/>
        </pc:sldMkLst>
        <pc:spChg chg="mod">
          <ac:chgData name="Dieter Beaven" userId="9bbdb69f-69d0-4759-aa9b-5c090a2da237" providerId="ADAL" clId="{B47B330E-67D7-47E6-A6C8-686253D34652}" dt="2026-01-15T10:37:52.874" v="33" actId="20577"/>
          <ac:spMkLst>
            <pc:docMk/>
            <pc:sldMk cId="3991975165" sldId="547"/>
            <ac:spMk id="5" creationId="{12B721EE-5C1D-F475-16EA-A9153B76FD5C}"/>
          </ac:spMkLst>
        </pc:spChg>
      </pc:sldChg>
      <pc:sldChg chg="del">
        <pc:chgData name="Dieter Beaven" userId="9bbdb69f-69d0-4759-aa9b-5c090a2da237" providerId="ADAL" clId="{B47B330E-67D7-47E6-A6C8-686253D34652}" dt="2026-01-15T13:44:20.205" v="39" actId="47"/>
        <pc:sldMkLst>
          <pc:docMk/>
          <pc:sldMk cId="2531956736" sldId="5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F8B580-6B0B-0FBE-F1A4-598D3D9370DD}"/>
              </a:ext>
            </a:extLst>
          </p:cNvPr>
          <p:cNvSpPr/>
          <p:nvPr/>
        </p:nvSpPr>
        <p:spPr>
          <a:xfrm>
            <a:off x="-1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4668" y="3350644"/>
            <a:ext cx="7813517" cy="289505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creator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6FBD1-3F40-215F-9950-194BCEE0612F}"/>
              </a:ext>
            </a:extLst>
          </p:cNvPr>
          <p:cNvSpPr/>
          <p:nvPr/>
        </p:nvSpPr>
        <p:spPr>
          <a:xfrm>
            <a:off x="0" y="-3488"/>
            <a:ext cx="9171170" cy="715291"/>
          </a:xfrm>
          <a:prstGeom prst="rect">
            <a:avLst/>
          </a:prstGeom>
          <a:solidFill>
            <a:srgbClr val="BAE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4497D-7033-0859-5009-B856082B259E}"/>
              </a:ext>
            </a:extLst>
          </p:cNvPr>
          <p:cNvSpPr/>
          <p:nvPr/>
        </p:nvSpPr>
        <p:spPr>
          <a:xfrm>
            <a:off x="5968842" y="6232790"/>
            <a:ext cx="29657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rgbClr val="777777"/>
                </a:solidFill>
                <a:latin typeface="+mj-lt"/>
              </a:rPr>
              <a:t>Dr Frost Learning is a registered charity in England and Wales (no 1194954)</a:t>
            </a:r>
            <a:endParaRPr lang="en-GB" sz="12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06300"/>
            <a:ext cx="9144000" cy="711803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solidFill>
                  <a:srgbClr val="222A3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1FC19B7-6224-7ADF-2E7B-097D00DC676C}"/>
              </a:ext>
            </a:extLst>
          </p:cNvPr>
          <p:cNvSpPr txBox="1">
            <a:spLocks/>
          </p:cNvSpPr>
          <p:nvPr/>
        </p:nvSpPr>
        <p:spPr>
          <a:xfrm>
            <a:off x="1079038" y="3798430"/>
            <a:ext cx="6984776" cy="1166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www.drfrost.org </a:t>
            </a:r>
          </a:p>
          <a:p>
            <a:pPr marL="0" indent="0" algn="ctr">
              <a:buNone/>
            </a:pPr>
            <a:r>
              <a:rPr lang="en-GB" sz="2000" b="1" dirty="0"/>
              <a:t>@DrFrostMaths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39BA9-8B62-7E4E-2773-6F501CD553F4}"/>
              </a:ext>
            </a:extLst>
          </p:cNvPr>
          <p:cNvSpPr txBox="1"/>
          <p:nvPr/>
        </p:nvSpPr>
        <p:spPr>
          <a:xfrm>
            <a:off x="138330" y="6252440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Last modified: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1C8542-E65C-7D1B-9ED3-B9D1291D672E}"/>
              </a:ext>
            </a:extLst>
          </p:cNvPr>
          <p:cNvSpPr/>
          <p:nvPr/>
        </p:nvSpPr>
        <p:spPr>
          <a:xfrm>
            <a:off x="0" y="6780609"/>
            <a:ext cx="9144000" cy="10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4049AE-9B5B-4176-C832-2711549AE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92275" y="6237312"/>
            <a:ext cx="2519363" cy="3905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 descr="A picture containing graphics, graphic design, clipart, design&#10;&#10;Description automatically generated">
            <a:extLst>
              <a:ext uri="{FF2B5EF4-FFF2-40B4-BE49-F238E27FC236}">
                <a16:creationId xmlns:a16="http://schemas.microsoft.com/office/drawing/2014/main" id="{69A882DC-5AA7-74E7-9341-391DA71C2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265" y="5455762"/>
            <a:ext cx="797326" cy="603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F6C650-E75F-1BAD-3208-35C2BCEEDA73}"/>
              </a:ext>
            </a:extLst>
          </p:cNvPr>
          <p:cNvSpPr txBox="1"/>
          <p:nvPr userDrawn="1"/>
        </p:nvSpPr>
        <p:spPr>
          <a:xfrm>
            <a:off x="2408699" y="4812435"/>
            <a:ext cx="43537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1600" b="1" dirty="0"/>
              <a:t>Contact the resource team: </a:t>
            </a:r>
          </a:p>
          <a:p>
            <a:pPr marL="0" indent="0" algn="ctr">
              <a:buNone/>
            </a:pPr>
            <a:r>
              <a:rPr lang="en-GB" sz="1600" b="0" dirty="0"/>
              <a:t>resources@drfrost.org</a:t>
            </a:r>
          </a:p>
          <a:p>
            <a:pPr marL="0" indent="0" algn="ctr">
              <a:buNone/>
            </a:pPr>
            <a:r>
              <a:rPr lang="en-GB" sz="1600" b="0" dirty="0"/>
              <a:t>@DrFrostResource </a:t>
            </a:r>
          </a:p>
        </p:txBody>
      </p:sp>
    </p:spTree>
    <p:extLst>
      <p:ext uri="{BB962C8B-B14F-4D97-AF65-F5344CB8AC3E}">
        <p14:creationId xmlns:p14="http://schemas.microsoft.com/office/powerpoint/2010/main" val="1669901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bsite Info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F8B580-6B0B-0FBE-F1A4-598D3D9370DD}"/>
              </a:ext>
            </a:extLst>
          </p:cNvPr>
          <p:cNvSpPr/>
          <p:nvPr/>
        </p:nvSpPr>
        <p:spPr>
          <a:xfrm>
            <a:off x="-1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6FBD1-3F40-215F-9950-194BCEE0612F}"/>
              </a:ext>
            </a:extLst>
          </p:cNvPr>
          <p:cNvSpPr/>
          <p:nvPr/>
        </p:nvSpPr>
        <p:spPr>
          <a:xfrm>
            <a:off x="0" y="-3488"/>
            <a:ext cx="9171170" cy="715291"/>
          </a:xfrm>
          <a:prstGeom prst="rect">
            <a:avLst/>
          </a:prstGeom>
          <a:solidFill>
            <a:srgbClr val="BAE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4497D-7033-0859-5009-B856082B259E}"/>
              </a:ext>
            </a:extLst>
          </p:cNvPr>
          <p:cNvSpPr/>
          <p:nvPr/>
        </p:nvSpPr>
        <p:spPr>
          <a:xfrm>
            <a:off x="6137117" y="6340611"/>
            <a:ext cx="29657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rgbClr val="777777"/>
                </a:solidFill>
                <a:latin typeface="+mj-lt"/>
              </a:rPr>
              <a:t>Dr Frost Learning is a registered charity in England and Wales (no 1194954)</a:t>
            </a:r>
            <a:endParaRPr lang="en-GB" sz="12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0"/>
            <a:ext cx="9171171" cy="711803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CBCC2A-CB3C-FCD7-594F-65F8E412BFD4}"/>
              </a:ext>
            </a:extLst>
          </p:cNvPr>
          <p:cNvSpPr/>
          <p:nvPr userDrawn="1"/>
        </p:nvSpPr>
        <p:spPr>
          <a:xfrm>
            <a:off x="-1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3E20C-6E5B-9EEF-93F4-ABBEAC142A3C}"/>
              </a:ext>
            </a:extLst>
          </p:cNvPr>
          <p:cNvSpPr/>
          <p:nvPr userDrawn="1"/>
        </p:nvSpPr>
        <p:spPr>
          <a:xfrm>
            <a:off x="0" y="-3488"/>
            <a:ext cx="9171170" cy="715291"/>
          </a:xfrm>
          <a:prstGeom prst="rect">
            <a:avLst/>
          </a:prstGeom>
          <a:solidFill>
            <a:srgbClr val="BAE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2719F-8E12-2C43-80FB-FE4F2E896CAD}"/>
              </a:ext>
            </a:extLst>
          </p:cNvPr>
          <p:cNvSpPr/>
          <p:nvPr userDrawn="1"/>
        </p:nvSpPr>
        <p:spPr>
          <a:xfrm>
            <a:off x="6137117" y="6340611"/>
            <a:ext cx="29657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rgbClr val="777777"/>
                </a:solidFill>
                <a:latin typeface="+mj-lt"/>
              </a:rPr>
              <a:t>Dr Frost Learning is a registered charity in England and Wales (no 1194954)</a:t>
            </a:r>
            <a:endParaRPr lang="en-GB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1520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ing the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1942008-C8D3-C570-C935-2D0FE6C0E8E4}"/>
              </a:ext>
            </a:extLst>
          </p:cNvPr>
          <p:cNvSpPr/>
          <p:nvPr/>
        </p:nvSpPr>
        <p:spPr>
          <a:xfrm>
            <a:off x="-1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6FBD1-3F40-215F-9950-194BCEE0612F}"/>
              </a:ext>
            </a:extLst>
          </p:cNvPr>
          <p:cNvSpPr/>
          <p:nvPr/>
        </p:nvSpPr>
        <p:spPr>
          <a:xfrm>
            <a:off x="-1" y="0"/>
            <a:ext cx="9144001" cy="54868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2800" b="1" dirty="0">
                <a:solidFill>
                  <a:schemeClr val="tx1"/>
                </a:solidFill>
              </a:rPr>
              <a:t> How to use these slides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4497D-7033-0859-5009-B856082B259E}"/>
              </a:ext>
            </a:extLst>
          </p:cNvPr>
          <p:cNvSpPr/>
          <p:nvPr/>
        </p:nvSpPr>
        <p:spPr>
          <a:xfrm>
            <a:off x="3697572" y="6583530"/>
            <a:ext cx="54452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rgbClr val="777777"/>
                </a:solidFill>
                <a:latin typeface="+mj-lt"/>
              </a:rPr>
              <a:t>Dr Frost Learning is a registered charity in England and Wales (no 1194954)</a:t>
            </a:r>
            <a:endParaRPr lang="en-GB" sz="1200" dirty="0">
              <a:latin typeface="+mj-lt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27EB6-C260-E732-4929-5096AB27D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277429"/>
              </p:ext>
            </p:extLst>
          </p:nvPr>
        </p:nvGraphicFramePr>
        <p:xfrm>
          <a:off x="186166" y="1488568"/>
          <a:ext cx="8800210" cy="511900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54191">
                  <a:extLst>
                    <a:ext uri="{9D8B030D-6E8A-4147-A177-3AD203B41FA5}">
                      <a16:colId xmlns:a16="http://schemas.microsoft.com/office/drawing/2014/main" val="2907381801"/>
                    </a:ext>
                  </a:extLst>
                </a:gridCol>
                <a:gridCol w="5055585">
                  <a:extLst>
                    <a:ext uri="{9D8B030D-6E8A-4147-A177-3AD203B41FA5}">
                      <a16:colId xmlns:a16="http://schemas.microsoft.com/office/drawing/2014/main" val="1014323303"/>
                    </a:ext>
                  </a:extLst>
                </a:gridCol>
                <a:gridCol w="2490434">
                  <a:extLst>
                    <a:ext uri="{9D8B030D-6E8A-4147-A177-3AD203B41FA5}">
                      <a16:colId xmlns:a16="http://schemas.microsoft.com/office/drawing/2014/main" val="3445353090"/>
                    </a:ext>
                  </a:extLst>
                </a:gridCol>
              </a:tblGrid>
              <a:tr h="3209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rgbClr val="BAE947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Slide Title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rgbClr val="BAE947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Explanation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rgbClr val="BAE947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Default Animations*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567856"/>
                  </a:ext>
                </a:extLst>
              </a:tr>
              <a:tr h="3209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Recap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as a prior knowledge check or to review prerequisite knowledge. Can be used as a starter or as part of the main lesson.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Green click-to-reveal boxes.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134455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 Big Idea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to highlight key concepts or theorems. This could include the ‘why’ of the topic - including  “real-life” contextual scenarios, or putting into context of other mathematical concepts (past and future).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Usually in sequence with some green click-to-reveal boxes.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862026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Example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modelled by the teacher.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Solution animates in sequence.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31651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Test Your Understanding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completed by students and used for Assessment for Learning, primarily using mini-whiteboards.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Green click-to-reveal boxes.</a:t>
                      </a:r>
                      <a:b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</a:b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For multi-step answers, reveal in parts or click final answer to reveal full solution.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011436"/>
                  </a:ext>
                </a:extLst>
              </a:tr>
              <a:tr h="7234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Example Problem Pair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as ‘Example’ &amp;‘Test Your Understanding’ above, within the same slide to provide scaffold via visible modelled solution. </a:t>
                      </a:r>
                      <a:b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</a:b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TYU column is blank initially, to focus attention on example. </a:t>
                      </a:r>
                      <a:b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</a:b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Reveal question by clicking ‘Test Your Understanding’ banner.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Example animates in sequence. Click the header to reveal TYU question, then green click-to-reveal boxes.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377965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Quickfire Questions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as fluency practice. Multiple questions in rapid succession, for calculations that can be completed mentally. Often used for shorter questions/ formulae or to isolate a small part of the method.</a:t>
                      </a:r>
                      <a:endParaRPr lang="en-GB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Green click-to-reveal boxes. For multi-step answers, reveal in parts or click final line to reveal full solution.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660018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Multi-choice Question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as a diagnostic question. Multiple choice questions, with plausible distractors, to allow teachers to diagnose misconceptions and errors in student thinking, then adapt their lesson accordingly.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Arrow points to answer, on click.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49552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Exam Question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completed by teacher or student.</a:t>
                      </a: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Green click-to-reveal boxes.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8146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516AEC6-40A2-39B1-2A99-144146E802A3}"/>
              </a:ext>
            </a:extLst>
          </p:cNvPr>
          <p:cNvSpPr txBox="1"/>
          <p:nvPr/>
        </p:nvSpPr>
        <p:spPr>
          <a:xfrm>
            <a:off x="166179" y="566577"/>
            <a:ext cx="88002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/>
              <a:t>Though many slides in this resource will have titles specific to the topic, the slide titles in the table below are used consistently within DFL resources for specific pedagogical purposes.</a:t>
            </a:r>
          </a:p>
          <a:p>
            <a:r>
              <a:rPr lang="en-GB" sz="1400" b="0" dirty="0"/>
              <a:t>Any atypical use of a slide type, including any change of animation* or intended use, will be outlined in the Teacher Notes for the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52651D-72DC-F26E-0A31-466EF73E8FEA}"/>
              </a:ext>
            </a:extLst>
          </p:cNvPr>
          <p:cNvSpPr/>
          <p:nvPr userDrawn="1"/>
        </p:nvSpPr>
        <p:spPr>
          <a:xfrm>
            <a:off x="-1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A1F02E-F4F2-E7B2-72A7-BA68D2BD6444}"/>
              </a:ext>
            </a:extLst>
          </p:cNvPr>
          <p:cNvSpPr/>
          <p:nvPr userDrawn="1"/>
        </p:nvSpPr>
        <p:spPr>
          <a:xfrm>
            <a:off x="-1" y="0"/>
            <a:ext cx="9144001" cy="54868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2800" b="1" dirty="0">
                <a:solidFill>
                  <a:schemeClr val="tx1"/>
                </a:solidFill>
              </a:rPr>
              <a:t> How to use these slides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A524D4-B8EF-D730-C146-096A9A7460FA}"/>
              </a:ext>
            </a:extLst>
          </p:cNvPr>
          <p:cNvSpPr/>
          <p:nvPr userDrawn="1"/>
        </p:nvSpPr>
        <p:spPr>
          <a:xfrm>
            <a:off x="3697572" y="6583530"/>
            <a:ext cx="54452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rgbClr val="777777"/>
                </a:solidFill>
                <a:latin typeface="+mj-lt"/>
              </a:rPr>
              <a:t>Dr Frost Learning is a registered charity in England and Wales (no 1194954)</a:t>
            </a:r>
            <a:endParaRPr lang="en-GB" sz="1200" dirty="0">
              <a:latin typeface="+mj-lt"/>
            </a:endParaRP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E9662BF5-4BC4-4EC4-CDA6-F5A43CBF7C5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38703305"/>
              </p:ext>
            </p:extLst>
          </p:nvPr>
        </p:nvGraphicFramePr>
        <p:xfrm>
          <a:off x="186166" y="1488568"/>
          <a:ext cx="8800210" cy="511900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54191">
                  <a:extLst>
                    <a:ext uri="{9D8B030D-6E8A-4147-A177-3AD203B41FA5}">
                      <a16:colId xmlns:a16="http://schemas.microsoft.com/office/drawing/2014/main" val="2907381801"/>
                    </a:ext>
                  </a:extLst>
                </a:gridCol>
                <a:gridCol w="5055585">
                  <a:extLst>
                    <a:ext uri="{9D8B030D-6E8A-4147-A177-3AD203B41FA5}">
                      <a16:colId xmlns:a16="http://schemas.microsoft.com/office/drawing/2014/main" val="1014323303"/>
                    </a:ext>
                  </a:extLst>
                </a:gridCol>
                <a:gridCol w="2490434">
                  <a:extLst>
                    <a:ext uri="{9D8B030D-6E8A-4147-A177-3AD203B41FA5}">
                      <a16:colId xmlns:a16="http://schemas.microsoft.com/office/drawing/2014/main" val="3445353090"/>
                    </a:ext>
                  </a:extLst>
                </a:gridCol>
              </a:tblGrid>
              <a:tr h="3209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rgbClr val="BAE947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Slide Title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rgbClr val="BAE947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Explanation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rgbClr val="BAE947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Default Animations*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567856"/>
                  </a:ext>
                </a:extLst>
              </a:tr>
              <a:tr h="3209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Recap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as a prior knowledge check or to review prerequisite knowledge. Can be used as a starter or as part of the main lesson.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Green click-to-reveal boxes.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134455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The Big Idea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to highlight key concepts or theorems. This could include the ‘why’ of the topic - including  “real-life” contextual scenarios, or putting into context of other mathematical concepts (past and future).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Usually in sequence with some green click-to-reveal boxes.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862026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Example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modelled by the teacher.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Solution animates in sequence.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31651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Test Your Understanding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completed by students and used for Assessment for Learning, primarily using mini-whiteboards.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Green click-to-reveal boxes.</a:t>
                      </a:r>
                      <a:b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</a:b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For multi-step answers, reveal in parts or click final answer to reveal full solution.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011436"/>
                  </a:ext>
                </a:extLst>
              </a:tr>
              <a:tr h="7234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Example Problem Pair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as ‘Example’ &amp;‘Test Your Understanding’ above, within the same slide to provide scaffold via visible modelled solution. </a:t>
                      </a:r>
                      <a:b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</a:b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TYU column is blank initially, to focus attention on example. </a:t>
                      </a:r>
                      <a:endParaRPr lang="en-GB" sz="1200" b="1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Example animates in sequence, followed by TYU question with green click-to-reveal boxes for solution steps. 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377965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Quickfire Questions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as fluency practice. Multiple questions in rapid succession, for calculations that can be completed mentally. Often used for shorter questions/ formulae or to isolate a small part of the method.</a:t>
                      </a:r>
                      <a:endParaRPr lang="en-GB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Green click-to-reveal boxes. For multi-step answers, reveal in parts or click final line to reveal full solution.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660018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Multi-choice Question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used as a diagnostic question. Multiple choice questions, with plausible distractors, to allow teachers to diagnose misconceptions and errors in student thinking, then adapt their lesson accordingly.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Arrow points to answer, on click.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49552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Exam Question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To be completed by teacher or student.</a:t>
                      </a: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Green click-to-reveal boxes.</a:t>
                      </a:r>
                      <a:endParaRPr lang="en-GB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81462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F5EE5F3-B02D-E09B-6393-D2462ED88736}"/>
              </a:ext>
            </a:extLst>
          </p:cNvPr>
          <p:cNvSpPr txBox="1"/>
          <p:nvPr userDrawn="1"/>
        </p:nvSpPr>
        <p:spPr>
          <a:xfrm>
            <a:off x="166179" y="566577"/>
            <a:ext cx="88002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/>
              <a:t>Though many slides in this resource will have titles specific to the topic, the slide titles in the table below are used consistently within DFL resources for specific pedagogical purposes.</a:t>
            </a:r>
          </a:p>
          <a:p>
            <a:r>
              <a:rPr lang="en-GB" sz="1400" b="0" dirty="0"/>
              <a:t>Any atypical use of a slide type, including any change of animation* or intended use, will be outlined in the Teacher Notes for the slide.</a:t>
            </a:r>
          </a:p>
        </p:txBody>
      </p:sp>
    </p:spTree>
    <p:extLst>
      <p:ext uri="{BB962C8B-B14F-4D97-AF65-F5344CB8AC3E}">
        <p14:creationId xmlns:p14="http://schemas.microsoft.com/office/powerpoint/2010/main" val="918770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ch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0037F82-FCC1-1995-1590-BE05F5340CCC}"/>
              </a:ext>
            </a:extLst>
          </p:cNvPr>
          <p:cNvSpPr/>
          <p:nvPr userDrawn="1"/>
        </p:nvSpPr>
        <p:spPr>
          <a:xfrm>
            <a:off x="-1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6FBD1-3F40-215F-9950-194BCEE0612F}"/>
              </a:ext>
            </a:extLst>
          </p:cNvPr>
          <p:cNvSpPr/>
          <p:nvPr/>
        </p:nvSpPr>
        <p:spPr>
          <a:xfrm>
            <a:off x="-1" y="0"/>
            <a:ext cx="9144001" cy="5486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2800" b="1" dirty="0">
                <a:solidFill>
                  <a:schemeClr val="tx1"/>
                </a:solidFill>
              </a:rPr>
              <a:t> Teacher Notes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4497D-7033-0859-5009-B856082B259E}"/>
              </a:ext>
            </a:extLst>
          </p:cNvPr>
          <p:cNvSpPr/>
          <p:nvPr/>
        </p:nvSpPr>
        <p:spPr>
          <a:xfrm>
            <a:off x="6137117" y="6340611"/>
            <a:ext cx="29657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rgbClr val="777777"/>
                </a:solidFill>
                <a:latin typeface="+mj-lt"/>
              </a:rPr>
              <a:t>Dr Frost Learning is a registered charity in England and Wales (no 1194954)</a:t>
            </a:r>
            <a:endParaRPr lang="en-GB" sz="1200" dirty="0">
              <a:latin typeface="+mj-lt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137FAB0-E3AA-395B-926C-DF3AF49951F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97751" y="699061"/>
            <a:ext cx="2829564" cy="36933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Future Links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7F853A3-DD23-2170-8479-A64AEA40409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81219" y="1068393"/>
            <a:ext cx="4352789" cy="392389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B2BFEC1-91B6-2441-29B5-43690547E4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9218" y="674370"/>
            <a:ext cx="2829564" cy="36933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Prerequisite Knowledge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22A172E-49F3-013E-6E88-4EFBB2EB5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18" y="1043702"/>
            <a:ext cx="4352789" cy="392389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263208-FE8E-C592-4721-363FF31E6297}"/>
              </a:ext>
            </a:extLst>
          </p:cNvPr>
          <p:cNvSpPr txBox="1"/>
          <p:nvPr/>
        </p:nvSpPr>
        <p:spPr>
          <a:xfrm>
            <a:off x="827334" y="5533655"/>
            <a:ext cx="2484000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Key Points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FD1D56-01DA-DCFD-EFC9-5AA03FC8DCB9}"/>
              </a:ext>
            </a:extLst>
          </p:cNvPr>
          <p:cNvSpPr/>
          <p:nvPr/>
        </p:nvSpPr>
        <p:spPr>
          <a:xfrm>
            <a:off x="3453846" y="5520491"/>
            <a:ext cx="2484000" cy="540000"/>
          </a:xfrm>
          <a:prstGeom prst="rect">
            <a:avLst/>
          </a:prstGeom>
          <a:solidFill>
            <a:schemeClr val="accent5"/>
          </a:solidFill>
          <a:ln>
            <a:solidFill>
              <a:srgbClr val="60773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/>
              <a:t>Solution step – </a:t>
            </a:r>
            <a:br>
              <a:rPr lang="en-GB" sz="1600" dirty="0"/>
            </a:br>
            <a:r>
              <a:rPr lang="en-GB" sz="1600" dirty="0"/>
              <a:t>click to reveal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91BB82-B10F-F83D-9847-F2C7DEFDD649}"/>
              </a:ext>
            </a:extLst>
          </p:cNvPr>
          <p:cNvSpPr txBox="1"/>
          <p:nvPr/>
        </p:nvSpPr>
        <p:spPr>
          <a:xfrm>
            <a:off x="3453846" y="6166753"/>
            <a:ext cx="2484000" cy="5847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Question/Discussion Prompt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CE1B51-8AA3-8947-1DCC-247C9063AA5C}"/>
              </a:ext>
            </a:extLst>
          </p:cNvPr>
          <p:cNvSpPr/>
          <p:nvPr userDrawn="1"/>
        </p:nvSpPr>
        <p:spPr>
          <a:xfrm>
            <a:off x="114693" y="5039446"/>
            <a:ext cx="6142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b="1" dirty="0"/>
              <a:t>Key</a:t>
            </a:r>
            <a:r>
              <a:rPr lang="en-GB" sz="1400" b="1" dirty="0"/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48D3DF-1355-76A7-A83E-A564BA8B1C5E}"/>
              </a:ext>
            </a:extLst>
          </p:cNvPr>
          <p:cNvSpPr txBox="1"/>
          <p:nvPr/>
        </p:nvSpPr>
        <p:spPr>
          <a:xfrm>
            <a:off x="818199" y="6001220"/>
            <a:ext cx="2484000" cy="54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Wingdings" panose="05000000000000000000" pitchFamily="2" charset="2"/>
              </a:rPr>
              <a:t>!</a:t>
            </a:r>
            <a:r>
              <a:rPr lang="en-GB" sz="1200" dirty="0">
                <a:latin typeface="Wingdings" panose="05000000000000000000" pitchFamily="2" charset="2"/>
              </a:rPr>
              <a:t> </a:t>
            </a:r>
            <a:r>
              <a:rPr lang="en-GB" sz="1600" dirty="0">
                <a:latin typeface="+mj-lt"/>
              </a:rPr>
              <a:t>To be written </a:t>
            </a:r>
            <a:br>
              <a:rPr lang="en-GB" sz="1600" dirty="0">
                <a:latin typeface="+mj-lt"/>
              </a:rPr>
            </a:br>
            <a:r>
              <a:rPr lang="en-GB" sz="1600" dirty="0">
                <a:latin typeface="+mj-lt"/>
              </a:rPr>
              <a:t>in books</a:t>
            </a:r>
            <a:endParaRPr lang="en-GB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E91184-48BA-CD20-11C5-D51D55E45CF6}"/>
              </a:ext>
            </a:extLst>
          </p:cNvPr>
          <p:cNvSpPr txBox="1"/>
          <p:nvPr/>
        </p:nvSpPr>
        <p:spPr>
          <a:xfrm>
            <a:off x="6300192" y="5562938"/>
            <a:ext cx="2691994" cy="73866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All slides include pedagogical detail in the ‘Notes’ section for each slide.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949D98-5671-3467-D037-E6526CBE3224}"/>
              </a:ext>
            </a:extLst>
          </p:cNvPr>
          <p:cNvSpPr/>
          <p:nvPr userDrawn="1"/>
        </p:nvSpPr>
        <p:spPr>
          <a:xfrm>
            <a:off x="827335" y="5023749"/>
            <a:ext cx="5110512" cy="40746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solidFill>
                  <a:sysClr val="windowText" lastClr="000000"/>
                </a:solidFill>
                <a:latin typeface="+mj-lt"/>
              </a:rPr>
              <a:t>         Throughout the slides, this symbol refers to a web link. Unless </a:t>
            </a:r>
            <a:br>
              <a:rPr lang="en-GB" sz="1200" kern="0" dirty="0">
                <a:solidFill>
                  <a:sysClr val="windowText" lastClr="000000"/>
                </a:solidFill>
                <a:latin typeface="+mj-lt"/>
              </a:rPr>
            </a:br>
            <a:r>
              <a:rPr lang="en-GB" sz="1200" kern="0" dirty="0">
                <a:solidFill>
                  <a:sysClr val="windowText" lastClr="000000"/>
                </a:solidFill>
                <a:latin typeface="+mj-lt"/>
              </a:rPr>
              <a:t>         otherwise specified, this will be to some functionality within DF.</a:t>
            </a:r>
            <a:endParaRPr kumimoji="0" lang="en-GB" sz="1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93DBB656-FDC6-E790-923F-AD144E10D9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472" y="5096610"/>
            <a:ext cx="281390" cy="28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94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cher Notes with Represent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0037F82-FCC1-1995-1590-BE05F5340CCC}"/>
              </a:ext>
            </a:extLst>
          </p:cNvPr>
          <p:cNvSpPr/>
          <p:nvPr/>
        </p:nvSpPr>
        <p:spPr>
          <a:xfrm>
            <a:off x="-1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6FBD1-3F40-215F-9950-194BCEE0612F}"/>
              </a:ext>
            </a:extLst>
          </p:cNvPr>
          <p:cNvSpPr/>
          <p:nvPr/>
        </p:nvSpPr>
        <p:spPr>
          <a:xfrm>
            <a:off x="-1" y="0"/>
            <a:ext cx="9144001" cy="5486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2800" b="1" dirty="0">
                <a:solidFill>
                  <a:schemeClr val="tx1"/>
                </a:solidFill>
              </a:rPr>
              <a:t> Teacher Notes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4497D-7033-0859-5009-B856082B259E}"/>
              </a:ext>
            </a:extLst>
          </p:cNvPr>
          <p:cNvSpPr/>
          <p:nvPr/>
        </p:nvSpPr>
        <p:spPr>
          <a:xfrm>
            <a:off x="6137117" y="6340611"/>
            <a:ext cx="29657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rgbClr val="777777"/>
                </a:solidFill>
                <a:latin typeface="+mj-lt"/>
              </a:rPr>
              <a:t>Dr Frost Learning is a registered charity in England and Wales (no 1194954)</a:t>
            </a:r>
            <a:endParaRPr lang="en-GB" sz="1200" dirty="0">
              <a:latin typeface="+mj-lt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B2BFEC1-91B6-2441-29B5-43690547E4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8073" y="677691"/>
            <a:ext cx="2735735" cy="36933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Prerequisite Knowledge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22A172E-49F3-013E-6E88-4EFBB2EB5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17" y="1037294"/>
            <a:ext cx="2864939" cy="393030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1020771-1347-9735-5BB5-A3C38ED655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130300" y="667961"/>
            <a:ext cx="2665836" cy="36933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Representations Used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756757B-BA63-0803-D594-6A2D257A77D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134273" y="1056609"/>
            <a:ext cx="2865600" cy="3910992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137FAB0-E3AA-395B-926C-DF3AF49951F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185610" y="687537"/>
            <a:ext cx="2378748" cy="36933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Future Links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7F853A3-DD23-2170-8479-A64AEA40409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69181" y="1047023"/>
            <a:ext cx="2865600" cy="393030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EAD3A-AB77-DC5C-8037-D687584D49A6}"/>
              </a:ext>
            </a:extLst>
          </p:cNvPr>
          <p:cNvSpPr txBox="1"/>
          <p:nvPr/>
        </p:nvSpPr>
        <p:spPr>
          <a:xfrm>
            <a:off x="827334" y="5533655"/>
            <a:ext cx="2484000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Key Points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CB285-C4D8-21BD-E00A-5ADD79D8EF74}"/>
              </a:ext>
            </a:extLst>
          </p:cNvPr>
          <p:cNvSpPr/>
          <p:nvPr/>
        </p:nvSpPr>
        <p:spPr>
          <a:xfrm>
            <a:off x="3453846" y="5520491"/>
            <a:ext cx="2484000" cy="540000"/>
          </a:xfrm>
          <a:prstGeom prst="rect">
            <a:avLst/>
          </a:prstGeom>
          <a:solidFill>
            <a:schemeClr val="accent5"/>
          </a:solidFill>
          <a:ln>
            <a:solidFill>
              <a:srgbClr val="60773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/>
              <a:t>Solution step – </a:t>
            </a:r>
            <a:br>
              <a:rPr lang="en-GB" sz="1600" dirty="0"/>
            </a:br>
            <a:r>
              <a:rPr lang="en-GB" sz="1600" dirty="0"/>
              <a:t>click to reveal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9530F-8410-EFE7-C06E-0DA4703EB176}"/>
              </a:ext>
            </a:extLst>
          </p:cNvPr>
          <p:cNvSpPr txBox="1"/>
          <p:nvPr/>
        </p:nvSpPr>
        <p:spPr>
          <a:xfrm>
            <a:off x="3453846" y="6166753"/>
            <a:ext cx="2484000" cy="5847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Question/Discussion Prompt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34FA08-2FA5-5670-2E55-7ACDB9379571}"/>
              </a:ext>
            </a:extLst>
          </p:cNvPr>
          <p:cNvSpPr txBox="1"/>
          <p:nvPr/>
        </p:nvSpPr>
        <p:spPr>
          <a:xfrm>
            <a:off x="818199" y="6001220"/>
            <a:ext cx="2484000" cy="54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Wingdings" panose="05000000000000000000" pitchFamily="2" charset="2"/>
              </a:rPr>
              <a:t>!</a:t>
            </a:r>
            <a:r>
              <a:rPr lang="en-GB" sz="1200" dirty="0">
                <a:latin typeface="Wingdings" panose="05000000000000000000" pitchFamily="2" charset="2"/>
              </a:rPr>
              <a:t> </a:t>
            </a:r>
            <a:r>
              <a:rPr lang="en-GB" sz="1600" dirty="0">
                <a:latin typeface="+mj-lt"/>
              </a:rPr>
              <a:t>To be written </a:t>
            </a:r>
            <a:br>
              <a:rPr lang="en-GB" sz="1600" dirty="0">
                <a:latin typeface="+mj-lt"/>
              </a:rPr>
            </a:br>
            <a:r>
              <a:rPr lang="en-GB" sz="1600" dirty="0">
                <a:latin typeface="+mj-lt"/>
              </a:rPr>
              <a:t>in books</a:t>
            </a:r>
            <a:endParaRPr lang="en-GB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A2EF6-FA6D-66DB-952D-04216CDCD2CF}"/>
              </a:ext>
            </a:extLst>
          </p:cNvPr>
          <p:cNvSpPr txBox="1"/>
          <p:nvPr/>
        </p:nvSpPr>
        <p:spPr>
          <a:xfrm>
            <a:off x="6300192" y="5562938"/>
            <a:ext cx="2691994" cy="73866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All slides include pedagogical detail in the ‘Notes’ section </a:t>
            </a:r>
            <a:r>
              <a:rPr lang="en-GB" sz="1400"/>
              <a:t>for each </a:t>
            </a:r>
            <a:r>
              <a:rPr lang="en-GB" sz="1400" dirty="0"/>
              <a:t>slide.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2BA8CC-8CD5-C886-1B27-23458160833F}"/>
              </a:ext>
            </a:extLst>
          </p:cNvPr>
          <p:cNvSpPr txBox="1"/>
          <p:nvPr userDrawn="1"/>
        </p:nvSpPr>
        <p:spPr>
          <a:xfrm>
            <a:off x="6300192" y="5562938"/>
            <a:ext cx="2691994" cy="73866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All slides include pedagogical detail in the ‘Notes’ section for each slide.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CD9FBE-4AD4-8EDF-75BD-73E98FBF0DC6}"/>
              </a:ext>
            </a:extLst>
          </p:cNvPr>
          <p:cNvSpPr/>
          <p:nvPr userDrawn="1"/>
        </p:nvSpPr>
        <p:spPr>
          <a:xfrm>
            <a:off x="114693" y="5039446"/>
            <a:ext cx="6142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b="1" dirty="0"/>
              <a:t>Key</a:t>
            </a:r>
            <a:r>
              <a:rPr lang="en-GB" sz="1400" b="1" dirty="0"/>
              <a:t>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7AF359-B079-D034-8C74-9D4CF9586F29}"/>
              </a:ext>
            </a:extLst>
          </p:cNvPr>
          <p:cNvSpPr/>
          <p:nvPr userDrawn="1"/>
        </p:nvSpPr>
        <p:spPr>
          <a:xfrm>
            <a:off x="827335" y="5023749"/>
            <a:ext cx="5110512" cy="40746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solidFill>
                  <a:sysClr val="windowText" lastClr="000000"/>
                </a:solidFill>
                <a:latin typeface="+mj-lt"/>
              </a:rPr>
              <a:t>         Throughout the slides, this symbol refers to a web link. Unless </a:t>
            </a:r>
            <a:br>
              <a:rPr lang="en-GB" sz="1200" kern="0" dirty="0">
                <a:solidFill>
                  <a:sysClr val="windowText" lastClr="000000"/>
                </a:solidFill>
                <a:latin typeface="+mj-lt"/>
              </a:rPr>
            </a:br>
            <a:r>
              <a:rPr lang="en-GB" sz="1200" kern="0" dirty="0">
                <a:solidFill>
                  <a:sysClr val="windowText" lastClr="000000"/>
                </a:solidFill>
                <a:latin typeface="+mj-lt"/>
              </a:rPr>
              <a:t>         otherwise specified, this will be to some functionality within DF.</a:t>
            </a:r>
            <a:endParaRPr kumimoji="0" lang="en-GB" sz="1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A956D1BE-39DD-645D-83CE-F038D580F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472" y="5096610"/>
            <a:ext cx="281390" cy="28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15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101E6F-00E7-774C-33CA-137EF69FA5AB}"/>
              </a:ext>
            </a:extLst>
          </p:cNvPr>
          <p:cNvSpPr/>
          <p:nvPr/>
        </p:nvSpPr>
        <p:spPr>
          <a:xfrm>
            <a:off x="-1" y="-9553"/>
            <a:ext cx="9144001" cy="576291"/>
          </a:xfrm>
          <a:prstGeom prst="rect">
            <a:avLst/>
          </a:prstGeom>
          <a:solidFill>
            <a:srgbClr val="9FC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EA57E-1812-C978-D64B-16AF596E0F27}"/>
              </a:ext>
            </a:extLst>
          </p:cNvPr>
          <p:cNvSpPr/>
          <p:nvPr/>
        </p:nvSpPr>
        <p:spPr>
          <a:xfrm>
            <a:off x="0" y="-19092"/>
            <a:ext cx="9144000" cy="5429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 sz="3200" b="1" dirty="0">
              <a:solidFill>
                <a:schemeClr val="tx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3" y="27874"/>
            <a:ext cx="8928992" cy="44903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5CC9C-02A8-B6D8-E88C-8BA816A039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1300" y="6208882"/>
            <a:ext cx="1158180" cy="51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27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00" y="764704"/>
            <a:ext cx="8208000" cy="4254016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16FD889-5545-A5A1-5998-4621FF63A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6870" y="5018720"/>
            <a:ext cx="2052000" cy="12954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pPr lvl="0"/>
            <a:r>
              <a:rPr lang="en-GB" dirty="0"/>
              <a:t>A</a:t>
            </a:r>
          </a:p>
          <a:p>
            <a:pPr lvl="0"/>
            <a:r>
              <a:rPr lang="en-GB" dirty="0"/>
              <a:t>Option 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F9AE5FA-053C-0565-00DE-D085BA0586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7687" y="5018720"/>
            <a:ext cx="2052000" cy="129540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pPr lvl="0"/>
            <a:r>
              <a:rPr lang="en-GB" dirty="0"/>
              <a:t>B</a:t>
            </a:r>
          </a:p>
          <a:p>
            <a:pPr lvl="0"/>
            <a:r>
              <a:rPr lang="en-GB" dirty="0"/>
              <a:t>Option 2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7AE0685-A4ED-C18E-D6BD-24A91AD51B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8504" y="5018720"/>
            <a:ext cx="2052000" cy="129540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C2A19CC-6E76-AB4B-0B0A-AF96874F3F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9320" y="5018720"/>
            <a:ext cx="2052000" cy="1295400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pPr lvl="0"/>
            <a:r>
              <a:rPr lang="en-GB" dirty="0"/>
              <a:t>D</a:t>
            </a:r>
          </a:p>
          <a:p>
            <a:pPr lvl="0"/>
            <a:r>
              <a:rPr lang="en-GB" dirty="0"/>
              <a:t>Option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26028-3F19-0AFC-F1CB-935419BF7ACE}"/>
              </a:ext>
            </a:extLst>
          </p:cNvPr>
          <p:cNvSpPr/>
          <p:nvPr/>
        </p:nvSpPr>
        <p:spPr>
          <a:xfrm>
            <a:off x="-1" y="-9553"/>
            <a:ext cx="9144001" cy="576291"/>
          </a:xfrm>
          <a:prstGeom prst="rect">
            <a:avLst/>
          </a:prstGeom>
          <a:solidFill>
            <a:srgbClr val="BAE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0B87F9-D154-CE37-D3CB-F216DEB434EF}"/>
              </a:ext>
            </a:extLst>
          </p:cNvPr>
          <p:cNvSpPr/>
          <p:nvPr/>
        </p:nvSpPr>
        <p:spPr>
          <a:xfrm>
            <a:off x="0" y="-19092"/>
            <a:ext cx="9144000" cy="5429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 sz="3200" b="1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DBB104-BAEE-4E8F-330E-A82ED8008138}"/>
              </a:ext>
            </a:extLst>
          </p:cNvPr>
          <p:cNvSpPr txBox="1"/>
          <p:nvPr/>
        </p:nvSpPr>
        <p:spPr>
          <a:xfrm>
            <a:off x="107502" y="-19093"/>
            <a:ext cx="435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Multi-Choice Question</a:t>
            </a:r>
            <a:endParaRPr lang="en-GB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995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EB7B76-7BB3-72CB-4B88-C51347D21D23}"/>
              </a:ext>
            </a:extLst>
          </p:cNvPr>
          <p:cNvSpPr/>
          <p:nvPr/>
        </p:nvSpPr>
        <p:spPr>
          <a:xfrm>
            <a:off x="-1" y="-9553"/>
            <a:ext cx="9144001" cy="576291"/>
          </a:xfrm>
          <a:prstGeom prst="rect">
            <a:avLst/>
          </a:prstGeom>
          <a:solidFill>
            <a:srgbClr val="9FC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8A73C-57B9-B813-7D7E-137BF9D28BBA}"/>
              </a:ext>
            </a:extLst>
          </p:cNvPr>
          <p:cNvSpPr/>
          <p:nvPr/>
        </p:nvSpPr>
        <p:spPr>
          <a:xfrm>
            <a:off x="0" y="-19092"/>
            <a:ext cx="9144000" cy="5429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 sz="32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71" y="764703"/>
            <a:ext cx="4356200" cy="58907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F67B28-A612-686F-3C9B-E47A38FE77C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80294" y="764704"/>
            <a:ext cx="4356200" cy="58907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B81DAA1-DE76-4A2F-8494-8A4A9E0458A2}"/>
              </a:ext>
            </a:extLst>
          </p:cNvPr>
          <p:cNvCxnSpPr>
            <a:cxnSpLocks/>
          </p:cNvCxnSpPr>
          <p:nvPr/>
        </p:nvCxnSpPr>
        <p:spPr>
          <a:xfrm>
            <a:off x="4569850" y="764703"/>
            <a:ext cx="0" cy="58907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B1D698-AFF2-D9B2-DB1A-6174F5FCD7B1}"/>
              </a:ext>
            </a:extLst>
          </p:cNvPr>
          <p:cNvSpPr txBox="1"/>
          <p:nvPr/>
        </p:nvSpPr>
        <p:spPr>
          <a:xfrm>
            <a:off x="107502" y="-19093"/>
            <a:ext cx="435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Example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2E5499-5E9B-B9D8-54CA-E03A997EE296}"/>
              </a:ext>
            </a:extLst>
          </p:cNvPr>
          <p:cNvSpPr txBox="1"/>
          <p:nvPr/>
        </p:nvSpPr>
        <p:spPr>
          <a:xfrm>
            <a:off x="4569850" y="-9219"/>
            <a:ext cx="435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Test Your Understanding</a:t>
            </a:r>
            <a:endParaRPr lang="en-GB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345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31DF4A-00D6-63D9-225B-6B01D6CA7759}"/>
              </a:ext>
            </a:extLst>
          </p:cNvPr>
          <p:cNvSpPr/>
          <p:nvPr/>
        </p:nvSpPr>
        <p:spPr>
          <a:xfrm>
            <a:off x="-1" y="-9553"/>
            <a:ext cx="9144001" cy="576291"/>
          </a:xfrm>
          <a:prstGeom prst="rect">
            <a:avLst/>
          </a:prstGeom>
          <a:solidFill>
            <a:srgbClr val="9FC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7F663B-08C7-9EC0-BE14-883A8CA0D735}"/>
              </a:ext>
            </a:extLst>
          </p:cNvPr>
          <p:cNvSpPr/>
          <p:nvPr/>
        </p:nvSpPr>
        <p:spPr>
          <a:xfrm>
            <a:off x="0" y="-19092"/>
            <a:ext cx="9144000" cy="5429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 sz="3200" b="1" dirty="0">
              <a:solidFill>
                <a:schemeClr val="tx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51731F-79DD-9E71-E929-9EC455CF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3" y="27874"/>
            <a:ext cx="8928992" cy="44903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14293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3317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+ RM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F8B580-6B0B-0FBE-F1A4-598D3D9370DD}"/>
              </a:ext>
            </a:extLst>
          </p:cNvPr>
          <p:cNvSpPr/>
          <p:nvPr/>
        </p:nvSpPr>
        <p:spPr>
          <a:xfrm>
            <a:off x="-1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4668" y="3350644"/>
            <a:ext cx="7813517" cy="289505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creator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6FBD1-3F40-215F-9950-194BCEE0612F}"/>
              </a:ext>
            </a:extLst>
          </p:cNvPr>
          <p:cNvSpPr/>
          <p:nvPr/>
        </p:nvSpPr>
        <p:spPr>
          <a:xfrm>
            <a:off x="0" y="-3488"/>
            <a:ext cx="9171170" cy="715291"/>
          </a:xfrm>
          <a:prstGeom prst="rect">
            <a:avLst/>
          </a:prstGeom>
          <a:solidFill>
            <a:srgbClr val="BAE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4497D-7033-0859-5009-B856082B259E}"/>
              </a:ext>
            </a:extLst>
          </p:cNvPr>
          <p:cNvSpPr/>
          <p:nvPr/>
        </p:nvSpPr>
        <p:spPr>
          <a:xfrm>
            <a:off x="5968842" y="6232790"/>
            <a:ext cx="29657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rgbClr val="777777"/>
                </a:solidFill>
                <a:latin typeface="+mj-lt"/>
              </a:rPr>
              <a:t>Dr Frost Learning is a registered charity in England and Wales (no 1194954)</a:t>
            </a:r>
            <a:endParaRPr lang="en-GB" sz="12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06300"/>
            <a:ext cx="9144000" cy="711803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solidFill>
                  <a:srgbClr val="222A3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39BA9-8B62-7E4E-2773-6F501CD553F4}"/>
              </a:ext>
            </a:extLst>
          </p:cNvPr>
          <p:cNvSpPr txBox="1"/>
          <p:nvPr/>
        </p:nvSpPr>
        <p:spPr>
          <a:xfrm>
            <a:off x="138330" y="6252440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Last modified: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1C8542-E65C-7D1B-9ED3-B9D1291D672E}"/>
              </a:ext>
            </a:extLst>
          </p:cNvPr>
          <p:cNvSpPr/>
          <p:nvPr/>
        </p:nvSpPr>
        <p:spPr>
          <a:xfrm>
            <a:off x="0" y="6780609"/>
            <a:ext cx="9144000" cy="10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4049AE-9B5B-4176-C832-2711549AE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92275" y="6237312"/>
            <a:ext cx="2519363" cy="3905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 descr="A picture containing graphics, graphic design, clipart, design&#10;&#10;Description automatically generated">
            <a:extLst>
              <a:ext uri="{FF2B5EF4-FFF2-40B4-BE49-F238E27FC236}">
                <a16:creationId xmlns:a16="http://schemas.microsoft.com/office/drawing/2014/main" id="{69A882DC-5AA7-74E7-9341-391DA71C2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265" y="5455762"/>
            <a:ext cx="797326" cy="6039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D3D08F-A50A-6788-FB07-0E3D2D571A69}"/>
              </a:ext>
            </a:extLst>
          </p:cNvPr>
          <p:cNvSpPr txBox="1"/>
          <p:nvPr userDrawn="1"/>
        </p:nvSpPr>
        <p:spPr>
          <a:xfrm>
            <a:off x="133350" y="5363127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Created in collaboration with 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585054A-A58C-859E-6CFB-26536F61C4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640" y="5669411"/>
            <a:ext cx="1793220" cy="4360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387350-193E-12FD-A5D4-C0E4325F7316}"/>
              </a:ext>
            </a:extLst>
          </p:cNvPr>
          <p:cNvSpPr txBox="1"/>
          <p:nvPr userDrawn="1"/>
        </p:nvSpPr>
        <p:spPr>
          <a:xfrm>
            <a:off x="133350" y="5363127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Created in collaboration with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0E087A2-1A2E-7D9E-1AA4-629A26B96B3C}"/>
              </a:ext>
            </a:extLst>
          </p:cNvPr>
          <p:cNvSpPr txBox="1">
            <a:spLocks/>
          </p:cNvSpPr>
          <p:nvPr userDrawn="1"/>
        </p:nvSpPr>
        <p:spPr>
          <a:xfrm>
            <a:off x="1079038" y="3798430"/>
            <a:ext cx="6984776" cy="1166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www.drfrost.org </a:t>
            </a:r>
          </a:p>
          <a:p>
            <a:pPr marL="0" indent="0" algn="ctr">
              <a:buNone/>
            </a:pPr>
            <a:r>
              <a:rPr lang="en-GB" sz="2000" b="1" dirty="0"/>
              <a:t>@DrFrostMaths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E74171-0834-E67D-82D1-47166D752B51}"/>
              </a:ext>
            </a:extLst>
          </p:cNvPr>
          <p:cNvSpPr txBox="1"/>
          <p:nvPr userDrawn="1"/>
        </p:nvSpPr>
        <p:spPr>
          <a:xfrm>
            <a:off x="2408699" y="4812435"/>
            <a:ext cx="43537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1600" b="1" dirty="0"/>
              <a:t>Contact the resource team: </a:t>
            </a:r>
          </a:p>
          <a:p>
            <a:pPr marL="0" indent="0" algn="ctr">
              <a:buNone/>
            </a:pPr>
            <a:r>
              <a:rPr lang="en-GB" sz="1600" b="0" dirty="0"/>
              <a:t>resources@drfrost.org</a:t>
            </a:r>
          </a:p>
          <a:p>
            <a:pPr marL="0" indent="0" algn="ctr">
              <a:buNone/>
            </a:pPr>
            <a:r>
              <a:rPr lang="en-GB" sz="1600" b="0" dirty="0"/>
              <a:t>@DrFrostResource </a:t>
            </a:r>
          </a:p>
        </p:txBody>
      </p:sp>
    </p:spTree>
    <p:extLst>
      <p:ext uri="{BB962C8B-B14F-4D97-AF65-F5344CB8AC3E}">
        <p14:creationId xmlns:p14="http://schemas.microsoft.com/office/powerpoint/2010/main" val="8631857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+ RM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101E6F-00E7-774C-33CA-137EF69FA5AB}"/>
              </a:ext>
            </a:extLst>
          </p:cNvPr>
          <p:cNvSpPr/>
          <p:nvPr/>
        </p:nvSpPr>
        <p:spPr>
          <a:xfrm>
            <a:off x="-1" y="-9553"/>
            <a:ext cx="9144001" cy="576291"/>
          </a:xfrm>
          <a:prstGeom prst="rect">
            <a:avLst/>
          </a:prstGeom>
          <a:solidFill>
            <a:srgbClr val="9FC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EA57E-1812-C978-D64B-16AF596E0F27}"/>
              </a:ext>
            </a:extLst>
          </p:cNvPr>
          <p:cNvSpPr/>
          <p:nvPr/>
        </p:nvSpPr>
        <p:spPr>
          <a:xfrm>
            <a:off x="0" y="-19092"/>
            <a:ext cx="9144000" cy="5429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 sz="3200" b="1" dirty="0">
              <a:solidFill>
                <a:schemeClr val="tx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3" y="27874"/>
            <a:ext cx="8928992" cy="44903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5CC9C-02A8-B6D8-E88C-8BA816A039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1300" y="6208882"/>
            <a:ext cx="1158180" cy="51279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8376BE0-CF41-40D4-2398-37B4ED009F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788" y="6266022"/>
            <a:ext cx="1638786" cy="39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909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PP + RM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EB7B76-7BB3-72CB-4B88-C51347D21D23}"/>
              </a:ext>
            </a:extLst>
          </p:cNvPr>
          <p:cNvSpPr/>
          <p:nvPr/>
        </p:nvSpPr>
        <p:spPr>
          <a:xfrm>
            <a:off x="-1" y="-9553"/>
            <a:ext cx="9144001" cy="576291"/>
          </a:xfrm>
          <a:prstGeom prst="rect">
            <a:avLst/>
          </a:prstGeom>
          <a:solidFill>
            <a:srgbClr val="9FC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8A73C-57B9-B813-7D7E-137BF9D28BBA}"/>
              </a:ext>
            </a:extLst>
          </p:cNvPr>
          <p:cNvSpPr/>
          <p:nvPr/>
        </p:nvSpPr>
        <p:spPr>
          <a:xfrm>
            <a:off x="0" y="-19092"/>
            <a:ext cx="9144000" cy="5429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 sz="32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71" y="764703"/>
            <a:ext cx="4356200" cy="58907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F67B28-A612-686F-3C9B-E47A38FE77C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80294" y="764704"/>
            <a:ext cx="4356200" cy="58907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B81DAA1-DE76-4A2F-8494-8A4A9E0458A2}"/>
              </a:ext>
            </a:extLst>
          </p:cNvPr>
          <p:cNvCxnSpPr>
            <a:cxnSpLocks/>
          </p:cNvCxnSpPr>
          <p:nvPr/>
        </p:nvCxnSpPr>
        <p:spPr>
          <a:xfrm>
            <a:off x="4569850" y="764703"/>
            <a:ext cx="0" cy="58907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B1D698-AFF2-D9B2-DB1A-6174F5FCD7B1}"/>
              </a:ext>
            </a:extLst>
          </p:cNvPr>
          <p:cNvSpPr txBox="1"/>
          <p:nvPr/>
        </p:nvSpPr>
        <p:spPr>
          <a:xfrm>
            <a:off x="107502" y="-19093"/>
            <a:ext cx="435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Example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2E5499-5E9B-B9D8-54CA-E03A997EE296}"/>
              </a:ext>
            </a:extLst>
          </p:cNvPr>
          <p:cNvSpPr txBox="1"/>
          <p:nvPr/>
        </p:nvSpPr>
        <p:spPr>
          <a:xfrm>
            <a:off x="4569850" y="-9219"/>
            <a:ext cx="435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Test Your Understanding</a:t>
            </a:r>
            <a:endParaRPr lang="en-GB" sz="28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D6F74-4E0F-A278-A5DF-32AC3DF08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1300" y="6208882"/>
            <a:ext cx="1158180" cy="51279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594867B-C470-2366-621C-2AEA99A488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788" y="6266022"/>
            <a:ext cx="1638786" cy="39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278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+ RM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31DF4A-00D6-63D9-225B-6B01D6CA7759}"/>
              </a:ext>
            </a:extLst>
          </p:cNvPr>
          <p:cNvSpPr/>
          <p:nvPr/>
        </p:nvSpPr>
        <p:spPr>
          <a:xfrm>
            <a:off x="-1" y="-9553"/>
            <a:ext cx="9144001" cy="576291"/>
          </a:xfrm>
          <a:prstGeom prst="rect">
            <a:avLst/>
          </a:prstGeom>
          <a:solidFill>
            <a:srgbClr val="9FC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7F663B-08C7-9EC0-BE14-883A8CA0D735}"/>
              </a:ext>
            </a:extLst>
          </p:cNvPr>
          <p:cNvSpPr/>
          <p:nvPr/>
        </p:nvSpPr>
        <p:spPr>
          <a:xfrm>
            <a:off x="0" y="-19092"/>
            <a:ext cx="9144000" cy="5429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GB" sz="3200" b="1" dirty="0">
              <a:solidFill>
                <a:schemeClr val="tx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51731F-79DD-9E71-E929-9EC455CF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3" y="27874"/>
            <a:ext cx="8928992" cy="44903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E5980C-ACA5-9256-BBFA-5DC4B7114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1300" y="6208882"/>
            <a:ext cx="1158180" cy="51279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5F3FD52-BDD3-69C4-5C0E-2095540FF5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788" y="6266022"/>
            <a:ext cx="1638786" cy="39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18" y="27631"/>
            <a:ext cx="9142856" cy="44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0359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15.png"/><Relationship Id="rId5" Type="http://schemas.openxmlformats.org/officeDocument/2006/relationships/image" Target="../media/image410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2B721EE-5C1D-F475-16EA-A9153B76FD5C}"/>
              </a:ext>
            </a:extLst>
          </p:cNvPr>
          <p:cNvSpPr txBox="1">
            <a:spLocks/>
          </p:cNvSpPr>
          <p:nvPr/>
        </p:nvSpPr>
        <p:spPr>
          <a:xfrm>
            <a:off x="107504" y="2130425"/>
            <a:ext cx="8928992" cy="3026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92D050"/>
                </a:solidFill>
              </a:rPr>
              <a:t>P2 Chapter 6: </a:t>
            </a:r>
            <a:r>
              <a:rPr lang="en-GB" dirty="0" err="1">
                <a:solidFill>
                  <a:schemeClr val="accent5"/>
                </a:solidFill>
              </a:rPr>
              <a:t>CoAngle</a:t>
            </a:r>
            <a:r>
              <a:rPr lang="en-GB" dirty="0">
                <a:solidFill>
                  <a:schemeClr val="accent5"/>
                </a:solidFill>
              </a:rPr>
              <a:t> Trigonometry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CoAngle</a:t>
            </a:r>
            <a:r>
              <a:rPr lang="en-GB" dirty="0"/>
              <a:t> Functions </a:t>
            </a:r>
          </a:p>
        </p:txBody>
      </p: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6A41-680F-209E-2449-A9A23862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9EABEE-A199-DD13-D8B2-673B754D2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40" y="754158"/>
            <a:ext cx="8562975" cy="58102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71B93D2-C374-AB7A-C873-772D6C16A69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923FD9A-9F32-1BA3-8132-EED0C4C186F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200" dirty="0">
                  <a:solidFill>
                    <a:prstClr val="white"/>
                  </a:solidFill>
                  <a:latin typeface="Calibri"/>
                </a:rPr>
                <a:t>Co-angles</a:t>
              </a:r>
              <a:endPara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95DA98D-4856-EE30-59F5-33D97459C8F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06342F1-0123-3784-2DA4-9A59724E480F}"/>
              </a:ext>
            </a:extLst>
          </p:cNvPr>
          <p:cNvSpPr/>
          <p:nvPr/>
        </p:nvSpPr>
        <p:spPr>
          <a:xfrm>
            <a:off x="7884368" y="4869160"/>
            <a:ext cx="720080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765FCF-D45B-6489-7A18-C84AF0E08B63}"/>
              </a:ext>
            </a:extLst>
          </p:cNvPr>
          <p:cNvSpPr/>
          <p:nvPr/>
        </p:nvSpPr>
        <p:spPr>
          <a:xfrm>
            <a:off x="7884368" y="5517232"/>
            <a:ext cx="720080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6930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10" grpId="0" animBg="1"/>
      <p:bldP spid="1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6218-B0EF-BD33-4C13-DEA532D9C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90F8DD1-E258-7A5C-4226-E28381A6306D}"/>
              </a:ext>
            </a:extLst>
          </p:cNvPr>
          <p:cNvSpPr/>
          <p:nvPr/>
        </p:nvSpPr>
        <p:spPr>
          <a:xfrm>
            <a:off x="467544" y="785695"/>
            <a:ext cx="3672408" cy="113113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FD8E4D-EF8C-3873-48B5-EC0AE1B3AEF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E48CBAA-12FD-C532-98B8-AD7F3969F29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200" dirty="0">
                  <a:solidFill>
                    <a:prstClr val="white"/>
                  </a:solidFill>
                  <a:latin typeface="Calibri"/>
                </a:rPr>
                <a:t>Co-Sine</a:t>
              </a:r>
              <a:endPara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E99ED9D-A332-9CA5-08C3-295CD60EE75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8ECDE2-DCAE-1D7F-A353-46E94F303811}"/>
                  </a:ext>
                </a:extLst>
              </p:cNvPr>
              <p:cNvSpPr txBox="1"/>
              <p:nvPr/>
            </p:nvSpPr>
            <p:spPr>
              <a:xfrm>
                <a:off x="595691" y="764704"/>
                <a:ext cx="347225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2000" b="1" dirty="0">
                  <a:latin typeface="Wingdings" panose="05000000000000000000" pitchFamily="2" charset="2"/>
                </a:endParaRPr>
              </a:p>
              <a:p>
                <a:pPr marL="342900" indent="-342900">
                  <a:buFont typeface="Wingdings" panose="05000000000000000000" pitchFamily="2" charset="2"/>
                  <a:buChar char="!"/>
                </a:pPr>
                <a:r>
                  <a:rPr lang="en-GB" sz="2000" b="1" dirty="0"/>
                  <a:t>cosine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2000" b="1" dirty="0"/>
                  <a:t>  =  sin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90−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2000" b="1" dirty="0"/>
                  <a:t>.</a:t>
                </a:r>
              </a:p>
              <a:p>
                <a:r>
                  <a:rPr lang="en-GB" sz="2000" b="1" dirty="0"/>
                  <a:t>                                   </a:t>
                </a:r>
                <a:r>
                  <a:rPr lang="en-GB" sz="2000" dirty="0"/>
                  <a:t>(</a:t>
                </a:r>
                <a:r>
                  <a:rPr lang="en-GB" sz="2000" dirty="0">
                    <a:solidFill>
                      <a:schemeClr val="accent1"/>
                    </a:solidFill>
                  </a:rPr>
                  <a:t>co-angle</a:t>
                </a:r>
                <a:r>
                  <a:rPr lang="en-GB" sz="2000" dirty="0"/>
                  <a:t>)</a:t>
                </a:r>
                <a:r>
                  <a:rPr lang="en-GB" sz="2000" b="1" dirty="0"/>
                  <a:t>          </a:t>
                </a:r>
                <a:endParaRPr lang="en-GB" sz="2000" dirty="0"/>
              </a:p>
              <a:p>
                <a:endParaRPr lang="en-GB" sz="20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8ECDE2-DCAE-1D7F-A353-46E94F303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91" y="764704"/>
                <a:ext cx="3472253" cy="1323439"/>
              </a:xfrm>
              <a:prstGeom prst="rect">
                <a:avLst/>
              </a:prstGeom>
              <a:blipFill>
                <a:blip r:embed="rId2"/>
                <a:stretch>
                  <a:fillRect l="-15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118492B-3970-68D9-C10B-A3D05D2F3F60}"/>
              </a:ext>
            </a:extLst>
          </p:cNvPr>
          <p:cNvGrpSpPr/>
          <p:nvPr/>
        </p:nvGrpSpPr>
        <p:grpSpPr>
          <a:xfrm>
            <a:off x="1666799" y="3164803"/>
            <a:ext cx="1212576" cy="2189890"/>
            <a:chOff x="899588" y="3486025"/>
            <a:chExt cx="2232252" cy="2376960"/>
          </a:xfrm>
        </p:grpSpPr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2259B55E-4589-FC9F-DC96-17DCD3F9A5D4}"/>
                </a:ext>
              </a:extLst>
            </p:cNvPr>
            <p:cNvSpPr/>
            <p:nvPr/>
          </p:nvSpPr>
          <p:spPr>
            <a:xfrm>
              <a:off x="899592" y="3486025"/>
              <a:ext cx="2232248" cy="2376264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5324FFC-339D-1D4D-C176-D157FE1411A7}"/>
                </a:ext>
              </a:extLst>
            </p:cNvPr>
            <p:cNvSpPr/>
            <p:nvPr/>
          </p:nvSpPr>
          <p:spPr>
            <a:xfrm>
              <a:off x="899588" y="5652927"/>
              <a:ext cx="332486" cy="2100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961393-A0E8-73A7-33C1-A7B6FDFBF921}"/>
                  </a:ext>
                </a:extLst>
              </p:cNvPr>
              <p:cNvSpPr txBox="1"/>
              <p:nvPr/>
            </p:nvSpPr>
            <p:spPr>
              <a:xfrm>
                <a:off x="1971596" y="5354052"/>
                <a:ext cx="5328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961393-A0E8-73A7-33C1-A7B6FDFBF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96" y="5354052"/>
                <a:ext cx="53287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002671-5395-AC7D-DE14-3070A4E19BE3}"/>
                  </a:ext>
                </a:extLst>
              </p:cNvPr>
              <p:cNvSpPr txBox="1"/>
              <p:nvPr/>
            </p:nvSpPr>
            <p:spPr>
              <a:xfrm>
                <a:off x="2290146" y="3916486"/>
                <a:ext cx="5328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002671-5395-AC7D-DE14-3070A4E19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146" y="3916486"/>
                <a:ext cx="53287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E5FBE5-1D26-8933-825F-EF18F9CBEFE8}"/>
                  </a:ext>
                </a:extLst>
              </p:cNvPr>
              <p:cNvSpPr txBox="1"/>
              <p:nvPr/>
            </p:nvSpPr>
            <p:spPr>
              <a:xfrm>
                <a:off x="899593" y="4259427"/>
                <a:ext cx="718698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E5FBE5-1D26-8933-825F-EF18F9CBE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3" y="4259427"/>
                <a:ext cx="718698" cy="5739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reeform 28">
            <a:extLst>
              <a:ext uri="{FF2B5EF4-FFF2-40B4-BE49-F238E27FC236}">
                <a16:creationId xmlns:a16="http://schemas.microsoft.com/office/drawing/2014/main" id="{6F648284-909F-0F05-A615-77C95EB39766}"/>
              </a:ext>
            </a:extLst>
          </p:cNvPr>
          <p:cNvSpPr/>
          <p:nvPr/>
        </p:nvSpPr>
        <p:spPr>
          <a:xfrm>
            <a:off x="2563689" y="5065917"/>
            <a:ext cx="161925" cy="285750"/>
          </a:xfrm>
          <a:custGeom>
            <a:avLst/>
            <a:gdLst>
              <a:gd name="connsiteX0" fmla="*/ 0 w 161925"/>
              <a:gd name="connsiteY0" fmla="*/ 285750 h 285750"/>
              <a:gd name="connsiteX1" fmla="*/ 57150 w 161925"/>
              <a:gd name="connsiteY1" fmla="*/ 104775 h 285750"/>
              <a:gd name="connsiteX2" fmla="*/ 161925 w 161925"/>
              <a:gd name="connsiteY2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925" h="285750">
                <a:moveTo>
                  <a:pt x="0" y="285750"/>
                </a:moveTo>
                <a:cubicBezTo>
                  <a:pt x="15081" y="219075"/>
                  <a:pt x="30163" y="152400"/>
                  <a:pt x="57150" y="104775"/>
                </a:cubicBezTo>
                <a:cubicBezTo>
                  <a:pt x="84137" y="57150"/>
                  <a:pt x="123031" y="28575"/>
                  <a:pt x="161925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D0C0588-9082-C789-8258-1905FABD55CB}"/>
              </a:ext>
            </a:extLst>
          </p:cNvPr>
          <p:cNvSpPr/>
          <p:nvPr/>
        </p:nvSpPr>
        <p:spPr>
          <a:xfrm>
            <a:off x="1677864" y="3570492"/>
            <a:ext cx="219075" cy="52207"/>
          </a:xfrm>
          <a:custGeom>
            <a:avLst/>
            <a:gdLst>
              <a:gd name="connsiteX0" fmla="*/ 0 w 219075"/>
              <a:gd name="connsiteY0" fmla="*/ 47625 h 52207"/>
              <a:gd name="connsiteX1" fmla="*/ 104775 w 219075"/>
              <a:gd name="connsiteY1" fmla="*/ 47625 h 52207"/>
              <a:gd name="connsiteX2" fmla="*/ 219075 w 219075"/>
              <a:gd name="connsiteY2" fmla="*/ 0 h 5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52207">
                <a:moveTo>
                  <a:pt x="0" y="47625"/>
                </a:moveTo>
                <a:cubicBezTo>
                  <a:pt x="34131" y="51593"/>
                  <a:pt x="68263" y="55562"/>
                  <a:pt x="104775" y="47625"/>
                </a:cubicBezTo>
                <a:cubicBezTo>
                  <a:pt x="141287" y="39688"/>
                  <a:pt x="180181" y="19844"/>
                  <a:pt x="219075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3E4A6B5-8C8B-BE1D-0E76-742355A22045}"/>
                  </a:ext>
                </a:extLst>
              </p:cNvPr>
              <p:cNvSpPr txBox="1"/>
              <p:nvPr/>
            </p:nvSpPr>
            <p:spPr>
              <a:xfrm>
                <a:off x="4215834" y="3531295"/>
                <a:ext cx="4244598" cy="1621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func>
                        <m:func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cosine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b="0" i="1" dirty="0">
                  <a:latin typeface="Cambria Math" panose="02040503050406030204" pitchFamily="18" charset="0"/>
                </a:endParaRPr>
              </a:p>
              <a:p>
                <a:endParaRPr lang="en-GB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cosine</m:t>
                          </m:r>
                        </m:fName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0°</m:t>
                              </m:r>
                            </m:e>
                          </m:d>
                        </m:e>
                      </m:func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br>
                  <a:rPr lang="en-GB" sz="2000" b="0" i="1" dirty="0">
                    <a:latin typeface="Cambria Math" panose="02040503050406030204" pitchFamily="18" charset="0"/>
                  </a:rPr>
                </a:br>
                <a:endParaRPr lang="en-GB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3E4A6B5-8C8B-BE1D-0E76-742355A22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834" y="3531295"/>
                <a:ext cx="4244598" cy="16217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53064F-48A2-F9BE-8835-022B4DD09B0C}"/>
                  </a:ext>
                </a:extLst>
              </p:cNvPr>
              <p:cNvSpPr txBox="1"/>
              <p:nvPr/>
            </p:nvSpPr>
            <p:spPr>
              <a:xfrm>
                <a:off x="1619673" y="3867042"/>
                <a:ext cx="5328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53064F-48A2-F9BE-8835-022B4DD09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3" y="3867042"/>
                <a:ext cx="5328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DFD043-600F-FDD2-8FBB-6E89E9EC2E3D}"/>
                  </a:ext>
                </a:extLst>
              </p:cNvPr>
              <p:cNvSpPr txBox="1"/>
              <p:nvPr/>
            </p:nvSpPr>
            <p:spPr>
              <a:xfrm>
                <a:off x="2143489" y="4888598"/>
                <a:ext cx="5328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DFD043-600F-FDD2-8FBB-6E89E9EC2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489" y="4888598"/>
                <a:ext cx="53287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1B1E7AF-51D6-0610-DB0D-597297BBD12A}"/>
              </a:ext>
            </a:extLst>
          </p:cNvPr>
          <p:cNvSpPr/>
          <p:nvPr/>
        </p:nvSpPr>
        <p:spPr>
          <a:xfrm>
            <a:off x="6462712" y="4442072"/>
            <a:ext cx="1884238" cy="7110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64BFB-E071-2815-78DA-563F76986A97}"/>
              </a:ext>
            </a:extLst>
          </p:cNvPr>
          <p:cNvSpPr/>
          <p:nvPr/>
        </p:nvSpPr>
        <p:spPr>
          <a:xfrm>
            <a:off x="6493246" y="3570492"/>
            <a:ext cx="1853704" cy="6819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37A3F2-F616-4739-892D-A65CB1DEAA51}"/>
                  </a:ext>
                </a:extLst>
              </p:cNvPr>
              <p:cNvSpPr txBox="1"/>
              <p:nvPr/>
            </p:nvSpPr>
            <p:spPr>
              <a:xfrm>
                <a:off x="6292094" y="752912"/>
                <a:ext cx="2744402" cy="2074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opp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hyp</m:t>
                          </m:r>
                        </m:den>
                      </m:f>
                    </m:oMath>
                  </m:oMathPara>
                </a14:m>
                <a:endParaRPr lang="en-GB" sz="1600" b="0" i="1" dirty="0">
                  <a:latin typeface="Cambria Math" panose="02040503050406030204" pitchFamily="18" charset="0"/>
                </a:endParaRPr>
              </a:p>
              <a:p>
                <a:endParaRPr lang="en-GB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i="1" dirty="0">
                  <a:latin typeface="Cambria Math" panose="02040503050406030204" pitchFamily="18" charset="0"/>
                </a:endParaRPr>
              </a:p>
              <a:p>
                <a:pPr/>
                <a:br>
                  <a:rPr lang="en-GB" sz="16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37A3F2-F616-4739-892D-A65CB1DEA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94" y="752912"/>
                <a:ext cx="2744402" cy="20743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63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5" grpId="0"/>
      <p:bldP spid="26" grpId="0"/>
      <p:bldP spid="29" grpId="0" animBg="1"/>
      <p:bldP spid="30" grpId="0" animBg="1"/>
      <p:bldP spid="31" grpId="0"/>
      <p:bldP spid="36" grpId="0"/>
      <p:bldP spid="13" grpId="0"/>
      <p:bldP spid="6" grpId="0" animBg="1"/>
      <p:bldP spid="6" grpId="1" animBg="1"/>
      <p:bldP spid="5" grpId="0" animBg="1"/>
      <p:bldP spid="5" grpId="1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ECAA-9331-E4EE-985D-BE246E5E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94509DE-CD0F-D921-B87F-FD7DBC96F185}"/>
              </a:ext>
            </a:extLst>
          </p:cNvPr>
          <p:cNvSpPr/>
          <p:nvPr/>
        </p:nvSpPr>
        <p:spPr>
          <a:xfrm>
            <a:off x="683568" y="764704"/>
            <a:ext cx="4464496" cy="11166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8150A4-9F41-7687-0406-F5B12D5CF66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40640BB-75D0-2885-799F-9C7CF9F0057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3200" dirty="0">
                  <a:solidFill>
                    <a:prstClr val="white"/>
                  </a:solidFill>
                  <a:latin typeface="Calibri"/>
                </a:rPr>
                <a:t>Co-Tangent</a:t>
              </a:r>
              <a:endPara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5388D32-107F-AA5F-3CF6-4472AF0E9A4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63B072-194B-3CE9-6FF0-6DEE335F4078}"/>
                  </a:ext>
                </a:extLst>
              </p:cNvPr>
              <p:cNvSpPr txBox="1"/>
              <p:nvPr/>
            </p:nvSpPr>
            <p:spPr>
              <a:xfrm>
                <a:off x="811715" y="764704"/>
                <a:ext cx="640050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2000" b="1" dirty="0">
                  <a:latin typeface="Wingdings" panose="05000000000000000000" pitchFamily="2" charset="2"/>
                </a:endParaRPr>
              </a:p>
              <a:p>
                <a:pPr marL="342900" indent="-342900">
                  <a:buFont typeface="Wingdings" panose="05000000000000000000" pitchFamily="2" charset="2"/>
                  <a:buChar char="!"/>
                </a:pPr>
                <a:r>
                  <a:rPr lang="en-GB" sz="2000" b="1" dirty="0"/>
                  <a:t>cotangent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2000" b="1" dirty="0"/>
                  <a:t>  =  tangent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90−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2000" b="1" dirty="0"/>
                  <a:t>.</a:t>
                </a:r>
              </a:p>
              <a:p>
                <a:r>
                  <a:rPr lang="en-GB" dirty="0"/>
                  <a:t>                                                         (</a:t>
                </a:r>
                <a:r>
                  <a:rPr lang="en-GB" dirty="0">
                    <a:solidFill>
                      <a:schemeClr val="accent1"/>
                    </a:solidFill>
                  </a:rPr>
                  <a:t>co-angle</a:t>
                </a:r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63B072-194B-3CE9-6FF0-6DEE335F4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15" y="764704"/>
                <a:ext cx="6400503" cy="1015663"/>
              </a:xfrm>
              <a:prstGeom prst="rect">
                <a:avLst/>
              </a:prstGeom>
              <a:blipFill>
                <a:blip r:embed="rId2"/>
                <a:stretch>
                  <a:fillRect l="-857" b="-5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B5AB290-54F0-7B25-7735-490E23614094}"/>
              </a:ext>
            </a:extLst>
          </p:cNvPr>
          <p:cNvGrpSpPr/>
          <p:nvPr/>
        </p:nvGrpSpPr>
        <p:grpSpPr>
          <a:xfrm>
            <a:off x="1162742" y="2265975"/>
            <a:ext cx="1212576" cy="2189890"/>
            <a:chOff x="899588" y="3486025"/>
            <a:chExt cx="2232252" cy="2376960"/>
          </a:xfrm>
        </p:grpSpPr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C906F8D2-8BF9-61C2-694B-383ADCD7635E}"/>
                </a:ext>
              </a:extLst>
            </p:cNvPr>
            <p:cNvSpPr/>
            <p:nvPr/>
          </p:nvSpPr>
          <p:spPr>
            <a:xfrm>
              <a:off x="899592" y="3486025"/>
              <a:ext cx="2232248" cy="2376264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19B50C0-A353-B061-FB7B-FD44E09D8B97}"/>
                </a:ext>
              </a:extLst>
            </p:cNvPr>
            <p:cNvSpPr/>
            <p:nvPr/>
          </p:nvSpPr>
          <p:spPr>
            <a:xfrm>
              <a:off x="899588" y="5652927"/>
              <a:ext cx="332486" cy="2100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104DD6-25FC-EADC-D1D9-EC6E9A06C99E}"/>
                  </a:ext>
                </a:extLst>
              </p:cNvPr>
              <p:cNvSpPr txBox="1"/>
              <p:nvPr/>
            </p:nvSpPr>
            <p:spPr>
              <a:xfrm>
                <a:off x="1467539" y="4455224"/>
                <a:ext cx="5328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104DD6-25FC-EADC-D1D9-EC6E9A06C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539" y="4455224"/>
                <a:ext cx="53287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C747EBD-DCBF-344C-7B8F-B8806CF1A5DA}"/>
                  </a:ext>
                </a:extLst>
              </p:cNvPr>
              <p:cNvSpPr txBox="1"/>
              <p:nvPr/>
            </p:nvSpPr>
            <p:spPr>
              <a:xfrm>
                <a:off x="1786089" y="3017658"/>
                <a:ext cx="5328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C747EBD-DCBF-344C-7B8F-B8806CF1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089" y="3017658"/>
                <a:ext cx="53287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A1CF673-DDCF-6ADC-68C7-146D7CF8E564}"/>
                  </a:ext>
                </a:extLst>
              </p:cNvPr>
              <p:cNvSpPr txBox="1"/>
              <p:nvPr/>
            </p:nvSpPr>
            <p:spPr>
              <a:xfrm>
                <a:off x="395536" y="3360599"/>
                <a:ext cx="718698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A1CF673-DDCF-6ADC-68C7-146D7CF8E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360599"/>
                <a:ext cx="718698" cy="5739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reeform 28">
            <a:extLst>
              <a:ext uri="{FF2B5EF4-FFF2-40B4-BE49-F238E27FC236}">
                <a16:creationId xmlns:a16="http://schemas.microsoft.com/office/drawing/2014/main" id="{92AC8768-F777-951E-CCD8-6E92451664F2}"/>
              </a:ext>
            </a:extLst>
          </p:cNvPr>
          <p:cNvSpPr/>
          <p:nvPr/>
        </p:nvSpPr>
        <p:spPr>
          <a:xfrm>
            <a:off x="2059632" y="4167089"/>
            <a:ext cx="161925" cy="285750"/>
          </a:xfrm>
          <a:custGeom>
            <a:avLst/>
            <a:gdLst>
              <a:gd name="connsiteX0" fmla="*/ 0 w 161925"/>
              <a:gd name="connsiteY0" fmla="*/ 285750 h 285750"/>
              <a:gd name="connsiteX1" fmla="*/ 57150 w 161925"/>
              <a:gd name="connsiteY1" fmla="*/ 104775 h 285750"/>
              <a:gd name="connsiteX2" fmla="*/ 161925 w 161925"/>
              <a:gd name="connsiteY2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925" h="285750">
                <a:moveTo>
                  <a:pt x="0" y="285750"/>
                </a:moveTo>
                <a:cubicBezTo>
                  <a:pt x="15081" y="219075"/>
                  <a:pt x="30163" y="152400"/>
                  <a:pt x="57150" y="104775"/>
                </a:cubicBezTo>
                <a:cubicBezTo>
                  <a:pt x="84137" y="57150"/>
                  <a:pt x="123031" y="28575"/>
                  <a:pt x="161925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9CC7F83-9A8C-E3D1-BBFB-91006140EBF7}"/>
              </a:ext>
            </a:extLst>
          </p:cNvPr>
          <p:cNvSpPr/>
          <p:nvPr/>
        </p:nvSpPr>
        <p:spPr>
          <a:xfrm>
            <a:off x="1173807" y="2671664"/>
            <a:ext cx="219075" cy="52207"/>
          </a:xfrm>
          <a:custGeom>
            <a:avLst/>
            <a:gdLst>
              <a:gd name="connsiteX0" fmla="*/ 0 w 219075"/>
              <a:gd name="connsiteY0" fmla="*/ 47625 h 52207"/>
              <a:gd name="connsiteX1" fmla="*/ 104775 w 219075"/>
              <a:gd name="connsiteY1" fmla="*/ 47625 h 52207"/>
              <a:gd name="connsiteX2" fmla="*/ 219075 w 219075"/>
              <a:gd name="connsiteY2" fmla="*/ 0 h 5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52207">
                <a:moveTo>
                  <a:pt x="0" y="47625"/>
                </a:moveTo>
                <a:cubicBezTo>
                  <a:pt x="34131" y="51593"/>
                  <a:pt x="68263" y="55562"/>
                  <a:pt x="104775" y="47625"/>
                </a:cubicBezTo>
                <a:cubicBezTo>
                  <a:pt x="141287" y="39688"/>
                  <a:pt x="180181" y="19844"/>
                  <a:pt x="219075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20D950-6101-CDDE-78C5-3ECD87920074}"/>
                  </a:ext>
                </a:extLst>
              </p:cNvPr>
              <p:cNvSpPr txBox="1"/>
              <p:nvPr/>
            </p:nvSpPr>
            <p:spPr>
              <a:xfrm>
                <a:off x="6292094" y="752912"/>
                <a:ext cx="2744402" cy="2074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tangent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opp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adj</m:t>
                          </m:r>
                        </m:den>
                      </m:f>
                    </m:oMath>
                  </m:oMathPara>
                </a14:m>
                <a:endParaRPr lang="en-GB" sz="1600" b="0" i="1" dirty="0">
                  <a:latin typeface="Cambria Math" panose="02040503050406030204" pitchFamily="18" charset="0"/>
                </a:endParaRPr>
              </a:p>
              <a:p>
                <a:endParaRPr lang="en-GB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tangent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1600" i="1" dirty="0">
                  <a:latin typeface="Cambria Math" panose="02040503050406030204" pitchFamily="18" charset="0"/>
                </a:endParaRPr>
              </a:p>
              <a:p>
                <a:pPr/>
                <a:br>
                  <a:rPr lang="en-GB" sz="16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tangent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20D950-6101-CDDE-78C5-3ECD87920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94" y="752912"/>
                <a:ext cx="2744402" cy="2074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FD0FE02-0C14-B2E4-8F6F-DF75FC83096D}"/>
                  </a:ext>
                </a:extLst>
              </p:cNvPr>
              <p:cNvSpPr txBox="1"/>
              <p:nvPr/>
            </p:nvSpPr>
            <p:spPr>
              <a:xfrm>
                <a:off x="1115616" y="2968214"/>
                <a:ext cx="5328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FD0FE02-0C14-B2E4-8F6F-DF75FC830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968214"/>
                <a:ext cx="5328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935109-A5AA-03AE-22FA-3E89D14F0D1C}"/>
                  </a:ext>
                </a:extLst>
              </p:cNvPr>
              <p:cNvSpPr txBox="1"/>
              <p:nvPr/>
            </p:nvSpPr>
            <p:spPr>
              <a:xfrm>
                <a:off x="1639432" y="3989770"/>
                <a:ext cx="5328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935109-A5AA-03AE-22FA-3E89D14F0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432" y="3989770"/>
                <a:ext cx="53287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638CC0-F043-CB2D-DE0E-70E83C1987D8}"/>
                  </a:ext>
                </a:extLst>
              </p:cNvPr>
              <p:cNvSpPr txBox="1"/>
              <p:nvPr/>
            </p:nvSpPr>
            <p:spPr>
              <a:xfrm>
                <a:off x="2832307" y="3440654"/>
                <a:ext cx="5279726" cy="1651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0" dirty="0"/>
                  <a:t>1)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cotangent</m:t>
                        </m:r>
                      </m:fName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60°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tangent</m:t>
                        </m:r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2000" b="0" i="1" dirty="0">
                  <a:latin typeface="Cambria Math" panose="02040503050406030204" pitchFamily="18" charset="0"/>
                </a:endParaRPr>
              </a:p>
              <a:p>
                <a:br>
                  <a:rPr lang="en-GB" sz="2000" b="0" i="1" dirty="0">
                    <a:latin typeface="Cambria Math" panose="02040503050406030204" pitchFamily="18" charset="0"/>
                  </a:rPr>
                </a:br>
                <a:r>
                  <a:rPr lang="en-GB" sz="2000" b="0" dirty="0">
                    <a:latin typeface="Cambria Math" panose="02040503050406030204" pitchFamily="18" charset="0"/>
                  </a:rPr>
                  <a:t>2)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cotangent</m:t>
                        </m:r>
                      </m:fName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tangent</m:t>
                        </m:r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60°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br>
                  <a:rPr lang="en-GB" sz="2000" b="0" i="1" dirty="0">
                    <a:latin typeface="Cambria Math" panose="02040503050406030204" pitchFamily="18" charset="0"/>
                  </a:rPr>
                </a:br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638CC0-F043-CB2D-DE0E-70E83C198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307" y="3440654"/>
                <a:ext cx="5279726" cy="1651734"/>
              </a:xfrm>
              <a:prstGeom prst="rect">
                <a:avLst/>
              </a:prstGeom>
              <a:blipFill>
                <a:blip r:embed="rId9"/>
                <a:stretch>
                  <a:fillRect l="-1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BF9F71-27E1-A459-8177-6EEDECF80EAD}"/>
                  </a:ext>
                </a:extLst>
              </p:cNvPr>
              <p:cNvSpPr txBox="1"/>
              <p:nvPr/>
            </p:nvSpPr>
            <p:spPr>
              <a:xfrm>
                <a:off x="724732" y="5246173"/>
                <a:ext cx="8047173" cy="889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3) In terms of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opp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dj</m:t>
                    </m:r>
                  </m:oMath>
                </a14:m>
                <a:r>
                  <a:rPr lang="en-GB" sz="2000" dirty="0"/>
                  <a:t>,  what is the formula: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co</m:t>
                        </m:r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tangent</m:t>
                        </m:r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adj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opp</m:t>
                        </m:r>
                      </m:den>
                    </m:f>
                  </m:oMath>
                </a14:m>
                <a:endParaRPr lang="en-GB" sz="2000" dirty="0"/>
              </a:p>
              <a:p>
                <a:endParaRPr lang="en-GB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BF9F71-27E1-A459-8177-6EEDECF80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32" y="5246173"/>
                <a:ext cx="8047173" cy="889154"/>
              </a:xfrm>
              <a:prstGeom prst="rect">
                <a:avLst/>
              </a:prstGeom>
              <a:blipFill>
                <a:blip r:embed="rId10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4E84118-4FD6-7870-0B92-39024065D4C6}"/>
              </a:ext>
            </a:extLst>
          </p:cNvPr>
          <p:cNvSpPr/>
          <p:nvPr/>
        </p:nvSpPr>
        <p:spPr>
          <a:xfrm>
            <a:off x="7812360" y="5172328"/>
            <a:ext cx="648072" cy="7301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E0B470-0081-AD36-DF31-537875E40876}"/>
                  </a:ext>
                </a:extLst>
              </p:cNvPr>
              <p:cNvSpPr txBox="1"/>
              <p:nvPr/>
            </p:nvSpPr>
            <p:spPr>
              <a:xfrm>
                <a:off x="724731" y="6067420"/>
                <a:ext cx="8047173" cy="560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4) What is the formula relating cotangent to tangent:</a:t>
                </a:r>
                <a:r>
                  <a:rPr lang="en-GB" sz="2000" dirty="0">
                    <a:solidFill>
                      <a:srgbClr val="000000"/>
                    </a:solidFill>
                  </a:rPr>
                  <a:t>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en-GB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E0B470-0081-AD36-DF31-537875E4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31" y="6067420"/>
                <a:ext cx="8047173" cy="560218"/>
              </a:xfrm>
              <a:prstGeom prst="rect">
                <a:avLst/>
              </a:prstGeom>
              <a:blipFill>
                <a:blip r:embed="rId11"/>
                <a:stretch>
                  <a:fillRect l="-833" b="-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2EE46D5-3F83-B08C-ACDE-39DA0C5A5B3E}"/>
              </a:ext>
            </a:extLst>
          </p:cNvPr>
          <p:cNvSpPr/>
          <p:nvPr/>
        </p:nvSpPr>
        <p:spPr>
          <a:xfrm>
            <a:off x="6444208" y="6037978"/>
            <a:ext cx="2088232" cy="7301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8E683-FFB3-47FF-C713-C816A93E6DF0}"/>
              </a:ext>
            </a:extLst>
          </p:cNvPr>
          <p:cNvSpPr/>
          <p:nvPr/>
        </p:nvSpPr>
        <p:spPr>
          <a:xfrm>
            <a:off x="5255362" y="4142186"/>
            <a:ext cx="2102547" cy="7110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2F738F-DA9A-6FC7-72A8-7D69168BABB2}"/>
              </a:ext>
            </a:extLst>
          </p:cNvPr>
          <p:cNvSpPr/>
          <p:nvPr/>
        </p:nvSpPr>
        <p:spPr>
          <a:xfrm>
            <a:off x="5255363" y="3354758"/>
            <a:ext cx="2102547" cy="6819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0132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5" grpId="0"/>
      <p:bldP spid="26" grpId="0"/>
      <p:bldP spid="29" grpId="0" animBg="1"/>
      <p:bldP spid="30" grpId="0" animBg="1"/>
      <p:bldP spid="31" grpId="0"/>
      <p:bldP spid="36" grpId="0"/>
      <p:bldP spid="13" grpId="0"/>
      <p:bldP spid="14" grpId="0"/>
      <p:bldP spid="6" grpId="0"/>
      <p:bldP spid="7" grpId="0" animBg="1"/>
      <p:bldP spid="7" grpId="1" animBg="1"/>
      <p:bldP spid="8" grpId="0"/>
      <p:bldP spid="9" grpId="0" animBg="1"/>
      <p:bldP spid="9" grpId="1" animBg="1"/>
      <p:bldP spid="5" grpId="0" animBg="1"/>
      <p:bldP spid="5" grpId="1" animBg="1"/>
      <p:bldP spid="10" grpId="0" animBg="1"/>
      <p:bldP spid="1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ie 6">
            <a:extLst>
              <a:ext uri="{FF2B5EF4-FFF2-40B4-BE49-F238E27FC236}">
                <a16:creationId xmlns:a16="http://schemas.microsoft.com/office/drawing/2014/main" id="{3D60011A-DD48-2566-8889-5FE896730A6F}"/>
              </a:ext>
            </a:extLst>
          </p:cNvPr>
          <p:cNvSpPr/>
          <p:nvPr/>
        </p:nvSpPr>
        <p:spPr>
          <a:xfrm>
            <a:off x="2483768" y="1916832"/>
            <a:ext cx="5908370" cy="5727810"/>
          </a:xfrm>
          <a:prstGeom prst="pie">
            <a:avLst>
              <a:gd name="adj1" fmla="val 19355950"/>
              <a:gd name="adj2" fmla="val 858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Secant and The Unit Circle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547841" y="4077072"/>
            <a:ext cx="355008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081706" y="2204864"/>
            <a:ext cx="0" cy="33843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85562" y="2780928"/>
            <a:ext cx="2592288" cy="252028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25922" y="386104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922" y="386104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37690" y="1844824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690" y="1844824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2081706" y="2996952"/>
            <a:ext cx="1080120" cy="1377444"/>
            <a:chOff x="2411760" y="2636912"/>
            <a:chExt cx="1080120" cy="13774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627784" y="3645024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7784" y="3645024"/>
                  <a:ext cx="36004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ight Triangle 15"/>
            <p:cNvSpPr/>
            <p:nvPr/>
          </p:nvSpPr>
          <p:spPr>
            <a:xfrm flipH="1">
              <a:off x="2411760" y="2636912"/>
              <a:ext cx="720080" cy="1080120"/>
            </a:xfrm>
            <a:prstGeom prst="rt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131840" y="3068960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1840" y="3068960"/>
                  <a:ext cx="36004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525790" y="2843644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790" y="2843644"/>
                  <a:ext cx="3600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Oval 24"/>
          <p:cNvSpPr/>
          <p:nvPr/>
        </p:nvSpPr>
        <p:spPr>
          <a:xfrm>
            <a:off x="2725787" y="2918080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CA35B0-F5BD-B133-16CF-E3A751DCE882}"/>
                  </a:ext>
                </a:extLst>
              </p:cNvPr>
              <p:cNvSpPr txBox="1"/>
              <p:nvPr/>
            </p:nvSpPr>
            <p:spPr>
              <a:xfrm>
                <a:off x="2170580" y="3707739"/>
                <a:ext cx="4091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CA35B0-F5BD-B133-16CF-E3A751DCE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580" y="3707739"/>
                <a:ext cx="4091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74C93E99-92B4-F732-C192-885E2962FBD7}"/>
              </a:ext>
            </a:extLst>
          </p:cNvPr>
          <p:cNvSpPr/>
          <p:nvPr/>
        </p:nvSpPr>
        <p:spPr>
          <a:xfrm flipH="1">
            <a:off x="5470852" y="2523742"/>
            <a:ext cx="2954185" cy="2258624"/>
          </a:xfrm>
          <a:prstGeom prst="rtTriangl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Freeform 10">
            <a:extLst>
              <a:ext uri="{FF2B5EF4-FFF2-40B4-BE49-F238E27FC236}">
                <a16:creationId xmlns:a16="http://schemas.microsoft.com/office/drawing/2014/main" id="{73A76621-292B-9675-B923-285A2221FA9A}"/>
              </a:ext>
            </a:extLst>
          </p:cNvPr>
          <p:cNvSpPr/>
          <p:nvPr/>
        </p:nvSpPr>
        <p:spPr>
          <a:xfrm>
            <a:off x="6093958" y="4313215"/>
            <a:ext cx="140982" cy="484955"/>
          </a:xfrm>
          <a:custGeom>
            <a:avLst/>
            <a:gdLst>
              <a:gd name="connsiteX0" fmla="*/ 0 w 171802"/>
              <a:gd name="connsiteY0" fmla="*/ 0 h 609600"/>
              <a:gd name="connsiteX1" fmla="*/ 95250 w 171802"/>
              <a:gd name="connsiteY1" fmla="*/ 180975 h 609600"/>
              <a:gd name="connsiteX2" fmla="*/ 161925 w 171802"/>
              <a:gd name="connsiteY2" fmla="*/ 438150 h 609600"/>
              <a:gd name="connsiteX3" fmla="*/ 171450 w 171802"/>
              <a:gd name="connsiteY3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802" h="609600">
                <a:moveTo>
                  <a:pt x="0" y="0"/>
                </a:moveTo>
                <a:cubicBezTo>
                  <a:pt x="34131" y="53975"/>
                  <a:pt x="68263" y="107950"/>
                  <a:pt x="95250" y="180975"/>
                </a:cubicBezTo>
                <a:cubicBezTo>
                  <a:pt x="122238" y="254000"/>
                  <a:pt x="149225" y="366713"/>
                  <a:pt x="161925" y="438150"/>
                </a:cubicBezTo>
                <a:cubicBezTo>
                  <a:pt x="174625" y="509587"/>
                  <a:pt x="171450" y="609600"/>
                  <a:pt x="171450" y="6096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BD75A35-BFEC-BDCE-2EE2-CAA5B7BDB216}"/>
                  </a:ext>
                </a:extLst>
              </p:cNvPr>
              <p:cNvSpPr txBox="1"/>
              <p:nvPr/>
            </p:nvSpPr>
            <p:spPr>
              <a:xfrm>
                <a:off x="6164449" y="4313215"/>
                <a:ext cx="413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BD75A35-BFEC-BDCE-2EE2-CAA5B7BDB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449" y="4313215"/>
                <a:ext cx="41363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ADA7E43-F358-6FA1-48B2-5EF5CA95B2FE}"/>
              </a:ext>
            </a:extLst>
          </p:cNvPr>
          <p:cNvCxnSpPr>
            <a:cxnSpLocks/>
          </p:cNvCxnSpPr>
          <p:nvPr/>
        </p:nvCxnSpPr>
        <p:spPr>
          <a:xfrm>
            <a:off x="8425037" y="1772816"/>
            <a:ext cx="0" cy="3816424"/>
          </a:xfrm>
          <a:prstGeom prst="line">
            <a:avLst/>
          </a:prstGeom>
          <a:ln w="57150"/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9AF717E-3940-A189-E391-CBDC3D6361AC}"/>
                  </a:ext>
                </a:extLst>
              </p:cNvPr>
              <p:cNvSpPr txBox="1"/>
              <p:nvPr/>
            </p:nvSpPr>
            <p:spPr>
              <a:xfrm rot="5400000">
                <a:off x="8151776" y="3378768"/>
                <a:ext cx="986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𝐭𝐚𝐧𝐠𝐞𝐧𝐭</m:t>
                      </m:r>
                    </m:oMath>
                  </m:oMathPara>
                </a14:m>
                <a:endParaRPr lang="en-GB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9AF717E-3940-A189-E391-CBDC3D636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151776" y="3378768"/>
                <a:ext cx="986919" cy="369332"/>
              </a:xfrm>
              <a:prstGeom prst="rect">
                <a:avLst/>
              </a:prstGeom>
              <a:blipFill>
                <a:blip r:embed="rId10"/>
                <a:stretch>
                  <a:fillRect l="-11667" t="-1235" b="-3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B2A37-9364-2E6F-2265-94BE907D6F59}"/>
                  </a:ext>
                </a:extLst>
              </p:cNvPr>
              <p:cNvSpPr txBox="1"/>
              <p:nvPr/>
            </p:nvSpPr>
            <p:spPr>
              <a:xfrm rot="19428821">
                <a:off x="6027672" y="3004979"/>
                <a:ext cx="7995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𝐬𝐞𝐜𝐚𝐧𝐭</m:t>
                      </m:r>
                    </m:oMath>
                  </m:oMathPara>
                </a14:m>
                <a:endParaRPr lang="en-GB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B2A37-9364-2E6F-2265-94BE907D6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28821">
                <a:off x="6027672" y="3004979"/>
                <a:ext cx="799598" cy="369332"/>
              </a:xfrm>
              <a:prstGeom prst="rect">
                <a:avLst/>
              </a:prstGeom>
              <a:blipFill>
                <a:blip r:embed="rId11"/>
                <a:stretch>
                  <a:fillRect r="-3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7D07C0F-DA0C-9D75-CC55-4486F4A8FAC8}"/>
              </a:ext>
            </a:extLst>
          </p:cNvPr>
          <p:cNvCxnSpPr>
            <a:cxnSpLocks/>
          </p:cNvCxnSpPr>
          <p:nvPr/>
        </p:nvCxnSpPr>
        <p:spPr>
          <a:xfrm flipH="1">
            <a:off x="5447603" y="2523051"/>
            <a:ext cx="2978150" cy="2273300"/>
          </a:xfrm>
          <a:prstGeom prst="line">
            <a:avLst/>
          </a:prstGeom>
          <a:ln w="57150"/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CE764D1-3D9E-F183-4069-F0E204D1351D}"/>
              </a:ext>
            </a:extLst>
          </p:cNvPr>
          <p:cNvCxnSpPr>
            <a:cxnSpLocks/>
          </p:cNvCxnSpPr>
          <p:nvPr/>
        </p:nvCxnSpPr>
        <p:spPr>
          <a:xfrm flipH="1">
            <a:off x="5460304" y="4790471"/>
            <a:ext cx="2961085" cy="5880"/>
          </a:xfrm>
          <a:prstGeom prst="line">
            <a:avLst/>
          </a:prstGeom>
          <a:ln w="57150">
            <a:solidFill>
              <a:srgbClr val="C00000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8141CAC-B3D9-C219-32AA-746283881966}"/>
                  </a:ext>
                </a:extLst>
              </p:cNvPr>
              <p:cNvSpPr txBox="1"/>
              <p:nvPr/>
            </p:nvSpPr>
            <p:spPr>
              <a:xfrm>
                <a:off x="6589632" y="4790471"/>
                <a:ext cx="1582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𝐫𝐚𝐝𝐢𝐮𝐬</m:t>
                      </m:r>
                      <m:r>
                        <a:rPr lang="en-GB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8141CAC-B3D9-C219-32AA-746283881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632" y="4790471"/>
                <a:ext cx="158276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4544CB5-EA0A-3E3A-E785-E20CC227718F}"/>
              </a:ext>
            </a:extLst>
          </p:cNvPr>
          <p:cNvCxnSpPr>
            <a:cxnSpLocks/>
          </p:cNvCxnSpPr>
          <p:nvPr/>
        </p:nvCxnSpPr>
        <p:spPr>
          <a:xfrm>
            <a:off x="5451802" y="5118396"/>
            <a:ext cx="2960957" cy="76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1CA0632-1C19-DE12-0657-427EA9B0162A}"/>
              </a:ext>
            </a:extLst>
          </p:cNvPr>
          <p:cNvCxnSpPr>
            <a:cxnSpLocks/>
          </p:cNvCxnSpPr>
          <p:nvPr/>
        </p:nvCxnSpPr>
        <p:spPr>
          <a:xfrm flipV="1">
            <a:off x="5137835" y="2199201"/>
            <a:ext cx="2922158" cy="21807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E73D99B-4015-7BD0-A768-1A99BD6BB214}"/>
              </a:ext>
            </a:extLst>
          </p:cNvPr>
          <p:cNvCxnSpPr>
            <a:cxnSpLocks/>
          </p:cNvCxnSpPr>
          <p:nvPr/>
        </p:nvCxnSpPr>
        <p:spPr>
          <a:xfrm>
            <a:off x="3382161" y="1885474"/>
            <a:ext cx="0" cy="355975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CA6F669-83B1-D698-C23A-D146982B4E5C}"/>
              </a:ext>
            </a:extLst>
          </p:cNvPr>
          <p:cNvCxnSpPr>
            <a:cxnSpLocks/>
          </p:cNvCxnSpPr>
          <p:nvPr/>
        </p:nvCxnSpPr>
        <p:spPr>
          <a:xfrm flipH="1">
            <a:off x="2082430" y="1901055"/>
            <a:ext cx="1481458" cy="2162375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55D95A2B-C4E9-D9CB-9D42-1CC09A3383E2}"/>
              </a:ext>
            </a:extLst>
          </p:cNvPr>
          <p:cNvSpPr/>
          <p:nvPr/>
        </p:nvSpPr>
        <p:spPr>
          <a:xfrm>
            <a:off x="3337367" y="2070140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E570A75-742F-A475-7BFF-C0F1E910FE78}"/>
              </a:ext>
            </a:extLst>
          </p:cNvPr>
          <p:cNvSpPr/>
          <p:nvPr/>
        </p:nvSpPr>
        <p:spPr>
          <a:xfrm>
            <a:off x="8349381" y="2454604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DE6ADD-375E-641B-C972-7D9DCB648309}"/>
              </a:ext>
            </a:extLst>
          </p:cNvPr>
          <p:cNvSpPr txBox="1"/>
          <p:nvPr/>
        </p:nvSpPr>
        <p:spPr>
          <a:xfrm>
            <a:off x="397060" y="727389"/>
            <a:ext cx="8567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Draw a tangent on the unit circle and extend the radius out to the tangent.</a:t>
            </a:r>
            <a:endParaRPr lang="en-GB" sz="2000" i="1" dirty="0">
              <a:latin typeface="Cambria Math" panose="020405030504060302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1E8F3F-AE60-9391-3393-05A361BBB7FA}"/>
              </a:ext>
            </a:extLst>
          </p:cNvPr>
          <p:cNvSpPr txBox="1"/>
          <p:nvPr/>
        </p:nvSpPr>
        <p:spPr>
          <a:xfrm>
            <a:off x="397060" y="1068897"/>
            <a:ext cx="77753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This extended line is known as the </a:t>
            </a:r>
            <a:r>
              <a:rPr lang="en-GB" sz="2000" i="1" dirty="0">
                <a:solidFill>
                  <a:schemeClr val="accent1"/>
                </a:solidFill>
              </a:rPr>
              <a:t>secant </a:t>
            </a:r>
            <a:r>
              <a:rPr lang="en-GB" sz="2000" dirty="0"/>
              <a:t>and makes the </a:t>
            </a:r>
            <a:r>
              <a:rPr lang="en-GB" sz="2000" i="1" dirty="0"/>
              <a:t>hypotenuse of a larger similar triangle </a:t>
            </a:r>
            <a:r>
              <a:rPr lang="en-GB" sz="2000" dirty="0"/>
              <a:t>with the tangent as the </a:t>
            </a:r>
            <a:r>
              <a:rPr lang="en-GB" sz="2000"/>
              <a:t>opposite length.</a:t>
            </a:r>
            <a:endParaRPr lang="en-GB" sz="200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1E411EC-4761-2F3D-F49A-6B9519A318FD}"/>
                  </a:ext>
                </a:extLst>
              </p:cNvPr>
              <p:cNvSpPr txBox="1"/>
              <p:nvPr/>
            </p:nvSpPr>
            <p:spPr>
              <a:xfrm>
                <a:off x="319979" y="5625184"/>
                <a:ext cx="9112428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arenR"/>
                </a:pPr>
                <a:r>
                  <a:rPr lang="en-GB" sz="2000" dirty="0"/>
                  <a:t>Write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co</m:t>
                        </m:r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fName>
                      <m:e>
                        <m:d>
                          <m:dPr>
                            <m:ctrlPr>
                              <a:rPr lang="en-GB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with the </a:t>
                </a:r>
                <a:r>
                  <a:rPr lang="en-GB" sz="2000" dirty="0">
                    <a:solidFill>
                      <a:schemeClr val="accent1"/>
                    </a:solidFill>
                  </a:rPr>
                  <a:t>secant</a:t>
                </a:r>
                <a:r>
                  <a:rPr lang="en-GB" sz="2000" dirty="0"/>
                  <a:t> as a hypotenuse:</a:t>
                </a:r>
                <a:r>
                  <a:rPr lang="en-GB" sz="2000" dirty="0">
                    <a:solidFill>
                      <a:srgbClr val="000000"/>
                    </a:solidFill>
                  </a:rPr>
                  <a:t>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secant</m:t>
                        </m:r>
                      </m:den>
                    </m:f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r>
                  <a:rPr lang="en-GB" sz="2000" i="1" dirty="0">
                    <a:latin typeface="Cambria Math" panose="02040503050406030204" pitchFamily="18" charset="0"/>
                  </a:rPr>
                  <a:t>        </a:t>
                </a:r>
                <a:endParaRPr lang="en-GB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1E411EC-4761-2F3D-F49A-6B9519A31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79" y="5625184"/>
                <a:ext cx="9112428" cy="792718"/>
              </a:xfrm>
              <a:prstGeom prst="rect">
                <a:avLst/>
              </a:prstGeom>
              <a:blipFill>
                <a:blip r:embed="rId13"/>
                <a:stretch>
                  <a:fillRect l="-736" t="-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02FCFF9-40B8-731D-06CA-2FC781BD3CF3}"/>
                  </a:ext>
                </a:extLst>
              </p:cNvPr>
              <p:cNvSpPr txBox="1"/>
              <p:nvPr/>
            </p:nvSpPr>
            <p:spPr>
              <a:xfrm>
                <a:off x="319979" y="6165304"/>
                <a:ext cx="8432064" cy="52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2)    Make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d>
                          <m:dPr>
                            <m:ctrlPr>
                              <a:rPr lang="en-GB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secant</m:t>
                    </m:r>
                  </m:oMath>
                </a14:m>
                <a:r>
                  <a:rPr lang="en-GB" sz="2000" dirty="0">
                    <a:solidFill>
                      <a:schemeClr val="accent1"/>
                    </a:solidFill>
                  </a:rPr>
                  <a:t> </a:t>
                </a:r>
                <a:r>
                  <a:rPr lang="en-GB" sz="2000" dirty="0"/>
                  <a:t>the subject of the formula:</a:t>
                </a:r>
                <a:r>
                  <a:rPr lang="en-GB" sz="2000" dirty="0">
                    <a:solidFill>
                      <a:srgbClr val="000000"/>
                    </a:solidFill>
                  </a:rPr>
                  <a:t>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d>
                          <m:dPr>
                            <m:ctrlPr>
                              <a:rPr lang="en-GB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den>
                    </m:f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02FCFF9-40B8-731D-06CA-2FC781BD3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79" y="6165304"/>
                <a:ext cx="8432064" cy="528543"/>
              </a:xfrm>
              <a:prstGeom prst="rect">
                <a:avLst/>
              </a:prstGeom>
              <a:blipFill>
                <a:blip r:embed="rId14"/>
                <a:stretch>
                  <a:fillRect l="-723" b="-8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>
            <a:extLst>
              <a:ext uri="{FF2B5EF4-FFF2-40B4-BE49-F238E27FC236}">
                <a16:creationId xmlns:a16="http://schemas.microsoft.com/office/drawing/2014/main" id="{619F90E2-723F-3A76-8565-96389D8BFCBD}"/>
              </a:ext>
            </a:extLst>
          </p:cNvPr>
          <p:cNvSpPr/>
          <p:nvPr/>
        </p:nvSpPr>
        <p:spPr>
          <a:xfrm>
            <a:off x="7454212" y="6165304"/>
            <a:ext cx="605781" cy="5398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BE6C333-5737-FB78-9288-09BF5932D75E}"/>
              </a:ext>
            </a:extLst>
          </p:cNvPr>
          <p:cNvSpPr/>
          <p:nvPr/>
        </p:nvSpPr>
        <p:spPr>
          <a:xfrm>
            <a:off x="6894528" y="5592306"/>
            <a:ext cx="1165465" cy="5398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1429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</p:childTnLst>
        </p:cTn>
      </p:par>
    </p:tnLst>
    <p:bldLst>
      <p:bldP spid="82" grpId="0"/>
      <p:bldP spid="84" grpId="0"/>
      <p:bldP spid="85" grpId="0"/>
      <p:bldP spid="87" grpId="0"/>
      <p:bldP spid="88" grpId="0" animBg="1"/>
      <p:bldP spid="88" grpId="1" animBg="1"/>
      <p:bldP spid="89" grpId="0" animBg="1"/>
      <p:bldP spid="8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D8A8EC-ED4F-EE27-042D-07178A734024}"/>
              </a:ext>
            </a:extLst>
          </p:cNvPr>
          <p:cNvSpPr/>
          <p:nvPr/>
        </p:nvSpPr>
        <p:spPr>
          <a:xfrm>
            <a:off x="228963" y="1484784"/>
            <a:ext cx="4464496" cy="468052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17D3A-0D48-EFCF-BD51-3B49510A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Reciprocal Trigonometric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77FAC7-BD66-66B0-BD57-6271CEC656E7}"/>
                  </a:ext>
                </a:extLst>
              </p:cNvPr>
              <p:cNvSpPr txBox="1"/>
              <p:nvPr/>
            </p:nvSpPr>
            <p:spPr>
              <a:xfrm>
                <a:off x="683568" y="1556792"/>
                <a:ext cx="4608512" cy="1211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GB" sz="3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sec</m:t>
                          </m:r>
                        </m:fName>
                        <m:e>
                          <m:d>
                            <m:d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kumimoji="0" lang="en-GB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GB" sz="3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77FAC7-BD66-66B0-BD57-6271CEC65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556792"/>
                <a:ext cx="4608512" cy="12114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469674-3572-3BAE-395D-6C63091078E0}"/>
                  </a:ext>
                </a:extLst>
              </p:cNvPr>
              <p:cNvSpPr txBox="1"/>
              <p:nvPr/>
            </p:nvSpPr>
            <p:spPr>
              <a:xfrm>
                <a:off x="281014" y="3200262"/>
                <a:ext cx="4608512" cy="1211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GB" sz="3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cosec</m:t>
                          </m:r>
                        </m:fName>
                        <m:e>
                          <m:d>
                            <m:d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kumimoji="0" lang="en-GB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GB" sz="3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469674-3572-3BAE-395D-6C6309107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14" y="3200262"/>
                <a:ext cx="4608512" cy="12114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4324085-F936-9A36-CE02-E15956A13A8B}"/>
              </a:ext>
            </a:extLst>
          </p:cNvPr>
          <p:cNvSpPr txBox="1"/>
          <p:nvPr/>
        </p:nvSpPr>
        <p:spPr>
          <a:xfrm>
            <a:off x="107504" y="692696"/>
            <a:ext cx="43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CFC322-9431-B873-8AA8-55D9EB9C4234}"/>
                  </a:ext>
                </a:extLst>
              </p:cNvPr>
              <p:cNvSpPr txBox="1"/>
              <p:nvPr/>
            </p:nvSpPr>
            <p:spPr>
              <a:xfrm>
                <a:off x="724119" y="4665850"/>
                <a:ext cx="3663732" cy="1211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GB" sz="3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cot</m:t>
                          </m:r>
                        </m:fName>
                        <m:e>
                          <m:d>
                            <m:d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kumimoji="0" lang="en-GB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0" lang="en-GB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GB" sz="3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CFC322-9431-B873-8AA8-55D9EB9C4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19" y="4665850"/>
                <a:ext cx="3663732" cy="12114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A3FE77F-18FA-9149-3031-05540BAAB822}"/>
              </a:ext>
            </a:extLst>
          </p:cNvPr>
          <p:cNvSpPr txBox="1"/>
          <p:nvPr/>
        </p:nvSpPr>
        <p:spPr>
          <a:xfrm>
            <a:off x="5022528" y="1842079"/>
            <a:ext cx="3543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Short for “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secant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Pronounced “sehk” in shortened form or “sea-Kant” in full.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4A0CB9-9009-8691-75E7-D5470BC36EFC}"/>
              </a:ext>
            </a:extLst>
          </p:cNvPr>
          <p:cNvSpPr txBox="1"/>
          <p:nvPr/>
        </p:nvSpPr>
        <p:spPr>
          <a:xfrm>
            <a:off x="5089723" y="3669852"/>
            <a:ext cx="390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There is also a “cosec” to go with sine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Short for “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cosecant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36588-32D0-5E67-F44C-2DB077D72D73}"/>
              </a:ext>
            </a:extLst>
          </p:cNvPr>
          <p:cNvSpPr txBox="1"/>
          <p:nvPr/>
        </p:nvSpPr>
        <p:spPr>
          <a:xfrm>
            <a:off x="5120355" y="5061004"/>
            <a:ext cx="3870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Short for “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cotangent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In shortened form, rhymes with “pot”.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BFD16-2F04-6547-7953-17BACF18DE7A}"/>
              </a:ext>
            </a:extLst>
          </p:cNvPr>
          <p:cNvSpPr txBox="1"/>
          <p:nvPr/>
        </p:nvSpPr>
        <p:spPr>
          <a:xfrm>
            <a:off x="896051" y="791274"/>
            <a:ext cx="698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Summary to learn: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8064A2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CFB7E8-85E1-35A6-EB8B-2FA34642CFED}"/>
              </a:ext>
            </a:extLst>
          </p:cNvPr>
          <p:cNvSpPr/>
          <p:nvPr/>
        </p:nvSpPr>
        <p:spPr>
          <a:xfrm>
            <a:off x="1195519" y="1988840"/>
            <a:ext cx="244043" cy="488092"/>
          </a:xfrm>
          <a:prstGeom prst="roundRect">
            <a:avLst/>
          </a:prstGeom>
          <a:solidFill>
            <a:schemeClr val="accent6">
              <a:alpha val="22000"/>
            </a:schemeClr>
          </a:solidFill>
          <a:ln>
            <a:solidFill>
              <a:schemeClr val="accent6">
                <a:alpha val="37000"/>
              </a:schemeClr>
            </a:solidFill>
            <a:prstDash val="dash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98456F-C2FF-D646-A557-46F5D52D466E}"/>
              </a:ext>
            </a:extLst>
          </p:cNvPr>
          <p:cNvSpPr/>
          <p:nvPr/>
        </p:nvSpPr>
        <p:spPr>
          <a:xfrm>
            <a:off x="2609005" y="2268720"/>
            <a:ext cx="244043" cy="488092"/>
          </a:xfrm>
          <a:prstGeom prst="roundRect">
            <a:avLst/>
          </a:prstGeom>
          <a:solidFill>
            <a:schemeClr val="accent6">
              <a:alpha val="22000"/>
            </a:schemeClr>
          </a:solidFill>
          <a:ln>
            <a:solidFill>
              <a:schemeClr val="accent6">
                <a:alpha val="37000"/>
              </a:schemeClr>
            </a:solidFill>
            <a:prstDash val="dash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64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7" grpId="0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Calculations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1520" y="1009444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Calculate these exact values: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9552" y="1988840"/>
                <a:ext cx="3456384" cy="330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den>
                                  </m:f>
                                </m:e>
                              </m:func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e>
                      </m:func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𝐜𝐨𝐬𝐞𝐜</m:t>
                          </m:r>
                        </m:fName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988840"/>
                <a:ext cx="3456384" cy="330475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16016" y="1988840"/>
                <a:ext cx="3456384" cy="2133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𝒔𝒆𝒄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988840"/>
                <a:ext cx="3456384" cy="213366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4319972" y="1988840"/>
            <a:ext cx="0" cy="3600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403648" y="1980276"/>
            <a:ext cx="1584176" cy="7286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3647" y="2717484"/>
            <a:ext cx="1934463" cy="840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5665" y="3558448"/>
            <a:ext cx="1934463" cy="6830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03647" y="4241493"/>
            <a:ext cx="678541" cy="499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5720" y="4740934"/>
            <a:ext cx="1232104" cy="499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80112" y="2017283"/>
            <a:ext cx="864755" cy="3954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0112" y="2441138"/>
            <a:ext cx="864755" cy="6278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96136" y="3097402"/>
            <a:ext cx="864755" cy="461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8221" y="3608922"/>
            <a:ext cx="1086027" cy="461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0145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6.1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Pages 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1A34C1A-0D1C-76EA-4FD0-C1CC05F5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67" y="1148880"/>
            <a:ext cx="8021066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65E1A70-DE59-F8E9-1DA7-9590923D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47" y="1070191"/>
            <a:ext cx="7725362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64AC4EA-0078-C5FE-B59F-386F8B2A6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94" y="977758"/>
            <a:ext cx="4591050" cy="4629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E9EA69-B10D-8D1B-69CB-6F4C3858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044" y="977758"/>
            <a:ext cx="37719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FL Slides Theme + RMetS">
  <a:themeElements>
    <a:clrScheme name="DFM Colours">
      <a:dk1>
        <a:srgbClr val="000000"/>
      </a:dk1>
      <a:lt1>
        <a:sysClr val="window" lastClr="FFFFFF"/>
      </a:lt1>
      <a:dk2>
        <a:srgbClr val="222A35"/>
      </a:dk2>
      <a:lt2>
        <a:srgbClr val="EEECE1"/>
      </a:lt2>
      <a:accent1>
        <a:srgbClr val="BAE947"/>
      </a:accent1>
      <a:accent2>
        <a:srgbClr val="8064A2"/>
      </a:accent2>
      <a:accent3>
        <a:srgbClr val="4BACC6"/>
      </a:accent3>
      <a:accent4>
        <a:srgbClr val="F79646"/>
      </a:accent4>
      <a:accent5>
        <a:srgbClr val="9BBB59"/>
      </a:accent5>
      <a:accent6>
        <a:srgbClr val="FB5D43"/>
      </a:accent6>
      <a:hlink>
        <a:srgbClr val="31859B"/>
      </a:hlink>
      <a:folHlink>
        <a:srgbClr val="80008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FL Slides Theme + RMetS" id="{5E0E8018-04C0-4DBD-A76D-84DD9F015EED}" vid="{69D9431B-AF90-4771-8921-1355DB9CBAC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61784</TotalTime>
  <Words>357</Words>
  <Application>Microsoft Office PowerPoint</Application>
  <PresentationFormat>On-screen Show (4:3)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Dreaming Outloud Pro</vt:lpstr>
      <vt:lpstr>Trebuchet MS</vt:lpstr>
      <vt:lpstr>Wingdings</vt:lpstr>
      <vt:lpstr>Office Theme</vt:lpstr>
      <vt:lpstr>DFL Slides Theme + RMetS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Reciprocal Trigonometric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2026-01-15T13:44:31Z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