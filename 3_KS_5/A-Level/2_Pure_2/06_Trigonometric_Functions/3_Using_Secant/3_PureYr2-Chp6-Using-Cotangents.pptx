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547" r:id="rId5"/>
    <p:sldId id="677" r:id="rId6"/>
    <p:sldId id="678" r:id="rId7"/>
    <p:sldId id="679" r:id="rId8"/>
    <p:sldId id="680" r:id="rId9"/>
    <p:sldId id="549" r:id="rId10"/>
    <p:sldId id="543" r:id="rId11"/>
    <p:sldId id="550" r:id="rId12"/>
    <p:sldId id="551" r:id="rId13"/>
    <p:sldId id="545" r:id="rId14"/>
    <p:sldId id="681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BF8A83-A91A-46E1-93B9-5DC29B511789}" v="13" dt="2026-01-15T15:47:01.5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12" autoAdjust="0"/>
    <p:restoredTop sz="88534" autoAdjust="0"/>
  </p:normalViewPr>
  <p:slideViewPr>
    <p:cSldViewPr>
      <p:cViewPr varScale="1">
        <p:scale>
          <a:sx n="112" d="100"/>
          <a:sy n="112" d="100"/>
        </p:scale>
        <p:origin x="1518" y="10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B47B330E-67D7-47E6-A6C8-686253D34652}"/>
    <pc:docChg chg="undo custSel addSld delSld modSld">
      <pc:chgData name="Dieter Beaven" userId="9bbdb69f-69d0-4759-aa9b-5c090a2da237" providerId="ADAL" clId="{B47B330E-67D7-47E6-A6C8-686253D34652}" dt="2026-01-15T15:47:01.532" v="33" actId="20577"/>
      <pc:docMkLst>
        <pc:docMk/>
      </pc:docMkLst>
      <pc:sldChg chg="addSp delSp modSp mod">
        <pc:chgData name="Dieter Beaven" userId="9bbdb69f-69d0-4759-aa9b-5c090a2da237" providerId="ADAL" clId="{B47B330E-67D7-47E6-A6C8-686253D34652}" dt="2026-01-13T15:50:24.507" v="6" actId="1076"/>
        <pc:sldMkLst>
          <pc:docMk/>
          <pc:sldMk cId="3896053727" sldId="543"/>
        </pc:sldMkLst>
        <pc:picChg chg="add mod">
          <ac:chgData name="Dieter Beaven" userId="9bbdb69f-69d0-4759-aa9b-5c090a2da237" providerId="ADAL" clId="{B47B330E-67D7-47E6-A6C8-686253D34652}" dt="2026-01-13T15:50:24.507" v="6" actId="1076"/>
          <ac:picMkLst>
            <pc:docMk/>
            <pc:sldMk cId="3896053727" sldId="543"/>
            <ac:picMk id="8" creationId="{E5D44903-6FC4-943D-03AF-8D31A9E88781}"/>
          </ac:picMkLst>
        </pc:picChg>
      </pc:sldChg>
      <pc:sldChg chg="addSp delSp mod">
        <pc:chgData name="Dieter Beaven" userId="9bbdb69f-69d0-4759-aa9b-5c090a2da237" providerId="ADAL" clId="{B47B330E-67D7-47E6-A6C8-686253D34652}" dt="2026-01-15T15:41:41.338" v="15" actId="22"/>
        <pc:sldMkLst>
          <pc:docMk/>
          <pc:sldMk cId="3458699803" sldId="545"/>
        </pc:sldMkLst>
        <pc:picChg chg="add">
          <ac:chgData name="Dieter Beaven" userId="9bbdb69f-69d0-4759-aa9b-5c090a2da237" providerId="ADAL" clId="{B47B330E-67D7-47E6-A6C8-686253D34652}" dt="2026-01-15T15:41:41.338" v="15" actId="22"/>
          <ac:picMkLst>
            <pc:docMk/>
            <pc:sldMk cId="3458699803" sldId="545"/>
            <ac:picMk id="6" creationId="{21B4F0E4-AA35-D98C-FCC5-9AFB69CE3606}"/>
          </ac:picMkLst>
        </pc:picChg>
      </pc:sldChg>
      <pc:sldChg chg="modSp">
        <pc:chgData name="Dieter Beaven" userId="9bbdb69f-69d0-4759-aa9b-5c090a2da237" providerId="ADAL" clId="{B47B330E-67D7-47E6-A6C8-686253D34652}" dt="2026-01-15T10:38:45.322" v="14"/>
        <pc:sldMkLst>
          <pc:docMk/>
          <pc:sldMk cId="3991975165" sldId="547"/>
        </pc:sldMkLst>
        <pc:spChg chg="mod">
          <ac:chgData name="Dieter Beaven" userId="9bbdb69f-69d0-4759-aa9b-5c090a2da237" providerId="ADAL" clId="{B47B330E-67D7-47E6-A6C8-686253D34652}" dt="2026-01-15T10:38:45.322" v="14"/>
          <ac:spMkLst>
            <pc:docMk/>
            <pc:sldMk cId="3991975165" sldId="547"/>
            <ac:spMk id="2" creationId="{00000000-0000-0000-0000-000000000000}"/>
          </ac:spMkLst>
        </pc:spChg>
      </pc:sldChg>
      <pc:sldChg chg="addSp modSp mod">
        <pc:chgData name="Dieter Beaven" userId="9bbdb69f-69d0-4759-aa9b-5c090a2da237" providerId="ADAL" clId="{B47B330E-67D7-47E6-A6C8-686253D34652}" dt="2026-01-13T15:51:18.732" v="9" actId="1076"/>
        <pc:sldMkLst>
          <pc:docMk/>
          <pc:sldMk cId="4091202299" sldId="550"/>
        </pc:sldMkLst>
        <pc:picChg chg="add mod">
          <ac:chgData name="Dieter Beaven" userId="9bbdb69f-69d0-4759-aa9b-5c090a2da237" providerId="ADAL" clId="{B47B330E-67D7-47E6-A6C8-686253D34652}" dt="2026-01-13T15:51:18.732" v="9" actId="1076"/>
          <ac:picMkLst>
            <pc:docMk/>
            <pc:sldMk cId="4091202299" sldId="550"/>
            <ac:picMk id="6" creationId="{F45005E2-E742-A11D-22D2-4F58BECEEAD7}"/>
          </ac:picMkLst>
        </pc:picChg>
      </pc:sldChg>
      <pc:sldChg chg="addSp delSp modSp mod">
        <pc:chgData name="Dieter Beaven" userId="9bbdb69f-69d0-4759-aa9b-5c090a2da237" providerId="ADAL" clId="{B47B330E-67D7-47E6-A6C8-686253D34652}" dt="2026-01-13T15:52:19.837" v="13" actId="1076"/>
        <pc:sldMkLst>
          <pc:docMk/>
          <pc:sldMk cId="3826585799" sldId="551"/>
        </pc:sldMkLst>
        <pc:picChg chg="add mod">
          <ac:chgData name="Dieter Beaven" userId="9bbdb69f-69d0-4759-aa9b-5c090a2da237" providerId="ADAL" clId="{B47B330E-67D7-47E6-A6C8-686253D34652}" dt="2026-01-13T15:52:19.837" v="13" actId="1076"/>
          <ac:picMkLst>
            <pc:docMk/>
            <pc:sldMk cId="3826585799" sldId="551"/>
            <ac:picMk id="8" creationId="{98E607F8-D8D2-5A20-E38B-FED719ABDC0C}"/>
          </ac:picMkLst>
        </pc:picChg>
      </pc:sldChg>
      <pc:sldChg chg="modSp">
        <pc:chgData name="Dieter Beaven" userId="9bbdb69f-69d0-4759-aa9b-5c090a2da237" providerId="ADAL" clId="{B47B330E-67D7-47E6-A6C8-686253D34652}" dt="2026-01-15T15:47:01.532" v="33" actId="20577"/>
        <pc:sldMkLst>
          <pc:docMk/>
          <pc:sldMk cId="2148045964" sldId="677"/>
        </pc:sldMkLst>
        <pc:spChg chg="mod">
          <ac:chgData name="Dieter Beaven" userId="9bbdb69f-69d0-4759-aa9b-5c090a2da237" providerId="ADAL" clId="{B47B330E-67D7-47E6-A6C8-686253D34652}" dt="2026-01-15T15:46:59.048" v="28" actId="20577"/>
          <ac:spMkLst>
            <pc:docMk/>
            <pc:sldMk cId="2148045964" sldId="677"/>
            <ac:spMk id="6" creationId="{88344DF7-F400-4320-A531-C8C037E8BD5B}"/>
          </ac:spMkLst>
        </pc:spChg>
        <pc:spChg chg="mod">
          <ac:chgData name="Dieter Beaven" userId="9bbdb69f-69d0-4759-aa9b-5c090a2da237" providerId="ADAL" clId="{B47B330E-67D7-47E6-A6C8-686253D34652}" dt="2026-01-15T15:47:01.532" v="33" actId="20577"/>
          <ac:spMkLst>
            <pc:docMk/>
            <pc:sldMk cId="2148045964" sldId="677"/>
            <ac:spMk id="7" creationId="{AE368640-D0DC-43DC-BED1-CC5CA9339783}"/>
          </ac:spMkLst>
        </pc:spChg>
      </pc:sldChg>
      <pc:sldChg chg="addSp delSp modSp add mod">
        <pc:chgData name="Dieter Beaven" userId="9bbdb69f-69d0-4759-aa9b-5c090a2da237" providerId="ADAL" clId="{B47B330E-67D7-47E6-A6C8-686253D34652}" dt="2026-01-15T15:45:01.958" v="23" actId="1035"/>
        <pc:sldMkLst>
          <pc:docMk/>
          <pc:sldMk cId="3676846648" sldId="681"/>
        </pc:sldMkLst>
        <pc:picChg chg="del">
          <ac:chgData name="Dieter Beaven" userId="9bbdb69f-69d0-4759-aa9b-5c090a2da237" providerId="ADAL" clId="{B47B330E-67D7-47E6-A6C8-686253D34652}" dt="2026-01-15T15:41:47.702" v="17" actId="478"/>
          <ac:picMkLst>
            <pc:docMk/>
            <pc:sldMk cId="3676846648" sldId="681"/>
            <ac:picMk id="6" creationId="{38C77EDE-AF8D-8150-292B-D779345B4B8D}"/>
          </ac:picMkLst>
        </pc:picChg>
        <pc:picChg chg="add mod">
          <ac:chgData name="Dieter Beaven" userId="9bbdb69f-69d0-4759-aa9b-5c090a2da237" providerId="ADAL" clId="{B47B330E-67D7-47E6-A6C8-686253D34652}" dt="2026-01-15T15:45:01.958" v="23" actId="1035"/>
          <ac:picMkLst>
            <pc:docMk/>
            <pc:sldMk cId="3676846648" sldId="681"/>
            <ac:picMk id="7" creationId="{9B491B16-31AF-2DDC-BEB7-1192FDB40803}"/>
          </ac:picMkLst>
        </pc:picChg>
      </pc:sldChg>
      <pc:sldChg chg="add del">
        <pc:chgData name="Dieter Beaven" userId="9bbdb69f-69d0-4759-aa9b-5c090a2da237" providerId="ADAL" clId="{B47B330E-67D7-47E6-A6C8-686253D34652}" dt="2026-01-15T15:44:56.499" v="20" actId="47"/>
        <pc:sldMkLst>
          <pc:docMk/>
          <pc:sldMk cId="1400533342" sldId="68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5.png"/><Relationship Id="rId3" Type="http://schemas.openxmlformats.org/officeDocument/2006/relationships/image" Target="../media/image1.png"/><Relationship Id="rId7" Type="http://schemas.openxmlformats.org/officeDocument/2006/relationships/image" Target="../media/image268.png"/><Relationship Id="rId12" Type="http://schemas.openxmlformats.org/officeDocument/2006/relationships/image" Target="../media/image274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14" Type="http://schemas.openxmlformats.org/officeDocument/2006/relationships/image" Target="../media/image27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27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6.png"/><Relationship Id="rId13" Type="http://schemas.openxmlformats.org/officeDocument/2006/relationships/image" Target="../media/image292.png"/><Relationship Id="rId3" Type="http://schemas.openxmlformats.org/officeDocument/2006/relationships/image" Target="../media/image281.png"/><Relationship Id="rId7" Type="http://schemas.openxmlformats.org/officeDocument/2006/relationships/image" Target="../media/image285.png"/><Relationship Id="rId12" Type="http://schemas.openxmlformats.org/officeDocument/2006/relationships/image" Target="../media/image291.png"/><Relationship Id="rId2" Type="http://schemas.openxmlformats.org/officeDocument/2006/relationships/image" Target="../media/image27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4.png"/><Relationship Id="rId11" Type="http://schemas.openxmlformats.org/officeDocument/2006/relationships/image" Target="../media/image289.png"/><Relationship Id="rId5" Type="http://schemas.openxmlformats.org/officeDocument/2006/relationships/image" Target="../media/image283.png"/><Relationship Id="rId10" Type="http://schemas.openxmlformats.org/officeDocument/2006/relationships/image" Target="../media/image288.png"/><Relationship Id="rId4" Type="http://schemas.openxmlformats.org/officeDocument/2006/relationships/image" Target="../media/image282.png"/><Relationship Id="rId9" Type="http://schemas.openxmlformats.org/officeDocument/2006/relationships/image" Target="../media/image287.png"/><Relationship Id="rId14" Type="http://schemas.openxmlformats.org/officeDocument/2006/relationships/image" Target="../media/image29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5.png"/><Relationship Id="rId2" Type="http://schemas.openxmlformats.org/officeDocument/2006/relationships/image" Target="../media/image29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496" y="2130425"/>
            <a:ext cx="9073008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6: </a:t>
            </a:r>
            <a:r>
              <a:rPr lang="en-GB" dirty="0" err="1">
                <a:solidFill>
                  <a:schemeClr val="accent5"/>
                </a:solidFill>
              </a:rPr>
              <a:t>CoAngle</a:t>
            </a:r>
            <a:r>
              <a:rPr lang="en-GB">
                <a:solidFill>
                  <a:schemeClr val="accent5"/>
                </a:solidFill>
              </a:rPr>
              <a:t> Trigonometry</a:t>
            </a:r>
            <a:br>
              <a:rPr lang="en-GB" dirty="0"/>
            </a:br>
            <a:br>
              <a:rPr lang="en-GB" dirty="0"/>
            </a:br>
            <a:r>
              <a:rPr lang="en-GB" dirty="0"/>
              <a:t>Using Cotangents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2E5F0D8-683B-44B1-936D-23B317FD6FB6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32">
                  <a:extLst>
                    <a:ext uri="{FF2B5EF4-FFF2-40B4-BE49-F238E27FC236}">
                      <a16:creationId xmlns:a16="http://schemas.microsoft.com/office/drawing/2014/main" id="{41794A03-25C8-4D0C-ADDF-A0C33F54F632}"/>
                    </a:ext>
                  </a:extLst>
                </p:cNvPr>
                <p:cNvSpPr txBox="1"/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lIns="32400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GB" sz="3200" dirty="0">
                      <a:latin typeface="+mj-lt"/>
                    </a:rPr>
                    <a:t>Using </a:t>
                  </a:r>
                  <a14:m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𝑠𝑒𝑐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𝑐𝑜𝑠𝑒𝑐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𝑐𝑜𝑡</m:t>
                      </m:r>
                    </m:oMath>
                  </a14:m>
                  <a:endParaRPr lang="en-GB" sz="3200" dirty="0"/>
                </a:p>
              </p:txBody>
            </p:sp>
          </mc:Choice>
          <mc:Fallback xmlns="">
            <p:sp>
              <p:nvSpPr>
                <p:cNvPr id="3" name="TextBox 32">
                  <a:extLst>
                    <a:ext uri="{FF2B5EF4-FFF2-40B4-BE49-F238E27FC236}">
                      <a16:creationId xmlns:a16="http://schemas.microsoft.com/office/drawing/2014/main" id="{41794A03-25C8-4D0C-ADDF-A0C33F54F6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blipFill>
                  <a:blip r:embed="rId2"/>
                  <a:stretch>
                    <a:fillRect t="-12245" b="-316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0D206C61-DB03-4880-8C75-12F8D23A6D5A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C243BDE-73E8-4741-9722-213AB0AD8AD9}"/>
              </a:ext>
            </a:extLst>
          </p:cNvPr>
          <p:cNvSpPr txBox="1"/>
          <p:nvPr/>
        </p:nvSpPr>
        <p:spPr>
          <a:xfrm>
            <a:off x="250393" y="734549"/>
            <a:ext cx="82089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Questions in the exam usually come in two flavours: (a) ‘</a:t>
            </a:r>
            <a:r>
              <a:rPr lang="en-GB" dirty="0" err="1"/>
              <a:t>provey</a:t>
            </a:r>
            <a:r>
              <a:rPr lang="en-GB" dirty="0"/>
              <a:t>’ questions requiring to prove some identity and (b) ‘</a:t>
            </a:r>
            <a:r>
              <a:rPr lang="en-GB" dirty="0" err="1"/>
              <a:t>solvey</a:t>
            </a:r>
            <a:r>
              <a:rPr lang="en-GB" dirty="0"/>
              <a:t>’ questions.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8344DF7-F400-4320-A531-C8C037E8BD5B}"/>
                  </a:ext>
                </a:extLst>
              </p:cNvPr>
              <p:cNvSpPr txBox="1"/>
              <p:nvPr/>
            </p:nvSpPr>
            <p:spPr>
              <a:xfrm>
                <a:off x="6001528" y="1578362"/>
                <a:ext cx="2592288" cy="126323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Tip 1: </a:t>
                </a:r>
                <a:r>
                  <a:rPr lang="en-GB" sz="1600" dirty="0"/>
                  <a:t>Get everything in terms of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𝑠𝑖𝑛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𝑐𝑜𝑠</m:t>
                    </m:r>
                  </m:oMath>
                </a14:m>
                <a:r>
                  <a:rPr lang="en-GB" sz="1600" dirty="0"/>
                  <a:t> first (using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cot</m:t>
                        </m:r>
                      </m:fName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16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16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den>
                    </m:f>
                  </m:oMath>
                </a14:m>
                <a:r>
                  <a:rPr lang="en-GB" sz="1600" dirty="0"/>
                  <a:t> rather than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cot</m:t>
                        </m:r>
                      </m:fName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unc>
                          <m:func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1600" b="0" i="0" smtClean="0">
                                <a:latin typeface="Cambria Math" panose="02040503050406030204" pitchFamily="18" charset="0"/>
                              </a:rPr>
                              <m:t>tan</m:t>
                            </m:r>
                          </m:fName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den>
                    </m:f>
                  </m:oMath>
                </a14:m>
                <a:r>
                  <a:rPr lang="en-GB" sz="1600" dirty="0"/>
                  <a:t>)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8344DF7-F400-4320-A531-C8C037E8BD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1528" y="1578362"/>
                <a:ext cx="2592288" cy="1263231"/>
              </a:xfrm>
              <a:prstGeom prst="rect">
                <a:avLst/>
              </a:prstGeom>
              <a:blipFill>
                <a:blip r:embed="rId3"/>
                <a:stretch>
                  <a:fillRect l="-932" t="-474" b="-4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E368640-D0DC-43DC-BED1-CC5CA9339783}"/>
                  </a:ext>
                </a:extLst>
              </p:cNvPr>
              <p:cNvSpPr txBox="1"/>
              <p:nvPr/>
            </p:nvSpPr>
            <p:spPr>
              <a:xfrm>
                <a:off x="2021613" y="3040188"/>
                <a:ext cx="5113140" cy="91422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b="1"/>
                  <a:t>Tip </a:t>
                </a:r>
                <a:r>
                  <a:rPr lang="en-GB" sz="1600" b="1" dirty="0"/>
                  <a:t>2: </a:t>
                </a:r>
                <a:r>
                  <a:rPr lang="en-GB" sz="1600" dirty="0"/>
                  <a:t>Whenever you have algebraic fractions being added/subtracted, whether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lang="en-GB" sz="1600" dirty="0"/>
                  <a:t> 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sz="1600" dirty="0"/>
                  <a:t>, combine them into one (as we can typically then use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16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16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sz="1600" dirty="0"/>
                  <a:t>)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E368640-D0DC-43DC-BED1-CC5CA9339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1613" y="3040188"/>
                <a:ext cx="5113140" cy="914225"/>
              </a:xfrm>
              <a:prstGeom prst="rect">
                <a:avLst/>
              </a:prstGeom>
              <a:blipFill>
                <a:blip r:embed="rId4"/>
                <a:stretch>
                  <a:fillRect l="-475" t="-649" b="-64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8468C62-F8F8-4B31-BB49-0034300CBC01}"/>
                  </a:ext>
                </a:extLst>
              </p:cNvPr>
              <p:cNvSpPr txBox="1"/>
              <p:nvPr/>
            </p:nvSpPr>
            <p:spPr>
              <a:xfrm>
                <a:off x="459684" y="1668357"/>
                <a:ext cx="5120428" cy="123719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[Textbook]</a:t>
                </a:r>
              </a:p>
              <a:p>
                <a:pPr marL="342900" indent="-342900">
                  <a:buAutoNum type="alphaLcParenBoth"/>
                </a:pPr>
                <a:r>
                  <a:rPr lang="en-GB" sz="1600" b="0" dirty="0"/>
                  <a:t>Simplify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cot</m:t>
                        </m:r>
                      </m:fName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sec</m:t>
                        </m:r>
                      </m:fName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en-GB" sz="1600" dirty="0"/>
              </a:p>
              <a:p>
                <a:pPr marL="342900" indent="-342900">
                  <a:buAutoNum type="alphaLcParenBoth"/>
                </a:pPr>
                <a:r>
                  <a:rPr lang="en-GB" sz="1600" dirty="0"/>
                  <a:t>Simplify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1600" b="0" i="0" smtClean="0">
                                <a:latin typeface="Cambria Math" panose="02040503050406030204" pitchFamily="18" charset="0"/>
                              </a:rPr>
                              <m:t>sec</m:t>
                            </m:r>
                          </m:fName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𝑐𝑜𝑠𝑒𝑐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GB" sz="1600" dirty="0"/>
              </a:p>
              <a:p>
                <a:pPr marL="342900" indent="-342900">
                  <a:buAutoNum type="alphaLcParenBoth"/>
                </a:pPr>
                <a:r>
                  <a:rPr lang="en-GB" sz="1600" dirty="0"/>
                  <a:t>Prove that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1600" b="0" i="0" smtClean="0">
                                <a:latin typeface="Cambria Math" panose="02040503050406030204" pitchFamily="18" charset="0"/>
                              </a:rPr>
                              <m:t>cot</m:t>
                            </m:r>
                          </m:fName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𝑐𝑜𝑠𝑒𝑐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num>
                      <m:den>
                        <m:func>
                          <m:func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GB" sz="1600" b="0" i="0" smtClean="0">
                                    <a:latin typeface="Cambria Math" panose="02040503050406030204" pitchFamily="18" charset="0"/>
                                  </a:rPr>
                                  <m:t>sec</m:t>
                                </m:r>
                              </m:e>
                              <m:sup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𝑐𝑜𝑠𝑒</m:t>
                        </m:r>
                        <m:sSup>
                          <m:sSup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den>
                    </m:f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≡</m:t>
                    </m:r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16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fName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8468C62-F8F8-4B31-BB49-0034300CB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684" y="1668357"/>
                <a:ext cx="5120428" cy="12371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B0028D2-7E67-4AF7-8413-C029D07BF7E9}"/>
                  </a:ext>
                </a:extLst>
              </p:cNvPr>
              <p:cNvSpPr txBox="1"/>
              <p:nvPr/>
            </p:nvSpPr>
            <p:spPr>
              <a:xfrm>
                <a:off x="573460" y="4171319"/>
                <a:ext cx="3888432" cy="26484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cot</m:t>
                          </m:r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sec</m:t>
                          </m:r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≡</m:t>
                      </m:r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6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6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unc>
                            <m:func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6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≡1</m:t>
                      </m:r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sec</m:t>
                              </m:r>
                            </m:fName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𝑐𝑜𝑠𝑒𝑐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func>
                                <m:func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sz="1600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den>
                          </m:f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func>
                                <m:func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sz="1600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den>
                          </m:f>
                        </m:e>
                      </m:d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sz="1600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sz="1600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num>
                            <m:den>
                              <m:func>
                                <m:func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sz="1600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  <m:func>
                                <m:func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sz="1600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den>
                          </m:f>
                        </m:e>
                      </m:d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B0028D2-7E67-4AF7-8413-C029D07BF7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460" y="4171319"/>
                <a:ext cx="3888432" cy="264841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0D323DB-000C-4C3B-853A-15812BAEDC54}"/>
                  </a:ext>
                </a:extLst>
              </p:cNvPr>
              <p:cNvSpPr txBox="1"/>
              <p:nvPr/>
            </p:nvSpPr>
            <p:spPr>
              <a:xfrm>
                <a:off x="4834889" y="4057777"/>
                <a:ext cx="3888432" cy="25914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cot</m:t>
                              </m:r>
                            </m:fName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𝑐𝑜𝑠𝑒𝑐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func>
                            <m:func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>
                                      <a:latin typeface="Cambria Math" panose="02040503050406030204" pitchFamily="18" charset="0"/>
                                    </a:rPr>
                                    <m:t>sec</m:t>
                                  </m:r>
                                </m:e>
                                <m:sup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𝑐𝑜𝑠𝑒</m:t>
                          </m:r>
                          <m:sSup>
                            <m:sSup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sz="1600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num>
                            <m:den>
                              <m:func>
                                <m:func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sz="1600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den>
                          </m:f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func>
                                <m:func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sz="1600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func>
                                <m:func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600" b="0" i="0" smtClean="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e>
                                    <m:sup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den>
                          </m:f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func>
                                <m:func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600" b="0" i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e>
                                    <m:sup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den>
                          </m:f>
                        </m:den>
                      </m:f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en-GB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GB" sz="160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en-GB" sz="16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func>
                                </m:num>
                                <m:den>
                                  <m:func>
                                    <m:funcPr>
                                      <m:ctrlPr>
                                        <a:rPr lang="en-GB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lang="en-GB" sz="1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GB" sz="1600"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e>
                                        <m:sup>
                                          <m:r>
                                            <a:rPr lang="en-GB" sz="1600" b="0" i="0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r>
                                        <a:rPr lang="en-GB" sz="16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func>
                                </m:den>
                              </m:f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lang="en-GB" sz="1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GB" sz="1600" b="0" i="0" smtClean="0"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e>
                                        <m:sup>
                                          <m:r>
                                            <a:rPr lang="en-GB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func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unc>
                                    <m:funcPr>
                                      <m:ctrlP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lang="en-GB" sz="1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GB" sz="1600" b="0" i="0" smtClean="0">
                                              <a:latin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e>
                                        <m:sup>
                                          <m:r>
                                            <a:rPr lang="en-GB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func>
                                </m:num>
                                <m:den>
                                  <m:func>
                                    <m:funcPr>
                                      <m:ctrlP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lang="en-GB" sz="1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GB" sz="1600" b="0" i="0" smtClean="0"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e>
                                        <m:sup>
                                          <m:r>
                                            <a:rPr lang="en-GB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func>
                                  <m:func>
                                    <m:funcPr>
                                      <m:ctrlPr>
                                        <a:rPr lang="en-GB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lang="en-GB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GB" sz="1600">
                                              <a:latin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e>
                                        <m:sup>
                                          <m:r>
                                            <a:rPr lang="en-GB" sz="16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r>
                                        <a:rPr lang="en-GB" sz="16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func>
                                </m:den>
                              </m:f>
                            </m:e>
                          </m:d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en-GB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GB" sz="160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en-GB" sz="16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func>
                                </m:num>
                                <m:den>
                                  <m:func>
                                    <m:funcPr>
                                      <m:ctrlPr>
                                        <a:rPr lang="en-GB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lang="en-GB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GB" sz="1600"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e>
                                        <m:sup>
                                          <m:r>
                                            <a:rPr lang="en-GB" sz="160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r>
                                        <a:rPr lang="en-GB" sz="16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func>
                                </m:den>
                              </m:f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func>
                                    <m:funcPr>
                                      <m:ctrlPr>
                                        <a:rPr lang="en-GB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lang="en-GB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GB" sz="1600"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e>
                                        <m:sup>
                                          <m:r>
                                            <a:rPr lang="en-GB" sz="16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r>
                                        <a:rPr lang="en-GB" sz="16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func>
                                  <m:func>
                                    <m:funcPr>
                                      <m:ctrlPr>
                                        <a:rPr lang="en-GB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lang="en-GB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GB" sz="1600">
                                              <a:latin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e>
                                        <m:sup>
                                          <m:r>
                                            <a:rPr lang="en-GB" sz="16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r>
                                        <a:rPr lang="en-GB" sz="16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func>
                                </m:den>
                              </m:f>
                            </m:e>
                          </m:d>
                        </m:den>
                      </m:f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≡</m:t>
                      </m:r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16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fName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0D323DB-000C-4C3B-853A-15812BAEDC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4889" y="4057777"/>
                <a:ext cx="3888432" cy="259141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86DC3C6-A37C-448F-BF6A-F8AE0AEEB264}"/>
                  </a:ext>
                </a:extLst>
              </p:cNvPr>
              <p:cNvSpPr txBox="1"/>
              <p:nvPr/>
            </p:nvSpPr>
            <p:spPr>
              <a:xfrm>
                <a:off x="6320694" y="6018315"/>
                <a:ext cx="161028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100" dirty="0"/>
                  <a:t>Multiply top and bottom by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11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GB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func>
                      <m:func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11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GB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en-GB" sz="11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86DC3C6-A37C-448F-BF6A-F8AE0AEEB2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0694" y="6018315"/>
                <a:ext cx="1610281" cy="430887"/>
              </a:xfrm>
              <a:prstGeom prst="rect">
                <a:avLst/>
              </a:prstGeom>
              <a:blipFill>
                <a:blip r:embed="rId14"/>
                <a:stretch>
                  <a:fillRect t="-1408" b="-84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8A71ABE-EA25-40A6-8578-50E1AC41B013}"/>
              </a:ext>
            </a:extLst>
          </p:cNvPr>
          <p:cNvCxnSpPr/>
          <p:nvPr/>
        </p:nvCxnSpPr>
        <p:spPr>
          <a:xfrm flipV="1">
            <a:off x="6706840" y="5810102"/>
            <a:ext cx="125760" cy="2318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C872A87F-A57B-40D4-A3B4-1D67F066416A}"/>
              </a:ext>
            </a:extLst>
          </p:cNvPr>
          <p:cNvSpPr/>
          <p:nvPr/>
        </p:nvSpPr>
        <p:spPr>
          <a:xfrm>
            <a:off x="196404" y="4267696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46A913-E1B0-470F-93F2-1D8B9780D6FE}"/>
              </a:ext>
            </a:extLst>
          </p:cNvPr>
          <p:cNvSpPr/>
          <p:nvPr/>
        </p:nvSpPr>
        <p:spPr>
          <a:xfrm>
            <a:off x="196404" y="5079604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6AADE7-D85C-4044-8880-F06585234A95}"/>
              </a:ext>
            </a:extLst>
          </p:cNvPr>
          <p:cNvSpPr/>
          <p:nvPr/>
        </p:nvSpPr>
        <p:spPr>
          <a:xfrm>
            <a:off x="4419042" y="4123680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C32978-1D97-4153-92D5-ACCF4F3B8EF8}"/>
              </a:ext>
            </a:extLst>
          </p:cNvPr>
          <p:cNvSpPr/>
          <p:nvPr/>
        </p:nvSpPr>
        <p:spPr>
          <a:xfrm>
            <a:off x="484435" y="4256314"/>
            <a:ext cx="3549467" cy="6848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1301B4-ABED-4C6F-8556-34CE4437328C}"/>
              </a:ext>
            </a:extLst>
          </p:cNvPr>
          <p:cNvSpPr/>
          <p:nvPr/>
        </p:nvSpPr>
        <p:spPr>
          <a:xfrm>
            <a:off x="488007" y="5076032"/>
            <a:ext cx="3549467" cy="166766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43890B-85BD-45BD-8C52-B58893C9EC73}"/>
              </a:ext>
            </a:extLst>
          </p:cNvPr>
          <p:cNvSpPr/>
          <p:nvPr/>
        </p:nvSpPr>
        <p:spPr>
          <a:xfrm>
            <a:off x="4689624" y="4114800"/>
            <a:ext cx="3549467" cy="26289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48045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A9118DF-5C67-421F-B666-A3C8A52079F9}"/>
              </a:ext>
            </a:extLst>
          </p:cNvPr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7D3A7690-835F-4FAA-8B67-0B4F7CB83EBF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Test Your Understanding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1EBA4BD-C9AA-4517-B424-BA41D143CA0A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D1E8704-16AE-4A20-AC6E-B6696AC043B7}"/>
                  </a:ext>
                </a:extLst>
              </p:cNvPr>
              <p:cNvSpPr txBox="1"/>
              <p:nvPr/>
            </p:nvSpPr>
            <p:spPr>
              <a:xfrm>
                <a:off x="251520" y="896375"/>
                <a:ext cx="3888432" cy="22783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sec</m:t>
                          </m:r>
                        </m:fName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/>
                        </a:rPr>
                        <m:t>−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/>
                        </a:rPr>
                        <m:t>≡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tan</m:t>
                          </m:r>
                        </m:fName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b="1" i="0" smtClean="0">
                          <a:latin typeface="Cambria Math"/>
                        </a:rPr>
                        <m:t>𝐋𝐇𝐒</m:t>
                      </m:r>
                      <m:r>
                        <a:rPr lang="en-GB" b="1" i="0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/>
                            </a:rPr>
                            <m:t>𝟏</m:t>
                          </m:r>
                        </m:num>
                        <m:den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/>
                                </a:rPr>
                                <m:t>𝐜𝐨𝐬</m:t>
                              </m:r>
                            </m:fName>
                            <m:e>
                              <m:r>
                                <a:rPr lang="en-GB" b="1" i="1" smtClean="0">
                                  <a:latin typeface="Cambria Math"/>
                                </a:rPr>
                                <m:t>𝒙</m:t>
                              </m:r>
                            </m:e>
                          </m:func>
                        </m:den>
                      </m:f>
                      <m:r>
                        <a:rPr lang="en-GB" b="1" i="1" smtClean="0">
                          <a:latin typeface="Cambria Math"/>
                        </a:rPr>
                        <m:t>−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/>
                            </a:rPr>
                            <m:t>𝐜𝐨𝐬</m:t>
                          </m:r>
                        </m:fName>
                        <m:e>
                          <m:r>
                            <a:rPr lang="en-GB" b="1" i="1" smtClean="0">
                              <a:latin typeface="Cambria Math"/>
                            </a:rPr>
                            <m:t>𝒙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/>
                        </a:rPr>
                        <m:t>       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/>
                            </a:rPr>
                            <m:t>𝟏</m:t>
                          </m:r>
                          <m:r>
                            <a:rPr lang="en-GB" b="1" i="1" smtClean="0">
                              <a:latin typeface="Cambria Math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0" smtClean="0">
                                      <a:latin typeface="Cambria Math"/>
                                    </a:rPr>
                                    <m:t>𝐜𝐨𝐬</m:t>
                                  </m:r>
                                </m:e>
                                <m:sup>
                                  <m:r>
                                    <a:rPr lang="en-GB" b="1" i="1" smtClean="0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b="1" i="1" smtClean="0">
                                  <a:latin typeface="Cambria Math"/>
                                </a:rPr>
                                <m:t>𝒙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/>
                                </a:rPr>
                                <m:t>𝐜𝐨𝐬</m:t>
                              </m:r>
                            </m:fName>
                            <m:e>
                              <m:r>
                                <a:rPr lang="en-GB" b="1" i="1" smtClean="0">
                                  <a:latin typeface="Cambria Math"/>
                                </a:rPr>
                                <m:t>𝒙</m:t>
                              </m:r>
                            </m:e>
                          </m:func>
                        </m:den>
                      </m:f>
                    </m:oMath>
                    <m:oMath xmlns:m="http://schemas.openxmlformats.org/officeDocument/2006/math">
                      <m:r>
                        <a:rPr lang="en-GB" b="1" i="0" smtClean="0">
                          <a:latin typeface="Cambria Math"/>
                        </a:rPr>
                        <m:t>       </m:t>
                      </m:r>
                      <m:r>
                        <a:rPr lang="en-GB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0" smtClean="0">
                                      <a:latin typeface="Cambria Math"/>
                                    </a:rPr>
                                    <m:t>𝐬𝐢𝐧</m:t>
                                  </m:r>
                                </m:e>
                                <m:sup>
                                  <m:r>
                                    <a:rPr lang="en-GB" b="1" i="1" smtClean="0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b="1" i="1" smtClean="0">
                                  <a:latin typeface="Cambria Math"/>
                                </a:rPr>
                                <m:t>𝒙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/>
                                </a:rPr>
                                <m:t>𝐜𝐨𝐬</m:t>
                              </m:r>
                            </m:fName>
                            <m:e>
                              <m:r>
                                <a:rPr lang="en-GB" b="1" i="1" smtClean="0">
                                  <a:latin typeface="Cambria Math"/>
                                </a:rPr>
                                <m:t>𝒙</m:t>
                              </m:r>
                            </m:e>
                          </m:func>
                        </m:den>
                      </m:f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/>
                        </a:rPr>
                        <m:t>      =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/>
                            </a:rPr>
                            <m:t>𝐬𝐢𝐧</m:t>
                          </m:r>
                        </m:fName>
                        <m:e>
                          <m:r>
                            <a:rPr lang="en-GB" b="1" i="1" smtClean="0">
                              <a:latin typeface="Cambria Math"/>
                            </a:rPr>
                            <m:t>𝒙</m:t>
                          </m:r>
                        </m:e>
                      </m:func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/>
                            </a:rPr>
                            <m:t>𝐭𝐚𝐧</m:t>
                          </m:r>
                        </m:fName>
                        <m:e>
                          <m:r>
                            <a:rPr lang="en-GB" b="1" i="1" smtClean="0">
                              <a:latin typeface="Cambria Math"/>
                            </a:rPr>
                            <m:t>𝒙</m:t>
                          </m:r>
                        </m:e>
                      </m:func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D1E8704-16AE-4A20-AC6E-B6696AC043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896375"/>
                <a:ext cx="3888432" cy="227831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A0CCD42-20F2-41B9-962E-9B3AE24D2165}"/>
                  </a:ext>
                </a:extLst>
              </p:cNvPr>
              <p:cNvSpPr txBox="1"/>
              <p:nvPr/>
            </p:nvSpPr>
            <p:spPr>
              <a:xfrm>
                <a:off x="2699792" y="4106033"/>
                <a:ext cx="5747253" cy="17720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/>
                            </a:rPr>
                            <m:t>1+</m:t>
                          </m:r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func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/>
                                </a:rPr>
                                <m:t>c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𝑜𝑠𝑒𝑐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b="0" i="1" smtClean="0">
                              <a:latin typeface="Cambria Math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/>
                                </a:rPr>
                                <m:t>cot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func>
                        </m:e>
                      </m:d>
                      <m:r>
                        <a:rPr lang="en-GB" b="0" i="1" smtClean="0">
                          <a:latin typeface="Cambria Math"/>
                        </a:rPr>
                        <m:t>≡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/>
                            </a:rPr>
                            <m:t>𝐋𝐇𝐒</m:t>
                          </m:r>
                          <m:r>
                            <a:rPr lang="en-GB" b="1" i="0" smtClean="0">
                              <a:latin typeface="Cambria Math"/>
                            </a:rPr>
                            <m:t>=</m:t>
                          </m:r>
                          <m:r>
                            <a:rPr lang="en-GB" b="1" i="0" smtClean="0">
                              <a:latin typeface="Cambria Math"/>
                            </a:rPr>
                            <m:t>𝐜𝐨𝐬𝐞𝐜</m:t>
                          </m:r>
                        </m:fName>
                        <m:e>
                          <m:r>
                            <a:rPr lang="en-GB" b="1" i="1" smtClean="0">
                              <a:latin typeface="Cambria Math"/>
                            </a:rPr>
                            <m:t>𝒙</m:t>
                          </m:r>
                        </m:e>
                      </m:func>
                      <m:r>
                        <a:rPr lang="en-GB" b="1" i="1" smtClean="0">
                          <a:latin typeface="Cambria Math"/>
                        </a:rPr>
                        <m:t>−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/>
                            </a:rPr>
                            <m:t>𝐜𝐨𝐭</m:t>
                          </m:r>
                        </m:fName>
                        <m:e>
                          <m:r>
                            <a:rPr lang="en-GB" b="1" i="1" smtClean="0">
                              <a:latin typeface="Cambria Math"/>
                            </a:rPr>
                            <m:t>𝒙</m:t>
                          </m:r>
                        </m:e>
                      </m:func>
                      <m:r>
                        <a:rPr lang="en-GB" b="1" i="1" smtClean="0">
                          <a:latin typeface="Cambria Math"/>
                        </a:rPr>
                        <m:t>+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/>
                            </a:rPr>
                            <m:t>𝐜𝐨𝐬</m:t>
                          </m:r>
                        </m:fName>
                        <m:e>
                          <m:r>
                            <a:rPr lang="en-GB" b="1" i="1" smtClean="0">
                              <a:latin typeface="Cambria Math"/>
                            </a:rPr>
                            <m:t>𝒙</m:t>
                          </m:r>
                        </m:e>
                      </m:func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/>
                            </a:rPr>
                            <m:t>𝐜</m:t>
                          </m:r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𝐨</m:t>
                          </m:r>
                          <m:r>
                            <a:rPr lang="en-GB" b="1" i="0" smtClean="0">
                              <a:latin typeface="Cambria Math"/>
                            </a:rPr>
                            <m:t>𝐬</m:t>
                          </m:r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𝐞</m:t>
                          </m:r>
                          <m:r>
                            <a:rPr lang="en-GB" b="1" i="0" smtClean="0">
                              <a:latin typeface="Cambria Math"/>
                            </a:rPr>
                            <m:t>𝐜</m:t>
                          </m:r>
                        </m:fName>
                        <m:e>
                          <m:r>
                            <a:rPr lang="en-GB" b="1" i="1" smtClean="0">
                              <a:latin typeface="Cambria Math"/>
                            </a:rPr>
                            <m:t>𝒙</m:t>
                          </m:r>
                        </m:e>
                      </m:func>
                      <m:r>
                        <a:rPr lang="en-GB" b="1" i="1" smtClean="0">
                          <a:latin typeface="Cambria Math"/>
                        </a:rPr>
                        <m:t>−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/>
                            </a:rPr>
                            <m:t>𝐜𝐨𝐬</m:t>
                          </m:r>
                        </m:fName>
                        <m:e>
                          <m:r>
                            <a:rPr lang="en-GB" b="1" i="1" smtClean="0">
                              <a:latin typeface="Cambria Math"/>
                            </a:rPr>
                            <m:t>𝒙</m:t>
                          </m:r>
                        </m:e>
                      </m:func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/>
                            </a:rPr>
                            <m:t>𝐜𝐨𝐭</m:t>
                          </m:r>
                        </m:fName>
                        <m:e>
                          <m:r>
                            <a:rPr lang="en-GB" b="1" i="1" smtClean="0">
                              <a:latin typeface="Cambria Math"/>
                            </a:rPr>
                            <m:t>𝒙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/>
                            </a:rPr>
                            <m:t>𝟏</m:t>
                          </m:r>
                        </m:num>
                        <m:den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GB" b="1" i="1" smtClean="0">
                                  <a:latin typeface="Cambria Math"/>
                                </a:rPr>
                                <m:t>𝒙</m:t>
                              </m:r>
                            </m:e>
                          </m:func>
                        </m:den>
                      </m:f>
                      <m:r>
                        <a:rPr lang="en-GB" b="1" i="1" smtClean="0">
                          <a:latin typeface="Cambria Math"/>
                        </a:rPr>
                        <m:t>−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/>
                            </a:rPr>
                            <m:t>𝐜𝐨𝐭</m:t>
                          </m:r>
                        </m:fName>
                        <m:e>
                          <m:r>
                            <a:rPr lang="en-GB" b="1" i="1" smtClean="0">
                              <a:latin typeface="Cambria Math"/>
                            </a:rPr>
                            <m:t>𝒙</m:t>
                          </m:r>
                        </m:e>
                      </m:func>
                      <m:r>
                        <a:rPr lang="en-GB" b="1" i="1" smtClean="0">
                          <a:latin typeface="Cambria Math"/>
                        </a:rPr>
                        <m:t>+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/>
                            </a:rPr>
                            <m:t>𝐜𝐨𝐭</m:t>
                          </m:r>
                        </m:fName>
                        <m:e>
                          <m:r>
                            <a:rPr lang="en-GB" b="1" i="1" smtClean="0">
                              <a:latin typeface="Cambria Math"/>
                            </a:rPr>
                            <m:t>𝒙</m:t>
                          </m:r>
                        </m:e>
                      </m:func>
                      <m:r>
                        <a:rPr lang="en-GB" b="1" i="1" smtClean="0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0" smtClean="0">
                                      <a:latin typeface="Cambria Math"/>
                                    </a:rPr>
                                    <m:t>𝐜𝐨𝐬</m:t>
                                  </m:r>
                                </m:e>
                                <m:sup>
                                  <m:r>
                                    <a:rPr lang="en-GB" b="1" i="1" smtClean="0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b="1" i="1" smtClean="0">
                                  <a:latin typeface="Cambria Math"/>
                                </a:rPr>
                                <m:t>𝒙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GB" b="1" i="1" smtClean="0">
                                  <a:latin typeface="Cambria Math"/>
                                </a:rPr>
                                <m:t>𝒙</m:t>
                              </m:r>
                            </m:e>
                          </m:func>
                        </m:den>
                      </m:f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/>
                            </a:rPr>
                            <m:t>𝟏</m:t>
                          </m:r>
                          <m:r>
                            <a:rPr lang="en-GB" b="1" i="1" smtClean="0">
                              <a:latin typeface="Cambria Math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0" smtClean="0">
                                      <a:latin typeface="Cambria Math"/>
                                    </a:rPr>
                                    <m:t>𝐜𝐨𝐬</m:t>
                                  </m:r>
                                </m:e>
                                <m:sup>
                                  <m:r>
                                    <a:rPr lang="en-GB" b="1" i="1" smtClean="0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b="1" i="1" smtClean="0">
                                  <a:latin typeface="Cambria Math"/>
                                </a:rPr>
                                <m:t>𝒙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GB" b="1" i="1" smtClean="0">
                                  <a:latin typeface="Cambria Math"/>
                                </a:rPr>
                                <m:t>𝒙</m:t>
                              </m:r>
                            </m:e>
                          </m:func>
                        </m:den>
                      </m:f>
                      <m:r>
                        <a:rPr lang="en-GB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0" smtClean="0">
                                      <a:latin typeface="Cambria Math"/>
                                    </a:rPr>
                                    <m:t>𝐬𝐢𝐧</m:t>
                                  </m:r>
                                </m:e>
                                <m:sup>
                                  <m:r>
                                    <a:rPr lang="en-GB" b="1" i="1" smtClean="0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b="1" i="1" smtClean="0">
                                  <a:latin typeface="Cambria Math"/>
                                </a:rPr>
                                <m:t>𝒙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GB" b="1" i="1" smtClean="0">
                                  <a:latin typeface="Cambria Math"/>
                                </a:rPr>
                                <m:t>𝒙</m:t>
                              </m:r>
                            </m:e>
                          </m:func>
                        </m:den>
                      </m:f>
                      <m:r>
                        <a:rPr lang="en-GB" b="1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/>
                            </a:rPr>
                            <m:t>𝐬𝐢𝐧</m:t>
                          </m:r>
                        </m:fName>
                        <m:e>
                          <m:r>
                            <a:rPr lang="en-GB" b="1" i="1" smtClean="0">
                              <a:latin typeface="Cambria Math"/>
                            </a:rPr>
                            <m:t>𝒙</m:t>
                          </m:r>
                        </m:e>
                      </m:func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A0CCD42-20F2-41B9-962E-9B3AE24D21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2" y="4106033"/>
                <a:ext cx="5747253" cy="17720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418F39B-22F1-41FD-BF4B-F735F2477C6C}"/>
              </a:ext>
            </a:extLst>
          </p:cNvPr>
          <p:cNvSpPr txBox="1"/>
          <p:nvPr/>
        </p:nvSpPr>
        <p:spPr>
          <a:xfrm>
            <a:off x="448180" y="941980"/>
            <a:ext cx="288032" cy="30777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193627-099B-47B6-ACE2-9CFD1A5B14CF}"/>
              </a:ext>
            </a:extLst>
          </p:cNvPr>
          <p:cNvSpPr txBox="1"/>
          <p:nvPr/>
        </p:nvSpPr>
        <p:spPr>
          <a:xfrm>
            <a:off x="2462169" y="4108945"/>
            <a:ext cx="288032" cy="30777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C9B824-0B8B-4D3E-B618-A5A76F749509}"/>
              </a:ext>
            </a:extLst>
          </p:cNvPr>
          <p:cNvSpPr/>
          <p:nvPr/>
        </p:nvSpPr>
        <p:spPr>
          <a:xfrm>
            <a:off x="827584" y="1249758"/>
            <a:ext cx="3240360" cy="203522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5C97A0-9073-4A8E-B56A-38437EE9F51F}"/>
              </a:ext>
            </a:extLst>
          </p:cNvPr>
          <p:cNvSpPr/>
          <p:nvPr/>
        </p:nvSpPr>
        <p:spPr>
          <a:xfrm>
            <a:off x="2943019" y="4487980"/>
            <a:ext cx="5373667" cy="165156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41395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3234128-CA58-4EAC-8DDF-5C72617A8F74}"/>
              </a:ext>
            </a:extLst>
          </p:cNvPr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03E31D72-313A-47C8-857A-81E9470CE7A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 err="1"/>
                <a:t>Solvey</a:t>
              </a:r>
              <a:r>
                <a:rPr lang="en-GB" sz="3200" dirty="0"/>
                <a:t> Questions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872A221-9AEF-46D3-A5CC-2E9447E5A1F0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D13093-D5EA-4D9C-90A9-9AB9FEBEDC42}"/>
                  </a:ext>
                </a:extLst>
              </p:cNvPr>
              <p:cNvSpPr txBox="1"/>
              <p:nvPr/>
            </p:nvSpPr>
            <p:spPr>
              <a:xfrm>
                <a:off x="395536" y="883101"/>
                <a:ext cx="3680268" cy="107721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[Textbook] Solve the following equations in the interval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≤360°</m:t>
                    </m:r>
                  </m:oMath>
                </a14:m>
                <a:r>
                  <a:rPr lang="en-GB" sz="1600" dirty="0"/>
                  <a:t>:</a:t>
                </a:r>
              </a:p>
              <a:p>
                <a:pPr marL="342900" indent="-342900">
                  <a:buAutoNum type="alphaLcParenR"/>
                </a:pPr>
                <a:r>
                  <a:rPr lang="en-GB" sz="1600" b="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sec</m:t>
                        </m:r>
                      </m:fName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=−2.5</m:t>
                    </m:r>
                  </m:oMath>
                </a14:m>
                <a:endParaRPr lang="en-GB" sz="1600" dirty="0"/>
              </a:p>
              <a:p>
                <a:pPr marL="342900" indent="-342900">
                  <a:buAutoNum type="alphaL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cot</m:t>
                        </m:r>
                      </m:fName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=0.6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D13093-D5EA-4D9C-90A9-9AB9FEBEDC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883101"/>
                <a:ext cx="3680268" cy="10772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EB6B724-58F0-45DD-B2A2-C4E585DC311F}"/>
                  </a:ext>
                </a:extLst>
              </p:cNvPr>
              <p:cNvSpPr txBox="1"/>
              <p:nvPr/>
            </p:nvSpPr>
            <p:spPr>
              <a:xfrm>
                <a:off x="4690176" y="883101"/>
                <a:ext cx="4017889" cy="33855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Solve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cot</m:t>
                        </m:r>
                      </m:fName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600" dirty="0"/>
                  <a:t> in the interval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≤2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GB" sz="1600" dirty="0"/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EB6B724-58F0-45DD-B2A2-C4E585DC31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0176" y="883101"/>
                <a:ext cx="4017889" cy="338554"/>
              </a:xfrm>
              <a:prstGeom prst="rect">
                <a:avLst/>
              </a:prstGeom>
              <a:blipFill>
                <a:blip r:embed="rId3"/>
                <a:stretch>
                  <a:fillRect b="-2597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02674D5-61FA-4986-9CB4-BA2F2A58AC1B}"/>
                  </a:ext>
                </a:extLst>
              </p:cNvPr>
              <p:cNvSpPr txBox="1"/>
              <p:nvPr/>
            </p:nvSpPr>
            <p:spPr>
              <a:xfrm>
                <a:off x="540679" y="2350006"/>
                <a:ext cx="3653950" cy="2557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sec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=−2.5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=−0.4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=113.6°, 246.5°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cot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=0.6     0≤2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≤720°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=59.0°, 239.0°, 419.0°, 599.0°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=29.5°, 120°, 210°, 300° (3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𝑠𝑓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02674D5-61FA-4986-9CB4-BA2F2A58AC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679" y="2350006"/>
                <a:ext cx="3653950" cy="2557303"/>
              </a:xfrm>
              <a:prstGeom prst="rect">
                <a:avLst/>
              </a:prstGeom>
              <a:blipFill>
                <a:blip r:embed="rId4"/>
                <a:stretch>
                  <a:fillRect b="-11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83D93BE-50AD-4C81-B342-7B2DE6E67484}"/>
                  </a:ext>
                </a:extLst>
              </p:cNvPr>
              <p:cNvSpPr txBox="1"/>
              <p:nvPr/>
            </p:nvSpPr>
            <p:spPr>
              <a:xfrm>
                <a:off x="4831997" y="1417657"/>
                <a:ext cx="2368781" cy="11649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cot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∴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→∞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83D93BE-50AD-4C81-B342-7B2DE6E674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1997" y="1417657"/>
                <a:ext cx="2368781" cy="11649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25359E50-19EA-43CF-8BE1-726B6175A440}"/>
              </a:ext>
            </a:extLst>
          </p:cNvPr>
          <p:cNvSpPr/>
          <p:nvPr/>
        </p:nvSpPr>
        <p:spPr>
          <a:xfrm>
            <a:off x="253940" y="2424434"/>
            <a:ext cx="216024" cy="21489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71C3BC-5AB2-4143-9F9F-250A0FAA80A0}"/>
              </a:ext>
            </a:extLst>
          </p:cNvPr>
          <p:cNvSpPr/>
          <p:nvPr/>
        </p:nvSpPr>
        <p:spPr>
          <a:xfrm>
            <a:off x="253940" y="3521208"/>
            <a:ext cx="216024" cy="21489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2D03DC-C88E-4B56-B6C0-3AE7494A63F6}"/>
              </a:ext>
            </a:extLst>
          </p:cNvPr>
          <p:cNvSpPr/>
          <p:nvPr/>
        </p:nvSpPr>
        <p:spPr>
          <a:xfrm>
            <a:off x="469964" y="3521208"/>
            <a:ext cx="3605840" cy="146550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EA6A156-630C-4EE6-8219-359656C4CE3D}"/>
              </a:ext>
            </a:extLst>
          </p:cNvPr>
          <p:cNvGrpSpPr/>
          <p:nvPr/>
        </p:nvGrpSpPr>
        <p:grpSpPr>
          <a:xfrm>
            <a:off x="4861074" y="3031352"/>
            <a:ext cx="3819528" cy="3027128"/>
            <a:chOff x="1354647" y="1337976"/>
            <a:chExt cx="5873578" cy="5004678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B8E12BD-7436-4AE5-B909-7A0E3BE89E4E}"/>
                </a:ext>
              </a:extLst>
            </p:cNvPr>
            <p:cNvCxnSpPr/>
            <p:nvPr/>
          </p:nvCxnSpPr>
          <p:spPr>
            <a:xfrm>
              <a:off x="1654467" y="3853327"/>
              <a:ext cx="5304612" cy="1184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6397AFE-6289-4816-A97F-DAD219D57946}"/>
                </a:ext>
              </a:extLst>
            </p:cNvPr>
            <p:cNvCxnSpPr/>
            <p:nvPr/>
          </p:nvCxnSpPr>
          <p:spPr>
            <a:xfrm flipV="1">
              <a:off x="1654467" y="2318200"/>
              <a:ext cx="0" cy="293303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950CB3C-25D6-4EFB-814D-673D76D3BABB}"/>
                    </a:ext>
                  </a:extLst>
                </p:cNvPr>
                <p:cNvSpPr txBox="1"/>
                <p:nvPr/>
              </p:nvSpPr>
              <p:spPr>
                <a:xfrm>
                  <a:off x="1354647" y="1744012"/>
                  <a:ext cx="344656" cy="40010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950CB3C-25D6-4EFB-814D-673D76D3BA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54647" y="1744012"/>
                  <a:ext cx="344656" cy="400109"/>
                </a:xfrm>
                <a:prstGeom prst="rect">
                  <a:avLst/>
                </a:prstGeom>
                <a:blipFill>
                  <a:blip r:embed="rId6"/>
                  <a:stretch>
                    <a:fillRect r="-45946" b="-7948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938A3A41-9B5C-4E57-B674-5EE04037A5B0}"/>
                    </a:ext>
                  </a:extLst>
                </p:cNvPr>
                <p:cNvSpPr txBox="1"/>
                <p:nvPr/>
              </p:nvSpPr>
              <p:spPr>
                <a:xfrm>
                  <a:off x="6883569" y="3523647"/>
                  <a:ext cx="344656" cy="40010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938A3A41-9B5C-4E57-B674-5EE04037A5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83569" y="3523647"/>
                  <a:ext cx="344656" cy="400109"/>
                </a:xfrm>
                <a:prstGeom prst="rect">
                  <a:avLst/>
                </a:prstGeom>
                <a:blipFill>
                  <a:blip r:embed="rId7"/>
                  <a:stretch>
                    <a:fillRect r="-29730" b="-4250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6370B78-DFA5-42B7-A203-8D17946C0354}"/>
                    </a:ext>
                  </a:extLst>
                </p:cNvPr>
                <p:cNvSpPr txBox="1"/>
                <p:nvPr/>
              </p:nvSpPr>
              <p:spPr>
                <a:xfrm>
                  <a:off x="2571719" y="3816518"/>
                  <a:ext cx="344656" cy="81944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6370B78-DFA5-42B7-A203-8D17946C03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71719" y="3816518"/>
                  <a:ext cx="344656" cy="819445"/>
                </a:xfrm>
                <a:prstGeom prst="rect">
                  <a:avLst/>
                </a:prstGeom>
                <a:blipFill>
                  <a:blip r:embed="rId8"/>
                  <a:stretch>
                    <a:fillRect r="-64865" b="-122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C4F27CC-40D5-4DC6-A070-5BD66A9ACB41}"/>
                    </a:ext>
                  </a:extLst>
                </p:cNvPr>
                <p:cNvSpPr txBox="1"/>
                <p:nvPr/>
              </p:nvSpPr>
              <p:spPr>
                <a:xfrm>
                  <a:off x="4767231" y="3816518"/>
                  <a:ext cx="344656" cy="7241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C4F27CC-40D5-4DC6-A070-5BD66A9ACB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67231" y="3816518"/>
                  <a:ext cx="344656" cy="724143"/>
                </a:xfrm>
                <a:prstGeom prst="rect">
                  <a:avLst/>
                </a:prstGeom>
                <a:blipFill>
                  <a:blip r:embed="rId9"/>
                  <a:stretch>
                    <a:fillRect r="-48649" b="-13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DC3B4D7-0564-4CD2-901E-8D8CAF2D4FD5}"/>
                </a:ext>
              </a:extLst>
            </p:cNvPr>
            <p:cNvCxnSpPr/>
            <p:nvPr/>
          </p:nvCxnSpPr>
          <p:spPr>
            <a:xfrm flipV="1">
              <a:off x="2821010" y="1337976"/>
              <a:ext cx="13241" cy="495708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D9E2D6D-677F-4CD6-982E-770C041A5F84}"/>
                </a:ext>
              </a:extLst>
            </p:cNvPr>
            <p:cNvCxnSpPr/>
            <p:nvPr/>
          </p:nvCxnSpPr>
          <p:spPr>
            <a:xfrm flipV="1">
              <a:off x="4939559" y="1337976"/>
              <a:ext cx="13241" cy="495708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Freeform 15">
              <a:extLst>
                <a:ext uri="{FF2B5EF4-FFF2-40B4-BE49-F238E27FC236}">
                  <a16:creationId xmlns:a16="http://schemas.microsoft.com/office/drawing/2014/main" id="{BBD1E0C3-07FD-41F5-8CAD-FFA4AA52703F}"/>
                </a:ext>
              </a:extLst>
            </p:cNvPr>
            <p:cNvSpPr/>
            <p:nvPr/>
          </p:nvSpPr>
          <p:spPr>
            <a:xfrm>
              <a:off x="1663547" y="1366092"/>
              <a:ext cx="1101687" cy="2478795"/>
            </a:xfrm>
            <a:custGeom>
              <a:avLst/>
              <a:gdLst>
                <a:gd name="connsiteX0" fmla="*/ 0 w 1101687"/>
                <a:gd name="connsiteY0" fmla="*/ 2478795 h 2478795"/>
                <a:gd name="connsiteX1" fmla="*/ 396607 w 1101687"/>
                <a:gd name="connsiteY1" fmla="*/ 2203373 h 2478795"/>
                <a:gd name="connsiteX2" fmla="*/ 738130 w 1101687"/>
                <a:gd name="connsiteY2" fmla="*/ 1784732 h 2478795"/>
                <a:gd name="connsiteX3" fmla="*/ 969484 w 1101687"/>
                <a:gd name="connsiteY3" fmla="*/ 1101686 h 2478795"/>
                <a:gd name="connsiteX4" fmla="*/ 1079653 w 1101687"/>
                <a:gd name="connsiteY4" fmla="*/ 297455 h 2478795"/>
                <a:gd name="connsiteX5" fmla="*/ 1101687 w 1101687"/>
                <a:gd name="connsiteY5" fmla="*/ 0 h 2478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1687" h="2478795">
                  <a:moveTo>
                    <a:pt x="0" y="2478795"/>
                  </a:moveTo>
                  <a:cubicBezTo>
                    <a:pt x="136792" y="2398922"/>
                    <a:pt x="273585" y="2319050"/>
                    <a:pt x="396607" y="2203373"/>
                  </a:cubicBezTo>
                  <a:cubicBezTo>
                    <a:pt x="519629" y="2087696"/>
                    <a:pt x="642651" y="1968346"/>
                    <a:pt x="738130" y="1784732"/>
                  </a:cubicBezTo>
                  <a:cubicBezTo>
                    <a:pt x="833609" y="1601118"/>
                    <a:pt x="912564" y="1349565"/>
                    <a:pt x="969484" y="1101686"/>
                  </a:cubicBezTo>
                  <a:cubicBezTo>
                    <a:pt x="1026404" y="853807"/>
                    <a:pt x="1057619" y="481069"/>
                    <a:pt x="1079653" y="297455"/>
                  </a:cubicBezTo>
                  <a:cubicBezTo>
                    <a:pt x="1101687" y="113841"/>
                    <a:pt x="1101687" y="56920"/>
                    <a:pt x="1101687" y="0"/>
                  </a:cubicBez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Freeform 16">
              <a:extLst>
                <a:ext uri="{FF2B5EF4-FFF2-40B4-BE49-F238E27FC236}">
                  <a16:creationId xmlns:a16="http://schemas.microsoft.com/office/drawing/2014/main" id="{47DAEBE8-9534-42D3-807A-FE475544CEF4}"/>
                </a:ext>
              </a:extLst>
            </p:cNvPr>
            <p:cNvSpPr/>
            <p:nvPr/>
          </p:nvSpPr>
          <p:spPr>
            <a:xfrm>
              <a:off x="2853369" y="1344058"/>
              <a:ext cx="2049137" cy="4759287"/>
            </a:xfrm>
            <a:custGeom>
              <a:avLst/>
              <a:gdLst>
                <a:gd name="connsiteX0" fmla="*/ 0 w 2071171"/>
                <a:gd name="connsiteY0" fmla="*/ 4583017 h 4583017"/>
                <a:gd name="connsiteX1" fmla="*/ 132202 w 2071171"/>
                <a:gd name="connsiteY1" fmla="*/ 3756752 h 4583017"/>
                <a:gd name="connsiteX2" fmla="*/ 385590 w 2071171"/>
                <a:gd name="connsiteY2" fmla="*/ 2985571 h 4583017"/>
                <a:gd name="connsiteX3" fmla="*/ 727113 w 2071171"/>
                <a:gd name="connsiteY3" fmla="*/ 2577947 h 4583017"/>
                <a:gd name="connsiteX4" fmla="*/ 1057619 w 2071171"/>
                <a:gd name="connsiteY4" fmla="*/ 2346592 h 4583017"/>
                <a:gd name="connsiteX5" fmla="*/ 1443209 w 2071171"/>
                <a:gd name="connsiteY5" fmla="*/ 2060154 h 4583017"/>
                <a:gd name="connsiteX6" fmla="*/ 1773715 w 2071171"/>
                <a:gd name="connsiteY6" fmla="*/ 1718631 h 4583017"/>
                <a:gd name="connsiteX7" fmla="*/ 2016086 w 2071171"/>
                <a:gd name="connsiteY7" fmla="*/ 1255923 h 4583017"/>
                <a:gd name="connsiteX8" fmla="*/ 2071171 w 2071171"/>
                <a:gd name="connsiteY8" fmla="*/ 0 h 4583017"/>
                <a:gd name="connsiteX0" fmla="*/ 0 w 2071171"/>
                <a:gd name="connsiteY0" fmla="*/ 4583017 h 4583017"/>
                <a:gd name="connsiteX1" fmla="*/ 132202 w 2071171"/>
                <a:gd name="connsiteY1" fmla="*/ 3756752 h 4583017"/>
                <a:gd name="connsiteX2" fmla="*/ 385590 w 2071171"/>
                <a:gd name="connsiteY2" fmla="*/ 2985571 h 4583017"/>
                <a:gd name="connsiteX3" fmla="*/ 727113 w 2071171"/>
                <a:gd name="connsiteY3" fmla="*/ 2577947 h 4583017"/>
                <a:gd name="connsiteX4" fmla="*/ 1057619 w 2071171"/>
                <a:gd name="connsiteY4" fmla="*/ 2346592 h 4583017"/>
                <a:gd name="connsiteX5" fmla="*/ 1421176 w 2071171"/>
                <a:gd name="connsiteY5" fmla="*/ 2049137 h 4583017"/>
                <a:gd name="connsiteX6" fmla="*/ 1773715 w 2071171"/>
                <a:gd name="connsiteY6" fmla="*/ 1718631 h 4583017"/>
                <a:gd name="connsiteX7" fmla="*/ 2016086 w 2071171"/>
                <a:gd name="connsiteY7" fmla="*/ 1255923 h 4583017"/>
                <a:gd name="connsiteX8" fmla="*/ 2071171 w 2071171"/>
                <a:gd name="connsiteY8" fmla="*/ 0 h 4583017"/>
                <a:gd name="connsiteX0" fmla="*/ 0 w 2071171"/>
                <a:gd name="connsiteY0" fmla="*/ 4583017 h 4583017"/>
                <a:gd name="connsiteX1" fmla="*/ 132202 w 2071171"/>
                <a:gd name="connsiteY1" fmla="*/ 3756752 h 4583017"/>
                <a:gd name="connsiteX2" fmla="*/ 385590 w 2071171"/>
                <a:gd name="connsiteY2" fmla="*/ 2985571 h 4583017"/>
                <a:gd name="connsiteX3" fmla="*/ 727113 w 2071171"/>
                <a:gd name="connsiteY3" fmla="*/ 2577947 h 4583017"/>
                <a:gd name="connsiteX4" fmla="*/ 1057619 w 2071171"/>
                <a:gd name="connsiteY4" fmla="*/ 2346592 h 4583017"/>
                <a:gd name="connsiteX5" fmla="*/ 1421176 w 2071171"/>
                <a:gd name="connsiteY5" fmla="*/ 2049137 h 4583017"/>
                <a:gd name="connsiteX6" fmla="*/ 1729648 w 2071171"/>
                <a:gd name="connsiteY6" fmla="*/ 1685580 h 4583017"/>
                <a:gd name="connsiteX7" fmla="*/ 2016086 w 2071171"/>
                <a:gd name="connsiteY7" fmla="*/ 1255923 h 4583017"/>
                <a:gd name="connsiteX8" fmla="*/ 2071171 w 2071171"/>
                <a:gd name="connsiteY8" fmla="*/ 0 h 4583017"/>
                <a:gd name="connsiteX0" fmla="*/ 0 w 2071171"/>
                <a:gd name="connsiteY0" fmla="*/ 4583017 h 4583017"/>
                <a:gd name="connsiteX1" fmla="*/ 132202 w 2071171"/>
                <a:gd name="connsiteY1" fmla="*/ 3756752 h 4583017"/>
                <a:gd name="connsiteX2" fmla="*/ 385590 w 2071171"/>
                <a:gd name="connsiteY2" fmla="*/ 2985571 h 4583017"/>
                <a:gd name="connsiteX3" fmla="*/ 727113 w 2071171"/>
                <a:gd name="connsiteY3" fmla="*/ 2577947 h 4583017"/>
                <a:gd name="connsiteX4" fmla="*/ 1057619 w 2071171"/>
                <a:gd name="connsiteY4" fmla="*/ 2346592 h 4583017"/>
                <a:gd name="connsiteX5" fmla="*/ 1421176 w 2071171"/>
                <a:gd name="connsiteY5" fmla="*/ 2049137 h 4583017"/>
                <a:gd name="connsiteX6" fmla="*/ 1729648 w 2071171"/>
                <a:gd name="connsiteY6" fmla="*/ 1685580 h 4583017"/>
                <a:gd name="connsiteX7" fmla="*/ 1994052 w 2071171"/>
                <a:gd name="connsiteY7" fmla="*/ 672029 h 4583017"/>
                <a:gd name="connsiteX8" fmla="*/ 2071171 w 2071171"/>
                <a:gd name="connsiteY8" fmla="*/ 0 h 4583017"/>
                <a:gd name="connsiteX0" fmla="*/ 0 w 2071171"/>
                <a:gd name="connsiteY0" fmla="*/ 4836405 h 4836405"/>
                <a:gd name="connsiteX1" fmla="*/ 132202 w 2071171"/>
                <a:gd name="connsiteY1" fmla="*/ 4010140 h 4836405"/>
                <a:gd name="connsiteX2" fmla="*/ 385590 w 2071171"/>
                <a:gd name="connsiteY2" fmla="*/ 3238959 h 4836405"/>
                <a:gd name="connsiteX3" fmla="*/ 727113 w 2071171"/>
                <a:gd name="connsiteY3" fmla="*/ 2831335 h 4836405"/>
                <a:gd name="connsiteX4" fmla="*/ 1057619 w 2071171"/>
                <a:gd name="connsiteY4" fmla="*/ 2599980 h 4836405"/>
                <a:gd name="connsiteX5" fmla="*/ 1421176 w 2071171"/>
                <a:gd name="connsiteY5" fmla="*/ 2302525 h 4836405"/>
                <a:gd name="connsiteX6" fmla="*/ 1729648 w 2071171"/>
                <a:gd name="connsiteY6" fmla="*/ 1938968 h 4836405"/>
                <a:gd name="connsiteX7" fmla="*/ 1994052 w 2071171"/>
                <a:gd name="connsiteY7" fmla="*/ 925417 h 4836405"/>
                <a:gd name="connsiteX8" fmla="*/ 2071171 w 2071171"/>
                <a:gd name="connsiteY8" fmla="*/ 0 h 4836405"/>
                <a:gd name="connsiteX0" fmla="*/ 0 w 2071171"/>
                <a:gd name="connsiteY0" fmla="*/ 4836405 h 4836405"/>
                <a:gd name="connsiteX1" fmla="*/ 132202 w 2071171"/>
                <a:gd name="connsiteY1" fmla="*/ 4010140 h 4836405"/>
                <a:gd name="connsiteX2" fmla="*/ 385590 w 2071171"/>
                <a:gd name="connsiteY2" fmla="*/ 3238959 h 4836405"/>
                <a:gd name="connsiteX3" fmla="*/ 727113 w 2071171"/>
                <a:gd name="connsiteY3" fmla="*/ 2831335 h 4836405"/>
                <a:gd name="connsiteX4" fmla="*/ 1057619 w 2071171"/>
                <a:gd name="connsiteY4" fmla="*/ 2599980 h 4836405"/>
                <a:gd name="connsiteX5" fmla="*/ 1421176 w 2071171"/>
                <a:gd name="connsiteY5" fmla="*/ 2302525 h 4836405"/>
                <a:gd name="connsiteX6" fmla="*/ 1729648 w 2071171"/>
                <a:gd name="connsiteY6" fmla="*/ 1938968 h 4836405"/>
                <a:gd name="connsiteX7" fmla="*/ 1961001 w 2071171"/>
                <a:gd name="connsiteY7" fmla="*/ 991518 h 4836405"/>
                <a:gd name="connsiteX8" fmla="*/ 2071171 w 2071171"/>
                <a:gd name="connsiteY8" fmla="*/ 0 h 4836405"/>
                <a:gd name="connsiteX0" fmla="*/ 0 w 2049137"/>
                <a:gd name="connsiteY0" fmla="*/ 4759287 h 4759287"/>
                <a:gd name="connsiteX1" fmla="*/ 132202 w 2049137"/>
                <a:gd name="connsiteY1" fmla="*/ 3933022 h 4759287"/>
                <a:gd name="connsiteX2" fmla="*/ 385590 w 2049137"/>
                <a:gd name="connsiteY2" fmla="*/ 3161841 h 4759287"/>
                <a:gd name="connsiteX3" fmla="*/ 727113 w 2049137"/>
                <a:gd name="connsiteY3" fmla="*/ 2754217 h 4759287"/>
                <a:gd name="connsiteX4" fmla="*/ 1057619 w 2049137"/>
                <a:gd name="connsiteY4" fmla="*/ 2522862 h 4759287"/>
                <a:gd name="connsiteX5" fmla="*/ 1421176 w 2049137"/>
                <a:gd name="connsiteY5" fmla="*/ 2225407 h 4759287"/>
                <a:gd name="connsiteX6" fmla="*/ 1729648 w 2049137"/>
                <a:gd name="connsiteY6" fmla="*/ 1861850 h 4759287"/>
                <a:gd name="connsiteX7" fmla="*/ 1961001 w 2049137"/>
                <a:gd name="connsiteY7" fmla="*/ 914400 h 4759287"/>
                <a:gd name="connsiteX8" fmla="*/ 2049137 w 2049137"/>
                <a:gd name="connsiteY8" fmla="*/ 0 h 4759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49137" h="4759287">
                  <a:moveTo>
                    <a:pt x="0" y="4759287"/>
                  </a:moveTo>
                  <a:cubicBezTo>
                    <a:pt x="33968" y="4479275"/>
                    <a:pt x="67937" y="4199263"/>
                    <a:pt x="132202" y="3933022"/>
                  </a:cubicBezTo>
                  <a:cubicBezTo>
                    <a:pt x="196467" y="3666781"/>
                    <a:pt x="286438" y="3358308"/>
                    <a:pt x="385590" y="3161841"/>
                  </a:cubicBezTo>
                  <a:cubicBezTo>
                    <a:pt x="484742" y="2965374"/>
                    <a:pt x="615108" y="2860713"/>
                    <a:pt x="727113" y="2754217"/>
                  </a:cubicBezTo>
                  <a:cubicBezTo>
                    <a:pt x="839118" y="2647721"/>
                    <a:pt x="941942" y="2610997"/>
                    <a:pt x="1057619" y="2522862"/>
                  </a:cubicBezTo>
                  <a:cubicBezTo>
                    <a:pt x="1173296" y="2434727"/>
                    <a:pt x="1309171" y="2335576"/>
                    <a:pt x="1421176" y="2225407"/>
                  </a:cubicBezTo>
                  <a:cubicBezTo>
                    <a:pt x="1533181" y="2115238"/>
                    <a:pt x="1639677" y="2080351"/>
                    <a:pt x="1729648" y="1861850"/>
                  </a:cubicBezTo>
                  <a:cubicBezTo>
                    <a:pt x="1819619" y="1643349"/>
                    <a:pt x="1907753" y="1224708"/>
                    <a:pt x="1961001" y="914400"/>
                  </a:cubicBezTo>
                  <a:cubicBezTo>
                    <a:pt x="2014249" y="604092"/>
                    <a:pt x="2046382" y="484742"/>
                    <a:pt x="2049137" y="0"/>
                  </a:cubicBez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Freeform 17">
              <a:extLst>
                <a:ext uri="{FF2B5EF4-FFF2-40B4-BE49-F238E27FC236}">
                  <a16:creationId xmlns:a16="http://schemas.microsoft.com/office/drawing/2014/main" id="{550CCDF4-A663-456F-A5BF-1151A4AB0177}"/>
                </a:ext>
              </a:extLst>
            </p:cNvPr>
            <p:cNvSpPr/>
            <p:nvPr/>
          </p:nvSpPr>
          <p:spPr>
            <a:xfrm>
              <a:off x="4990641" y="3866920"/>
              <a:ext cx="1167788" cy="2357610"/>
            </a:xfrm>
            <a:custGeom>
              <a:avLst/>
              <a:gdLst>
                <a:gd name="connsiteX0" fmla="*/ 0 w 1167788"/>
                <a:gd name="connsiteY0" fmla="*/ 2357610 h 2357610"/>
                <a:gd name="connsiteX1" fmla="*/ 66101 w 1167788"/>
                <a:gd name="connsiteY1" fmla="*/ 1531345 h 2357610"/>
                <a:gd name="connsiteX2" fmla="*/ 220337 w 1167788"/>
                <a:gd name="connsiteY2" fmla="*/ 925417 h 2357610"/>
                <a:gd name="connsiteX3" fmla="*/ 683046 w 1167788"/>
                <a:gd name="connsiteY3" fmla="*/ 407625 h 2357610"/>
                <a:gd name="connsiteX4" fmla="*/ 1167788 w 1167788"/>
                <a:gd name="connsiteY4" fmla="*/ 0 h 2357610"/>
                <a:gd name="connsiteX0" fmla="*/ 0 w 1167788"/>
                <a:gd name="connsiteY0" fmla="*/ 2357610 h 2357610"/>
                <a:gd name="connsiteX1" fmla="*/ 66101 w 1167788"/>
                <a:gd name="connsiteY1" fmla="*/ 1531345 h 2357610"/>
                <a:gd name="connsiteX2" fmla="*/ 220337 w 1167788"/>
                <a:gd name="connsiteY2" fmla="*/ 925417 h 2357610"/>
                <a:gd name="connsiteX3" fmla="*/ 649995 w 1167788"/>
                <a:gd name="connsiteY3" fmla="*/ 374575 h 2357610"/>
                <a:gd name="connsiteX4" fmla="*/ 1167788 w 1167788"/>
                <a:gd name="connsiteY4" fmla="*/ 0 h 2357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7788" h="2357610">
                  <a:moveTo>
                    <a:pt x="0" y="2357610"/>
                  </a:moveTo>
                  <a:cubicBezTo>
                    <a:pt x="14689" y="2063827"/>
                    <a:pt x="29378" y="1770044"/>
                    <a:pt x="66101" y="1531345"/>
                  </a:cubicBezTo>
                  <a:cubicBezTo>
                    <a:pt x="102824" y="1292646"/>
                    <a:pt x="123021" y="1118212"/>
                    <a:pt x="220337" y="925417"/>
                  </a:cubicBezTo>
                  <a:cubicBezTo>
                    <a:pt x="317653" y="732622"/>
                    <a:pt x="492087" y="528811"/>
                    <a:pt x="649995" y="374575"/>
                  </a:cubicBezTo>
                  <a:cubicBezTo>
                    <a:pt x="807903" y="220339"/>
                    <a:pt x="1004371" y="126694"/>
                    <a:pt x="1167788" y="0"/>
                  </a:cubicBez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108D7D43-EE76-4D3B-8686-2ED7BCE22D24}"/>
                </a:ext>
              </a:extLst>
            </p:cNvPr>
            <p:cNvGrpSpPr/>
            <p:nvPr/>
          </p:nvGrpSpPr>
          <p:grpSpPr>
            <a:xfrm>
              <a:off x="1729648" y="1351126"/>
              <a:ext cx="4648932" cy="4991528"/>
              <a:chOff x="1729648" y="1351126"/>
              <a:chExt cx="4648932" cy="4991528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6732317D-F0DE-4A7E-9877-4B1E70407ED6}"/>
                  </a:ext>
                </a:extLst>
              </p:cNvPr>
              <p:cNvCxnSpPr/>
              <p:nvPr/>
            </p:nvCxnSpPr>
            <p:spPr>
              <a:xfrm flipV="1">
                <a:off x="3925009" y="1351126"/>
                <a:ext cx="13241" cy="4957081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C982167B-AAD2-4C20-875E-6BFB9C93D85A}"/>
                  </a:ext>
                </a:extLst>
              </p:cNvPr>
              <p:cNvCxnSpPr/>
              <p:nvPr/>
            </p:nvCxnSpPr>
            <p:spPr>
              <a:xfrm flipV="1">
                <a:off x="6138568" y="1385573"/>
                <a:ext cx="13241" cy="4957081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sp>
            <p:nvSpPr>
              <p:cNvPr id="31" name="Freeform 31">
                <a:extLst>
                  <a:ext uri="{FF2B5EF4-FFF2-40B4-BE49-F238E27FC236}">
                    <a16:creationId xmlns:a16="http://schemas.microsoft.com/office/drawing/2014/main" id="{7DB4B2C2-BCFF-4911-ABD6-DC514E332B88}"/>
                  </a:ext>
                </a:extLst>
              </p:cNvPr>
              <p:cNvSpPr/>
              <p:nvPr/>
            </p:nvSpPr>
            <p:spPr>
              <a:xfrm>
                <a:off x="1729648" y="1410159"/>
                <a:ext cx="2159306" cy="4836405"/>
              </a:xfrm>
              <a:custGeom>
                <a:avLst/>
                <a:gdLst>
                  <a:gd name="connsiteX0" fmla="*/ 0 w 2159306"/>
                  <a:gd name="connsiteY0" fmla="*/ 0 h 4836405"/>
                  <a:gd name="connsiteX1" fmla="*/ 121186 w 2159306"/>
                  <a:gd name="connsiteY1" fmla="*/ 1057619 h 4836405"/>
                  <a:gd name="connsiteX2" fmla="*/ 330506 w 2159306"/>
                  <a:gd name="connsiteY2" fmla="*/ 1795749 h 4836405"/>
                  <a:gd name="connsiteX3" fmla="*/ 550844 w 2159306"/>
                  <a:gd name="connsiteY3" fmla="*/ 2027104 h 4836405"/>
                  <a:gd name="connsiteX4" fmla="*/ 1090670 w 2159306"/>
                  <a:gd name="connsiteY4" fmla="*/ 2445745 h 4836405"/>
                  <a:gd name="connsiteX5" fmla="*/ 1630497 w 2159306"/>
                  <a:gd name="connsiteY5" fmla="*/ 2930487 h 4836405"/>
                  <a:gd name="connsiteX6" fmla="*/ 2038121 w 2159306"/>
                  <a:gd name="connsiteY6" fmla="*/ 3723701 h 4836405"/>
                  <a:gd name="connsiteX7" fmla="*/ 2159306 w 2159306"/>
                  <a:gd name="connsiteY7" fmla="*/ 4836405 h 4836405"/>
                  <a:gd name="connsiteX0" fmla="*/ 0 w 2159306"/>
                  <a:gd name="connsiteY0" fmla="*/ 0 h 4836405"/>
                  <a:gd name="connsiteX1" fmla="*/ 121186 w 2159306"/>
                  <a:gd name="connsiteY1" fmla="*/ 1057619 h 4836405"/>
                  <a:gd name="connsiteX2" fmla="*/ 330506 w 2159306"/>
                  <a:gd name="connsiteY2" fmla="*/ 1795749 h 4836405"/>
                  <a:gd name="connsiteX3" fmla="*/ 1090670 w 2159306"/>
                  <a:gd name="connsiteY3" fmla="*/ 2445745 h 4836405"/>
                  <a:gd name="connsiteX4" fmla="*/ 1630497 w 2159306"/>
                  <a:gd name="connsiteY4" fmla="*/ 2930487 h 4836405"/>
                  <a:gd name="connsiteX5" fmla="*/ 2038121 w 2159306"/>
                  <a:gd name="connsiteY5" fmla="*/ 3723701 h 4836405"/>
                  <a:gd name="connsiteX6" fmla="*/ 2159306 w 2159306"/>
                  <a:gd name="connsiteY6" fmla="*/ 4836405 h 4836405"/>
                  <a:gd name="connsiteX0" fmla="*/ 0 w 2159306"/>
                  <a:gd name="connsiteY0" fmla="*/ 0 h 4836405"/>
                  <a:gd name="connsiteX1" fmla="*/ 121186 w 2159306"/>
                  <a:gd name="connsiteY1" fmla="*/ 1057619 h 4836405"/>
                  <a:gd name="connsiteX2" fmla="*/ 396607 w 2159306"/>
                  <a:gd name="connsiteY2" fmla="*/ 1795749 h 4836405"/>
                  <a:gd name="connsiteX3" fmla="*/ 1090670 w 2159306"/>
                  <a:gd name="connsiteY3" fmla="*/ 2445745 h 4836405"/>
                  <a:gd name="connsiteX4" fmla="*/ 1630497 w 2159306"/>
                  <a:gd name="connsiteY4" fmla="*/ 2930487 h 4836405"/>
                  <a:gd name="connsiteX5" fmla="*/ 2038121 w 2159306"/>
                  <a:gd name="connsiteY5" fmla="*/ 3723701 h 4836405"/>
                  <a:gd name="connsiteX6" fmla="*/ 2159306 w 2159306"/>
                  <a:gd name="connsiteY6" fmla="*/ 4836405 h 48364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59306" h="4836405">
                    <a:moveTo>
                      <a:pt x="0" y="0"/>
                    </a:moveTo>
                    <a:cubicBezTo>
                      <a:pt x="33051" y="379164"/>
                      <a:pt x="55085" y="758328"/>
                      <a:pt x="121186" y="1057619"/>
                    </a:cubicBezTo>
                    <a:cubicBezTo>
                      <a:pt x="187287" y="1356911"/>
                      <a:pt x="235026" y="1564395"/>
                      <a:pt x="396607" y="1795749"/>
                    </a:cubicBezTo>
                    <a:cubicBezTo>
                      <a:pt x="558188" y="2027103"/>
                      <a:pt x="885022" y="2256622"/>
                      <a:pt x="1090670" y="2445745"/>
                    </a:cubicBezTo>
                    <a:cubicBezTo>
                      <a:pt x="1296318" y="2634868"/>
                      <a:pt x="1472588" y="2717494"/>
                      <a:pt x="1630497" y="2930487"/>
                    </a:cubicBezTo>
                    <a:cubicBezTo>
                      <a:pt x="1788406" y="3143480"/>
                      <a:pt x="1949986" y="3406048"/>
                      <a:pt x="2038121" y="3723701"/>
                    </a:cubicBezTo>
                    <a:cubicBezTo>
                      <a:pt x="2126256" y="4041354"/>
                      <a:pt x="2142781" y="4438879"/>
                      <a:pt x="2159306" y="4836405"/>
                    </a:cubicBezTo>
                  </a:path>
                </a:pathLst>
              </a:cu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2" name="Freeform 32">
                <a:extLst>
                  <a:ext uri="{FF2B5EF4-FFF2-40B4-BE49-F238E27FC236}">
                    <a16:creationId xmlns:a16="http://schemas.microsoft.com/office/drawing/2014/main" id="{2915AA8D-9E4C-4A56-BF42-128BB73C1D03}"/>
                  </a:ext>
                </a:extLst>
              </p:cNvPr>
              <p:cNvSpPr/>
              <p:nvPr/>
            </p:nvSpPr>
            <p:spPr>
              <a:xfrm>
                <a:off x="3986215" y="1398313"/>
                <a:ext cx="2084079" cy="4836405"/>
              </a:xfrm>
              <a:custGeom>
                <a:avLst/>
                <a:gdLst>
                  <a:gd name="connsiteX0" fmla="*/ 0 w 2159306"/>
                  <a:gd name="connsiteY0" fmla="*/ 0 h 4836405"/>
                  <a:gd name="connsiteX1" fmla="*/ 121186 w 2159306"/>
                  <a:gd name="connsiteY1" fmla="*/ 1057619 h 4836405"/>
                  <a:gd name="connsiteX2" fmla="*/ 330506 w 2159306"/>
                  <a:gd name="connsiteY2" fmla="*/ 1795749 h 4836405"/>
                  <a:gd name="connsiteX3" fmla="*/ 550844 w 2159306"/>
                  <a:gd name="connsiteY3" fmla="*/ 2027104 h 4836405"/>
                  <a:gd name="connsiteX4" fmla="*/ 1090670 w 2159306"/>
                  <a:gd name="connsiteY4" fmla="*/ 2445745 h 4836405"/>
                  <a:gd name="connsiteX5" fmla="*/ 1630497 w 2159306"/>
                  <a:gd name="connsiteY5" fmla="*/ 2930487 h 4836405"/>
                  <a:gd name="connsiteX6" fmla="*/ 2038121 w 2159306"/>
                  <a:gd name="connsiteY6" fmla="*/ 3723701 h 4836405"/>
                  <a:gd name="connsiteX7" fmla="*/ 2159306 w 2159306"/>
                  <a:gd name="connsiteY7" fmla="*/ 4836405 h 4836405"/>
                  <a:gd name="connsiteX0" fmla="*/ 0 w 2159306"/>
                  <a:gd name="connsiteY0" fmla="*/ 0 h 4836405"/>
                  <a:gd name="connsiteX1" fmla="*/ 121186 w 2159306"/>
                  <a:gd name="connsiteY1" fmla="*/ 1057619 h 4836405"/>
                  <a:gd name="connsiteX2" fmla="*/ 330506 w 2159306"/>
                  <a:gd name="connsiteY2" fmla="*/ 1795749 h 4836405"/>
                  <a:gd name="connsiteX3" fmla="*/ 1090670 w 2159306"/>
                  <a:gd name="connsiteY3" fmla="*/ 2445745 h 4836405"/>
                  <a:gd name="connsiteX4" fmla="*/ 1630497 w 2159306"/>
                  <a:gd name="connsiteY4" fmla="*/ 2930487 h 4836405"/>
                  <a:gd name="connsiteX5" fmla="*/ 2038121 w 2159306"/>
                  <a:gd name="connsiteY5" fmla="*/ 3723701 h 4836405"/>
                  <a:gd name="connsiteX6" fmla="*/ 2159306 w 2159306"/>
                  <a:gd name="connsiteY6" fmla="*/ 4836405 h 4836405"/>
                  <a:gd name="connsiteX0" fmla="*/ 0 w 2159306"/>
                  <a:gd name="connsiteY0" fmla="*/ 0 h 4836405"/>
                  <a:gd name="connsiteX1" fmla="*/ 121186 w 2159306"/>
                  <a:gd name="connsiteY1" fmla="*/ 1057619 h 4836405"/>
                  <a:gd name="connsiteX2" fmla="*/ 396607 w 2159306"/>
                  <a:gd name="connsiteY2" fmla="*/ 1795749 h 4836405"/>
                  <a:gd name="connsiteX3" fmla="*/ 1090670 w 2159306"/>
                  <a:gd name="connsiteY3" fmla="*/ 2445745 h 4836405"/>
                  <a:gd name="connsiteX4" fmla="*/ 1630497 w 2159306"/>
                  <a:gd name="connsiteY4" fmla="*/ 2930487 h 4836405"/>
                  <a:gd name="connsiteX5" fmla="*/ 2038121 w 2159306"/>
                  <a:gd name="connsiteY5" fmla="*/ 3723701 h 4836405"/>
                  <a:gd name="connsiteX6" fmla="*/ 2159306 w 2159306"/>
                  <a:gd name="connsiteY6" fmla="*/ 4836405 h 48364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59306" h="4836405">
                    <a:moveTo>
                      <a:pt x="0" y="0"/>
                    </a:moveTo>
                    <a:cubicBezTo>
                      <a:pt x="33051" y="379164"/>
                      <a:pt x="55085" y="758328"/>
                      <a:pt x="121186" y="1057619"/>
                    </a:cubicBezTo>
                    <a:cubicBezTo>
                      <a:pt x="187287" y="1356911"/>
                      <a:pt x="235026" y="1564395"/>
                      <a:pt x="396607" y="1795749"/>
                    </a:cubicBezTo>
                    <a:cubicBezTo>
                      <a:pt x="558188" y="2027103"/>
                      <a:pt x="885022" y="2256622"/>
                      <a:pt x="1090670" y="2445745"/>
                    </a:cubicBezTo>
                    <a:cubicBezTo>
                      <a:pt x="1296318" y="2634868"/>
                      <a:pt x="1472588" y="2717494"/>
                      <a:pt x="1630497" y="2930487"/>
                    </a:cubicBezTo>
                    <a:cubicBezTo>
                      <a:pt x="1788406" y="3143480"/>
                      <a:pt x="1949986" y="3406048"/>
                      <a:pt x="2038121" y="3723701"/>
                    </a:cubicBezTo>
                    <a:cubicBezTo>
                      <a:pt x="2126256" y="4041354"/>
                      <a:pt x="2142781" y="4438879"/>
                      <a:pt x="2159306" y="4836405"/>
                    </a:cubicBezTo>
                  </a:path>
                </a:pathLst>
              </a:cu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8DD362EC-428B-473E-B3EA-02EF66ADA9AD}"/>
                      </a:ext>
                    </a:extLst>
                  </p:cNvPr>
                  <p:cNvSpPr txBox="1"/>
                  <p:nvPr/>
                </p:nvSpPr>
                <p:spPr>
                  <a:xfrm rot="2477860">
                    <a:off x="4397322" y="3505937"/>
                    <a:ext cx="1981258" cy="50884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14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GB" sz="14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GB" sz="14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sz="1400" b="1" i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𝐜𝐨𝐭</m:t>
                              </m:r>
                            </m:fName>
                            <m:e>
                              <m:r>
                                <a:rPr lang="en-GB" sz="14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</m:oMath>
                      </m:oMathPara>
                    </a14:m>
                    <a:endParaRPr lang="en-GB" b="1" dirty="0">
                      <a:solidFill>
                        <a:schemeClr val="tx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8DD362EC-428B-473E-B3EA-02EF66ADA9A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2477860">
                    <a:off x="4397322" y="3505937"/>
                    <a:ext cx="1981258" cy="50884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89705DF3-075F-401C-B765-0738386EA5A1}"/>
                    </a:ext>
                  </a:extLst>
                </p:cNvPr>
                <p:cNvSpPr txBox="1"/>
                <p:nvPr/>
              </p:nvSpPr>
              <p:spPr>
                <a:xfrm rot="19586162">
                  <a:off x="2954447" y="3467673"/>
                  <a:ext cx="1796132" cy="4579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1200" b="0" i="0" smtClean="0">
                                <a:latin typeface="Cambria Math" panose="02040503050406030204" pitchFamily="18" charset="0"/>
                              </a:rPr>
                              <m:t>tan</m:t>
                            </m:r>
                          </m:fName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89705DF3-075F-401C-B765-0738386EA5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586162">
                  <a:off x="2954447" y="3467673"/>
                  <a:ext cx="1796132" cy="457956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94BC753F-E927-4966-8692-B45F9F58D88E}"/>
                    </a:ext>
                  </a:extLst>
                </p:cNvPr>
                <p:cNvSpPr txBox="1"/>
                <p:nvPr/>
              </p:nvSpPr>
              <p:spPr>
                <a:xfrm>
                  <a:off x="3721219" y="3889700"/>
                  <a:ext cx="344656" cy="5597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94BC753F-E927-4966-8692-B45F9F58D8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21219" y="3889700"/>
                  <a:ext cx="344656" cy="559723"/>
                </a:xfrm>
                <a:prstGeom prst="rect">
                  <a:avLst/>
                </a:prstGeom>
                <a:blipFill>
                  <a:blip r:embed="rId12"/>
                  <a:stretch>
                    <a:fillRect r="-1621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CF9656D-B234-4E88-8046-BCA6815176C1}"/>
                    </a:ext>
                  </a:extLst>
                </p:cNvPr>
                <p:cNvSpPr txBox="1"/>
                <p:nvPr/>
              </p:nvSpPr>
              <p:spPr>
                <a:xfrm>
                  <a:off x="5869435" y="3962112"/>
                  <a:ext cx="344656" cy="5088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CF9656D-B234-4E88-8046-BCA6815176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69435" y="3962112"/>
                  <a:ext cx="344656" cy="508840"/>
                </a:xfrm>
                <a:prstGeom prst="rect">
                  <a:avLst/>
                </a:prstGeom>
                <a:blipFill>
                  <a:blip r:embed="rId13"/>
                  <a:stretch>
                    <a:fillRect r="-5675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DC6E705-5254-4A61-881C-BCDDF2CD0568}"/>
                  </a:ext>
                </a:extLst>
              </p:cNvPr>
              <p:cNvSpPr txBox="1"/>
              <p:nvPr/>
            </p:nvSpPr>
            <p:spPr>
              <a:xfrm>
                <a:off x="6473047" y="1566512"/>
                <a:ext cx="2139325" cy="83099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You can’t reciprocate 0. However, the value tends towards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±∞</m:t>
                    </m:r>
                  </m:oMath>
                </a14:m>
                <a:r>
                  <a:rPr lang="en-GB" sz="1200" dirty="0"/>
                  <a:t>, which coincides with the asymptotes of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𝑡𝑎𝑛</m:t>
                    </m:r>
                  </m:oMath>
                </a14:m>
                <a:r>
                  <a:rPr lang="en-GB" sz="1200" dirty="0"/>
                  <a:t>.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DC6E705-5254-4A61-881C-BCDDF2CD05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3047" y="1566512"/>
                <a:ext cx="2139325" cy="830997"/>
              </a:xfrm>
              <a:prstGeom prst="rect">
                <a:avLst/>
              </a:prstGeom>
              <a:blipFill>
                <a:blip r:embed="rId14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>
            <a:extLst>
              <a:ext uri="{FF2B5EF4-FFF2-40B4-BE49-F238E27FC236}">
                <a16:creationId xmlns:a16="http://schemas.microsoft.com/office/drawing/2014/main" id="{6DF38F3F-8A63-461E-9267-B555AC6F2980}"/>
              </a:ext>
            </a:extLst>
          </p:cNvPr>
          <p:cNvSpPr/>
          <p:nvPr/>
        </p:nvSpPr>
        <p:spPr>
          <a:xfrm>
            <a:off x="4692043" y="1235050"/>
            <a:ext cx="4016022" cy="500226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D0282AC-184F-4CAF-A36F-B1A6B6A6FA79}"/>
              </a:ext>
            </a:extLst>
          </p:cNvPr>
          <p:cNvSpPr txBox="1"/>
          <p:nvPr/>
        </p:nvSpPr>
        <p:spPr>
          <a:xfrm>
            <a:off x="2319261" y="2505721"/>
            <a:ext cx="1636051" cy="27699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Reciprocate both sides.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443BEE-B5FA-4527-8A7B-C09D0E2F69F0}"/>
              </a:ext>
            </a:extLst>
          </p:cNvPr>
          <p:cNvSpPr/>
          <p:nvPr/>
        </p:nvSpPr>
        <p:spPr>
          <a:xfrm>
            <a:off x="469964" y="2426003"/>
            <a:ext cx="3605840" cy="78356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81293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13" grpId="0" animBg="1"/>
      <p:bldP spid="36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4380235-1FB0-4D76-93FD-69B8DC6D7DEC}"/>
              </a:ext>
            </a:extLst>
          </p:cNvPr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514AE7C4-6490-48A2-9289-12008BF122CF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Test Your Understanding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0A3B352F-84C7-462D-A7EB-5125B7BB0A6B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58DE3F6-85EC-47B5-ADE4-A95967DF016E}"/>
                  </a:ext>
                </a:extLst>
              </p:cNvPr>
              <p:cNvSpPr txBox="1"/>
              <p:nvPr/>
            </p:nvSpPr>
            <p:spPr>
              <a:xfrm>
                <a:off x="512494" y="950853"/>
                <a:ext cx="4935188" cy="70788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Solve in the interval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&lt;360°</m:t>
                    </m:r>
                  </m:oMath>
                </a14:m>
                <a:r>
                  <a:rPr lang="en-GB" sz="20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𝑐𝑜𝑠𝑒𝑐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3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58DE3F6-85EC-47B5-ADE4-A95967DF01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494" y="950853"/>
                <a:ext cx="4935188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AD5B81-EC8E-4355-88AA-6394AB1C6C1E}"/>
                  </a:ext>
                </a:extLst>
              </p:cNvPr>
              <p:cNvSpPr txBox="1"/>
              <p:nvPr/>
            </p:nvSpPr>
            <p:spPr>
              <a:xfrm>
                <a:off x="434180" y="1823559"/>
                <a:ext cx="4896544" cy="14419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0≤3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&lt;1080°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=30°, 150°, 390°, 510°,750°, 870°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=10°, 50°,130°, 170°,250°,290°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AD5B81-EC8E-4355-88AA-6394AB1C6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180" y="1823559"/>
                <a:ext cx="4896544" cy="14419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1F8526CC-57B7-40F1-9DDF-BD6F326841BA}"/>
              </a:ext>
            </a:extLst>
          </p:cNvPr>
          <p:cNvSpPr/>
          <p:nvPr/>
        </p:nvSpPr>
        <p:spPr>
          <a:xfrm>
            <a:off x="512494" y="1676155"/>
            <a:ext cx="4935188" cy="196886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770586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6.3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2/AS</a:t>
            </a:r>
          </a:p>
          <a:p>
            <a:r>
              <a:rPr lang="en-GB" sz="2400"/>
              <a:t>Page 45</a:t>
            </a:r>
            <a:endParaRPr lang="en-GB" sz="24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E5D44903-6FC4-943D-03AF-8D31A9E88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153" y="764704"/>
            <a:ext cx="7448550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45005E2-E742-A11D-22D2-4F58BECEE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980728"/>
            <a:ext cx="7658100" cy="418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0FF53-D376-6E8C-D0FD-1D517FE59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BC62057-5111-B8A6-4E80-4193E055911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B0E89DB0-01D1-BE2B-F9D3-8CB397834D7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13F8B5A-9D24-B9B4-CD6B-9A26C85DC69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98E607F8-D8D2-5A20-E38B-FED719ABD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240" y="908720"/>
            <a:ext cx="7572375" cy="549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85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21B4F0E4-AA35-D98C-FCC5-9AFB69CE3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3877"/>
            <a:ext cx="9144000" cy="4750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ABE15-0B9A-B7C4-53AD-582FB2129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279A884-08FF-65D9-0EEB-6DEB2293FFC6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BF207C59-F5DB-99D1-D0C5-6B9253978C3C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C18A91A-7D8C-CF70-D3C4-3045C18D8594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9B491B16-31AF-2DDC-BEB7-1192FDB40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8720"/>
            <a:ext cx="9144000" cy="4687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846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Props1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61759</TotalTime>
  <Words>482</Words>
  <Application>Microsoft Office PowerPoint</Application>
  <PresentationFormat>On-screen Show (4:3)</PresentationFormat>
  <Paragraphs>64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 Math</vt:lpstr>
      <vt:lpstr>Office Theme</vt:lpstr>
      <vt:lpstr>P2 Chapter 6: CoAngle Trigonometry  Using Cotangents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2026-01-15T15:47:03Z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